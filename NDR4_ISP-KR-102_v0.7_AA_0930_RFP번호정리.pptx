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5" r:id="rId1"/>
  </p:sldMasterIdLst>
  <p:notesMasterIdLst>
    <p:notesMasterId r:id="rId41"/>
  </p:notesMasterIdLst>
  <p:handoutMasterIdLst>
    <p:handoutMasterId r:id="rId42"/>
  </p:handoutMasterIdLst>
  <p:sldIdLst>
    <p:sldId id="478" r:id="rId2"/>
    <p:sldId id="3519" r:id="rId3"/>
    <p:sldId id="549" r:id="rId4"/>
    <p:sldId id="3520" r:id="rId5"/>
    <p:sldId id="3521" r:id="rId6"/>
    <p:sldId id="3540" r:id="rId7"/>
    <p:sldId id="3562" r:id="rId8"/>
    <p:sldId id="3489" r:id="rId9"/>
    <p:sldId id="3541" r:id="rId10"/>
    <p:sldId id="3524" r:id="rId11"/>
    <p:sldId id="3542" r:id="rId12"/>
    <p:sldId id="3543" r:id="rId13"/>
    <p:sldId id="3513" r:id="rId14"/>
    <p:sldId id="3544" r:id="rId15"/>
    <p:sldId id="3545" r:id="rId16"/>
    <p:sldId id="3546" r:id="rId17"/>
    <p:sldId id="3526" r:id="rId18"/>
    <p:sldId id="3527" r:id="rId19"/>
    <p:sldId id="3528" r:id="rId20"/>
    <p:sldId id="3547" r:id="rId21"/>
    <p:sldId id="3548" r:id="rId22"/>
    <p:sldId id="3549" r:id="rId23"/>
    <p:sldId id="3550" r:id="rId24"/>
    <p:sldId id="3551" r:id="rId25"/>
    <p:sldId id="3518" r:id="rId26"/>
    <p:sldId id="3552" r:id="rId27"/>
    <p:sldId id="3530" r:id="rId28"/>
    <p:sldId id="3553" r:id="rId29"/>
    <p:sldId id="3554" r:id="rId30"/>
    <p:sldId id="3555" r:id="rId31"/>
    <p:sldId id="3556" r:id="rId32"/>
    <p:sldId id="3538" r:id="rId33"/>
    <p:sldId id="3539" r:id="rId34"/>
    <p:sldId id="3557" r:id="rId35"/>
    <p:sldId id="3558" r:id="rId36"/>
    <p:sldId id="3533" r:id="rId37"/>
    <p:sldId id="3559" r:id="rId38"/>
    <p:sldId id="3563" r:id="rId39"/>
    <p:sldId id="3561" r:id="rId4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목표모델 개요" id="{444112DE-BA6C-4801-889E-2890A87172FB}">
          <p14:sldIdLst/>
        </p14:section>
        <p14:section name="2. 정보화 비전 및 전략 수립" id="{6FEA03BC-9A00-4AAD-9D0D-67B508509B52}">
          <p14:sldIdLst/>
        </p14:section>
        <p14:section name="3. 부동산종합공부시스템 DR 목표 설계" id="{61C5C6C9-3D5D-41DA-82B6-7342CE4D4AEC}">
          <p14:sldIdLst/>
        </p14:section>
        <p14:section name="3.2 목표 아키텍처 설계" id="{B920E1E9-F0BF-4478-AC24-4AC9B37E11B8}">
          <p14:sldIdLst/>
        </p14:section>
        <p14:section name="3.3 애플리케이션 아키텍처 설계" id="{6BBDD017-DBE0-4A79-9DF4-80A21F1366A1}">
          <p14:sldIdLst>
            <p14:sldId id="478"/>
            <p14:sldId id="3519"/>
            <p14:sldId id="549"/>
            <p14:sldId id="3520"/>
            <p14:sldId id="3521"/>
            <p14:sldId id="3540"/>
            <p14:sldId id="3562"/>
            <p14:sldId id="3489"/>
            <p14:sldId id="3541"/>
            <p14:sldId id="3524"/>
            <p14:sldId id="3542"/>
            <p14:sldId id="3543"/>
            <p14:sldId id="3513"/>
            <p14:sldId id="3544"/>
            <p14:sldId id="3545"/>
            <p14:sldId id="3546"/>
            <p14:sldId id="3526"/>
            <p14:sldId id="3527"/>
            <p14:sldId id="3528"/>
            <p14:sldId id="3547"/>
            <p14:sldId id="3548"/>
            <p14:sldId id="3549"/>
            <p14:sldId id="3550"/>
            <p14:sldId id="3551"/>
            <p14:sldId id="3518"/>
            <p14:sldId id="3552"/>
            <p14:sldId id="3530"/>
            <p14:sldId id="3553"/>
            <p14:sldId id="3554"/>
            <p14:sldId id="3555"/>
            <p14:sldId id="3556"/>
            <p14:sldId id="3538"/>
            <p14:sldId id="3539"/>
            <p14:sldId id="3557"/>
            <p14:sldId id="3558"/>
            <p14:sldId id="3533"/>
            <p14:sldId id="3559"/>
            <p14:sldId id="3563"/>
            <p14:sldId id="3561"/>
          </p14:sldIdLst>
        </p14:section>
        <p14:section name="3.4 데이터 아키텍처 설계" id="{6670D9B6-DC5B-4928-A8EB-266F0CD02221}">
          <p14:sldIdLst/>
        </p14:section>
        <p14:section name="3.5 인프라 아키텍처 설계" id="{9FB81503-F2D5-4BC2-B568-52409D323832}">
          <p14:sldIdLst/>
        </p14:section>
        <p14:section name="3.6 국정자원 공통기반 설계" id="{68F061AB-01CF-4232-AA9A-D5035E6F69DD}">
          <p14:sldIdLst/>
        </p14:section>
        <p14:section name="3.7 재해복구 운영체계 수립" id="{1CD9054A-C6D8-4EBB-A315-0A574E1E057F}">
          <p14:sldIdLst/>
        </p14:section>
        <p14:section name="3.8 단계별 추진 방안" id="{27D91152-4258-4E0F-A5F7-D48A25481D2D}">
          <p14:sldIdLst/>
        </p14:section>
        <p14:section name="작성방법" id="{407B7739-4410-4FD6-A9A6-3C3BEA37B239}">
          <p14:sldIdLst/>
        </p14:section>
        <p14:section name="기본 template" id="{B6FE0CFF-A576-4024-8BD1-BE5D2ECA753C}">
          <p14:sldIdLst/>
        </p14:section>
        <p14:section name="예시 장표 - 과제" id="{1927F80E-6048-4C2D-A1C4-AB5C683A2CE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  <a:srgbClr val="0367B0"/>
    <a:srgbClr val="243B7C"/>
    <a:srgbClr val="1E3B7D"/>
    <a:srgbClr val="F2F7FB"/>
    <a:srgbClr val="C0DAFF"/>
    <a:srgbClr val="E3E5ED"/>
    <a:srgbClr val="FFFFFF"/>
    <a:srgbClr val="1C1C1C"/>
    <a:srgbClr val="3C34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6121" autoAdjust="0"/>
  </p:normalViewPr>
  <p:slideViewPr>
    <p:cSldViewPr>
      <p:cViewPr varScale="1">
        <p:scale>
          <a:sx n="106" d="100"/>
          <a:sy n="106" d="100"/>
        </p:scale>
        <p:origin x="19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40"/>
    </p:cViewPr>
  </p:sorterViewPr>
  <p:notesViewPr>
    <p:cSldViewPr showGuides="1">
      <p:cViewPr varScale="1">
        <p:scale>
          <a:sx n="76" d="100"/>
          <a:sy n="76" d="100"/>
        </p:scale>
        <p:origin x="3252" y="9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5240E1-1D6F-4BF0-9CAF-F4458E0A4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D70750-128B-4279-9CAD-F76522EF42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BC91-BF05-4BC2-9406-031D69A53815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D3B13-8931-49AB-B20A-E84938F01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26D7-1A18-4D94-9479-F3197EC46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9607-38E0-495A-A3E9-8966F92D4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50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84C3169-C429-485D-9437-72DA76DC4C05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DF3CFAF2-8196-4A42-BE12-AEF6A18FB9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CFAF2-8196-4A42-BE12-AEF6A18FB923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17512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C452D816-4A33-4619-9DC0-C19680555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텍스트 개체 틀 27">
            <a:extLst>
              <a:ext uri="{FF2B5EF4-FFF2-40B4-BE49-F238E27FC236}">
                <a16:creationId xmlns:a16="http://schemas.microsoft.com/office/drawing/2014/main" id="{0AC63EAE-30D6-4ECF-A298-6145BA5DC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99EBFD-A6F4-4DA0-B05C-00374253C3B9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005351-1CAE-4882-AF1E-4B01C61313DF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DBADE982-8ECA-4D34-8AA2-3BA71FFE7609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4A87196-B3B9-4387-A049-26148A11BE4C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FFFFBE-E43E-4A32-A275-EF9DE56964E0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33F922-A8C2-44DE-B3DF-FBC2E2F73D67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8729E427-4D62-4B94-9372-45D09B5B1CCE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D883B373-EAEE-4C85-ABDD-50A8B01C3D8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A9E16C9-FB53-4752-9F8D-F629827C0C4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B69F08-82E4-4896-8CE9-D1C767535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A7AF4C-E472-4D2A-9D71-A28FA3CE2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3E148EE7-9D39-4AE1-96B6-C2956F6AF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70BBE-9DE5-40CC-A1DF-7638AE0E93A1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8B8FA-8135-4E09-93E6-A2C7F6A28CF1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0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표모델_레벨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6911B4E3-E4D6-7EFE-47B9-A9ADEC57D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81928" y="92252"/>
            <a:ext cx="7047336" cy="238917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lang="ko-KR" altLang="en-US" sz="10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43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04F4DD-5CA6-4CF5-A990-25D894EA5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H="1">
            <a:off x="5666730" y="0"/>
            <a:ext cx="4239270" cy="252215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E31626-AA4A-413B-9B5F-8B2A15C42E50}"/>
              </a:ext>
            </a:extLst>
          </p:cNvPr>
          <p:cNvSpPr/>
          <p:nvPr userDrawn="1"/>
        </p:nvSpPr>
        <p:spPr>
          <a:xfrm>
            <a:off x="0" y="5709162"/>
            <a:ext cx="9906000" cy="1148838"/>
          </a:xfrm>
          <a:prstGeom prst="rect">
            <a:avLst/>
          </a:prstGeom>
          <a:solidFill>
            <a:srgbClr val="3C3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8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4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C1756-51FD-4B0D-A1B7-9137C185667A}"/>
              </a:ext>
            </a:extLst>
          </p:cNvPr>
          <p:cNvGrpSpPr/>
          <p:nvPr userDrawn="1"/>
        </p:nvGrpSpPr>
        <p:grpSpPr>
          <a:xfrm>
            <a:off x="-2787860" y="332656"/>
            <a:ext cx="2556284" cy="4140460"/>
            <a:chOff x="-2859869" y="1916832"/>
            <a:chExt cx="2108132" cy="4140460"/>
          </a:xfrm>
        </p:grpSpPr>
        <p:sp>
          <p:nvSpPr>
            <p:cNvPr id="19" name="AutoShape 89">
              <a:extLst>
                <a:ext uri="{FF2B5EF4-FFF2-40B4-BE49-F238E27FC236}">
                  <a16:creationId xmlns:a16="http://schemas.microsoft.com/office/drawing/2014/main" id="{201D8A8D-B55A-498E-C35A-2C4E854BB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859868" y="1916832"/>
              <a:ext cx="2108131" cy="4140460"/>
            </a:xfrm>
            <a:prstGeom prst="roundRect">
              <a:avLst>
                <a:gd name="adj" fmla="val 495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tIns="0" anchor="t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2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강조용 </a:t>
              </a:r>
              <a:r>
                <a:rPr lang="ko-KR" altLang="en-US" sz="1200" dirty="0" err="1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기준색</a:t>
              </a:r>
              <a:endParaRPr lang="ko-KR" altLang="en-US" sz="12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AutoShape 96">
              <a:extLst>
                <a:ext uri="{FF2B5EF4-FFF2-40B4-BE49-F238E27FC236}">
                  <a16:creationId xmlns:a16="http://schemas.microsoft.com/office/drawing/2014/main" id="{F7EB1751-BAEE-D48E-7721-35A7C364B1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220463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1E3B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1. #1e3b7d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ECCEF35-A9FA-291C-27DB-4BDCE61AF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646044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2. #FFFFFF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93E079DB-AF33-6FB2-B2F1-F4A0B51B19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49720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C0D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4. #C0DAFF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6" name="AutoShape 110">
              <a:extLst>
                <a:ext uri="{FF2B5EF4-FFF2-40B4-BE49-F238E27FC236}">
                  <a16:creationId xmlns:a16="http://schemas.microsoft.com/office/drawing/2014/main" id="{8B5EC07F-F599-52D8-D8D0-BD3BF381D2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92278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243B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5. #243B7C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AutoShape 110">
              <a:extLst>
                <a:ext uri="{FF2B5EF4-FFF2-40B4-BE49-F238E27FC236}">
                  <a16:creationId xmlns:a16="http://schemas.microsoft.com/office/drawing/2014/main" id="{CF07625B-40BA-30E5-B577-D0D071E312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357961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36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6. #0367B0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7" name="AutoShape 89">
              <a:extLst>
                <a:ext uri="{FF2B5EF4-FFF2-40B4-BE49-F238E27FC236}">
                  <a16:creationId xmlns:a16="http://schemas.microsoft.com/office/drawing/2014/main" id="{AD04E026-0C0B-DDBC-E362-C32E865E5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07162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FFC0C0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3. #FFC0C0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사각형: 둥근 모서리 6">
              <a:extLst>
                <a:ext uri="{FF2B5EF4-FFF2-40B4-BE49-F238E27FC236}">
                  <a16:creationId xmlns:a16="http://schemas.microsoft.com/office/drawing/2014/main" id="{F919807F-19AA-2DEB-8FD6-D8F45BC37188}"/>
                </a:ext>
              </a:extLst>
            </p:cNvPr>
            <p:cNvSpPr/>
            <p:nvPr userDrawn="1"/>
          </p:nvSpPr>
          <p:spPr>
            <a:xfrm>
              <a:off x="-2859869" y="2162173"/>
              <a:ext cx="2016225" cy="3895119"/>
            </a:xfrm>
            <a:prstGeom prst="roundRect">
              <a:avLst>
                <a:gd name="adj" fmla="val 10586"/>
              </a:avLst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9" name="AutoShape 110">
              <a:extLst>
                <a:ext uri="{FF2B5EF4-FFF2-40B4-BE49-F238E27FC236}">
                  <a16:creationId xmlns:a16="http://schemas.microsoft.com/office/drawing/2014/main" id="{F10FD422-482D-4F14-97FA-5D5AC7E562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17977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6F6F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8. #6F6F6F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AutoShape 110">
              <a:extLst>
                <a:ext uri="{FF2B5EF4-FFF2-40B4-BE49-F238E27FC236}">
                  <a16:creationId xmlns:a16="http://schemas.microsoft.com/office/drawing/2014/main" id="{D3B7F724-42ED-42CE-B4A5-8F6491902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614950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9. #000000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AutoShape 110">
              <a:extLst>
                <a:ext uri="{FF2B5EF4-FFF2-40B4-BE49-F238E27FC236}">
                  <a16:creationId xmlns:a16="http://schemas.microsoft.com/office/drawing/2014/main" id="{D0C32F79-A09B-401A-8086-EE72F162AF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768868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3C34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 rtl="0"/>
              <a:r>
                <a:rPr lang="ko-KR" altLang="en-US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7. #3C3463</a:t>
              </a:r>
              <a:endParaRPr lang="ko-KR" altLang="en-US" sz="1400" b="1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AutoShape 110">
            <a:extLst>
              <a:ext uri="{FF2B5EF4-FFF2-40B4-BE49-F238E27FC236}">
                <a16:creationId xmlns:a16="http://schemas.microsoft.com/office/drawing/2014/main" id="{08509149-6B99-4870-866F-20A5807E8C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84473" y="4807167"/>
            <a:ext cx="2261445" cy="100069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색상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10. 000000</a:t>
            </a:r>
            <a:b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표 테두리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</a:t>
            </a: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모든 테두리</a:t>
            </a:r>
            <a:endParaRPr lang="en-US" altLang="ko-KR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테두리 두께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0.25</a:t>
            </a:r>
            <a:endParaRPr lang="ko-KR" altLang="en-US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38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8" r:id="rId3"/>
    <p:sldLayoutId id="2147483696" r:id="rId4"/>
    <p:sldLayoutId id="214748369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hyperlink" Target="https://svgsilh.com/ko/image/1296429.html" TargetMode="External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32B6-CAF2-4C48-6437-C4A9E7CB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6CEF779E-B2A3-C664-BE2E-EBB4E9F12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85968" y="291942"/>
            <a:ext cx="2545880" cy="166199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52EF126D-54B4-617A-7724-1BCC919AC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5A4779-EBFF-E980-A7A9-9CC2DA6707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3.3.1 </a:t>
            </a:r>
            <a:r>
              <a:rPr lang="ko-KR" altLang="en-US" dirty="0"/>
              <a:t>과제 정의서</a:t>
            </a:r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E3C8C3EC-A4BA-D8FA-98C5-3C1D3CD48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27069"/>
              </p:ext>
            </p:extLst>
          </p:nvPr>
        </p:nvGraphicFramePr>
        <p:xfrm>
          <a:off x="281928" y="943276"/>
          <a:ext cx="9341188" cy="1381262"/>
        </p:xfrm>
        <a:graphic>
          <a:graphicData uri="http://schemas.openxmlformats.org/drawingml/2006/table">
            <a:tbl>
              <a:tblPr/>
              <a:tblGrid>
                <a:gridCol w="463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3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476">
                  <a:extLst>
                    <a:ext uri="{9D8B030D-6E8A-4147-A177-3AD203B41FA5}">
                      <a16:colId xmlns:a16="http://schemas.microsoft.com/office/drawing/2014/main" val="3863890085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2749266844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3468349646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1920515322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1540765119"/>
                    </a:ext>
                  </a:extLst>
                </a:gridCol>
              </a:tblGrid>
              <a:tr h="322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번호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kern="1200" spc="-5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  <a:cs typeface="+mn-cs"/>
                        </a:rPr>
                        <a:t>1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ko-KR" altLang="en-US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서비스 연속성 기반 </a:t>
                      </a:r>
                      <a:r>
                        <a:rPr kumimoji="1" lang="en-US" altLang="ko-KR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DR </a:t>
                      </a:r>
                      <a:r>
                        <a:rPr kumimoji="1" lang="ko-KR" altLang="en-US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아키텍처 수립</a:t>
                      </a:r>
                      <a:endParaRPr kumimoji="1" lang="en-US" altLang="ko-KR" sz="12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인프라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응용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데이터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비즈니스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03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Wingdings" pitchFamily="2" charset="2"/>
                        <a:buNone/>
                      </a:pPr>
                      <a:r>
                        <a:rPr lang="ko-KR" altLang="en-US" sz="1100" dirty="0"/>
                        <a:t>부동산종합공부시스템의 재해에 대비한 통합 재해복구 목표모델과 전환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복귀 운영체계를 설계하여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대국민 발급서비스의 연속성 확보를 위한 </a:t>
                      </a:r>
                      <a:r>
                        <a:rPr lang="en-US" altLang="ko-KR" sz="1100" dirty="0"/>
                        <a:t>DR</a:t>
                      </a:r>
                      <a:r>
                        <a:rPr lang="ko-KR" altLang="en-US" sz="1100" dirty="0"/>
                        <a:t>시스템 구축방안을 수립</a:t>
                      </a:r>
                      <a:endParaRPr lang="ko-KR" altLang="en-US" sz="1100" kern="1200" spc="-5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+mn-ea"/>
                          <a:cs typeface="+mn-cs"/>
                        </a:rPr>
                        <a:t>V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1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달성목표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/>
                        <a:t>재해 발생 시 시스템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데이터의 가용성과 정합성을 확보하여 대국민 발급서비스의 연속성과 안정성을 유지함</a:t>
                      </a:r>
                      <a:endParaRPr lang="ko-KR" altLang="en-US" sz="1100" b="0" kern="1200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추진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자체 수행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외주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35051"/>
                  </a:ext>
                </a:extLst>
              </a:tr>
              <a:tr h="22496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 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+mn-ea"/>
                          <a:cs typeface="+mn-cs"/>
                        </a:rPr>
                        <a:t>V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직사각형 24">
            <a:extLst>
              <a:ext uri="{FF2B5EF4-FFF2-40B4-BE49-F238E27FC236}">
                <a16:creationId xmlns:a16="http://schemas.microsoft.com/office/drawing/2014/main" id="{1235BDDC-21D6-ECA1-92B7-D8F3BC434EE3}"/>
              </a:ext>
            </a:extLst>
          </p:cNvPr>
          <p:cNvSpPr/>
          <p:nvPr/>
        </p:nvSpPr>
        <p:spPr>
          <a:xfrm>
            <a:off x="282446" y="2348880"/>
            <a:ext cx="861324" cy="489379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추진목표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987DE491-69F4-9DF4-43E1-D4AEE7DFF7AE}"/>
              </a:ext>
            </a:extLst>
          </p:cNvPr>
          <p:cNvSpPr/>
          <p:nvPr/>
        </p:nvSpPr>
        <p:spPr>
          <a:xfrm>
            <a:off x="1236925" y="2408572"/>
            <a:ext cx="8386189" cy="369994"/>
          </a:xfrm>
          <a:prstGeom prst="rect">
            <a:avLst/>
          </a:prstGeom>
          <a:solidFill>
            <a:schemeClr val="bg1"/>
          </a:solidFill>
          <a:ln w="12700">
            <a:solidFill>
              <a:srgbClr val="6F6F6F"/>
            </a:solidFill>
          </a:ln>
        </p:spPr>
        <p:txBody>
          <a:bodyPr wrap="square" anchor="ctr">
            <a:noAutofit/>
          </a:bodyPr>
          <a:lstStyle/>
          <a:p>
            <a:pPr algn="ctr" latinLnBrk="0"/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서비스의 연속성 확보를 위한 </a:t>
            </a:r>
            <a:r>
              <a:rPr kumimoji="1" lang="en-US" altLang="ko-KR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A-A </a:t>
            </a:r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기반 통합 재해복구</a:t>
            </a:r>
            <a:r>
              <a:rPr kumimoji="1" lang="en-US" altLang="ko-KR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(DR) </a:t>
            </a:r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체계 구축</a:t>
            </a:r>
            <a:endParaRPr kumimoji="1" lang="en-US" altLang="ko-KR" sz="1200" dirty="0">
              <a:ln>
                <a:noFill/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직사각형 24">
            <a:extLst>
              <a:ext uri="{FF2B5EF4-FFF2-40B4-BE49-F238E27FC236}">
                <a16:creationId xmlns:a16="http://schemas.microsoft.com/office/drawing/2014/main" id="{829D066B-859E-8910-CBBF-914EA7459889}"/>
              </a:ext>
            </a:extLst>
          </p:cNvPr>
          <p:cNvSpPr/>
          <p:nvPr/>
        </p:nvSpPr>
        <p:spPr>
          <a:xfrm>
            <a:off x="282446" y="2906554"/>
            <a:ext cx="861324" cy="610051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세부실행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과제</a:t>
            </a:r>
          </a:p>
        </p:txBody>
      </p:sp>
      <p:sp>
        <p:nvSpPr>
          <p:cNvPr id="12" name="직사각형 24">
            <a:extLst>
              <a:ext uri="{FF2B5EF4-FFF2-40B4-BE49-F238E27FC236}">
                <a16:creationId xmlns:a16="http://schemas.microsoft.com/office/drawing/2014/main" id="{C2C233A2-0471-5C63-FF6B-DE7DCF6EAF4A}"/>
              </a:ext>
            </a:extLst>
          </p:cNvPr>
          <p:cNvSpPr/>
          <p:nvPr/>
        </p:nvSpPr>
        <p:spPr>
          <a:xfrm>
            <a:off x="281927" y="5383171"/>
            <a:ext cx="850086" cy="962067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고려사항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en-US" altLang="ko-KR" sz="1100" b="1" spc="-5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전제조건</a:t>
            </a:r>
            <a:r>
              <a:rPr lang="en-US" altLang="ko-KR" sz="1100" b="1" spc="-5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100" b="1" spc="-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470ACA6-207B-21EB-9232-D047CCB2B489}"/>
              </a:ext>
            </a:extLst>
          </p:cNvPr>
          <p:cNvSpPr/>
          <p:nvPr/>
        </p:nvSpPr>
        <p:spPr>
          <a:xfrm>
            <a:off x="1250795" y="5383171"/>
            <a:ext cx="8372319" cy="962067"/>
          </a:xfrm>
          <a:prstGeom prst="rect">
            <a:avLst/>
          </a:prstGeom>
          <a:solidFill>
            <a:schemeClr val="bg1"/>
          </a:solidFill>
          <a:ln w="12700">
            <a:solidFill>
              <a:srgbClr val="6F6F6F"/>
            </a:solidFill>
          </a:ln>
        </p:spPr>
        <p:txBody>
          <a:bodyPr wrap="square" lIns="72000" tIns="72000" rIns="0" bIns="72000" anchor="ctr" anchorCtr="0">
            <a:noAutofit/>
          </a:bodyPr>
          <a:lstStyle/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A-A·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비동기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(ASYNC)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체계와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A1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요구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(RTO 1h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를 반영하여 설계</a:t>
            </a:r>
          </a:p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인프라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데이터 복구체계와 연계하여 응용서비스의 복구 범위 및 전환 순서 협의</a:t>
            </a:r>
          </a:p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인증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보안 상용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SW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적용 가능 여부와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기관의 연계 전환 요건 사전 확인</a:t>
            </a:r>
            <a:endParaRPr lang="en-US" altLang="ko-KR" sz="110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6F3284-92AB-BE2C-6BE2-938A4B00E440}"/>
              </a:ext>
            </a:extLst>
          </p:cNvPr>
          <p:cNvSpPr/>
          <p:nvPr/>
        </p:nvSpPr>
        <p:spPr>
          <a:xfrm>
            <a:off x="282446" y="3584899"/>
            <a:ext cx="861324" cy="1729977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주요 수행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내역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Isosceles Triangle 44">
            <a:extLst>
              <a:ext uri="{FF2B5EF4-FFF2-40B4-BE49-F238E27FC236}">
                <a16:creationId xmlns:a16="http://schemas.microsoft.com/office/drawing/2014/main" id="{6503622B-8F17-39AD-5A91-C759B97E2D0F}"/>
              </a:ext>
            </a:extLst>
          </p:cNvPr>
          <p:cNvSpPr/>
          <p:nvPr/>
        </p:nvSpPr>
        <p:spPr>
          <a:xfrm rot="10800000" flipV="1">
            <a:off x="1250795" y="2836074"/>
            <a:ext cx="8481521" cy="262353"/>
          </a:xfrm>
          <a:prstGeom prst="triangle">
            <a:avLst/>
          </a:prstGeom>
          <a:gradFill flip="none" rotWithShape="1">
            <a:gsLst>
              <a:gs pos="0">
                <a:srgbClr val="808080">
                  <a:tint val="66000"/>
                  <a:satMod val="160000"/>
                </a:srgbClr>
              </a:gs>
              <a:gs pos="50000">
                <a:srgbClr val="808080">
                  <a:tint val="44500"/>
                  <a:satMod val="160000"/>
                </a:srgbClr>
              </a:gs>
              <a:gs pos="100000">
                <a:srgbClr val="80808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19EC6DA-D5A8-B6B8-6496-6303811F1D74}"/>
              </a:ext>
            </a:extLst>
          </p:cNvPr>
          <p:cNvSpPr/>
          <p:nvPr/>
        </p:nvSpPr>
        <p:spPr>
          <a:xfrm>
            <a:off x="1250797" y="3584412"/>
            <a:ext cx="8372320" cy="1730464"/>
          </a:xfrm>
          <a:prstGeom prst="rect">
            <a:avLst/>
          </a:prstGeom>
          <a:noFill/>
          <a:ln w="12700">
            <a:solidFill>
              <a:srgbClr val="6F6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347D08-0595-57E5-58BD-AF68AB8D9B3D}"/>
              </a:ext>
            </a:extLst>
          </p:cNvPr>
          <p:cNvGrpSpPr/>
          <p:nvPr/>
        </p:nvGrpSpPr>
        <p:grpSpPr>
          <a:xfrm>
            <a:off x="1250796" y="3109611"/>
            <a:ext cx="4113618" cy="2045268"/>
            <a:chOff x="1250796" y="3109611"/>
            <a:chExt cx="3864210" cy="2045268"/>
          </a:xfrm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650941CE-8143-D4A6-C7A3-79A071C106DA}"/>
                </a:ext>
              </a:extLst>
            </p:cNvPr>
            <p:cNvSpPr/>
            <p:nvPr/>
          </p:nvSpPr>
          <p:spPr>
            <a:xfrm>
              <a:off x="1250796" y="3681049"/>
              <a:ext cx="3864210" cy="147383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/>
            <a:lstStyle/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응용서비스 유형별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A-A/A-S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방안 설계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lang="ko-KR" altLang="en-US" sz="1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응용 </a:t>
              </a:r>
              <a:r>
                <a:rPr lang="ko-KR" altLang="en-US" sz="1100" dirty="0" err="1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무상태</a:t>
              </a:r>
              <a:r>
                <a:rPr lang="ko-KR" altLang="en-US" sz="1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기반 서비스 연속성 설계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 구성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·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형상 동기화 및 배포체계 설계</a:t>
              </a:r>
            </a:p>
          </p:txBody>
        </p:sp>
        <p:sp>
          <p:nvSpPr>
            <p:cNvPr id="19" name="직사각형 24">
              <a:extLst>
                <a:ext uri="{FF2B5EF4-FFF2-40B4-BE49-F238E27FC236}">
                  <a16:creationId xmlns:a16="http://schemas.microsoft.com/office/drawing/2014/main" id="{63F390D4-6FA3-B70A-2B60-F3C21E9D1878}"/>
                </a:ext>
              </a:extLst>
            </p:cNvPr>
            <p:cNvSpPr/>
            <p:nvPr/>
          </p:nvSpPr>
          <p:spPr>
            <a:xfrm>
              <a:off x="1250796" y="3109611"/>
              <a:ext cx="3864210" cy="406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1-1.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 아키텍처 </a:t>
              </a: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DR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설계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59B3D4-03FD-65BA-4FC3-6165C6C60289}"/>
              </a:ext>
            </a:extLst>
          </p:cNvPr>
          <p:cNvGrpSpPr/>
          <p:nvPr/>
        </p:nvGrpSpPr>
        <p:grpSpPr>
          <a:xfrm>
            <a:off x="5509496" y="3109611"/>
            <a:ext cx="4113618" cy="2045268"/>
            <a:chOff x="1250796" y="3109611"/>
            <a:chExt cx="3864210" cy="2045268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101D67EF-528D-F1CF-EBE0-0A67E103B5B1}"/>
                </a:ext>
              </a:extLst>
            </p:cNvPr>
            <p:cNvSpPr/>
            <p:nvPr/>
          </p:nvSpPr>
          <p:spPr>
            <a:xfrm>
              <a:off x="1250796" y="3681049"/>
              <a:ext cx="3864210" cy="147383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/>
            <a:lstStyle/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센터 전환을 위한 연계 논리주소체계 설계</a:t>
              </a: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연계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·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배치 센터 전환 처리 설계</a:t>
              </a:r>
            </a:p>
          </p:txBody>
        </p:sp>
        <p:sp>
          <p:nvSpPr>
            <p:cNvPr id="24" name="직사각형 24">
              <a:extLst>
                <a:ext uri="{FF2B5EF4-FFF2-40B4-BE49-F238E27FC236}">
                  <a16:creationId xmlns:a16="http://schemas.microsoft.com/office/drawing/2014/main" id="{FA0E93BF-0741-A581-AD09-89773E65B047}"/>
                </a:ext>
              </a:extLst>
            </p:cNvPr>
            <p:cNvSpPr/>
            <p:nvPr/>
          </p:nvSpPr>
          <p:spPr>
            <a:xfrm>
              <a:off x="1250796" y="3109611"/>
              <a:ext cx="3864210" cy="406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1-2.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연계 아키텍처 </a:t>
              </a: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DR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설계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698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E494-8FCA-BEAA-A867-8AAA83A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49E29-17DB-5367-BF31-A47FFA424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3.3.2 </a:t>
            </a:r>
            <a:r>
              <a:rPr lang="ko-KR" altLang="en-US" dirty="0"/>
              <a:t>세부과제 정의서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FDD89-7F43-8A1D-4AED-16E10DDDA4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A1C0E38-101E-38EA-CD78-35ED951AA4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D33D6DF9-A5C9-433F-D723-7B14B1F5C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부동산종합공부시스템의 서비스 특성과 복구등급을 반영한 응용 </a:t>
            </a:r>
            <a:r>
              <a:rPr lang="en-US" altLang="ko-KR" dirty="0"/>
              <a:t>DR </a:t>
            </a:r>
            <a:r>
              <a:rPr lang="ko-KR" altLang="en-US" dirty="0"/>
              <a:t>구조를 마련하고 주</a:t>
            </a:r>
            <a:r>
              <a:rPr lang="en-US" altLang="ko-KR" dirty="0"/>
              <a:t>·DR</a:t>
            </a:r>
            <a:r>
              <a:rPr lang="ko-KR" altLang="en-US" dirty="0"/>
              <a:t>센터 간 구성</a:t>
            </a:r>
            <a:r>
              <a:rPr lang="en-US" altLang="ko-KR" dirty="0"/>
              <a:t>·</a:t>
            </a:r>
            <a:r>
              <a:rPr lang="ko-KR" altLang="en-US" dirty="0"/>
              <a:t>형상 일치와 배포 관리를 기반으로 대민 서비스의 연속성을 확보할 수 있도록 전환</a:t>
            </a:r>
            <a:r>
              <a:rPr lang="en-US" altLang="ko-KR" dirty="0"/>
              <a:t>·</a:t>
            </a:r>
            <a:r>
              <a:rPr lang="ko-KR" altLang="en-US" dirty="0"/>
              <a:t>복귀 체계를 설계함</a:t>
            </a:r>
          </a:p>
        </p:txBody>
      </p:sp>
      <p:graphicFrame>
        <p:nvGraphicFramePr>
          <p:cNvPr id="6" name="Group 195">
            <a:extLst>
              <a:ext uri="{FF2B5EF4-FFF2-40B4-BE49-F238E27FC236}">
                <a16:creationId xmlns:a16="http://schemas.microsoft.com/office/drawing/2014/main" id="{7856B933-D144-1062-7C86-B18DD708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50850"/>
              </p:ext>
            </p:extLst>
          </p:nvPr>
        </p:nvGraphicFramePr>
        <p:xfrm>
          <a:off x="273050" y="1664804"/>
          <a:ext cx="9360470" cy="4635630"/>
        </p:xfrm>
        <a:graphic>
          <a:graphicData uri="http://schemas.openxmlformats.org/drawingml/2006/table">
            <a:tbl>
              <a:tblPr/>
              <a:tblGrid>
                <a:gridCol w="11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648256878"/>
                    </a:ext>
                  </a:extLst>
                </a:gridCol>
              </a:tblGrid>
              <a:tr h="3134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ctr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dirty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세부 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l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1-1.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응용 아키텍처 </a:t>
                      </a: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설계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부동산종합공부시스템 응용시스템 현황분석을 통해 도출된 시사점을 개선할 수 있도록 복구등급 기반의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A-A/A-S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표준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구조와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무상태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기반 서비스 연속성 및 전환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복귀 체계를 마련하고 응용 구성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형상 동기화 및 배포체계를 정립하는 목표 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0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목적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대국민 발급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창구민원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표준연계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지적행정 서비스의 연속성을 확보하고 광주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주센터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광주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간 응용 구성의 일관성을 유지하여 안정적인 서비스 전환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복귀를 수행하는 방안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추진체계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주관부서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국토교통부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공간정보제도과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73695"/>
                  </a:ext>
                </a:extLst>
              </a:tr>
              <a:tr h="24842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현황 및 문제점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업무영향도 분석 결과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A1 4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대국민 서비스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창구민원·표준연계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지적행정시스템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A2 2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개로 복구등급이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차등되나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 유형별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A-A/A-S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적용 기준과 구성안이 정의되어 있지 않음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Redis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외부화되어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있으나 인증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·GPKI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연속성 요건이 정의되어 있지 않음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상용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SW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가 업무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서버별로 분산 설치되어 있어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간 버전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패치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설정을 일치시키고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라이선스 유효성을 확보할 형상관리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배포 기준이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추진방안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응용서비스 유형별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A-A/A-S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방안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무상태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기반 서비스 연속성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 구성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형상 동기화 및 배포체계 설계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기대효과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algn="l">
                        <a:def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  <a:r>
                        <a:rPr lang="en-US" altLang="ko-KR" sz="1100" b="0" dirty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•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복구등급 기반 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DR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구조와 전환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복귀 체계의 표준화를 통한 공부 대민발급 서비스의 연속성 및 운영 안정성 확보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고려사항</a:t>
                      </a:r>
                      <a:endParaRPr kumimoji="1" lang="en-US" altLang="ko-KR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등급의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Active-Active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 방식과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비동기 복제 간 간극에 대한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상용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SW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라이선스와 암호화 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인증서 동기화 요건 사전 확인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97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E494-8FCA-BEAA-A867-8AAA83A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49E29-17DB-5367-BF31-A47FFA424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3.3.2 </a:t>
            </a:r>
            <a:r>
              <a:rPr lang="ko-KR" altLang="en-US" dirty="0"/>
              <a:t>세부과제 정의서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FDD89-7F43-8A1D-4AED-16E10DDDA4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A1C0E38-101E-38EA-CD78-35ED951AA4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4DE551E-5E52-A142-D080-9D5FDF282C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77615"/>
          </a:xfrm>
        </p:spPr>
        <p:txBody>
          <a:bodyPr/>
          <a:lstStyle/>
          <a:p>
            <a:r>
              <a:rPr lang="ko-KR" altLang="en-US" dirty="0"/>
              <a:t>부동산종합공부시스템의 센터 전환 시에도 대내</a:t>
            </a:r>
            <a:r>
              <a:rPr lang="en-US" altLang="ko-KR" dirty="0"/>
              <a:t>·</a:t>
            </a:r>
            <a:r>
              <a:rPr lang="ko-KR" altLang="en-US" dirty="0"/>
              <a:t>외 연계가 유지되도록 접속체계를 표준화하고</a:t>
            </a:r>
            <a:r>
              <a:rPr lang="en-US" altLang="ko-KR" dirty="0"/>
              <a:t>,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처리의 중복</a:t>
            </a:r>
            <a:r>
              <a:rPr lang="en-US" altLang="ko-KR" dirty="0"/>
              <a:t>·</a:t>
            </a:r>
            <a:r>
              <a:rPr lang="ko-KR" altLang="en-US" dirty="0"/>
              <a:t>누락을 방지하는 연계 </a:t>
            </a:r>
            <a:r>
              <a:rPr lang="en-US" altLang="ko-KR" dirty="0"/>
              <a:t>DR </a:t>
            </a:r>
            <a:r>
              <a:rPr lang="ko-KR" altLang="en-US" dirty="0"/>
              <a:t>아키텍처를 설계함</a:t>
            </a:r>
          </a:p>
        </p:txBody>
      </p:sp>
      <p:graphicFrame>
        <p:nvGraphicFramePr>
          <p:cNvPr id="6" name="Group 195">
            <a:extLst>
              <a:ext uri="{FF2B5EF4-FFF2-40B4-BE49-F238E27FC236}">
                <a16:creationId xmlns:a16="http://schemas.microsoft.com/office/drawing/2014/main" id="{39E5F55E-B3E5-0CF6-7168-56CF14609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76601"/>
              </p:ext>
            </p:extLst>
          </p:nvPr>
        </p:nvGraphicFramePr>
        <p:xfrm>
          <a:off x="273050" y="1664803"/>
          <a:ext cx="9360470" cy="4672167"/>
        </p:xfrm>
        <a:graphic>
          <a:graphicData uri="http://schemas.openxmlformats.org/drawingml/2006/table">
            <a:tbl>
              <a:tblPr/>
              <a:tblGrid>
                <a:gridCol w="11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648256878"/>
                    </a:ext>
                  </a:extLst>
                </a:gridCol>
              </a:tblGrid>
              <a:tr h="3228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ctr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dirty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세부 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l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1-2.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연계 아키텍처 </a:t>
                      </a: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설계</a:t>
                      </a:r>
                      <a:endParaRPr kumimoji="0" lang="ko-KR" altLang="en-US" sz="1100" b="0" i="0" u="none" strike="noStrike" kern="0" cap="none" spc="0" normalizeH="0" baseline="0" dirty="0">
                        <a:ln>
                          <a:solidFill>
                            <a:srgbClr val="C1DFE1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/>
                        <a:ea typeface="나눔고딕 Bold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8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부동산종합공부시스템의 연계 아키텍처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설계 과제로서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전환에 대비한 연계 접속주소 전환 설계와 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배치 처리의 전환 및 정합성 확보 방안을 설계하는 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2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목적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전환 시에도 대내외 연계기관과의 연계와 배치 처리의 연속성이 유지되도록 접속주소 전환 체계와 처리 정합성 확보 기준을 마련하기 위한 방안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추진체계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주관부서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국토교통부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공간정보제도과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73695"/>
                  </a:ext>
                </a:extLst>
              </a:tr>
              <a:tr h="25586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현황 및 문제점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연계가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'25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년 전체 트래픽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11.2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억 건 중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9.4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억 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(84%)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을 차지하여 연계 중단이 곧 서비스 중단의 대부분을 차지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연계 제공 구간이 도메인 기반으로 운영되어 기관 대부분이 도메인을 참조하는 것으로 파악되나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주소에 </a:t>
                      </a:r>
                      <a:r>
                        <a:rPr kumimoji="0" lang="ko-KR" altLang="en-US" sz="1100" b="0" i="0" u="none" strike="noStrike" kern="1200" cap="none" spc="0" normalizeH="0" baseline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대한 연계기관의 허용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범위 확인과 협의가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전환 시점의 연계 중복 처리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누락과 배치 중복 실행을 방지할 기준이 부재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추진방안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센터 전환을 위한 연계 논리주소체계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배치 센터 전환 처리 설계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기대효과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algn="l">
                        <a:def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  <a:r>
                        <a:rPr lang="en-US" altLang="ko-KR" sz="1100" b="0" dirty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•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접속주소 전환 체계와 중복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누락 방지 체계를 통해 센터 전환 시에도 연계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배치 서비스의 연속성과 정합성 확보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고려사항</a:t>
                      </a:r>
                      <a:endParaRPr kumimoji="1" lang="en-US" altLang="ko-KR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연계기관의 접속주소 변경 협의 범위와 복구시점에 따른 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배치 재개 조건에 대한 사전 협의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5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3.3.3.1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설계원칙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142" name="텍스트 개체 틀 6">
            <a:extLst>
              <a:ext uri="{FF2B5EF4-FFF2-40B4-BE49-F238E27FC236}">
                <a16:creationId xmlns:a16="http://schemas.microsoft.com/office/drawing/2014/main" id="{8E45A39D-D1DC-47F8-3F10-0E87D1D8A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DR </a:t>
            </a:r>
            <a:r>
              <a:rPr lang="ko-KR" altLang="en-US" dirty="0" err="1"/>
              <a:t>구축시</a:t>
            </a:r>
            <a:r>
              <a:rPr lang="ko-KR" altLang="en-US" dirty="0"/>
              <a:t> 현행 주 센터에서 운영중인 시스템 구조 및 서비스체계를 고려하여 호환성과 업무 연속성을 보장하는 소프트웨어 정의 아키텍처로 설계하고 최신 트렌드 및 동기화를 반영할 수 있도록 설계함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EFB4717-875C-1367-4126-877F4BD29B17}"/>
              </a:ext>
            </a:extLst>
          </p:cNvPr>
          <p:cNvSpPr/>
          <p:nvPr/>
        </p:nvSpPr>
        <p:spPr>
          <a:xfrm>
            <a:off x="342780" y="2073627"/>
            <a:ext cx="3042559" cy="324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200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설계 요건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17EFE40E-2656-9DAB-22CD-C068599AF1AA}"/>
              </a:ext>
            </a:extLst>
          </p:cNvPr>
          <p:cNvSpPr/>
          <p:nvPr/>
        </p:nvSpPr>
        <p:spPr>
          <a:xfrm>
            <a:off x="3842033" y="2085612"/>
            <a:ext cx="2830650" cy="324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200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설계 원칙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B165621-0468-4CE9-1B8E-65D1C5DB7FC7}"/>
              </a:ext>
            </a:extLst>
          </p:cNvPr>
          <p:cNvSpPr/>
          <p:nvPr/>
        </p:nvSpPr>
        <p:spPr>
          <a:xfrm>
            <a:off x="342780" y="2406386"/>
            <a:ext cx="3042559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Active-Active DR 구축 시, 인프라 및 DB 형상변경에 따른 업무 애플리케이션 기능 및 연계 기능 수정 필요성 확인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구축 환경에 따른 업무 애플리케이션 환경 변수 설정 내역 확인 및 적용방안 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재해 발생 시 애플리케이션 및 연계서비스 접속 경로 전환 방식 및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활성화 방안 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 센터에 적용된 현황을 기반으로 DR 에 최적화된 SW 설계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en-US" altLang="ko-KR" sz="120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08D659F-7A58-0AD4-5441-0978616E26A9}"/>
              </a:ext>
            </a:extLst>
          </p:cNvPr>
          <p:cNvSpPr/>
          <p:nvPr/>
        </p:nvSpPr>
        <p:spPr>
          <a:xfrm>
            <a:off x="3842033" y="2400853"/>
            <a:ext cx="2830650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주 센터 핵심 SW 라이선스 정책 반영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비용 최소화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최신 트렌드를 반영한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SDDC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아키텍처 기반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주 센터 SW 호환성 고려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시스템 부하와 안정성 고려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7" name="자유형: 도형 71">
            <a:extLst>
              <a:ext uri="{FF2B5EF4-FFF2-40B4-BE49-F238E27FC236}">
                <a16:creationId xmlns:a16="http://schemas.microsoft.com/office/drawing/2014/main" id="{2CC9DE35-9E01-3826-48FE-9A1DAD03A3C3}"/>
              </a:ext>
            </a:extLst>
          </p:cNvPr>
          <p:cNvSpPr/>
          <p:nvPr/>
        </p:nvSpPr>
        <p:spPr bwMode="auto">
          <a:xfrm>
            <a:off x="4008943" y="3244220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2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48" name="자유형: 도형 71">
            <a:extLst>
              <a:ext uri="{FF2B5EF4-FFF2-40B4-BE49-F238E27FC236}">
                <a16:creationId xmlns:a16="http://schemas.microsoft.com/office/drawing/2014/main" id="{BCC5EC7A-8F7A-A788-56EC-30BCA7AA6305}"/>
              </a:ext>
            </a:extLst>
          </p:cNvPr>
          <p:cNvSpPr/>
          <p:nvPr/>
        </p:nvSpPr>
        <p:spPr bwMode="auto">
          <a:xfrm>
            <a:off x="4008943" y="3820284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3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49" name="자유형: 도형 71">
            <a:extLst>
              <a:ext uri="{FF2B5EF4-FFF2-40B4-BE49-F238E27FC236}">
                <a16:creationId xmlns:a16="http://schemas.microsoft.com/office/drawing/2014/main" id="{D0F44B88-E6B5-78E1-08E8-02801CF88F39}"/>
              </a:ext>
            </a:extLst>
          </p:cNvPr>
          <p:cNvSpPr/>
          <p:nvPr/>
        </p:nvSpPr>
        <p:spPr bwMode="auto">
          <a:xfrm>
            <a:off x="4001416" y="4381373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4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0" name="자유형: 도형 71">
            <a:extLst>
              <a:ext uri="{FF2B5EF4-FFF2-40B4-BE49-F238E27FC236}">
                <a16:creationId xmlns:a16="http://schemas.microsoft.com/office/drawing/2014/main" id="{DCCC53AF-9761-F0EF-2AC7-FAA0F3764D13}"/>
              </a:ext>
            </a:extLst>
          </p:cNvPr>
          <p:cNvSpPr/>
          <p:nvPr/>
        </p:nvSpPr>
        <p:spPr bwMode="auto">
          <a:xfrm>
            <a:off x="4017163" y="4921433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5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1" name="자유형: 도형 71">
            <a:extLst>
              <a:ext uri="{FF2B5EF4-FFF2-40B4-BE49-F238E27FC236}">
                <a16:creationId xmlns:a16="http://schemas.microsoft.com/office/drawing/2014/main" id="{9015D033-9A5C-B999-BFC8-0504004E690F}"/>
              </a:ext>
            </a:extLst>
          </p:cNvPr>
          <p:cNvSpPr/>
          <p:nvPr/>
        </p:nvSpPr>
        <p:spPr bwMode="auto">
          <a:xfrm>
            <a:off x="4008943" y="5512472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6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2" name="이등변 삼각형 151">
            <a:extLst>
              <a:ext uri="{FF2B5EF4-FFF2-40B4-BE49-F238E27FC236}">
                <a16:creationId xmlns:a16="http://schemas.microsoft.com/office/drawing/2014/main" id="{56C91013-75D1-5ECA-2046-EBEB4EB76A25}"/>
              </a:ext>
            </a:extLst>
          </p:cNvPr>
          <p:cNvSpPr/>
          <p:nvPr/>
        </p:nvSpPr>
        <p:spPr bwMode="auto">
          <a:xfrm rot="5400000">
            <a:off x="1838780" y="4279584"/>
            <a:ext cx="3600399" cy="317028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3" name="자유형: 도형 71">
            <a:extLst>
              <a:ext uri="{FF2B5EF4-FFF2-40B4-BE49-F238E27FC236}">
                <a16:creationId xmlns:a16="http://schemas.microsoft.com/office/drawing/2014/main" id="{4DF8F6CB-D784-7B02-9BF4-E0EF4989E951}"/>
              </a:ext>
            </a:extLst>
          </p:cNvPr>
          <p:cNvSpPr/>
          <p:nvPr/>
        </p:nvSpPr>
        <p:spPr bwMode="auto">
          <a:xfrm>
            <a:off x="4020662" y="2668156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1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4" name="모서리가 둥근 직사각형 12">
            <a:extLst>
              <a:ext uri="{FF2B5EF4-FFF2-40B4-BE49-F238E27FC236}">
                <a16:creationId xmlns:a16="http://schemas.microsoft.com/office/drawing/2014/main" id="{9373C8AC-751C-95A6-FA28-180086BFBC5E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5" name="양쪽 모서리가 둥근 사각형 101">
            <a:extLst>
              <a:ext uri="{FF2B5EF4-FFF2-40B4-BE49-F238E27FC236}">
                <a16:creationId xmlns:a16="http://schemas.microsoft.com/office/drawing/2014/main" id="{9375D009-CF7E-B8AC-ADF4-47E90B60AE0A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설계 원칙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156" name="그림 138" descr="그림1.png">
            <a:extLst>
              <a:ext uri="{FF2B5EF4-FFF2-40B4-BE49-F238E27FC236}">
                <a16:creationId xmlns:a16="http://schemas.microsoft.com/office/drawing/2014/main" id="{467ED4BC-1423-B211-4089-CF5462BFAF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" name="모서리가 둥근 직사각형 12">
            <a:extLst>
              <a:ext uri="{FF2B5EF4-FFF2-40B4-BE49-F238E27FC236}">
                <a16:creationId xmlns:a16="http://schemas.microsoft.com/office/drawing/2014/main" id="{85D41107-968E-9F25-6DA6-ABCBC94EDC7C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 센터의 응용시스템 구성 및 운영 환경을 기반으로 DR 센터에 구축할 응용시스템 아키텍처를 설계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부동산종합공부시스템 업무 연속성 및 시스템 호환성을 보장하는 응용시스템 설계 요건 및 원칙 정의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58" name="양쪽 모서리가 둥근 사각형 101">
            <a:extLst>
              <a:ext uri="{FF2B5EF4-FFF2-40B4-BE49-F238E27FC236}">
                <a16:creationId xmlns:a16="http://schemas.microsoft.com/office/drawing/2014/main" id="{C3D36B8E-FFE4-9817-D3FB-5724F161CA3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280065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 센터에서 운영중인 부동산종합공부시스템과의 호환성 및 업무 연속성을 보장하는 소프트웨어 정의 아키텍처로 설계하고 최신 트렌드 및 동기화를 반영할 수 있도록 설계함</a:t>
            </a:r>
          </a:p>
          <a:p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3.3.3.2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설계방안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사각형: 둥근 모서리 4">
            <a:extLst>
              <a:ext uri="{FF2B5EF4-FFF2-40B4-BE49-F238E27FC236}">
                <a16:creationId xmlns:a16="http://schemas.microsoft.com/office/drawing/2014/main" id="{0C9EB1D2-F91B-CE76-48F6-07D6D53B26D6}"/>
              </a:ext>
            </a:extLst>
          </p:cNvPr>
          <p:cNvSpPr/>
          <p:nvPr/>
        </p:nvSpPr>
        <p:spPr bwMode="auto">
          <a:xfrm>
            <a:off x="695202" y="4723349"/>
            <a:ext cx="791706" cy="325219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현황 분석서</a:t>
            </a:r>
          </a:p>
        </p:txBody>
      </p:sp>
      <p:sp>
        <p:nvSpPr>
          <p:cNvPr id="3" name="사각형: 둥근 모서리 4">
            <a:extLst>
              <a:ext uri="{FF2B5EF4-FFF2-40B4-BE49-F238E27FC236}">
                <a16:creationId xmlns:a16="http://schemas.microsoft.com/office/drawing/2014/main" id="{57AD6508-C564-6E02-EB34-430043C9413C}"/>
              </a:ext>
            </a:extLst>
          </p:cNvPr>
          <p:cNvSpPr/>
          <p:nvPr/>
        </p:nvSpPr>
        <p:spPr bwMode="auto">
          <a:xfrm>
            <a:off x="709235" y="3343107"/>
            <a:ext cx="791706" cy="361036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요구사항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정의서</a:t>
            </a:r>
          </a:p>
        </p:txBody>
      </p:sp>
      <p:sp>
        <p:nvSpPr>
          <p:cNvPr id="4" name="사각형: 둥근 모서리 4">
            <a:extLst>
              <a:ext uri="{FF2B5EF4-FFF2-40B4-BE49-F238E27FC236}">
                <a16:creationId xmlns:a16="http://schemas.microsoft.com/office/drawing/2014/main" id="{7506FC48-6D10-FDE9-9BF2-FAAE4837E055}"/>
              </a:ext>
            </a:extLst>
          </p:cNvPr>
          <p:cNvSpPr/>
          <p:nvPr/>
        </p:nvSpPr>
        <p:spPr bwMode="auto">
          <a:xfrm>
            <a:off x="695202" y="5206423"/>
            <a:ext cx="791706" cy="325219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인터뷰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E98A627D-57AB-8735-379F-61E0E3C1C03B}"/>
              </a:ext>
            </a:extLst>
          </p:cNvPr>
          <p:cNvSpPr/>
          <p:nvPr/>
        </p:nvSpPr>
        <p:spPr bwMode="auto">
          <a:xfrm>
            <a:off x="1677769" y="3609010"/>
            <a:ext cx="773501" cy="639950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요구사항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도출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506F441C-3451-ACD3-46A3-293E2FDF02F7}"/>
              </a:ext>
            </a:extLst>
          </p:cNvPr>
          <p:cNvSpPr/>
          <p:nvPr/>
        </p:nvSpPr>
        <p:spPr bwMode="auto">
          <a:xfrm>
            <a:off x="631952" y="4565492"/>
            <a:ext cx="912610" cy="1094725"/>
          </a:xfrm>
          <a:prstGeom prst="roundRect">
            <a:avLst>
              <a:gd name="adj" fmla="val 4698"/>
            </a:avLst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900" b="1" dirty="0">
              <a:ea typeface="나눔고딕" panose="020D0604000000000000" pitchFamily="50" charset="-127"/>
            </a:endParaRPr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348FDC95-48BD-BE8C-6E2E-4E035DE5D8A5}"/>
              </a:ext>
            </a:extLst>
          </p:cNvPr>
          <p:cNvSpPr/>
          <p:nvPr/>
        </p:nvSpPr>
        <p:spPr bwMode="auto">
          <a:xfrm>
            <a:off x="1667991" y="4760396"/>
            <a:ext cx="766298" cy="698706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시사점 및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개선사항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EBE25A4-394B-B26C-DBAB-7A88C4EFEEC5}"/>
              </a:ext>
            </a:extLst>
          </p:cNvPr>
          <p:cNvCxnSpPr>
            <a:stCxn id="4" idx="0"/>
            <a:endCxn id="2" idx="2"/>
          </p:cNvCxnSpPr>
          <p:nvPr/>
        </p:nvCxnSpPr>
        <p:spPr bwMode="auto">
          <a:xfrm flipV="1">
            <a:off x="1091055" y="5048567"/>
            <a:ext cx="0" cy="157856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E36A727-601A-9E21-73D9-52A65394410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 bwMode="auto">
          <a:xfrm flipV="1">
            <a:off x="1544562" y="5109750"/>
            <a:ext cx="123429" cy="3105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605E71C1-900A-DF18-1113-033E51D3F0AB}"/>
              </a:ext>
            </a:extLst>
          </p:cNvPr>
          <p:cNvSpPr/>
          <p:nvPr/>
        </p:nvSpPr>
        <p:spPr bwMode="auto">
          <a:xfrm>
            <a:off x="2976089" y="4385792"/>
            <a:ext cx="783281" cy="1051234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 원칙 수립</a:t>
            </a:r>
          </a:p>
        </p:txBody>
      </p:sp>
      <p:sp>
        <p:nvSpPr>
          <p:cNvPr id="12" name="사각형: 둥근 모서리 8">
            <a:extLst>
              <a:ext uri="{FF2B5EF4-FFF2-40B4-BE49-F238E27FC236}">
                <a16:creationId xmlns:a16="http://schemas.microsoft.com/office/drawing/2014/main" id="{DCB386F2-C741-5372-684A-43D60389DD64}"/>
              </a:ext>
            </a:extLst>
          </p:cNvPr>
          <p:cNvSpPr/>
          <p:nvPr/>
        </p:nvSpPr>
        <p:spPr bwMode="auto">
          <a:xfrm>
            <a:off x="4034656" y="3620920"/>
            <a:ext cx="560908" cy="352651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응용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</a:p>
        </p:txBody>
      </p:sp>
      <p:sp>
        <p:nvSpPr>
          <p:cNvPr id="24" name="화살표: 오각형 75">
            <a:extLst>
              <a:ext uri="{FF2B5EF4-FFF2-40B4-BE49-F238E27FC236}">
                <a16:creationId xmlns:a16="http://schemas.microsoft.com/office/drawing/2014/main" id="{2CE5CDE3-D872-2721-CA10-D697D9A871B4}"/>
              </a:ext>
            </a:extLst>
          </p:cNvPr>
          <p:cNvSpPr/>
          <p:nvPr/>
        </p:nvSpPr>
        <p:spPr>
          <a:xfrm>
            <a:off x="507218" y="2287812"/>
            <a:ext cx="2121325" cy="342515"/>
          </a:xfrm>
          <a:prstGeom prst="homePlat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algn="ctr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ea typeface="나눔고딕" panose="020D0604000000000000" pitchFamily="50" charset="-127"/>
              </a:rPr>
              <a:t>주 센터 응용 아키텍처 설계 항목</a:t>
            </a:r>
            <a:endParaRPr kumimoji="1" lang="ko-KR" altLang="en-US" sz="1000" b="1" dirty="0"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56AC25-5354-2E42-77E3-8C9938F0240C}"/>
              </a:ext>
            </a:extLst>
          </p:cNvPr>
          <p:cNvSpPr/>
          <p:nvPr/>
        </p:nvSpPr>
        <p:spPr>
          <a:xfrm>
            <a:off x="534274" y="2860224"/>
            <a:ext cx="2145470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7DF689-92C0-EE6D-E743-2F0B16D4AB9D}"/>
              </a:ext>
            </a:extLst>
          </p:cNvPr>
          <p:cNvSpPr/>
          <p:nvPr/>
        </p:nvSpPr>
        <p:spPr>
          <a:xfrm>
            <a:off x="2869429" y="2860223"/>
            <a:ext cx="1048360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27" name="화살표: 오각형 77">
            <a:extLst>
              <a:ext uri="{FF2B5EF4-FFF2-40B4-BE49-F238E27FC236}">
                <a16:creationId xmlns:a16="http://schemas.microsoft.com/office/drawing/2014/main" id="{DEFC95E7-1A4A-DBBA-2742-092E3CB7395F}"/>
              </a:ext>
            </a:extLst>
          </p:cNvPr>
          <p:cNvSpPr/>
          <p:nvPr/>
        </p:nvSpPr>
        <p:spPr>
          <a:xfrm>
            <a:off x="2693530" y="2285181"/>
            <a:ext cx="3925557" cy="320915"/>
          </a:xfrm>
          <a:prstGeom prst="homePlat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algn="ctr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spc="-20" dirty="0">
                <a:ea typeface="나눔고딕" panose="020D0604000000000000" pitchFamily="50" charset="-127"/>
              </a:rPr>
              <a:t>DR </a:t>
            </a:r>
            <a:r>
              <a:rPr lang="ko-KR" altLang="en-US" sz="1050" b="1" spc="-20" dirty="0">
                <a:ea typeface="나눔고딕" panose="020D0604000000000000" pitchFamily="50" charset="-127"/>
              </a:rPr>
              <a:t>센터 응용 </a:t>
            </a:r>
            <a:r>
              <a:rPr lang="ko-KR" altLang="en-US" sz="1050" b="1" spc="-60" dirty="0">
                <a:ea typeface="나눔고딕" panose="020D0604000000000000" pitchFamily="50" charset="-127"/>
              </a:rPr>
              <a:t>아키텍처 수립</a:t>
            </a:r>
            <a:endParaRPr kumimoji="1" lang="ko-KR" altLang="en-US" sz="700" spc="-60" dirty="0">
              <a:ea typeface="나눔고딕" panose="020D0604000000000000" pitchFamily="50" charset="-127"/>
            </a:endParaRPr>
          </a:p>
        </p:txBody>
      </p:sp>
      <p:sp>
        <p:nvSpPr>
          <p:cNvPr id="28" name="사각형: 둥근 모서리 8">
            <a:extLst>
              <a:ext uri="{FF2B5EF4-FFF2-40B4-BE49-F238E27FC236}">
                <a16:creationId xmlns:a16="http://schemas.microsoft.com/office/drawing/2014/main" id="{0E21C8DE-816C-F6BD-16F2-4B9F8A49075E}"/>
              </a:ext>
            </a:extLst>
          </p:cNvPr>
          <p:cNvSpPr/>
          <p:nvPr/>
        </p:nvSpPr>
        <p:spPr bwMode="auto">
          <a:xfrm>
            <a:off x="2974270" y="3609964"/>
            <a:ext cx="784598" cy="363605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카테고리 별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항목 분류</a:t>
            </a:r>
          </a:p>
        </p:txBody>
      </p:sp>
      <p:cxnSp>
        <p:nvCxnSpPr>
          <p:cNvPr id="29" name="꺾인 연결선 195">
            <a:extLst>
              <a:ext uri="{FF2B5EF4-FFF2-40B4-BE49-F238E27FC236}">
                <a16:creationId xmlns:a16="http://schemas.microsoft.com/office/drawing/2014/main" id="{CF0BA0E7-39CB-C0C0-4975-508C52CF98C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 bwMode="auto">
          <a:xfrm flipV="1">
            <a:off x="2434289" y="4911409"/>
            <a:ext cx="541800" cy="198340"/>
          </a:xfrm>
          <a:prstGeom prst="bentConnector3">
            <a:avLst>
              <a:gd name="adj1" fmla="val 50000"/>
            </a:avLst>
          </a:prstGeom>
          <a:ln>
            <a:prstDash val="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꺾인 연결선 196">
            <a:extLst>
              <a:ext uri="{FF2B5EF4-FFF2-40B4-BE49-F238E27FC236}">
                <a16:creationId xmlns:a16="http://schemas.microsoft.com/office/drawing/2014/main" id="{79FEF8F3-280E-758C-BE3E-AE58C137A49E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 bwMode="auto">
          <a:xfrm>
            <a:off x="2451270" y="3928986"/>
            <a:ext cx="524818" cy="98242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꺾인 연결선 197">
            <a:extLst>
              <a:ext uri="{FF2B5EF4-FFF2-40B4-BE49-F238E27FC236}">
                <a16:creationId xmlns:a16="http://schemas.microsoft.com/office/drawing/2014/main" id="{39E0D645-0DEA-70D0-BDE9-D87930D0F31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 bwMode="auto">
          <a:xfrm flipV="1">
            <a:off x="2434289" y="4911409"/>
            <a:ext cx="541800" cy="198340"/>
          </a:xfrm>
          <a:prstGeom prst="bentConnector3">
            <a:avLst>
              <a:gd name="adj1" fmla="val 50000"/>
            </a:avLst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8B19D55-8BDC-2C03-FA64-5A1371ACC90E}"/>
              </a:ext>
            </a:extLst>
          </p:cNvPr>
          <p:cNvCxnSpPr>
            <a:cxnSpLocks/>
            <a:stCxn id="11" idx="0"/>
            <a:endCxn id="28" idx="2"/>
          </p:cNvCxnSpPr>
          <p:nvPr/>
        </p:nvCxnSpPr>
        <p:spPr bwMode="auto">
          <a:xfrm flipH="1" flipV="1">
            <a:off x="3366569" y="3973570"/>
            <a:ext cx="1161" cy="412222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8210463-490E-3132-9C6D-B43841F14505}"/>
              </a:ext>
            </a:extLst>
          </p:cNvPr>
          <p:cNvSpPr/>
          <p:nvPr/>
        </p:nvSpPr>
        <p:spPr>
          <a:xfrm>
            <a:off x="3992483" y="2860223"/>
            <a:ext cx="1269434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B8E4C71-32CA-A05E-DF8E-8A995EB85471}"/>
              </a:ext>
            </a:extLst>
          </p:cNvPr>
          <p:cNvSpPr/>
          <p:nvPr/>
        </p:nvSpPr>
        <p:spPr>
          <a:xfrm>
            <a:off x="5349654" y="2860223"/>
            <a:ext cx="1269434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cxnSp>
        <p:nvCxnSpPr>
          <p:cNvPr id="38" name="꺾인 연결선 203">
            <a:extLst>
              <a:ext uri="{FF2B5EF4-FFF2-40B4-BE49-F238E27FC236}">
                <a16:creationId xmlns:a16="http://schemas.microsoft.com/office/drawing/2014/main" id="{3F4A4E3D-DC80-9B68-024D-866CD9E20A81}"/>
              </a:ext>
            </a:extLst>
          </p:cNvPr>
          <p:cNvCxnSpPr>
            <a:cxnSpLocks/>
            <a:stCxn id="28" idx="0"/>
            <a:endCxn id="12" idx="0"/>
          </p:cNvCxnSpPr>
          <p:nvPr/>
        </p:nvCxnSpPr>
        <p:spPr bwMode="auto">
          <a:xfrm rot="16200000" flipH="1">
            <a:off x="3835361" y="3141171"/>
            <a:ext cx="10955" cy="948541"/>
          </a:xfrm>
          <a:prstGeom prst="bentConnector3">
            <a:avLst>
              <a:gd name="adj1" fmla="val -2025339"/>
            </a:avLst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9" name="사각형: 둥근 모서리 8">
            <a:extLst>
              <a:ext uri="{FF2B5EF4-FFF2-40B4-BE49-F238E27FC236}">
                <a16:creationId xmlns:a16="http://schemas.microsoft.com/office/drawing/2014/main" id="{D4C3BE7D-A9C5-DBFA-7B1E-FE932C7988EF}"/>
              </a:ext>
            </a:extLst>
          </p:cNvPr>
          <p:cNvSpPr/>
          <p:nvPr/>
        </p:nvSpPr>
        <p:spPr bwMode="auto">
          <a:xfrm>
            <a:off x="4239404" y="4420287"/>
            <a:ext cx="783281" cy="1051234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설계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방향성 도출</a:t>
            </a:r>
          </a:p>
        </p:txBody>
      </p:sp>
      <p:sp>
        <p:nvSpPr>
          <p:cNvPr id="40" name="사각형: 둥근 모서리 8">
            <a:extLst>
              <a:ext uri="{FF2B5EF4-FFF2-40B4-BE49-F238E27FC236}">
                <a16:creationId xmlns:a16="http://schemas.microsoft.com/office/drawing/2014/main" id="{62D9135A-83E3-3059-3743-66B87DCB341F}"/>
              </a:ext>
            </a:extLst>
          </p:cNvPr>
          <p:cNvSpPr/>
          <p:nvPr/>
        </p:nvSpPr>
        <p:spPr bwMode="auto">
          <a:xfrm>
            <a:off x="4139833" y="5671657"/>
            <a:ext cx="971801" cy="352652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도출된 방향성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기반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설계 정의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E5E0038-18CD-3D27-272A-FBB659FA20B2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 bwMode="auto">
          <a:xfrm flipH="1">
            <a:off x="4625734" y="5471520"/>
            <a:ext cx="5311" cy="200137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2" name="사각형: 둥근 모서리 8">
            <a:extLst>
              <a:ext uri="{FF2B5EF4-FFF2-40B4-BE49-F238E27FC236}">
                <a16:creationId xmlns:a16="http://schemas.microsoft.com/office/drawing/2014/main" id="{3A825191-5649-FA5E-CDDD-645F9CFDC73B}"/>
              </a:ext>
            </a:extLst>
          </p:cNvPr>
          <p:cNvSpPr/>
          <p:nvPr/>
        </p:nvSpPr>
        <p:spPr bwMode="auto">
          <a:xfrm>
            <a:off x="5486577" y="3609964"/>
            <a:ext cx="998812" cy="827660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부동산종합공부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응용 아키텍처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연계 아키텍처</a:t>
            </a:r>
          </a:p>
        </p:txBody>
      </p:sp>
      <p:cxnSp>
        <p:nvCxnSpPr>
          <p:cNvPr id="43" name="꺾인 연결선 209">
            <a:extLst>
              <a:ext uri="{FF2B5EF4-FFF2-40B4-BE49-F238E27FC236}">
                <a16:creationId xmlns:a16="http://schemas.microsoft.com/office/drawing/2014/main" id="{F91AD013-9696-BF83-5E60-7AA205F02A1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 bwMode="auto">
          <a:xfrm flipV="1">
            <a:off x="5111635" y="4023794"/>
            <a:ext cx="374942" cy="1824189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42EF35-9833-0945-2A79-A0ADFC6B5057}"/>
              </a:ext>
            </a:extLst>
          </p:cNvPr>
          <p:cNvSpPr txBox="1"/>
          <p:nvPr/>
        </p:nvSpPr>
        <p:spPr>
          <a:xfrm>
            <a:off x="2870672" y="2864945"/>
            <a:ext cx="53732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ko-KR" altLang="en-US" sz="1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설계원칙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CEBD09-F9A4-CE89-A408-F9579BB4A0BD}"/>
              </a:ext>
            </a:extLst>
          </p:cNvPr>
          <p:cNvSpPr txBox="1"/>
          <p:nvPr/>
        </p:nvSpPr>
        <p:spPr>
          <a:xfrm>
            <a:off x="3992483" y="2870190"/>
            <a:ext cx="65401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설계방향성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B3F747-8628-35EF-C1AE-74BE07DA192D}"/>
              </a:ext>
            </a:extLst>
          </p:cNvPr>
          <p:cNvSpPr txBox="1"/>
          <p:nvPr/>
        </p:nvSpPr>
        <p:spPr>
          <a:xfrm>
            <a:off x="5353335" y="2864312"/>
            <a:ext cx="53732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설계정의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4A0384B-3682-DC73-31EA-C04C161F2267}"/>
              </a:ext>
            </a:extLst>
          </p:cNvPr>
          <p:cNvSpPr/>
          <p:nvPr/>
        </p:nvSpPr>
        <p:spPr>
          <a:xfrm>
            <a:off x="419304" y="2086070"/>
            <a:ext cx="6304662" cy="422666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8">
            <a:extLst>
              <a:ext uri="{FF2B5EF4-FFF2-40B4-BE49-F238E27FC236}">
                <a16:creationId xmlns:a16="http://schemas.microsoft.com/office/drawing/2014/main" id="{58A11B8D-4FA6-6E80-6F9F-91A938A17220}"/>
              </a:ext>
            </a:extLst>
          </p:cNvPr>
          <p:cNvSpPr/>
          <p:nvPr/>
        </p:nvSpPr>
        <p:spPr bwMode="auto">
          <a:xfrm>
            <a:off x="4661894" y="3620921"/>
            <a:ext cx="560908" cy="352650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연계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E5BB36FC-CA17-5699-8AD5-E2E354E68512}"/>
              </a:ext>
            </a:extLst>
          </p:cNvPr>
          <p:cNvCxnSpPr>
            <a:stCxn id="28" idx="0"/>
            <a:endCxn id="48" idx="0"/>
          </p:cNvCxnSpPr>
          <p:nvPr/>
        </p:nvCxnSpPr>
        <p:spPr>
          <a:xfrm rot="16200000" flipH="1">
            <a:off x="4148980" y="2827553"/>
            <a:ext cx="10956" cy="1575779"/>
          </a:xfrm>
          <a:prstGeom prst="bentConnector3">
            <a:avLst>
              <a:gd name="adj1" fmla="val -202515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3F8862C-6F40-56E1-D07A-7395B6C1D726}"/>
              </a:ext>
            </a:extLst>
          </p:cNvPr>
          <p:cNvCxnSpPr>
            <a:cxnSpLocks/>
            <a:stCxn id="12" idx="2"/>
            <a:endCxn id="39" idx="0"/>
          </p:cNvCxnSpPr>
          <p:nvPr/>
        </p:nvCxnSpPr>
        <p:spPr>
          <a:xfrm rot="16200000" flipH="1">
            <a:off x="4249720" y="4038961"/>
            <a:ext cx="446716" cy="315935"/>
          </a:xfrm>
          <a:prstGeom prst="bentConnector3">
            <a:avLst/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16B97C2-5FFD-C402-36B4-B0D0FACB5080}"/>
              </a:ext>
            </a:extLst>
          </p:cNvPr>
          <p:cNvCxnSpPr>
            <a:stCxn id="48" idx="2"/>
            <a:endCxn id="39" idx="0"/>
          </p:cNvCxnSpPr>
          <p:nvPr/>
        </p:nvCxnSpPr>
        <p:spPr>
          <a:xfrm rot="5400000">
            <a:off x="4563339" y="4041277"/>
            <a:ext cx="446716" cy="311303"/>
          </a:xfrm>
          <a:prstGeom prst="bentConnector3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01497E2A-77C8-A18D-9B2B-65967915BF12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1279007" y="3530224"/>
            <a:ext cx="224843" cy="572681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2">
            <a:extLst>
              <a:ext uri="{FF2B5EF4-FFF2-40B4-BE49-F238E27FC236}">
                <a16:creationId xmlns:a16="http://schemas.microsoft.com/office/drawing/2014/main" id="{A709A0E0-7828-B625-5E33-1ED7DC43AC44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4" name="양쪽 모서리가 둥근 사각형 101">
            <a:extLst>
              <a:ext uri="{FF2B5EF4-FFF2-40B4-BE49-F238E27FC236}">
                <a16:creationId xmlns:a16="http://schemas.microsoft.com/office/drawing/2014/main" id="{A1CCA1D3-F0F8-AE1D-1BFB-D8244C5D3868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설계 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55" name="그림 138" descr="그림1.png">
            <a:extLst>
              <a:ext uri="{FF2B5EF4-FFF2-40B4-BE49-F238E27FC236}">
                <a16:creationId xmlns:a16="http://schemas.microsoft.com/office/drawing/2014/main" id="{EF14DDBC-95F1-07C2-792D-D23B02BBF0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모서리가 둥근 직사각형 12">
            <a:extLst>
              <a:ext uri="{FF2B5EF4-FFF2-40B4-BE49-F238E27FC236}">
                <a16:creationId xmlns:a16="http://schemas.microsoft.com/office/drawing/2014/main" id="{16D9666B-7D83-5247-DC96-2557E9B17040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운영 중 발생하는 담당자 및 시스템 운영자의 요구사항을 기반으로 기능 개선 사항을 도출하고 운영중인 응용시스템 현황 분석을 기반으로 도출된 시사점 및 개선사항을 고려하여 아키텍처 설계 원칙을 수립</a:t>
            </a:r>
          </a:p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수립된 원칙을 기준으로 방향성을 도출하고 도출된 방향성을 기반으로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구축 응용시스템 아키텍처 설계를 정의</a:t>
            </a:r>
          </a:p>
        </p:txBody>
      </p:sp>
      <p:sp>
        <p:nvSpPr>
          <p:cNvPr id="57" name="양쪽 모서리가 둥근 사각형 101">
            <a:extLst>
              <a:ext uri="{FF2B5EF4-FFF2-40B4-BE49-F238E27FC236}">
                <a16:creationId xmlns:a16="http://schemas.microsoft.com/office/drawing/2014/main" id="{7ADF216D-C542-47DC-56D1-E103E7BB27D4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347807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 센터에서 운영중인 부동산종합공부시스템 응용서비스별 분석관점/목적/활용방안을 기반으로 응용서비스 영향도별 가중치를 산정하고 설계 요건 항목을 도출함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3.3.3.3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설계요건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A648A1-61D0-4E19-7B8C-D503D35FA62A}"/>
              </a:ext>
            </a:extLst>
          </p:cNvPr>
          <p:cNvSpPr/>
          <p:nvPr/>
        </p:nvSpPr>
        <p:spPr>
          <a:xfrm>
            <a:off x="381682" y="2057358"/>
            <a:ext cx="1799010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응용시스템 분석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DB6526-54CA-69A1-5CBA-A905D69D48A0}"/>
              </a:ext>
            </a:extLst>
          </p:cNvPr>
          <p:cNvSpPr/>
          <p:nvPr/>
        </p:nvSpPr>
        <p:spPr>
          <a:xfrm>
            <a:off x="2468723" y="2069343"/>
            <a:ext cx="4273369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영향도 매트릭스 </a:t>
            </a: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5FD0F64-6418-EA69-528B-0C02A2D88AA5}"/>
              </a:ext>
            </a:extLst>
          </p:cNvPr>
          <p:cNvSpPr/>
          <p:nvPr/>
        </p:nvSpPr>
        <p:spPr bwMode="auto">
          <a:xfrm rot="5400000">
            <a:off x="526478" y="4383489"/>
            <a:ext cx="3600399" cy="227997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31F587D-FD4C-BBA8-81C0-A10CA53FB9E4}"/>
              </a:ext>
            </a:extLst>
          </p:cNvPr>
          <p:cNvSpPr/>
          <p:nvPr/>
        </p:nvSpPr>
        <p:spPr>
          <a:xfrm>
            <a:off x="505252" y="2573206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관점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4AACCE0-7612-01A7-404B-F1ADEBDB6ED5}"/>
              </a:ext>
            </a:extLst>
          </p:cNvPr>
          <p:cNvSpPr/>
          <p:nvPr/>
        </p:nvSpPr>
        <p:spPr>
          <a:xfrm>
            <a:off x="522836" y="4121408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목적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143C5CB-1D81-D8E5-7729-B49DC2877878}"/>
              </a:ext>
            </a:extLst>
          </p:cNvPr>
          <p:cNvSpPr/>
          <p:nvPr/>
        </p:nvSpPr>
        <p:spPr>
          <a:xfrm>
            <a:off x="518526" y="5218620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활용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B4B0EE-35BF-B40E-94AF-2F780AFF787E}"/>
              </a:ext>
            </a:extLst>
          </p:cNvPr>
          <p:cNvSpPr txBox="1"/>
          <p:nvPr/>
        </p:nvSpPr>
        <p:spPr>
          <a:xfrm>
            <a:off x="564692" y="3083489"/>
            <a:ext cx="1487498" cy="74981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ko-KR" altLang="en-US" sz="1100" dirty="0">
                <a:solidFill>
                  <a:srgbClr val="000000"/>
                </a:solidFill>
              </a:rPr>
              <a:t>애플리케이션 설계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배포 및 운영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테스트 및 검증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대내외 연계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993B21-E284-33EB-BE2E-21AB1904FA4A}"/>
              </a:ext>
            </a:extLst>
          </p:cNvPr>
          <p:cNvSpPr txBox="1"/>
          <p:nvPr/>
        </p:nvSpPr>
        <p:spPr>
          <a:xfrm>
            <a:off x="544407" y="4561406"/>
            <a:ext cx="1585111" cy="41125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DR </a:t>
            </a:r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구축 애플리케이션 영향도 구조화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AA7EFD-7B63-837C-B76C-2F714CDE7C18}"/>
              </a:ext>
            </a:extLst>
          </p:cNvPr>
          <p:cNvSpPr txBox="1"/>
          <p:nvPr/>
        </p:nvSpPr>
        <p:spPr>
          <a:xfrm>
            <a:off x="519495" y="5647200"/>
            <a:ext cx="1585111" cy="58053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신규 및 재개발 시 준수해야 할 </a:t>
            </a:r>
            <a:r>
              <a:rPr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DR </a:t>
            </a:r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설계 요건 항목 도출 기준선</a:t>
            </a:r>
          </a:p>
        </p:txBody>
      </p:sp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83F138D7-DB41-4A1F-2F41-504573DE0527}"/>
              </a:ext>
            </a:extLst>
          </p:cNvPr>
          <p:cNvGraphicFramePr>
            <a:graphicFrameLocks noGrp="1"/>
          </p:cNvGraphicFramePr>
          <p:nvPr/>
        </p:nvGraphicFramePr>
        <p:xfrm>
          <a:off x="2468724" y="2569263"/>
          <a:ext cx="4273369" cy="3600400"/>
        </p:xfrm>
        <a:graphic>
          <a:graphicData uri="http://schemas.openxmlformats.org/drawingml/2006/table">
            <a:tbl>
              <a:tblPr/>
              <a:tblGrid>
                <a:gridCol w="87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유형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업무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애플리케이션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연계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애플리케이션 설계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배포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운영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테스트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검증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대내외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연계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B05CD7-4B8A-EF73-DD89-E7AD7605CBB6}"/>
              </a:ext>
            </a:extLst>
          </p:cNvPr>
          <p:cNvSpPr/>
          <p:nvPr/>
        </p:nvSpPr>
        <p:spPr>
          <a:xfrm>
            <a:off x="381682" y="2393343"/>
            <a:ext cx="1799010" cy="400134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58" name="모서리가 둥근 직사각형 12">
            <a:extLst>
              <a:ext uri="{FF2B5EF4-FFF2-40B4-BE49-F238E27FC236}">
                <a16:creationId xmlns:a16="http://schemas.microsoft.com/office/drawing/2014/main" id="{C4AC50E3-D77D-3E37-6295-402761D14E8E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9" name="양쪽 모서리가 둥근 사각형 101">
            <a:extLst>
              <a:ext uri="{FF2B5EF4-FFF2-40B4-BE49-F238E27FC236}">
                <a16:creationId xmlns:a16="http://schemas.microsoft.com/office/drawing/2014/main" id="{F699ED66-CBF3-B618-0C7A-5C6C0F999E5E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설계요건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60" name="그림 138" descr="그림1.png">
            <a:extLst>
              <a:ext uri="{FF2B5EF4-FFF2-40B4-BE49-F238E27FC236}">
                <a16:creationId xmlns:a16="http://schemas.microsoft.com/office/drawing/2014/main" id="{1D45025B-17BA-A6AF-88A5-82EE771C7F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모서리가 둥근 직사각형 12">
            <a:extLst>
              <a:ext uri="{FF2B5EF4-FFF2-40B4-BE49-F238E27FC236}">
                <a16:creationId xmlns:a16="http://schemas.microsoft.com/office/drawing/2014/main" id="{1F84FE20-2694-E600-2BAA-26C67CA990A3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R="0" lvl="0" defTabSz="914400" rtl="0" eaLnBrk="1" fontAlgn="base" latinLnBrk="0" hangingPunct="1">
              <a:lnSpc>
                <a:spcPct val="15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신규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재개발 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설계 요건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설계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서버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하드코딩 금지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접속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설정정보 외부화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센터별 설정 분리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비밀번호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분리 관리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Stateless (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상태관리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세션은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Redis,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파일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임시 데이터는 공유 스토리지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WAS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로컬에 상태 저장 금지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빌드로 센터 간 동시 배포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연동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건 식별값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관리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배치는 활성 센터 단일 실행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※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차세대 구축사업 개발 표준에 반영</a:t>
            </a:r>
            <a:endParaRPr lang="en-US" altLang="ko-KR" sz="95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2" name="양쪽 모서리가 둥근 사각형 101">
            <a:extLst>
              <a:ext uri="{FF2B5EF4-FFF2-40B4-BE49-F238E27FC236}">
                <a16:creationId xmlns:a16="http://schemas.microsoft.com/office/drawing/2014/main" id="{B08C5A94-A6F0-4C5C-7536-44E3FC45D90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527E17-AFCA-0891-1992-1ACA1DC454AF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F10E8-7BA1-35CA-D0B7-AFAC15BF5EA1}"/>
              </a:ext>
            </a:extLst>
          </p:cNvPr>
          <p:cNvSpPr txBox="1"/>
          <p:nvPr/>
        </p:nvSpPr>
        <p:spPr>
          <a:xfrm>
            <a:off x="10067664" y="3233697"/>
            <a:ext cx="1255948" cy="47281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CNR-011-55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3763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/>
              </a:rPr>
              <a:t>VM </a:t>
            </a:r>
            <a:r>
              <a:rPr lang="en-US" altLang="ko-KR" dirty="0" err="1">
                <a:solidFill/>
              </a:rPr>
              <a:t>기반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구조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유지</a:t>
            </a:r>
            <a:r>
              <a:rPr lang="en-US" altLang="ko-KR" dirty="0">
                <a:solidFill/>
              </a:rPr>
              <a:t>, </a:t>
            </a:r>
            <a:r>
              <a:rPr lang="en-US" altLang="ko-KR" dirty="0" err="1">
                <a:solidFill/>
              </a:rPr>
              <a:t>연계서비스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연속성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확보</a:t>
            </a:r>
            <a:r>
              <a:rPr lang="en-US" altLang="ko-KR" dirty="0">
                <a:solidFill/>
              </a:rPr>
              <a:t>, </a:t>
            </a:r>
            <a:r>
              <a:rPr lang="en-US" altLang="ko-KR" dirty="0" err="1">
                <a:solidFill/>
              </a:rPr>
              <a:t>승인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기반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수동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전환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체계가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지원되도록</a:t>
            </a:r>
            <a:r>
              <a:rPr lang="en-US" altLang="ko-KR" dirty="0">
                <a:solidFill/>
              </a:rPr>
              <a:t> DR </a:t>
            </a:r>
            <a:r>
              <a:rPr lang="en-US" altLang="ko-KR" dirty="0" err="1">
                <a:solidFill/>
              </a:rPr>
              <a:t>구축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방향성을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설정하고</a:t>
            </a:r>
            <a:r>
              <a:rPr lang="en-US" altLang="ko-KR" dirty="0">
                <a:solidFill/>
              </a:rPr>
              <a:t> DR </a:t>
            </a:r>
            <a:r>
              <a:rPr lang="en-US" altLang="ko-KR" dirty="0" err="1">
                <a:solidFill/>
              </a:rPr>
              <a:t>복구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순위를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차등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적용하여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재해</a:t>
            </a:r>
            <a:r>
              <a:rPr lang="en-US" altLang="ko-KR" dirty="0">
                <a:solidFill/>
              </a:rPr>
              <a:t> 시 </a:t>
            </a:r>
            <a:r>
              <a:rPr lang="ko-KR" altLang="en-US" dirty="0"/>
              <a:t>부동산종합공부시스템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서비스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복구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체계를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확보함</a:t>
            </a:r>
            <a:endParaRPr lang="en-US" altLang="ko-KR" dirty="0">
              <a:solidFill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3.3.3.4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DR</a:t>
            </a:r>
            <a:r>
              <a:rPr lang="ko-KR" altLang="en-US" dirty="0"/>
              <a:t> 구축</a:t>
            </a:r>
            <a:r>
              <a:rPr lang="en-US" altLang="ko-KR" dirty="0"/>
              <a:t> </a:t>
            </a:r>
            <a:r>
              <a:rPr lang="ko-KR" altLang="en-US" dirty="0"/>
              <a:t>목표 및 범위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80850E-F15A-E9B4-29D9-53FC3B4596DE}"/>
              </a:ext>
            </a:extLst>
          </p:cNvPr>
          <p:cNvSpPr/>
          <p:nvPr/>
        </p:nvSpPr>
        <p:spPr>
          <a:xfrm>
            <a:off x="511929" y="2822991"/>
            <a:ext cx="2515698" cy="608831"/>
          </a:xfrm>
          <a:prstGeom prst="roundRect">
            <a:avLst>
              <a:gd name="adj" fmla="val 44427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5A0D0F3-6034-C757-70D9-86F5519DF5F0}"/>
              </a:ext>
            </a:extLst>
          </p:cNvPr>
          <p:cNvSpPr/>
          <p:nvPr/>
        </p:nvSpPr>
        <p:spPr>
          <a:xfrm>
            <a:off x="481125" y="4541011"/>
            <a:ext cx="2515698" cy="608831"/>
          </a:xfrm>
          <a:prstGeom prst="roundRect">
            <a:avLst>
              <a:gd name="adj" fmla="val 29664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D1D9D-3575-889D-B6E9-BF5D3F0C6187}"/>
              </a:ext>
            </a:extLst>
          </p:cNvPr>
          <p:cNvSpPr/>
          <p:nvPr/>
        </p:nvSpPr>
        <p:spPr>
          <a:xfrm>
            <a:off x="714108" y="3696922"/>
            <a:ext cx="2294676" cy="608831"/>
          </a:xfrm>
          <a:prstGeom prst="roundRect">
            <a:avLst>
              <a:gd name="adj" fmla="val 2822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0C7017F-C3BF-1594-83AC-E57CB013B8C4}"/>
              </a:ext>
            </a:extLst>
          </p:cNvPr>
          <p:cNvSpPr/>
          <p:nvPr/>
        </p:nvSpPr>
        <p:spPr>
          <a:xfrm>
            <a:off x="519264" y="5376038"/>
            <a:ext cx="2511021" cy="608831"/>
          </a:xfrm>
          <a:prstGeom prst="roundRect">
            <a:avLst>
              <a:gd name="adj" fmla="val 32552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58322-2E15-45AE-F67E-E6193D7D5D30}"/>
              </a:ext>
            </a:extLst>
          </p:cNvPr>
          <p:cNvSpPr txBox="1"/>
          <p:nvPr/>
        </p:nvSpPr>
        <p:spPr>
          <a:xfrm>
            <a:off x="1262698" y="2949650"/>
            <a:ext cx="1765954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800"/>
            </a:lvl1pPr>
          </a:lstStyle>
          <a:p>
            <a:pPr marL="72000" indent="-72000"/>
            <a:r>
              <a:rPr lang="en-US" altLang="ko-KR" sz="1000" b="1" dirty="0"/>
              <a:t>VM 애플리케이션 </a:t>
            </a:r>
            <a:r>
              <a:rPr lang="en-US" altLang="ko-KR" sz="1000" b="1"/>
              <a:t>구조 유지</a:t>
            </a:r>
            <a:endParaRPr lang="en-US" altLang="ko-KR" sz="1000" b="1" dirty="0"/>
          </a:p>
          <a:p>
            <a:pPr marL="72000" indent="-72000"/>
            <a:r>
              <a:rPr lang="en-US" altLang="ko-KR" sz="1000" b="1" dirty="0"/>
              <a:t>DR </a:t>
            </a:r>
            <a:r>
              <a:rPr lang="ko-KR" altLang="en-US" sz="1000" b="1" dirty="0"/>
              <a:t>환경 동일 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F8D83-AB74-C887-5BA7-DF4EC4CA0B8B}"/>
              </a:ext>
            </a:extLst>
          </p:cNvPr>
          <p:cNvSpPr txBox="1"/>
          <p:nvPr/>
        </p:nvSpPr>
        <p:spPr>
          <a:xfrm>
            <a:off x="1236089" y="4719647"/>
            <a:ext cx="1772695" cy="226591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800"/>
            </a:lvl1pPr>
          </a:lstStyle>
          <a:p>
            <a:r>
              <a:rPr lang="en-US" altLang="ko-KR" sz="1000" b="1" dirty="0"/>
              <a:t>DB Data </a:t>
            </a:r>
            <a:r>
              <a:rPr lang="ko-KR" altLang="en-US" sz="1000" b="1" dirty="0"/>
              <a:t>동기화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33922-EE41-2C73-D331-6763D2763951}"/>
              </a:ext>
            </a:extLst>
          </p:cNvPr>
          <p:cNvSpPr txBox="1"/>
          <p:nvPr/>
        </p:nvSpPr>
        <p:spPr>
          <a:xfrm>
            <a:off x="1255956" y="3734154"/>
            <a:ext cx="1772695" cy="534368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900"/>
            </a:lvl1pPr>
          </a:lstStyle>
          <a:p>
            <a:r>
              <a:rPr lang="ko-KR" altLang="en-US" sz="1000" b="1" dirty="0"/>
              <a:t>이용기관·인증수단 제공기관 연계 유지 및 전환</a:t>
            </a:r>
            <a:endParaRPr lang="en-US" altLang="ko-KR" sz="1000" b="1" dirty="0"/>
          </a:p>
          <a:p>
            <a:r>
              <a:rPr lang="ko-KR" altLang="en-US" sz="1000" b="1" dirty="0"/>
              <a:t>연계 운영 상태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E22BC-CC9F-C15D-26BE-0E7A1AB1F4DE}"/>
              </a:ext>
            </a:extLst>
          </p:cNvPr>
          <p:cNvSpPr txBox="1"/>
          <p:nvPr/>
        </p:nvSpPr>
        <p:spPr>
          <a:xfrm>
            <a:off x="1255957" y="5492619"/>
            <a:ext cx="1707834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900"/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</a:rPr>
              <a:t>VM, 배치, 연계 </a:t>
            </a:r>
            <a:r>
              <a:rPr lang="en-US" altLang="ko-KR" sz="1000" b="1" dirty="0" err="1">
                <a:solidFill>
                  <a:schemeClr val="bg1"/>
                </a:solidFill>
              </a:rPr>
              <a:t>기동</a:t>
            </a: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 err="1">
                <a:solidFill>
                  <a:schemeClr val="bg1"/>
                </a:solidFill>
              </a:rPr>
              <a:t>절차화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r>
              <a:rPr lang="ko-KR" altLang="en-US" sz="1000" b="1" dirty="0">
                <a:solidFill>
                  <a:schemeClr val="bg1"/>
                </a:solidFill>
              </a:rPr>
              <a:t>서비스 체크리스트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9CAC155-61DC-0D15-960B-3AF358773F0A}"/>
              </a:ext>
            </a:extLst>
          </p:cNvPr>
          <p:cNvSpPr/>
          <p:nvPr/>
        </p:nvSpPr>
        <p:spPr>
          <a:xfrm>
            <a:off x="3513567" y="2501134"/>
            <a:ext cx="3183759" cy="811100"/>
          </a:xfrm>
          <a:prstGeom prst="roundRect">
            <a:avLst>
              <a:gd name="adj" fmla="val 7769"/>
            </a:avLst>
          </a:prstGeom>
          <a:solidFill>
            <a:schemeClr val="bg1"/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        </a:t>
            </a:r>
            <a:r>
              <a:rPr lang="ko-KR" altLang="en-US" sz="1200" b="1" dirty="0">
                <a:solidFill>
                  <a:schemeClr val="tx1"/>
                </a:solidFill>
              </a:rPr>
              <a:t>접속경로전환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B172D8F-649E-1F29-4975-2BD8B17D2D7C}"/>
              </a:ext>
            </a:extLst>
          </p:cNvPr>
          <p:cNvSpPr/>
          <p:nvPr/>
        </p:nvSpPr>
        <p:spPr>
          <a:xfrm>
            <a:off x="3598732" y="2685192"/>
            <a:ext cx="1098194" cy="47259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NETWORK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F8B6B9-0796-9EF4-AA2C-89DDAF410A38}"/>
              </a:ext>
            </a:extLst>
          </p:cNvPr>
          <p:cNvSpPr txBox="1"/>
          <p:nvPr/>
        </p:nvSpPr>
        <p:spPr>
          <a:xfrm>
            <a:off x="4761016" y="2855699"/>
            <a:ext cx="593680" cy="22659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/>
              <a:t>GSLB </a:t>
            </a:r>
            <a:endParaRPr lang="ko-KR" altLang="en-US" b="1" dirty="0"/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54268734-D39F-6ECE-9B72-5CC7A07C4F6C}"/>
              </a:ext>
            </a:extLst>
          </p:cNvPr>
          <p:cNvSpPr/>
          <p:nvPr/>
        </p:nvSpPr>
        <p:spPr>
          <a:xfrm>
            <a:off x="3521182" y="3439090"/>
            <a:ext cx="3176144" cy="832561"/>
          </a:xfrm>
          <a:prstGeom prst="roundRect">
            <a:avLst>
              <a:gd name="adj" fmla="val 751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                  가상화 인프라 플랫폼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91210D-9C41-9B6E-64C7-69E353684086}"/>
              </a:ext>
            </a:extLst>
          </p:cNvPr>
          <p:cNvSpPr/>
          <p:nvPr/>
        </p:nvSpPr>
        <p:spPr>
          <a:xfrm>
            <a:off x="3606346" y="3623149"/>
            <a:ext cx="1092118" cy="45673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PLATFORM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69ED05-656B-66CE-213D-4AA3215CCC1A}"/>
              </a:ext>
            </a:extLst>
          </p:cNvPr>
          <p:cNvSpPr txBox="1"/>
          <p:nvPr/>
        </p:nvSpPr>
        <p:spPr>
          <a:xfrm>
            <a:off x="4794556" y="3758013"/>
            <a:ext cx="1382357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VM / 가상화 Cluster</a:t>
            </a:r>
          </a:p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절차 기반 기동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DD7973CB-067D-D239-C43E-57930F2C8B57}"/>
              </a:ext>
            </a:extLst>
          </p:cNvPr>
          <p:cNvSpPr/>
          <p:nvPr/>
        </p:nvSpPr>
        <p:spPr>
          <a:xfrm>
            <a:off x="3521149" y="4379622"/>
            <a:ext cx="3175991" cy="807136"/>
          </a:xfrm>
          <a:prstGeom prst="roundRect">
            <a:avLst>
              <a:gd name="adj" fmla="val 640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     서비스복구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405208C-2A38-C777-B226-25B9547BD360}"/>
              </a:ext>
            </a:extLst>
          </p:cNvPr>
          <p:cNvSpPr/>
          <p:nvPr/>
        </p:nvSpPr>
        <p:spPr>
          <a:xfrm>
            <a:off x="3606314" y="4563680"/>
            <a:ext cx="1092150" cy="45158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APPLICATION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2415A-1086-8A4E-2E8B-BCDAA208D170}"/>
              </a:ext>
            </a:extLst>
          </p:cNvPr>
          <p:cNvSpPr txBox="1"/>
          <p:nvPr/>
        </p:nvSpPr>
        <p:spPr>
          <a:xfrm>
            <a:off x="4762740" y="4691726"/>
            <a:ext cx="1658074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/ WAS /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업무서비스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 구성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 DR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환경반영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2AEBF9E0-0166-3F7B-7292-EDBEE8424293}"/>
              </a:ext>
            </a:extLst>
          </p:cNvPr>
          <p:cNvSpPr/>
          <p:nvPr/>
        </p:nvSpPr>
        <p:spPr>
          <a:xfrm>
            <a:off x="3528764" y="5343955"/>
            <a:ext cx="3168376" cy="807136"/>
          </a:xfrm>
          <a:prstGeom prst="roundRect">
            <a:avLst>
              <a:gd name="adj" fmla="val 64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      데이터 복구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75354A-F368-C30E-E0CB-4497834396B3}"/>
              </a:ext>
            </a:extLst>
          </p:cNvPr>
          <p:cNvSpPr/>
          <p:nvPr/>
        </p:nvSpPr>
        <p:spPr>
          <a:xfrm>
            <a:off x="3631378" y="5581007"/>
            <a:ext cx="1067086" cy="40708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DATA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2B14C0-A03C-BD5F-04F2-9EA47F87D691}"/>
              </a:ext>
            </a:extLst>
          </p:cNvPr>
          <p:cNvSpPr txBox="1"/>
          <p:nvPr/>
        </p:nvSpPr>
        <p:spPr>
          <a:xfrm>
            <a:off x="4771957" y="5662640"/>
            <a:ext cx="1682118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DB / Storage (NAS/SAN)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복제 및 전환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A6D5C1-95DF-191A-BA1F-E06C91A6AC47}"/>
              </a:ext>
            </a:extLst>
          </p:cNvPr>
          <p:cNvSpPr/>
          <p:nvPr/>
        </p:nvSpPr>
        <p:spPr>
          <a:xfrm>
            <a:off x="381682" y="2057358"/>
            <a:ext cx="2691684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 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구축 목표 정의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B81177F-83C8-0C9D-0CFA-ADCF7A538C88}"/>
              </a:ext>
            </a:extLst>
          </p:cNvPr>
          <p:cNvSpPr/>
          <p:nvPr/>
        </p:nvSpPr>
        <p:spPr>
          <a:xfrm>
            <a:off x="3433356" y="2069343"/>
            <a:ext cx="3328060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 복구 범위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DFE580A-D381-2075-6728-1B7869974E54}"/>
              </a:ext>
            </a:extLst>
          </p:cNvPr>
          <p:cNvSpPr/>
          <p:nvPr/>
        </p:nvSpPr>
        <p:spPr>
          <a:xfrm>
            <a:off x="381682" y="2390117"/>
            <a:ext cx="2691684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55FA5E8-7F85-AF18-2246-2A2859282B8A}"/>
              </a:ext>
            </a:extLst>
          </p:cNvPr>
          <p:cNvSpPr/>
          <p:nvPr/>
        </p:nvSpPr>
        <p:spPr>
          <a:xfrm>
            <a:off x="3433356" y="2384584"/>
            <a:ext cx="3328060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38C42009-17B4-63B2-B098-57C2E1D80754}"/>
              </a:ext>
            </a:extLst>
          </p:cNvPr>
          <p:cNvSpPr/>
          <p:nvPr/>
        </p:nvSpPr>
        <p:spPr bwMode="auto">
          <a:xfrm rot="5400000">
            <a:off x="1485018" y="4307831"/>
            <a:ext cx="3600399" cy="227997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2" name="Oval 19">
            <a:extLst>
              <a:ext uri="{FF2B5EF4-FFF2-40B4-BE49-F238E27FC236}">
                <a16:creationId xmlns:a16="http://schemas.microsoft.com/office/drawing/2014/main" id="{12349991-CC16-6F6E-611D-228732C978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3626" y="2772641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응용구조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유지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3" name="Oval 19">
            <a:extLst>
              <a:ext uri="{FF2B5EF4-FFF2-40B4-BE49-F238E27FC236}">
                <a16:creationId xmlns:a16="http://schemas.microsoft.com/office/drawing/2014/main" id="{DEF549D3-AF78-937C-984E-CE3D16E080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9803" y="4515207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데이터</a:t>
            </a:r>
            <a:endParaRPr kumimoji="1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연속성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D899538C-AE33-F5C3-9FFA-77D6C1D33B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4166" y="3670161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연계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연속성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5" name="Oval 19">
            <a:extLst>
              <a:ext uri="{FF2B5EF4-FFF2-40B4-BE49-F238E27FC236}">
                <a16:creationId xmlns:a16="http://schemas.microsoft.com/office/drawing/2014/main" id="{2F4B129A-D00F-4B47-D958-027E7B3B97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6359" y="5348309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전환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절차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6" name="모서리가 둥근 직사각형 12">
            <a:extLst>
              <a:ext uri="{FF2B5EF4-FFF2-40B4-BE49-F238E27FC236}">
                <a16:creationId xmlns:a16="http://schemas.microsoft.com/office/drawing/2014/main" id="{0779AD5E-81E1-CDDA-B948-EDBACE69BA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7" name="양쪽 모서리가 둥근 사각형 101">
            <a:extLst>
              <a:ext uri="{FF2B5EF4-FFF2-40B4-BE49-F238E27FC236}">
                <a16:creationId xmlns:a16="http://schemas.microsoft.com/office/drawing/2014/main" id="{16365BBA-7B32-7229-1DA5-4E292D5A5830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48" name="그림 138" descr="그림1.png">
            <a:extLst>
              <a:ext uri="{FF2B5EF4-FFF2-40B4-BE49-F238E27FC236}">
                <a16:creationId xmlns:a16="http://schemas.microsoft.com/office/drawing/2014/main" id="{69CE41E4-8081-2238-1BBE-57449C8E4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모서리가 둥근 직사각형 12">
            <a:extLst>
              <a:ext uri="{FF2B5EF4-FFF2-40B4-BE49-F238E27FC236}">
                <a16:creationId xmlns:a16="http://schemas.microsoft.com/office/drawing/2014/main" id="{5482641F-E1EC-31D1-C699-FD7D2DC2A0B6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응용시스템의 서비스 복구 완료는 주요 업무 VM 의 기동을 포함하여 사용자 및 관리자의 포털 접속 + 업무처리 + 연계 + 배치수행 + 데이터 검증을 DR 복구 완료로 정의하여 DR 구축 목표 정의</a:t>
            </a:r>
          </a:p>
        </p:txBody>
      </p:sp>
      <p:sp>
        <p:nvSpPr>
          <p:cNvPr id="50" name="양쪽 모서리가 둥근 사각형 101">
            <a:extLst>
              <a:ext uri="{FF2B5EF4-FFF2-40B4-BE49-F238E27FC236}">
                <a16:creationId xmlns:a16="http://schemas.microsoft.com/office/drawing/2014/main" id="{32FCC770-5A4E-93A8-FC22-7F75754179B4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5AFF9D5-B4F0-5DE6-BFF3-1F2E88801007}"/>
              </a:ext>
            </a:extLst>
          </p:cNvPr>
          <p:cNvSpPr/>
          <p:nvPr/>
        </p:nvSpPr>
        <p:spPr>
          <a:xfrm>
            <a:off x="429168" y="2748599"/>
            <a:ext cx="2625148" cy="164701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B6C973-1450-CC42-2EEE-BFB76A4CF130}"/>
              </a:ext>
            </a:extLst>
          </p:cNvPr>
          <p:cNvSpPr/>
          <p:nvPr/>
        </p:nvSpPr>
        <p:spPr>
          <a:xfrm>
            <a:off x="3496777" y="4321948"/>
            <a:ext cx="3244698" cy="94165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153D4D-6C31-AA9A-114E-85C3D6AF45D0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F1865C-3972-719C-FCEE-7B5AA98EF000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CNR-015-61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CNR-004-42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061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현행 3-Tier 형상 변경 없이 DR 시스템을 주센터와 동일 구조로 설계하고, 응용시스템의 업무 중요도별 A-A/A-S·원격소산 차등 적용으로 경제성과 안정성을 동시에 확보함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(1/7)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438D7869-6746-4554-1055-FBEE6EDF38E1}"/>
              </a:ext>
            </a:extLst>
          </p:cNvPr>
          <p:cNvSpPr/>
          <p:nvPr/>
        </p:nvSpPr>
        <p:spPr>
          <a:xfrm>
            <a:off x="318009" y="2057358"/>
            <a:ext cx="6047482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 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구축 방향성 </a:t>
            </a:r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A34A5B69-F1DE-335E-F063-1C671438BE36}"/>
              </a:ext>
            </a:extLst>
          </p:cNvPr>
          <p:cNvSpPr/>
          <p:nvPr/>
        </p:nvSpPr>
        <p:spPr>
          <a:xfrm>
            <a:off x="318009" y="2381358"/>
            <a:ext cx="6047482" cy="403531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1" name="모서리가 둥근 직사각형 12">
            <a:extLst>
              <a:ext uri="{FF2B5EF4-FFF2-40B4-BE49-F238E27FC236}">
                <a16:creationId xmlns:a16="http://schemas.microsoft.com/office/drawing/2014/main" id="{024986C0-20AB-4D7B-BB80-238D108BC95D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32" name="양쪽 모서리가 둥근 사각형 101">
            <a:extLst>
              <a:ext uri="{FF2B5EF4-FFF2-40B4-BE49-F238E27FC236}">
                <a16:creationId xmlns:a16="http://schemas.microsoft.com/office/drawing/2014/main" id="{6F4027BC-ECC3-4441-6515-6171DF6F3210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433" name="그림 138" descr="그림1.png">
            <a:extLst>
              <a:ext uri="{FF2B5EF4-FFF2-40B4-BE49-F238E27FC236}">
                <a16:creationId xmlns:a16="http://schemas.microsoft.com/office/drawing/2014/main" id="{ECBF4A47-2F00-6295-F3EA-CD4E7F2C46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4" name="모서리가 둥근 직사각형 12">
            <a:extLst>
              <a:ext uri="{FF2B5EF4-FFF2-40B4-BE49-F238E27FC236}">
                <a16:creationId xmlns:a16="http://schemas.microsoft.com/office/drawing/2014/main" id="{A951B244-E56B-1C34-B66C-E0BEFA173CD2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현행 3-Tier 형상 변경 없이 DR 전환 가능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업무 중요도별 A-A / A-S 차등 적용으로 구축·운영 비용 최적화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국가 핵심 서비스 RTO 1시간 內 복구 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대국민 필수 서비스 RTO </a:t>
            </a:r>
            <a:r>
              <a:rPr lang="en-US" altLang="ko-KR" sz="1100" dirty="0">
                <a:solidFill>
                  <a:prstClr val="black"/>
                </a:solidFill>
                <a:latin typeface="나눔고딕"/>
                <a:ea typeface="나눔고딕"/>
              </a:rPr>
              <a:t>3~12 </a:t>
            </a: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시간 內 복구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b="1" dirty="0">
                <a:solidFill>
                  <a:schemeClr val="tx1"/>
                </a:solidFill>
                <a:latin typeface="+mj-ea"/>
                <a:ea typeface="+mj-ea"/>
              </a:rPr>
              <a:t>국민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ea typeface="+mj-ea"/>
              </a:rPr>
              <a:t>행정 일반 서비스 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  <a:ea typeface="+mj-ea"/>
              </a:rPr>
              <a:t>RTO 3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  <a:ea typeface="+mj-ea"/>
              </a:rPr>
              <a:t>주 內 복구</a:t>
            </a:r>
            <a:endParaRPr lang="ko-KR" altLang="en-US" sz="1100" dirty="0"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동일 구조 복제로 DR 전환 검증·훈련 용이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고딕"/>
                <a:ea typeface="나눔고딕"/>
              </a:rPr>
              <a:t>복구 절차 표준화로 장애 대응 시간 단축 및 안정성 향상</a:t>
            </a:r>
          </a:p>
          <a:p>
            <a:pPr fontAlgn="base" latinLnBrk="0">
              <a:spcBef>
                <a:spcPts val="800"/>
              </a:spcBef>
              <a:buClr>
                <a:srgbClr val="000000"/>
              </a:buClr>
              <a:defRPr/>
            </a:pP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A3(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스토리지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DR) 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해당 서비스 없음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BIA 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결과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A1 · A2 · A4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분류</a:t>
            </a:r>
          </a:p>
        </p:txBody>
      </p:sp>
      <p:sp>
        <p:nvSpPr>
          <p:cNvPr id="435" name="양쪽 모서리가 둥근 사각형 101">
            <a:extLst>
              <a:ext uri="{FF2B5EF4-FFF2-40B4-BE49-F238E27FC236}">
                <a16:creationId xmlns:a16="http://schemas.microsoft.com/office/drawing/2014/main" id="{A233B239-5153-4534-523C-11A692F999A5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기대효과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8386E0-E2AF-FF9B-1CD9-33FA832B43D0}"/>
              </a:ext>
            </a:extLst>
          </p:cNvPr>
          <p:cNvGrpSpPr/>
          <p:nvPr/>
        </p:nvGrpSpPr>
        <p:grpSpPr>
          <a:xfrm>
            <a:off x="426021" y="2632240"/>
            <a:ext cx="5827621" cy="3677080"/>
            <a:chOff x="426021" y="2632240"/>
            <a:chExt cx="5827621" cy="3418315"/>
          </a:xfrm>
        </p:grpSpPr>
        <p:sp>
          <p:nvSpPr>
            <p:cNvPr id="421" name="Rounded Rectangle 7">
              <a:extLst>
                <a:ext uri="{FF2B5EF4-FFF2-40B4-BE49-F238E27FC236}">
                  <a16:creationId xmlns:a16="http://schemas.microsoft.com/office/drawing/2014/main" id="{2F894215-191E-26BD-0AFB-3DD0BDCDE792}"/>
                </a:ext>
              </a:extLst>
            </p:cNvPr>
            <p:cNvSpPr/>
            <p:nvPr/>
          </p:nvSpPr>
          <p:spPr>
            <a:xfrm>
              <a:off x="426021" y="2632240"/>
              <a:ext cx="2331720" cy="57888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016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주 센터</a:t>
              </a:r>
              <a:endParaRPr lang="en-US" altLang="ko-KR" sz="1200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j-ea"/>
                  <a:ea typeface="+mj-ea"/>
                </a:rPr>
                <a:t>(Active)</a:t>
              </a:r>
              <a:endParaRPr sz="12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22" name="Rounded Rectangle 9">
              <a:extLst>
                <a:ext uri="{FF2B5EF4-FFF2-40B4-BE49-F238E27FC236}">
                  <a16:creationId xmlns:a16="http://schemas.microsoft.com/office/drawing/2014/main" id="{7F6920F5-125D-522E-9E7A-DDBB9595FC09}"/>
                </a:ext>
              </a:extLst>
            </p:cNvPr>
            <p:cNvSpPr/>
            <p:nvPr/>
          </p:nvSpPr>
          <p:spPr>
            <a:xfrm>
              <a:off x="3992181" y="2632240"/>
              <a:ext cx="2261461" cy="578885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rgbClr val="2684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+mj-lt"/>
                </a:rPr>
                <a:t>부 센터</a:t>
              </a:r>
              <a:endParaRPr lang="en-US" altLang="ko-KR" sz="1200" b="1" dirty="0">
                <a:solidFill>
                  <a:schemeClr val="bg1"/>
                </a:solidFill>
                <a:latin typeface="+mj-lt"/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+mj-lt"/>
                </a:rPr>
                <a:t>(Active)</a:t>
              </a:r>
            </a:p>
          </p:txBody>
        </p:sp>
        <p:cxnSp>
          <p:nvCxnSpPr>
            <p:cNvPr id="423" name="Connector 11">
              <a:extLst>
                <a:ext uri="{FF2B5EF4-FFF2-40B4-BE49-F238E27FC236}">
                  <a16:creationId xmlns:a16="http://schemas.microsoft.com/office/drawing/2014/main" id="{F583CE83-7AC0-C1EC-716B-F48E696CAEFA}"/>
                </a:ext>
              </a:extLst>
            </p:cNvPr>
            <p:cNvCxnSpPr>
              <a:cxnSpLocks/>
            </p:cNvCxnSpPr>
            <p:nvPr/>
          </p:nvCxnSpPr>
          <p:spPr>
            <a:xfrm>
              <a:off x="2757741" y="2942364"/>
              <a:ext cx="1234440" cy="0"/>
            </a:xfrm>
            <a:prstGeom prst="line">
              <a:avLst/>
            </a:prstGeom>
            <a:ln w="25400">
              <a:solidFill>
                <a:srgbClr val="182B4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10FA392B-5DAD-0B93-68E3-F71F8CE1A466}"/>
                </a:ext>
              </a:extLst>
            </p:cNvPr>
            <p:cNvSpPr txBox="1"/>
            <p:nvPr/>
          </p:nvSpPr>
          <p:spPr>
            <a:xfrm>
              <a:off x="2920298" y="2681181"/>
              <a:ext cx="914400" cy="22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5C6673"/>
                  </a:solidFill>
                  <a:latin typeface="+mj-ea"/>
                  <a:ea typeface="+mj-ea"/>
                </a:rPr>
                <a:t>복제</a:t>
              </a:r>
              <a:endParaRPr sz="1050" b="1" dirty="0">
                <a:solidFill>
                  <a:srgbClr val="5C6673"/>
                </a:solidFill>
                <a:latin typeface="+mj-ea"/>
                <a:ea typeface="+mj-ea"/>
              </a:endParaRPr>
            </a:p>
          </p:txBody>
        </p:sp>
        <p:sp>
          <p:nvSpPr>
            <p:cNvPr id="425" name="Rounded Rectangle 13">
              <a:extLst>
                <a:ext uri="{FF2B5EF4-FFF2-40B4-BE49-F238E27FC236}">
                  <a16:creationId xmlns:a16="http://schemas.microsoft.com/office/drawing/2014/main" id="{E4A90BD6-29CC-847A-374C-762FE9BBECA1}"/>
                </a:ext>
              </a:extLst>
            </p:cNvPr>
            <p:cNvSpPr/>
            <p:nvPr/>
          </p:nvSpPr>
          <p:spPr>
            <a:xfrm>
              <a:off x="426021" y="3389536"/>
              <a:ext cx="5720166" cy="86878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A1 (국가 핵심)</a:t>
              </a:r>
            </a:p>
            <a:p>
              <a:r>
                <a:rPr lang="en-US" altLang="ko-KR" sz="900" b="1">
                  <a:solidFill>
                    <a:srgbClr val="1F3864"/>
                  </a:solidFill>
                  <a:latin typeface="+mj-ea"/>
                  <a:ea typeface="+mj-ea"/>
                </a:rPr>
                <a:t>A-A</a:t>
              </a:r>
              <a:endParaRPr lang="ko-KR" altLang="en-US" sz="900" b="1" dirty="0">
                <a:solidFill>
                  <a:srgbClr val="1F3864"/>
                </a:solidFill>
                <a:latin typeface="+mj-ea"/>
                <a:ea typeface="+mj-ea"/>
              </a:endParaRP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1시간 內 / </a:t>
              </a:r>
              <a:r>
                <a:rPr lang="en-US" altLang="ko-KR" sz="850" b="0" dirty="0">
                  <a:solidFill>
                    <a:schemeClr val="tx1"/>
                  </a:solidFill>
                  <a:latin typeface="+mj-ea"/>
                  <a:ea typeface="+mj-ea"/>
                </a:rPr>
                <a:t>RPO ≒ 0</a:t>
              </a:r>
              <a:endParaRPr lang="ko-KR" altLang="en-US" sz="850" b="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26" name="Rounded Rectangle 16">
              <a:extLst>
                <a:ext uri="{FF2B5EF4-FFF2-40B4-BE49-F238E27FC236}">
                  <a16:creationId xmlns:a16="http://schemas.microsoft.com/office/drawing/2014/main" id="{4D49E89E-4B24-5A2B-945D-E0FD9D350C1B}"/>
                </a:ext>
              </a:extLst>
            </p:cNvPr>
            <p:cNvSpPr/>
            <p:nvPr/>
          </p:nvSpPr>
          <p:spPr>
            <a:xfrm>
              <a:off x="426021" y="4367943"/>
              <a:ext cx="5720166" cy="76367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A2 (대국민 필수)</a:t>
              </a:r>
            </a:p>
            <a:p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A-S</a:t>
              </a: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3~12시간 / RPO 수분</a:t>
              </a:r>
            </a:p>
          </p:txBody>
        </p:sp>
        <p:sp>
          <p:nvSpPr>
            <p:cNvPr id="427" name="Rounded Rectangle 19">
              <a:extLst>
                <a:ext uri="{FF2B5EF4-FFF2-40B4-BE49-F238E27FC236}">
                  <a16:creationId xmlns:a16="http://schemas.microsoft.com/office/drawing/2014/main" id="{E6698530-DD9B-B487-B958-06E9E66CDCA2}"/>
                </a:ext>
              </a:extLst>
            </p:cNvPr>
            <p:cNvSpPr/>
            <p:nvPr/>
          </p:nvSpPr>
          <p:spPr>
            <a:xfrm>
              <a:off x="426021" y="5286880"/>
              <a:ext cx="5720166" cy="76367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A4 (국민·행정 일반)</a:t>
              </a:r>
            </a:p>
            <a:p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원격소산</a:t>
              </a: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3주 / RPO 1~7일</a:t>
              </a:r>
            </a:p>
          </p:txBody>
        </p:sp>
        <p:sp>
          <p:nvSpPr>
            <p:cNvPr id="441" name="업무아이콘 59">
              <a:extLst>
                <a:ext uri="{FF2B5EF4-FFF2-40B4-BE49-F238E27FC236}">
                  <a16:creationId xmlns:a16="http://schemas.microsoft.com/office/drawing/2014/main" id="{A5621AD6-034B-9627-DA8B-B90DF2199DF9}"/>
                </a:ext>
              </a:extLst>
            </p:cNvPr>
            <p:cNvSpPr/>
            <p:nvPr/>
          </p:nvSpPr>
          <p:spPr>
            <a:xfrm>
              <a:off x="214468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대민서비스</a:t>
              </a:r>
            </a:p>
          </p:txBody>
        </p:sp>
        <p:sp>
          <p:nvSpPr>
            <p:cNvPr id="442" name="업무아이콘 60">
              <a:extLst>
                <a:ext uri="{FF2B5EF4-FFF2-40B4-BE49-F238E27FC236}">
                  <a16:creationId xmlns:a16="http://schemas.microsoft.com/office/drawing/2014/main" id="{1E057E82-3AEA-0283-CA8E-6A2416040F24}"/>
                </a:ext>
              </a:extLst>
            </p:cNvPr>
            <p:cNvSpPr/>
            <p:nvPr/>
          </p:nvSpPr>
          <p:spPr>
            <a:xfrm>
              <a:off x="311623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창구민원</a:t>
              </a:r>
            </a:p>
          </p:txBody>
        </p:sp>
        <p:sp>
          <p:nvSpPr>
            <p:cNvPr id="443" name="업무아이콘 61">
              <a:extLst>
                <a:ext uri="{FF2B5EF4-FFF2-40B4-BE49-F238E27FC236}">
                  <a16:creationId xmlns:a16="http://schemas.microsoft.com/office/drawing/2014/main" id="{36777A7F-33D9-9034-F366-4FC8CE0167EF}"/>
                </a:ext>
              </a:extLst>
            </p:cNvPr>
            <p:cNvSpPr/>
            <p:nvPr/>
          </p:nvSpPr>
          <p:spPr>
            <a:xfrm>
              <a:off x="408778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연계</a:t>
              </a:r>
            </a:p>
          </p:txBody>
        </p:sp>
        <p:sp>
          <p:nvSpPr>
            <p:cNvPr id="444" name="업무아이콘 62">
              <a:extLst>
                <a:ext uri="{FF2B5EF4-FFF2-40B4-BE49-F238E27FC236}">
                  <a16:creationId xmlns:a16="http://schemas.microsoft.com/office/drawing/2014/main" id="{9AEB446A-8B07-42EB-1A85-2BDE682A141B}"/>
                </a:ext>
              </a:extLst>
            </p:cNvPr>
            <p:cNvSpPr/>
            <p:nvPr/>
          </p:nvSpPr>
          <p:spPr>
            <a:xfrm>
              <a:off x="505933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지적행정</a:t>
              </a:r>
            </a:p>
          </p:txBody>
        </p:sp>
        <p:sp>
          <p:nvSpPr>
            <p:cNvPr id="445" name="업무아이콘 63">
              <a:extLst>
                <a:ext uri="{FF2B5EF4-FFF2-40B4-BE49-F238E27FC236}">
                  <a16:creationId xmlns:a16="http://schemas.microsoft.com/office/drawing/2014/main" id="{503CCF10-8521-FCE0-611D-16A3448B627E}"/>
                </a:ext>
              </a:extLst>
            </p:cNvPr>
            <p:cNvSpPr/>
            <p:nvPr/>
          </p:nvSpPr>
          <p:spPr>
            <a:xfrm>
              <a:off x="2487588" y="4506051"/>
              <a:ext cx="1343437" cy="46937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지적공부관리지원플랫폼</a:t>
              </a:r>
            </a:p>
          </p:txBody>
        </p:sp>
        <p:sp>
          <p:nvSpPr>
            <p:cNvPr id="446" name="업무아이콘 64">
              <a:extLst>
                <a:ext uri="{FF2B5EF4-FFF2-40B4-BE49-F238E27FC236}">
                  <a16:creationId xmlns:a16="http://schemas.microsoft.com/office/drawing/2014/main" id="{BE577861-102B-7634-C744-E611B8E5FEF2}"/>
                </a:ext>
              </a:extLst>
            </p:cNvPr>
            <p:cNvSpPr/>
            <p:nvPr/>
          </p:nvSpPr>
          <p:spPr>
            <a:xfrm>
              <a:off x="4214788" y="4506051"/>
              <a:ext cx="1429184" cy="46937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지적정책지원시스템</a:t>
              </a:r>
            </a:p>
          </p:txBody>
        </p:sp>
        <p:sp>
          <p:nvSpPr>
            <p:cNvPr id="452" name="업무아이콘 70">
              <a:extLst>
                <a:ext uri="{FF2B5EF4-FFF2-40B4-BE49-F238E27FC236}">
                  <a16:creationId xmlns:a16="http://schemas.microsoft.com/office/drawing/2014/main" id="{0ADBCC0F-D8A8-40F5-4AC7-3B79B65AE939}"/>
                </a:ext>
              </a:extLst>
            </p:cNvPr>
            <p:cNvSpPr/>
            <p:nvPr/>
          </p:nvSpPr>
          <p:spPr>
            <a:xfrm>
              <a:off x="3323692" y="5445851"/>
              <a:ext cx="1449288" cy="393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운영지원시스템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D925FE-DF5F-BA7C-69FF-30C556A9DA79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C25A6-5C32-7466-B1F9-9C6F237A3197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CNR-015-61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CNR-001-09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058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O_frame">
            <a:extLst>
              <a:ext uri="{FF2B5EF4-FFF2-40B4-BE49-F238E27FC236}">
                <a16:creationId xmlns:a16="http://schemas.microsoft.com/office/drawing/2014/main" id="{D29BD8D4-56E3-6303-7685-8B17470DF007}"/>
              </a:ext>
            </a:extLst>
          </p:cNvPr>
          <p:cNvSpPr/>
          <p:nvPr/>
        </p:nvSpPr>
        <p:spPr bwMode="auto">
          <a:xfrm>
            <a:off x="266700" y="1993900"/>
            <a:ext cx="9359900" cy="44323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(2/7)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운영 모드별 비용 영향도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6C3BE-8F9F-B933-BEBD-EF29DF774F30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34BF-C4DA-43B8-A206-6937F9940E91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5A767C1F-80DC-19CC-7169-D97D67DF7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서비스 등급별 </a:t>
            </a:r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운영 모드를 모드별 비용 영향도</a:t>
            </a:r>
            <a:r>
              <a:rPr lang="en-US" altLang="ko-KR">
                <a:solidFill>
                  <a:srgbClr val="000000"/>
                </a:solidFill>
              </a:rPr>
              <a:t>(</a:t>
            </a:r>
            <a:r>
              <a:rPr lang="ko-KR" altLang="en-US">
                <a:solidFill>
                  <a:srgbClr val="000000"/>
                </a:solidFill>
              </a:rPr>
              <a:t>인프라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라이선스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운영</a:t>
            </a:r>
            <a:r>
              <a:rPr lang="en-US" altLang="ko-KR">
                <a:solidFill>
                  <a:srgbClr val="000000"/>
                </a:solidFill>
              </a:rPr>
              <a:t>)</a:t>
            </a:r>
            <a:r>
              <a:rPr lang="ko-KR" altLang="en-US">
                <a:solidFill>
                  <a:srgbClr val="000000"/>
                </a:solidFill>
              </a:rPr>
              <a:t>와 </a:t>
            </a:r>
            <a:r>
              <a:rPr lang="en-US" altLang="ko-KR">
                <a:solidFill>
                  <a:srgbClr val="000000"/>
                </a:solidFill>
              </a:rPr>
              <a:t>RTO · RPO </a:t>
            </a:r>
            <a:r>
              <a:rPr lang="ko-KR" altLang="en-US">
                <a:solidFill>
                  <a:srgbClr val="000000"/>
                </a:solidFill>
              </a:rPr>
              <a:t>기준으로 비교하여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등급별 적용 가능한 구성을 제시함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5" name="CO_h1">
            <a:extLst>
              <a:ext uri="{FF2B5EF4-FFF2-40B4-BE49-F238E27FC236}">
                <a16:creationId xmlns:a16="http://schemas.microsoft.com/office/drawing/2014/main" id="{85161428-9FEA-DBC8-9653-C43BFB1471A0}"/>
              </a:ext>
            </a:extLst>
          </p:cNvPr>
          <p:cNvSpPr txBox="1"/>
          <p:nvPr/>
        </p:nvSpPr>
        <p:spPr>
          <a:xfrm>
            <a:off x="368300" y="2159000"/>
            <a:ext cx="91567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운영 모드별 비용 영향도 비교</a:t>
            </a:r>
          </a:p>
        </p:txBody>
      </p:sp>
      <p:graphicFrame>
        <p:nvGraphicFramePr>
          <p:cNvPr id="56" name="CO_t1">
            <a:extLst>
              <a:ext uri="{FF2B5EF4-FFF2-40B4-BE49-F238E27FC236}">
                <a16:creationId xmlns:a16="http://schemas.microsoft.com/office/drawing/2014/main" id="{A5ABA754-EF45-2762-7D43-AD464E071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275800"/>
              </p:ext>
            </p:extLst>
          </p:nvPr>
        </p:nvGraphicFramePr>
        <p:xfrm>
          <a:off x="368300" y="2397031"/>
          <a:ext cx="9156700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69742035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478383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8763953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10584359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7427250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1639288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95848048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모드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인프라 비용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비용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부담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· RPO</a:t>
                      </a:r>
                      <a:endParaRPr lang="ko-KR" altLang="en-US" sz="9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542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</a:t>
                      </a:r>
                      <a:endParaRPr lang="ko-KR" altLang="en-US" sz="9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트래픽 분산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트래픽 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內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≒ 0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3831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</a:t>
                      </a:r>
                      <a:endParaRPr lang="ko-KR" altLang="en-US" sz="9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(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평상시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Hot Standby)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트래픽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대부분 정식 라이선스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內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≒ 0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3175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</a:t>
                      </a:r>
                      <a:endParaRPr lang="ko-KR" altLang="en-US" sz="9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Warm Standby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WEB·WAS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만 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앱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협의 여지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3~12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979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</a:t>
                      </a:r>
                      <a:endParaRPr lang="ko-KR" altLang="en-US" sz="9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Cold 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원격 소산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백업 소산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낮음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무상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할인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낮음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1~7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45574"/>
                  </a:ext>
                </a:extLst>
              </a:tr>
            </a:tbl>
          </a:graphicData>
        </a:graphic>
      </p:graphicFrame>
      <p:sp>
        <p:nvSpPr>
          <p:cNvPr id="57" name="CO_h2">
            <a:extLst>
              <a:ext uri="{FF2B5EF4-FFF2-40B4-BE49-F238E27FC236}">
                <a16:creationId xmlns:a16="http://schemas.microsoft.com/office/drawing/2014/main" id="{22804299-5172-6534-58ED-B2A6CDCA558F}"/>
              </a:ext>
            </a:extLst>
          </p:cNvPr>
          <p:cNvSpPr txBox="1"/>
          <p:nvPr/>
        </p:nvSpPr>
        <p:spPr>
          <a:xfrm>
            <a:off x="368300" y="4276631"/>
            <a:ext cx="91567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서비스 등급별 운영 모드 적용 검토</a:t>
            </a:r>
          </a:p>
        </p:txBody>
      </p:sp>
      <p:graphicFrame>
        <p:nvGraphicFramePr>
          <p:cNvPr id="58" name="CO_t2">
            <a:extLst>
              <a:ext uri="{FF2B5EF4-FFF2-40B4-BE49-F238E27FC236}">
                <a16:creationId xmlns:a16="http://schemas.microsoft.com/office/drawing/2014/main" id="{A76BA118-ECAF-E179-6093-1CC65C339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36200"/>
              </p:ext>
            </p:extLst>
          </p:nvPr>
        </p:nvGraphicFramePr>
        <p:xfrm>
          <a:off x="368300" y="4514662"/>
          <a:ext cx="91567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0069834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57745958"/>
                    </a:ext>
                  </a:extLst>
                </a:gridCol>
                <a:gridCol w="6616700">
                  <a:extLst>
                    <a:ext uri="{9D8B030D-6E8A-4147-A177-3AD203B41FA5}">
                      <a16:colId xmlns:a16="http://schemas.microsoft.com/office/drawing/2014/main" val="48798714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모드</a:t>
                      </a:r>
                      <a:r>
                        <a:rPr lang="en-US" altLang="ko-KR" sz="9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9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검토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6782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국가 핵심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모드 ①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②</a:t>
                      </a:r>
                      <a:endParaRPr lang="ko-KR" altLang="en-US" sz="9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1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≒ 0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요구로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응용 상시 기동 필요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A-A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모드 ①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분산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권고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A-S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모드 ②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8557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A2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대국민 필수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모드 ③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3~12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수분 → 상용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미기동으로 라이선스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비용 절감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0267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A4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국민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 일반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모드 ④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 </a:t>
                      </a:r>
                      <a:r>
                        <a:rPr lang="en-US" altLang="ko-KR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1~7</a:t>
                      </a: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 → 백업 소산 후 복구로 비용 최소화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07982"/>
                  </a:ext>
                </a:extLst>
              </a:tr>
            </a:tbl>
          </a:graphicData>
        </a:graphic>
      </p:graphicFrame>
      <p:sp>
        <p:nvSpPr>
          <p:cNvPr id="59" name="CO_n">
            <a:extLst>
              <a:ext uri="{FF2B5EF4-FFF2-40B4-BE49-F238E27FC236}">
                <a16:creationId xmlns:a16="http://schemas.microsoft.com/office/drawing/2014/main" id="{0BC085D0-5E5B-92CC-A2E8-A2CE46D6CE11}"/>
              </a:ext>
            </a:extLst>
          </p:cNvPr>
          <p:cNvSpPr txBox="1"/>
          <p:nvPr/>
        </p:nvSpPr>
        <p:spPr>
          <a:xfrm>
            <a:off x="368300" y="6027329"/>
            <a:ext cx="9156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비용은 상대 수준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높음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중간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낮음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으로 비교하며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라이선스 비용은 벤더 확인 후 확정하고 금액은 이행계획 소요예산에서 산정</a:t>
            </a:r>
          </a:p>
          <a:p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모드 ① ↔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A-A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모델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1(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A-A ·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쓰기 </a:t>
            </a:r>
            <a:r>
              <a:rPr lang="ko-KR" altLang="en-US" sz="90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 / 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모드 ② ↔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A-S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모델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1(Hot Standby)  / 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모드 ③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④ ↔ A-S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모델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2(Warm · Cold Standby)</a:t>
            </a:r>
            <a:endParaRPr lang="ko-KR" altLang="en-US" sz="9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89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주센터와 동일한 </a:t>
            </a:r>
            <a:r>
              <a:rPr lang="en-US" altLang="ko-KR" dirty="0">
                <a:solidFill>
                  <a:srgbClr val="000000"/>
                </a:solidFill>
              </a:rPr>
              <a:t>VM </a:t>
            </a:r>
            <a:r>
              <a:rPr lang="ko-KR" altLang="en-US" dirty="0">
                <a:solidFill>
                  <a:srgbClr val="000000"/>
                </a:solidFill>
              </a:rPr>
              <a:t>기반 </a:t>
            </a:r>
            <a:r>
              <a:rPr lang="en-US" altLang="ko-KR" dirty="0">
                <a:solidFill>
                  <a:srgbClr val="000000"/>
                </a:solidFill>
              </a:rPr>
              <a:t>3-Tier SW </a:t>
            </a:r>
            <a:r>
              <a:rPr lang="ko-KR" altLang="en-US" dirty="0">
                <a:solidFill>
                  <a:srgbClr val="000000"/>
                </a:solidFill>
              </a:rPr>
              <a:t>스택을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센터에 복제 구성하고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서비스 등급</a:t>
            </a:r>
            <a:r>
              <a:rPr lang="en-US" altLang="ko-KR" dirty="0">
                <a:solidFill>
                  <a:srgbClr val="000000"/>
                </a:solidFill>
              </a:rPr>
              <a:t>(A1 · A2 · A4)</a:t>
            </a:r>
            <a:r>
              <a:rPr lang="ko-KR" altLang="en-US" dirty="0">
                <a:solidFill>
                  <a:srgbClr val="000000"/>
                </a:solidFill>
              </a:rPr>
              <a:t>별 대상 시스템과 상용</a:t>
            </a:r>
            <a:r>
              <a:rPr lang="en-US" altLang="ko-KR" dirty="0">
                <a:solidFill>
                  <a:srgbClr val="000000"/>
                </a:solidFill>
              </a:rPr>
              <a:t>SW </a:t>
            </a:r>
            <a:r>
              <a:rPr lang="ko-KR" altLang="en-US" dirty="0">
                <a:solidFill>
                  <a:srgbClr val="000000"/>
                </a:solidFill>
              </a:rPr>
              <a:t>구성을 정의함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(3/7)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50BAF244-9627-9C6B-3956-F2733B8B2F29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	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재해복구시스템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센터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SW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구성도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2267BED-04D8-69AC-1018-E41D84D1B21D}"/>
              </a:ext>
            </a:extLst>
          </p:cNvPr>
          <p:cNvGrpSpPr/>
          <p:nvPr/>
        </p:nvGrpSpPr>
        <p:grpSpPr>
          <a:xfrm>
            <a:off x="8527009" y="3312143"/>
            <a:ext cx="1016397" cy="1408584"/>
            <a:chOff x="6502764" y="3292776"/>
            <a:chExt cx="1016397" cy="1408584"/>
          </a:xfrm>
        </p:grpSpPr>
        <p:sp>
          <p:nvSpPr>
            <p:cNvPr id="146" name="Shape 55">
              <a:extLst>
                <a:ext uri="{FF2B5EF4-FFF2-40B4-BE49-F238E27FC236}">
                  <a16:creationId xmlns:a16="http://schemas.microsoft.com/office/drawing/2014/main" id="{989FA99B-4A9A-A0B6-2AC4-2C2DEC9EC796}"/>
                </a:ext>
              </a:extLst>
            </p:cNvPr>
            <p:cNvSpPr/>
            <p:nvPr/>
          </p:nvSpPr>
          <p:spPr>
            <a:xfrm>
              <a:off x="6502764" y="3292776"/>
              <a:ext cx="1016397" cy="14085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Shape 68">
              <a:extLst>
                <a:ext uri="{FF2B5EF4-FFF2-40B4-BE49-F238E27FC236}">
                  <a16:creationId xmlns:a16="http://schemas.microsoft.com/office/drawing/2014/main" id="{841BFEC1-E8D8-CCD8-373B-4D68FDB6F692}"/>
                </a:ext>
              </a:extLst>
            </p:cNvPr>
            <p:cNvSpPr/>
            <p:nvPr/>
          </p:nvSpPr>
          <p:spPr>
            <a:xfrm>
              <a:off x="6538054" y="37055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8" name="Shape 22">
              <a:extLst>
                <a:ext uri="{FF2B5EF4-FFF2-40B4-BE49-F238E27FC236}">
                  <a16:creationId xmlns:a16="http://schemas.microsoft.com/office/drawing/2014/main" id="{A858A389-751D-9CAB-F221-53BA092F48D4}"/>
                </a:ext>
              </a:extLst>
            </p:cNvPr>
            <p:cNvSpPr/>
            <p:nvPr/>
          </p:nvSpPr>
          <p:spPr>
            <a:xfrm>
              <a:off x="6538056" y="38579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9" name="Shape 24">
              <a:extLst>
                <a:ext uri="{FF2B5EF4-FFF2-40B4-BE49-F238E27FC236}">
                  <a16:creationId xmlns:a16="http://schemas.microsoft.com/office/drawing/2014/main" id="{72F6BB02-AD92-A29D-627C-29CD0E32639A}"/>
                </a:ext>
              </a:extLst>
            </p:cNvPr>
            <p:cNvSpPr/>
            <p:nvPr/>
          </p:nvSpPr>
          <p:spPr>
            <a:xfrm>
              <a:off x="6538056" y="40103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50" name="Text 42">
              <a:extLst>
                <a:ext uri="{FF2B5EF4-FFF2-40B4-BE49-F238E27FC236}">
                  <a16:creationId xmlns:a16="http://schemas.microsoft.com/office/drawing/2014/main" id="{0D0ED7BD-63A2-0FE1-C5BC-F513E2925A5B}"/>
                </a:ext>
              </a:extLst>
            </p:cNvPr>
            <p:cNvSpPr/>
            <p:nvPr/>
          </p:nvSpPr>
          <p:spPr>
            <a:xfrm>
              <a:off x="6538056" y="3508676"/>
              <a:ext cx="945814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51" name="Shape 31">
              <a:extLst>
                <a:ext uri="{FF2B5EF4-FFF2-40B4-BE49-F238E27FC236}">
                  <a16:creationId xmlns:a16="http://schemas.microsoft.com/office/drawing/2014/main" id="{1A540697-11F0-99F2-8AD7-7691B4DED87C}"/>
                </a:ext>
              </a:extLst>
            </p:cNvPr>
            <p:cNvSpPr/>
            <p:nvPr/>
          </p:nvSpPr>
          <p:spPr>
            <a:xfrm>
              <a:off x="6502764" y="3292776"/>
              <a:ext cx="1016397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0" name="Text 69">
              <a:extLst>
                <a:ext uri="{FF2B5EF4-FFF2-40B4-BE49-F238E27FC236}">
                  <a16:creationId xmlns:a16="http://schemas.microsoft.com/office/drawing/2014/main" id="{B9B5211D-76EF-A7CC-31E3-01D930E0F68F}"/>
                </a:ext>
              </a:extLst>
            </p:cNvPr>
            <p:cNvSpPr/>
            <p:nvPr/>
          </p:nvSpPr>
          <p:spPr>
            <a:xfrm>
              <a:off x="6538054" y="37055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261" name="Text 23">
              <a:extLst>
                <a:ext uri="{FF2B5EF4-FFF2-40B4-BE49-F238E27FC236}">
                  <a16:creationId xmlns:a16="http://schemas.microsoft.com/office/drawing/2014/main" id="{12ED9BFC-70D0-CFCB-C43D-F727C1E2F375}"/>
                </a:ext>
              </a:extLst>
            </p:cNvPr>
            <p:cNvSpPr/>
            <p:nvPr/>
          </p:nvSpPr>
          <p:spPr>
            <a:xfrm>
              <a:off x="6538056" y="40103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  <p:sp>
          <p:nvSpPr>
            <p:cNvPr id="262" name="Text 25">
              <a:extLst>
                <a:ext uri="{FF2B5EF4-FFF2-40B4-BE49-F238E27FC236}">
                  <a16:creationId xmlns:a16="http://schemas.microsoft.com/office/drawing/2014/main" id="{3865456F-A140-65B0-F035-9BB352A13266}"/>
                </a:ext>
              </a:extLst>
            </p:cNvPr>
            <p:cNvSpPr/>
            <p:nvPr/>
          </p:nvSpPr>
          <p:spPr>
            <a:xfrm>
              <a:off x="6538054" y="38579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Jennifer</a:t>
              </a:r>
              <a:endParaRPr lang="en-US" altLang="ko-KR" sz="750" dirty="0"/>
            </a:p>
          </p:txBody>
        </p:sp>
        <p:sp>
          <p:nvSpPr>
            <p:cNvPr id="263" name="Text 32">
              <a:extLst>
                <a:ext uri="{FF2B5EF4-FFF2-40B4-BE49-F238E27FC236}">
                  <a16:creationId xmlns:a16="http://schemas.microsoft.com/office/drawing/2014/main" id="{4AEA5728-8383-9847-E641-3326C1586900}"/>
                </a:ext>
              </a:extLst>
            </p:cNvPr>
            <p:cNvSpPr/>
            <p:nvPr/>
          </p:nvSpPr>
          <p:spPr>
            <a:xfrm>
              <a:off x="6502764" y="3292776"/>
              <a:ext cx="101639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배치</a:t>
              </a:r>
              <a:endParaRPr lang="en-US" altLang="ko-KR" sz="9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3F217504-33E3-4633-188A-C678C7BAF823}"/>
              </a:ext>
            </a:extLst>
          </p:cNvPr>
          <p:cNvGrpSpPr/>
          <p:nvPr/>
        </p:nvGrpSpPr>
        <p:grpSpPr>
          <a:xfrm>
            <a:off x="4795537" y="4957295"/>
            <a:ext cx="4759151" cy="1345716"/>
            <a:chOff x="4838365" y="4910478"/>
            <a:chExt cx="4740181" cy="1189628"/>
          </a:xfrm>
        </p:grpSpPr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6F4D274B-F4A3-3367-CD41-AE61AAA07479}"/>
                </a:ext>
              </a:extLst>
            </p:cNvPr>
            <p:cNvGrpSpPr/>
            <p:nvPr/>
          </p:nvGrpSpPr>
          <p:grpSpPr>
            <a:xfrm>
              <a:off x="7275842" y="4910478"/>
              <a:ext cx="2302704" cy="1182818"/>
              <a:chOff x="7275842" y="4910478"/>
              <a:chExt cx="2302704" cy="1182818"/>
            </a:xfrm>
          </p:grpSpPr>
          <p:sp>
            <p:nvSpPr>
              <p:cNvPr id="125" name="Shape 5">
                <a:extLst>
                  <a:ext uri="{FF2B5EF4-FFF2-40B4-BE49-F238E27FC236}">
                    <a16:creationId xmlns:a16="http://schemas.microsoft.com/office/drawing/2014/main" id="{693C7515-5543-CDE1-EA4E-10A80EF9B7FC}"/>
                  </a:ext>
                </a:extLst>
              </p:cNvPr>
              <p:cNvSpPr/>
              <p:nvPr/>
            </p:nvSpPr>
            <p:spPr>
              <a:xfrm>
                <a:off x="7275842" y="4944510"/>
                <a:ext cx="2302704" cy="114878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26" name="Shape 6">
                <a:extLst>
                  <a:ext uri="{FF2B5EF4-FFF2-40B4-BE49-F238E27FC236}">
                    <a16:creationId xmlns:a16="http://schemas.microsoft.com/office/drawing/2014/main" id="{F45CCA34-A0BF-AB4B-024E-49DB1EA9EB0F}"/>
                  </a:ext>
                </a:extLst>
              </p:cNvPr>
              <p:cNvSpPr/>
              <p:nvPr/>
            </p:nvSpPr>
            <p:spPr>
              <a:xfrm>
                <a:off x="7275842" y="4910478"/>
                <a:ext cx="2302704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27" name="Shape 8">
                <a:extLst>
                  <a:ext uri="{FF2B5EF4-FFF2-40B4-BE49-F238E27FC236}">
                    <a16:creationId xmlns:a16="http://schemas.microsoft.com/office/drawing/2014/main" id="{2DF94CFA-76A5-8BA1-442A-FD9CDBA9A73B}"/>
                  </a:ext>
                </a:extLst>
              </p:cNvPr>
              <p:cNvSpPr/>
              <p:nvPr/>
            </p:nvSpPr>
            <p:spPr>
              <a:xfrm>
                <a:off x="7305982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28" name="Text 9">
                <a:extLst>
                  <a:ext uri="{FF2B5EF4-FFF2-40B4-BE49-F238E27FC236}">
                    <a16:creationId xmlns:a16="http://schemas.microsoft.com/office/drawing/2014/main" id="{76AB095B-E958-4059-1119-8F123234AA2C}"/>
                  </a:ext>
                </a:extLst>
              </p:cNvPr>
              <p:cNvSpPr/>
              <p:nvPr/>
            </p:nvSpPr>
            <p:spPr>
              <a:xfrm>
                <a:off x="7305982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b="1" dirty="0">
                    <a:latin typeface="+mj-ea"/>
                    <a:cs typeface="Nanum Gothic" pitchFamily="34" charset="-120"/>
                  </a:rPr>
                  <a:t>APM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29" name="Shape 10">
                <a:extLst>
                  <a:ext uri="{FF2B5EF4-FFF2-40B4-BE49-F238E27FC236}">
                    <a16:creationId xmlns:a16="http://schemas.microsoft.com/office/drawing/2014/main" id="{8F76D62C-22E2-55F0-11A1-134525C769A2}"/>
                  </a:ext>
                </a:extLst>
              </p:cNvPr>
              <p:cNvSpPr/>
              <p:nvPr/>
            </p:nvSpPr>
            <p:spPr>
              <a:xfrm>
                <a:off x="7305982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0" name="Shape 12">
                <a:extLst>
                  <a:ext uri="{FF2B5EF4-FFF2-40B4-BE49-F238E27FC236}">
                    <a16:creationId xmlns:a16="http://schemas.microsoft.com/office/drawing/2014/main" id="{C2812970-0660-9D6C-C642-CA57DD33878A}"/>
                  </a:ext>
                </a:extLst>
              </p:cNvPr>
              <p:cNvSpPr/>
              <p:nvPr/>
            </p:nvSpPr>
            <p:spPr>
              <a:xfrm>
                <a:off x="7305982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 dirty="0">
                  <a:ea typeface="+mj-ea"/>
                </a:endParaRPr>
              </a:p>
            </p:txBody>
          </p:sp>
          <p:sp>
            <p:nvSpPr>
              <p:cNvPr id="131" name="Shape 16">
                <a:extLst>
                  <a:ext uri="{FF2B5EF4-FFF2-40B4-BE49-F238E27FC236}">
                    <a16:creationId xmlns:a16="http://schemas.microsoft.com/office/drawing/2014/main" id="{A782AE2E-D0FD-9E91-DBF8-02B28CBA3C4B}"/>
                  </a:ext>
                </a:extLst>
              </p:cNvPr>
              <p:cNvSpPr/>
              <p:nvPr/>
            </p:nvSpPr>
            <p:spPr>
              <a:xfrm>
                <a:off x="8061495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32" name="Text 17">
                <a:extLst>
                  <a:ext uri="{FF2B5EF4-FFF2-40B4-BE49-F238E27FC236}">
                    <a16:creationId xmlns:a16="http://schemas.microsoft.com/office/drawing/2014/main" id="{ECE9009B-B50A-ABE7-DFE5-4F60E51F4D82}"/>
                  </a:ext>
                </a:extLst>
              </p:cNvPr>
              <p:cNvSpPr/>
              <p:nvPr/>
            </p:nvSpPr>
            <p:spPr>
              <a:xfrm>
                <a:off x="8061495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b="1" dirty="0">
                    <a:latin typeface="+mj-ea"/>
                    <a:cs typeface="Nanum Gothic" pitchFamily="34" charset="-120"/>
                  </a:rPr>
                  <a:t> </a:t>
                </a:r>
                <a:r>
                  <a:rPr lang="en-US" altLang="ko-KR" sz="750" b="1" dirty="0">
                    <a:latin typeface="+mj-ea"/>
                    <a:cs typeface="Nanum Gothic" pitchFamily="34" charset="-120"/>
                  </a:rPr>
                  <a:t>DPM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33" name="Shape 18">
                <a:extLst>
                  <a:ext uri="{FF2B5EF4-FFF2-40B4-BE49-F238E27FC236}">
                    <a16:creationId xmlns:a16="http://schemas.microsoft.com/office/drawing/2014/main" id="{8F3B1EA6-E369-C724-EE8B-D8EACE9D7F5D}"/>
                  </a:ext>
                </a:extLst>
              </p:cNvPr>
              <p:cNvSpPr/>
              <p:nvPr/>
            </p:nvSpPr>
            <p:spPr>
              <a:xfrm>
                <a:off x="8061495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4" name="Shape 20">
                <a:extLst>
                  <a:ext uri="{FF2B5EF4-FFF2-40B4-BE49-F238E27FC236}">
                    <a16:creationId xmlns:a16="http://schemas.microsoft.com/office/drawing/2014/main" id="{48634E4D-6F00-56DF-576A-72DE136590B4}"/>
                  </a:ext>
                </a:extLst>
              </p:cNvPr>
              <p:cNvSpPr/>
              <p:nvPr/>
            </p:nvSpPr>
            <p:spPr>
              <a:xfrm>
                <a:off x="8061495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5" name="Shape 10">
                <a:extLst>
                  <a:ext uri="{FF2B5EF4-FFF2-40B4-BE49-F238E27FC236}">
                    <a16:creationId xmlns:a16="http://schemas.microsoft.com/office/drawing/2014/main" id="{C0B45D58-5222-3F97-B503-BBB116FCB76B}"/>
                  </a:ext>
                </a:extLst>
              </p:cNvPr>
              <p:cNvSpPr/>
              <p:nvPr/>
            </p:nvSpPr>
            <p:spPr>
              <a:xfrm>
                <a:off x="8817006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136" name="Text 34">
                <a:extLst>
                  <a:ext uri="{FF2B5EF4-FFF2-40B4-BE49-F238E27FC236}">
                    <a16:creationId xmlns:a16="http://schemas.microsoft.com/office/drawing/2014/main" id="{42E98D96-BA6B-6DAD-F9B0-C15172F9AEF8}"/>
                  </a:ext>
                </a:extLst>
              </p:cNvPr>
              <p:cNvSpPr/>
              <p:nvPr/>
            </p:nvSpPr>
            <p:spPr>
              <a:xfrm>
                <a:off x="8817006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b="1" dirty="0">
                    <a:latin typeface="+mj-ea"/>
                    <a:cs typeface="Nanum Gothic" pitchFamily="34" charset="-120"/>
                  </a:rPr>
                  <a:t>업무모니터링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37" name="Shape 28">
                <a:extLst>
                  <a:ext uri="{FF2B5EF4-FFF2-40B4-BE49-F238E27FC236}">
                    <a16:creationId xmlns:a16="http://schemas.microsoft.com/office/drawing/2014/main" id="{C66C4056-25EE-6E71-8BD2-A0833F71BBA0}"/>
                  </a:ext>
                </a:extLst>
              </p:cNvPr>
              <p:cNvSpPr/>
              <p:nvPr/>
            </p:nvSpPr>
            <p:spPr>
              <a:xfrm>
                <a:off x="8817006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138" name="Text 7">
                <a:extLst>
                  <a:ext uri="{FF2B5EF4-FFF2-40B4-BE49-F238E27FC236}">
                    <a16:creationId xmlns:a16="http://schemas.microsoft.com/office/drawing/2014/main" id="{2302AFA7-6615-E51C-F99A-8FF0A44FD312}"/>
                  </a:ext>
                </a:extLst>
              </p:cNvPr>
              <p:cNvSpPr/>
              <p:nvPr/>
            </p:nvSpPr>
            <p:spPr>
              <a:xfrm>
                <a:off x="7275842" y="4910478"/>
                <a:ext cx="2302704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ko-KR" altLang="en-US" sz="950" b="1" dirty="0">
                    <a:solidFill>
                      <a:schemeClr val="bg1"/>
                    </a:solidFill>
                    <a:ea typeface="Nanum Gothic" pitchFamily="34" charset="-122"/>
                    <a:cs typeface="Nanum Gothic" pitchFamily="34" charset="-120"/>
                  </a:rPr>
                  <a:t>관리서버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39" name="Text 11">
                <a:extLst>
                  <a:ext uri="{FF2B5EF4-FFF2-40B4-BE49-F238E27FC236}">
                    <a16:creationId xmlns:a16="http://schemas.microsoft.com/office/drawing/2014/main" id="{0207723C-78CA-7CA0-6E1E-849D0B6814F4}"/>
                  </a:ext>
                </a:extLst>
              </p:cNvPr>
              <p:cNvSpPr/>
              <p:nvPr/>
            </p:nvSpPr>
            <p:spPr>
              <a:xfrm>
                <a:off x="7305982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 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140" name="Text 13">
                <a:extLst>
                  <a:ext uri="{FF2B5EF4-FFF2-40B4-BE49-F238E27FC236}">
                    <a16:creationId xmlns:a16="http://schemas.microsoft.com/office/drawing/2014/main" id="{799A7A61-54C8-2097-6622-C91500A93B96}"/>
                  </a:ext>
                </a:extLst>
              </p:cNvPr>
              <p:cNvSpPr/>
              <p:nvPr/>
            </p:nvSpPr>
            <p:spPr>
              <a:xfrm>
                <a:off x="7305982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Scouter </a:t>
                </a:r>
                <a:r>
                  <a:rPr lang="ko-KR" altLang="en-US" sz="750" dirty="0">
                    <a:cs typeface="Nanum Gothic" pitchFamily="34" charset="-120"/>
                  </a:rPr>
                  <a:t>수집서버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141" name="Text 19">
                <a:extLst>
                  <a:ext uri="{FF2B5EF4-FFF2-40B4-BE49-F238E27FC236}">
                    <a16:creationId xmlns:a16="http://schemas.microsoft.com/office/drawing/2014/main" id="{02217ECF-128C-18C4-6184-F81FB5AB1676}"/>
                  </a:ext>
                </a:extLst>
              </p:cNvPr>
              <p:cNvSpPr/>
              <p:nvPr/>
            </p:nvSpPr>
            <p:spPr>
              <a:xfrm>
                <a:off x="8061495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 err="1">
                    <a:cs typeface="Nanum Gothic" pitchFamily="34" charset="-120"/>
                  </a:rPr>
                  <a:t>MaxGauge</a:t>
                </a:r>
                <a:endParaRPr lang="en-US" altLang="ko-KR" sz="750" dirty="0"/>
              </a:p>
            </p:txBody>
          </p:sp>
          <p:sp>
            <p:nvSpPr>
              <p:cNvPr id="142" name="Text 21">
                <a:extLst>
                  <a:ext uri="{FF2B5EF4-FFF2-40B4-BE49-F238E27FC236}">
                    <a16:creationId xmlns:a16="http://schemas.microsoft.com/office/drawing/2014/main" id="{87F24D1A-8984-AC79-95F2-3316A5DEE475}"/>
                  </a:ext>
                </a:extLst>
              </p:cNvPr>
              <p:cNvSpPr/>
              <p:nvPr/>
            </p:nvSpPr>
            <p:spPr>
              <a:xfrm>
                <a:off x="8061495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144" name="Text 29">
                <a:extLst>
                  <a:ext uri="{FF2B5EF4-FFF2-40B4-BE49-F238E27FC236}">
                    <a16:creationId xmlns:a16="http://schemas.microsoft.com/office/drawing/2014/main" id="{D3000971-5340-C229-8BEF-29E1F0D7B5A6}"/>
                  </a:ext>
                </a:extLst>
              </p:cNvPr>
              <p:cNvSpPr/>
              <p:nvPr/>
            </p:nvSpPr>
            <p:spPr>
              <a:xfrm>
                <a:off x="8817006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Windows 2019</a:t>
                </a:r>
                <a:endParaRPr lang="en-US" altLang="ko-KR" sz="750" dirty="0">
                  <a:latin typeface="나눔고딕 (본문)"/>
                </a:endParaRPr>
              </a:p>
            </p:txBody>
          </p:sp>
          <p:sp>
            <p:nvSpPr>
              <p:cNvPr id="145" name="Text 11">
                <a:extLst>
                  <a:ext uri="{FF2B5EF4-FFF2-40B4-BE49-F238E27FC236}">
                    <a16:creationId xmlns:a16="http://schemas.microsoft.com/office/drawing/2014/main" id="{50787097-B0C3-BED7-A7E1-98D37EF63B95}"/>
                  </a:ext>
                </a:extLst>
              </p:cNvPr>
              <p:cNvSpPr/>
              <p:nvPr/>
            </p:nvSpPr>
            <p:spPr>
              <a:xfrm>
                <a:off x="8817006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dirty="0" err="1">
                    <a:solidFill>
                      <a:srgbClr val="000000"/>
                    </a:solidFill>
                    <a:latin typeface="나눔고딕 (본문)"/>
                  </a:rPr>
                  <a:t>암호화키관리</a:t>
                </a:r>
                <a:endParaRPr lang="en-US" altLang="ko-KR" sz="750" dirty="0">
                  <a:solidFill>
                    <a:srgbClr val="000000"/>
                  </a:solidFill>
                  <a:latin typeface="나눔고딕 (본문)"/>
                </a:endParaRPr>
              </a:p>
            </p:txBody>
          </p:sp>
          <p:sp>
            <p:nvSpPr>
              <p:cNvPr id="246" name="Shape 24">
                <a:extLst>
                  <a:ext uri="{FF2B5EF4-FFF2-40B4-BE49-F238E27FC236}">
                    <a16:creationId xmlns:a16="http://schemas.microsoft.com/office/drawing/2014/main" id="{C3306432-4340-12D2-A331-11EDA76FF68B}"/>
                  </a:ext>
                </a:extLst>
              </p:cNvPr>
              <p:cNvSpPr/>
              <p:nvPr/>
            </p:nvSpPr>
            <p:spPr>
              <a:xfrm>
                <a:off x="7305982" y="5628027"/>
                <a:ext cx="7314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ea typeface="+mj-ea"/>
                </a:endParaRPr>
              </a:p>
            </p:txBody>
          </p:sp>
          <p:sp>
            <p:nvSpPr>
              <p:cNvPr id="250" name="Text 21">
                <a:extLst>
                  <a:ext uri="{FF2B5EF4-FFF2-40B4-BE49-F238E27FC236}">
                    <a16:creationId xmlns:a16="http://schemas.microsoft.com/office/drawing/2014/main" id="{96BDE899-D371-3CCF-A34C-839102B4E312}"/>
                  </a:ext>
                </a:extLst>
              </p:cNvPr>
              <p:cNvSpPr/>
              <p:nvPr/>
            </p:nvSpPr>
            <p:spPr>
              <a:xfrm>
                <a:off x="7305982" y="5628027"/>
                <a:ext cx="7314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</p:grp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5C30731C-BF2E-0EC1-131E-DEE660038E45}"/>
                </a:ext>
              </a:extLst>
            </p:cNvPr>
            <p:cNvGrpSpPr/>
            <p:nvPr/>
          </p:nvGrpSpPr>
          <p:grpSpPr>
            <a:xfrm>
              <a:off x="4838365" y="4917477"/>
              <a:ext cx="2382887" cy="1182629"/>
              <a:chOff x="4838365" y="4917477"/>
              <a:chExt cx="2582888" cy="1182629"/>
            </a:xfrm>
          </p:grpSpPr>
          <p:sp>
            <p:nvSpPr>
              <p:cNvPr id="239" name="Shape 55">
                <a:extLst>
                  <a:ext uri="{FF2B5EF4-FFF2-40B4-BE49-F238E27FC236}">
                    <a16:creationId xmlns:a16="http://schemas.microsoft.com/office/drawing/2014/main" id="{99A15723-B782-14EC-D7A9-FA04256C3E43}"/>
                  </a:ext>
                </a:extLst>
              </p:cNvPr>
              <p:cNvSpPr/>
              <p:nvPr/>
            </p:nvSpPr>
            <p:spPr>
              <a:xfrm>
                <a:off x="6532253" y="4917478"/>
                <a:ext cx="889000" cy="118262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" name="Shape 68">
                <a:extLst>
                  <a:ext uri="{FF2B5EF4-FFF2-40B4-BE49-F238E27FC236}">
                    <a16:creationId xmlns:a16="http://schemas.microsoft.com/office/drawing/2014/main" id="{CE17157F-56C5-0C14-D20B-5B3A119DE0D3}"/>
                  </a:ext>
                </a:extLst>
              </p:cNvPr>
              <p:cNvSpPr/>
              <p:nvPr/>
            </p:nvSpPr>
            <p:spPr>
              <a:xfrm>
                <a:off x="6564002" y="5330228"/>
                <a:ext cx="8255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41" name="Shape 24">
                <a:extLst>
                  <a:ext uri="{FF2B5EF4-FFF2-40B4-BE49-F238E27FC236}">
                    <a16:creationId xmlns:a16="http://schemas.microsoft.com/office/drawing/2014/main" id="{A4FA7316-BD2D-667C-9FA5-48E7565AE5C4}"/>
                  </a:ext>
                </a:extLst>
              </p:cNvPr>
              <p:cNvSpPr/>
              <p:nvPr/>
            </p:nvSpPr>
            <p:spPr>
              <a:xfrm>
                <a:off x="6564002" y="5482628"/>
                <a:ext cx="8255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42" name="Text 42">
                <a:extLst>
                  <a:ext uri="{FF2B5EF4-FFF2-40B4-BE49-F238E27FC236}">
                    <a16:creationId xmlns:a16="http://schemas.microsoft.com/office/drawing/2014/main" id="{CB03CDC6-28CA-BA8C-B288-3453E4165E23}"/>
                  </a:ext>
                </a:extLst>
              </p:cNvPr>
              <p:cNvSpPr/>
              <p:nvPr/>
            </p:nvSpPr>
            <p:spPr>
              <a:xfrm>
                <a:off x="6564002" y="5133378"/>
                <a:ext cx="8255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43" name="Shape 31">
                <a:extLst>
                  <a:ext uri="{FF2B5EF4-FFF2-40B4-BE49-F238E27FC236}">
                    <a16:creationId xmlns:a16="http://schemas.microsoft.com/office/drawing/2014/main" id="{915CA157-6A30-6A25-6FC2-76B78E6F7872}"/>
                  </a:ext>
                </a:extLst>
              </p:cNvPr>
              <p:cNvSpPr/>
              <p:nvPr/>
            </p:nvSpPr>
            <p:spPr>
              <a:xfrm>
                <a:off x="6532253" y="4917477"/>
                <a:ext cx="8890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latin typeface="+mj-lt"/>
                </a:endParaRPr>
              </a:p>
            </p:txBody>
          </p:sp>
          <p:sp>
            <p:nvSpPr>
              <p:cNvPr id="245" name="ADD_bg_nexus">
                <a:extLst>
                  <a:ext uri="{FF2B5EF4-FFF2-40B4-BE49-F238E27FC236}">
                    <a16:creationId xmlns:a16="http://schemas.microsoft.com/office/drawing/2014/main" id="{3DB5B2FE-3D9F-E528-BB26-0B5E2915D2EC}"/>
                  </a:ext>
                </a:extLst>
              </p:cNvPr>
              <p:cNvSpPr/>
              <p:nvPr/>
            </p:nvSpPr>
            <p:spPr>
              <a:xfrm>
                <a:off x="6564003" y="5482628"/>
                <a:ext cx="825500" cy="152400"/>
              </a:xfrm>
              <a:prstGeom prst="rect">
                <a:avLst/>
              </a:prstGeom>
              <a:solidFill>
                <a:srgbClr val="F9F6F4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Text 69">
                <a:extLst>
                  <a:ext uri="{FF2B5EF4-FFF2-40B4-BE49-F238E27FC236}">
                    <a16:creationId xmlns:a16="http://schemas.microsoft.com/office/drawing/2014/main" id="{F0CDB3D2-895D-D019-8E54-4E02D4F8C074}"/>
                  </a:ext>
                </a:extLst>
              </p:cNvPr>
              <p:cNvSpPr/>
              <p:nvPr/>
            </p:nvSpPr>
            <p:spPr>
              <a:xfrm>
                <a:off x="6564002" y="5330228"/>
                <a:ext cx="8255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89" name="Text 32">
                <a:extLst>
                  <a:ext uri="{FF2B5EF4-FFF2-40B4-BE49-F238E27FC236}">
                    <a16:creationId xmlns:a16="http://schemas.microsoft.com/office/drawing/2014/main" id="{2F65E072-3A2E-A063-CFD2-7588020E4BDC}"/>
                  </a:ext>
                </a:extLst>
              </p:cNvPr>
              <p:cNvSpPr/>
              <p:nvPr/>
            </p:nvSpPr>
            <p:spPr>
              <a:xfrm>
                <a:off x="6532253" y="4917478"/>
                <a:ext cx="8890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ko-KR" altLang="en-US" sz="950" b="1" dirty="0">
                    <a:solidFill>
                      <a:srgbClr val="FFFFFF"/>
                    </a:solidFill>
                    <a:ea typeface="Nanum Gothic" pitchFamily="34" charset="-122"/>
                    <a:cs typeface="Nanum Gothic" pitchFamily="34" charset="-120"/>
                  </a:rPr>
                  <a:t>형상관리</a:t>
                </a:r>
                <a:endParaRPr lang="en-US" altLang="ko-KR" sz="950" dirty="0"/>
              </a:p>
            </p:txBody>
          </p:sp>
          <p:sp>
            <p:nvSpPr>
              <p:cNvPr id="332" name="ADD_tx_nexus">
                <a:extLst>
                  <a:ext uri="{FF2B5EF4-FFF2-40B4-BE49-F238E27FC236}">
                    <a16:creationId xmlns:a16="http://schemas.microsoft.com/office/drawing/2014/main" id="{7142C328-2F31-347B-8467-99A6B4656334}"/>
                  </a:ext>
                </a:extLst>
              </p:cNvPr>
              <p:cNvSpPr txBox="1"/>
              <p:nvPr/>
            </p:nvSpPr>
            <p:spPr>
              <a:xfrm>
                <a:off x="6564003" y="5482628"/>
                <a:ext cx="825500" cy="152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79" name="Shape 5">
                <a:extLst>
                  <a:ext uri="{FF2B5EF4-FFF2-40B4-BE49-F238E27FC236}">
                    <a16:creationId xmlns:a16="http://schemas.microsoft.com/office/drawing/2014/main" id="{B1E1C66A-6BBF-30CF-481F-AAF16A77A53D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1686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0" name="Shape 6">
                <a:extLst>
                  <a:ext uri="{FF2B5EF4-FFF2-40B4-BE49-F238E27FC236}">
                    <a16:creationId xmlns:a16="http://schemas.microsoft.com/office/drawing/2014/main" id="{5B63290F-C727-9AFA-BCB4-4BE9A6E54426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46087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81" name="Shape 8">
                <a:extLst>
                  <a:ext uri="{FF2B5EF4-FFF2-40B4-BE49-F238E27FC236}">
                    <a16:creationId xmlns:a16="http://schemas.microsoft.com/office/drawing/2014/main" id="{F1320C4E-417C-790E-543F-B65B2743D1C4}"/>
                  </a:ext>
                </a:extLst>
              </p:cNvPr>
              <p:cNvSpPr/>
              <p:nvPr/>
            </p:nvSpPr>
            <p:spPr>
              <a:xfrm>
                <a:off x="487011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2" name="Text 9">
                <a:extLst>
                  <a:ext uri="{FF2B5EF4-FFF2-40B4-BE49-F238E27FC236}">
                    <a16:creationId xmlns:a16="http://schemas.microsoft.com/office/drawing/2014/main" id="{8C839085-4809-09FF-0F19-A350228926BC}"/>
                  </a:ext>
                </a:extLst>
              </p:cNvPr>
              <p:cNvSpPr/>
              <p:nvPr/>
            </p:nvSpPr>
            <p:spPr>
              <a:xfrm>
                <a:off x="487011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83" name="Shape 10">
                <a:extLst>
                  <a:ext uri="{FF2B5EF4-FFF2-40B4-BE49-F238E27FC236}">
                    <a16:creationId xmlns:a16="http://schemas.microsoft.com/office/drawing/2014/main" id="{0681B8D6-753E-0D77-4C5C-83EEE3CF2960}"/>
                  </a:ext>
                </a:extLst>
              </p:cNvPr>
              <p:cNvSpPr/>
              <p:nvPr/>
            </p:nvSpPr>
            <p:spPr>
              <a:xfrm>
                <a:off x="4870114" y="53441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84" name="Shape 16">
                <a:extLst>
                  <a:ext uri="{FF2B5EF4-FFF2-40B4-BE49-F238E27FC236}">
                    <a16:creationId xmlns:a16="http://schemas.microsoft.com/office/drawing/2014/main" id="{37C186BA-E2D0-4CE7-86CE-9DAF8C1BDBDC}"/>
                  </a:ext>
                </a:extLst>
              </p:cNvPr>
              <p:cNvSpPr/>
              <p:nvPr/>
            </p:nvSpPr>
            <p:spPr>
              <a:xfrm>
                <a:off x="566386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5" name="Text 17">
                <a:extLst>
                  <a:ext uri="{FF2B5EF4-FFF2-40B4-BE49-F238E27FC236}">
                    <a16:creationId xmlns:a16="http://schemas.microsoft.com/office/drawing/2014/main" id="{DE5D802C-08AF-201D-13F7-99DF3091B5DB}"/>
                  </a:ext>
                </a:extLst>
              </p:cNvPr>
              <p:cNvSpPr/>
              <p:nvPr/>
            </p:nvSpPr>
            <p:spPr>
              <a:xfrm>
                <a:off x="566386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86" name="Shape 18">
                <a:extLst>
                  <a:ext uri="{FF2B5EF4-FFF2-40B4-BE49-F238E27FC236}">
                    <a16:creationId xmlns:a16="http://schemas.microsoft.com/office/drawing/2014/main" id="{B0D95B19-604E-3C92-87C4-AF3A92E8F613}"/>
                  </a:ext>
                </a:extLst>
              </p:cNvPr>
              <p:cNvSpPr/>
              <p:nvPr/>
            </p:nvSpPr>
            <p:spPr>
              <a:xfrm>
                <a:off x="5663864" y="53441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87" name="Text 23">
                <a:extLst>
                  <a:ext uri="{FF2B5EF4-FFF2-40B4-BE49-F238E27FC236}">
                    <a16:creationId xmlns:a16="http://schemas.microsoft.com/office/drawing/2014/main" id="{B29D8782-6CDD-F05C-AF86-A6A0A072AE3E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88" name="Text 25">
                <a:extLst>
                  <a:ext uri="{FF2B5EF4-FFF2-40B4-BE49-F238E27FC236}">
                    <a16:creationId xmlns:a16="http://schemas.microsoft.com/office/drawing/2014/main" id="{D0136566-82C4-27A9-54BB-033942ABD4D9}"/>
                  </a:ext>
                </a:extLst>
              </p:cNvPr>
              <p:cNvSpPr/>
              <p:nvPr/>
            </p:nvSpPr>
            <p:spPr>
              <a:xfrm>
                <a:off x="5663864" y="56489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89" name="Text 27">
                <a:extLst>
                  <a:ext uri="{FF2B5EF4-FFF2-40B4-BE49-F238E27FC236}">
                    <a16:creationId xmlns:a16="http://schemas.microsoft.com/office/drawing/2014/main" id="{34CCCED5-1EEC-CEB3-9BB0-C29672F1A02F}"/>
                  </a:ext>
                </a:extLst>
              </p:cNvPr>
              <p:cNvSpPr/>
              <p:nvPr/>
            </p:nvSpPr>
            <p:spPr>
              <a:xfrm>
                <a:off x="5663864" y="58013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90" name="Text 29">
                <a:extLst>
                  <a:ext uri="{FF2B5EF4-FFF2-40B4-BE49-F238E27FC236}">
                    <a16:creationId xmlns:a16="http://schemas.microsoft.com/office/drawing/2014/main" id="{70C8A84B-F2BB-EE72-FC33-9505E1CAC309}"/>
                  </a:ext>
                </a:extLst>
              </p:cNvPr>
              <p:cNvSpPr/>
              <p:nvPr/>
            </p:nvSpPr>
            <p:spPr>
              <a:xfrm>
                <a:off x="5663864" y="59537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91" name="Shape 28">
                <a:extLst>
                  <a:ext uri="{FF2B5EF4-FFF2-40B4-BE49-F238E27FC236}">
                    <a16:creationId xmlns:a16="http://schemas.microsoft.com/office/drawing/2014/main" id="{B3F2C848-4D9D-2784-BBDB-702E1BDCF704}"/>
                  </a:ext>
                </a:extLst>
              </p:cNvPr>
              <p:cNvSpPr/>
              <p:nvPr/>
            </p:nvSpPr>
            <p:spPr>
              <a:xfrm>
                <a:off x="4870114" y="5648962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92" name="Shape 28">
                <a:extLst>
                  <a:ext uri="{FF2B5EF4-FFF2-40B4-BE49-F238E27FC236}">
                    <a16:creationId xmlns:a16="http://schemas.microsoft.com/office/drawing/2014/main" id="{16E8DF6B-0B88-8E7E-8A76-421F2BFCABB0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F48C3626-9D4B-3D4E-D625-A4DCF90CA5D8}"/>
                  </a:ext>
                </a:extLst>
              </p:cNvPr>
              <p:cNvGrpSpPr/>
              <p:nvPr/>
            </p:nvGrpSpPr>
            <p:grpSpPr>
              <a:xfrm>
                <a:off x="5663866" y="5648957"/>
                <a:ext cx="768352" cy="129867"/>
                <a:chOff x="9885050" y="4185745"/>
                <a:chExt cx="893571" cy="135374"/>
              </a:xfrm>
            </p:grpSpPr>
            <p:sp>
              <p:nvSpPr>
                <p:cNvPr id="153" name="Shape 24">
                  <a:extLst>
                    <a:ext uri="{FF2B5EF4-FFF2-40B4-BE49-F238E27FC236}">
                      <a16:creationId xmlns:a16="http://schemas.microsoft.com/office/drawing/2014/main" id="{B2C67B2D-5062-3FFB-BB36-9F5818D4B04D}"/>
                    </a:ext>
                  </a:extLst>
                </p:cNvPr>
                <p:cNvSpPr/>
                <p:nvPr/>
              </p:nvSpPr>
              <p:spPr>
                <a:xfrm>
                  <a:off x="9885050" y="4185758"/>
                  <a:ext cx="893569" cy="135361"/>
                </a:xfrm>
                <a:prstGeom prst="rect">
                  <a:avLst/>
                </a:prstGeom>
                <a:solidFill>
                  <a:srgbClr val="F4F6F9"/>
                </a:solidFill>
                <a:ln w="6350">
                  <a:solidFill>
                    <a:srgbClr val="D9D9D9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>
                    <a:ea typeface="+mj-ea"/>
                  </a:endParaRPr>
                </a:p>
              </p:txBody>
            </p:sp>
            <p:sp>
              <p:nvSpPr>
                <p:cNvPr id="154" name="Text 25">
                  <a:extLst>
                    <a:ext uri="{FF2B5EF4-FFF2-40B4-BE49-F238E27FC236}">
                      <a16:creationId xmlns:a16="http://schemas.microsoft.com/office/drawing/2014/main" id="{B6364B44-1321-3B1E-37F2-A943647FD60F}"/>
                    </a:ext>
                  </a:extLst>
                </p:cNvPr>
                <p:cNvSpPr/>
                <p:nvPr/>
              </p:nvSpPr>
              <p:spPr>
                <a:xfrm>
                  <a:off x="9885052" y="4185745"/>
                  <a:ext cx="893569" cy="135361"/>
                </a:xfrm>
                <a:prstGeom prst="rect">
                  <a:avLst/>
                </a:prstGeom>
                <a:noFill/>
                <a:ln/>
              </p:spPr>
              <p:txBody>
                <a:bodyPr wrap="square" lIns="6350" tIns="6350" rIns="6350" bIns="6350" rtlCol="0" anchor="ctr">
                  <a:normAutofit/>
                </a:bodyPr>
                <a:lstStyle/>
                <a:p>
                  <a:pPr algn="ctr"/>
                  <a:r>
                    <a:rPr lang="en-US" altLang="ko-KR" sz="750">
                      <a:cs typeface="Nanum Gothic" pitchFamily="34" charset="-120"/>
                    </a:rPr>
                    <a:t>Linux(RHEL)</a:t>
                  </a:r>
                  <a:endParaRPr lang="en-US" altLang="ko-KR" sz="750" dirty="0"/>
                </a:p>
              </p:txBody>
            </p:sp>
          </p:grpSp>
          <p:sp>
            <p:nvSpPr>
              <p:cNvPr id="264" name="Text 7">
                <a:extLst>
                  <a:ext uri="{FF2B5EF4-FFF2-40B4-BE49-F238E27FC236}">
                    <a16:creationId xmlns:a16="http://schemas.microsoft.com/office/drawing/2014/main" id="{1552BA28-32B5-95DC-A8BA-F29263FCE456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46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chemeClr val="bg1"/>
                    </a:solidFill>
                    <a:latin typeface="+mj-lt"/>
                  </a:rPr>
                  <a:t>운영지원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65" name="Text 11">
                <a:extLst>
                  <a:ext uri="{FF2B5EF4-FFF2-40B4-BE49-F238E27FC236}">
                    <a16:creationId xmlns:a16="http://schemas.microsoft.com/office/drawing/2014/main" id="{CD0815C4-F4D2-D580-FE30-2416D097C3C4}"/>
                  </a:ext>
                </a:extLst>
              </p:cNvPr>
              <p:cNvSpPr/>
              <p:nvPr/>
            </p:nvSpPr>
            <p:spPr>
              <a:xfrm>
                <a:off x="4870114" y="53441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266" name="Text 19">
                <a:extLst>
                  <a:ext uri="{FF2B5EF4-FFF2-40B4-BE49-F238E27FC236}">
                    <a16:creationId xmlns:a16="http://schemas.microsoft.com/office/drawing/2014/main" id="{6427E627-E2FA-E656-A1CE-DB6F0F5302B4}"/>
                  </a:ext>
                </a:extLst>
              </p:cNvPr>
              <p:cNvSpPr/>
              <p:nvPr/>
            </p:nvSpPr>
            <p:spPr>
              <a:xfrm>
                <a:off x="5663864" y="53441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67" name="Text 29">
                <a:extLst>
                  <a:ext uri="{FF2B5EF4-FFF2-40B4-BE49-F238E27FC236}">
                    <a16:creationId xmlns:a16="http://schemas.microsoft.com/office/drawing/2014/main" id="{3C5B8395-C19B-FE6E-ACA7-1CE371D28E3C}"/>
                  </a:ext>
                </a:extLst>
              </p:cNvPr>
              <p:cNvSpPr/>
              <p:nvPr/>
            </p:nvSpPr>
            <p:spPr>
              <a:xfrm>
                <a:off x="4870114" y="5648962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268" name="Text 29">
                <a:extLst>
                  <a:ext uri="{FF2B5EF4-FFF2-40B4-BE49-F238E27FC236}">
                    <a16:creationId xmlns:a16="http://schemas.microsoft.com/office/drawing/2014/main" id="{B7317108-EAE9-CCFE-8F1D-175806E4BBA7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</a:t>
                </a:r>
                <a:endParaRPr lang="en-US" altLang="ko-KR" sz="750" dirty="0"/>
              </a:p>
            </p:txBody>
          </p:sp>
          <p:sp>
            <p:nvSpPr>
              <p:cNvPr id="345" name="RST_ssl_bg_2">
                <a:extLst>
                  <a:ext uri="{FF2B5EF4-FFF2-40B4-BE49-F238E27FC236}">
                    <a16:creationId xmlns:a16="http://schemas.microsoft.com/office/drawing/2014/main" id="{9C73EE9E-534F-8339-5B8E-A3EE6BAF6BBC}"/>
                  </a:ext>
                </a:extLst>
              </p:cNvPr>
              <p:cNvSpPr/>
              <p:nvPr/>
            </p:nvSpPr>
            <p:spPr>
              <a:xfrm>
                <a:off x="4863765" y="5496562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46" name="RST_ssl_tx_2">
                <a:extLst>
                  <a:ext uri="{FF2B5EF4-FFF2-40B4-BE49-F238E27FC236}">
                    <a16:creationId xmlns:a16="http://schemas.microsoft.com/office/drawing/2014/main" id="{244F5723-4892-6583-D83F-D6E78DE3A0F5}"/>
                  </a:ext>
                </a:extLst>
              </p:cNvPr>
              <p:cNvSpPr txBox="1"/>
              <p:nvPr/>
            </p:nvSpPr>
            <p:spPr>
              <a:xfrm>
                <a:off x="4863765" y="5496562"/>
                <a:ext cx="768350" cy="129855"/>
              </a:xfrm>
              <a:prstGeom prst="rect">
                <a:avLst/>
              </a:prstGeom>
              <a:noFill/>
            </p:spPr>
            <p:txBody>
              <a:bodyPr vert="horz" wrap="square" lIns="6350" tIns="6350" rIns="6350" bIns="6350" rtlCol="0" anchor="ctr" anchorCtr="0">
                <a:noAutofit/>
              </a:bodyPr>
              <a:lstStyle/>
              <a:p>
                <a:pPr algn="ctr"/>
                <a:r>
                  <a:rPr lang="en-US" altLang="ko-KR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SSL </a:t>
                </a:r>
                <a:r>
                  <a:rPr lang="ko-KR" altLang="en-US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인증</a:t>
                </a: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BEB43DD-5DA5-081E-3260-A8DA2E949C18}"/>
              </a:ext>
            </a:extLst>
          </p:cNvPr>
          <p:cNvGrpSpPr/>
          <p:nvPr/>
        </p:nvGrpSpPr>
        <p:grpSpPr>
          <a:xfrm>
            <a:off x="1002437" y="4985880"/>
            <a:ext cx="3024336" cy="1361997"/>
            <a:chOff x="956556" y="4985880"/>
            <a:chExt cx="3152688" cy="1361997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8836B15E-5DBF-F298-6797-A748A1BA737D}"/>
                </a:ext>
              </a:extLst>
            </p:cNvPr>
            <p:cNvGrpSpPr/>
            <p:nvPr/>
          </p:nvGrpSpPr>
          <p:grpSpPr>
            <a:xfrm>
              <a:off x="2648744" y="4989329"/>
              <a:ext cx="1460500" cy="1313682"/>
              <a:chOff x="4711699" y="2064555"/>
              <a:chExt cx="1460500" cy="1133077"/>
            </a:xfrm>
          </p:grpSpPr>
          <p:sp>
            <p:nvSpPr>
              <p:cNvPr id="208" name="Shape 5">
                <a:extLst>
                  <a:ext uri="{FF2B5EF4-FFF2-40B4-BE49-F238E27FC236}">
                    <a16:creationId xmlns:a16="http://schemas.microsoft.com/office/drawing/2014/main" id="{57DF066A-FB9E-3B22-1984-F2D11C9F5C29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13307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" name="Shape 6">
                <a:extLst>
                  <a:ext uri="{FF2B5EF4-FFF2-40B4-BE49-F238E27FC236}">
                    <a16:creationId xmlns:a16="http://schemas.microsoft.com/office/drawing/2014/main" id="{4B49691D-A404-C278-5DAC-7408E00CCE59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latin typeface="+mj-lt"/>
                </a:endParaRPr>
              </a:p>
            </p:txBody>
          </p:sp>
          <p:sp>
            <p:nvSpPr>
              <p:cNvPr id="210" name="Shape 8">
                <a:extLst>
                  <a:ext uri="{FF2B5EF4-FFF2-40B4-BE49-F238E27FC236}">
                    <a16:creationId xmlns:a16="http://schemas.microsoft.com/office/drawing/2014/main" id="{22C7860D-420B-E988-014B-6C206BCDE7C6}"/>
                  </a:ext>
                </a:extLst>
              </p:cNvPr>
              <p:cNvSpPr/>
              <p:nvPr/>
            </p:nvSpPr>
            <p:spPr>
              <a:xfrm>
                <a:off x="47434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211" name="Text 9">
                <a:extLst>
                  <a:ext uri="{FF2B5EF4-FFF2-40B4-BE49-F238E27FC236}">
                    <a16:creationId xmlns:a16="http://schemas.microsoft.com/office/drawing/2014/main" id="{A523627A-09F6-372D-D2B7-0BFE245D4B1A}"/>
                  </a:ext>
                </a:extLst>
              </p:cNvPr>
              <p:cNvSpPr/>
              <p:nvPr/>
            </p:nvSpPr>
            <p:spPr>
              <a:xfrm>
                <a:off x="47434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12" name="Shape 10">
                <a:extLst>
                  <a:ext uri="{FF2B5EF4-FFF2-40B4-BE49-F238E27FC236}">
                    <a16:creationId xmlns:a16="http://schemas.microsoft.com/office/drawing/2014/main" id="{F1DDA240-687B-C0B5-C042-B947D5002254}"/>
                  </a:ext>
                </a:extLst>
              </p:cNvPr>
              <p:cNvSpPr/>
              <p:nvPr/>
            </p:nvSpPr>
            <p:spPr>
              <a:xfrm>
                <a:off x="4743448" y="24773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3" name="Shape 16">
                <a:extLst>
                  <a:ext uri="{FF2B5EF4-FFF2-40B4-BE49-F238E27FC236}">
                    <a16:creationId xmlns:a16="http://schemas.microsoft.com/office/drawing/2014/main" id="{2098E587-320A-0F8B-0E3E-A4934D163D78}"/>
                  </a:ext>
                </a:extLst>
              </p:cNvPr>
              <p:cNvSpPr/>
              <p:nvPr/>
            </p:nvSpPr>
            <p:spPr>
              <a:xfrm>
                <a:off x="54546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214" name="Text 17">
                <a:extLst>
                  <a:ext uri="{FF2B5EF4-FFF2-40B4-BE49-F238E27FC236}">
                    <a16:creationId xmlns:a16="http://schemas.microsoft.com/office/drawing/2014/main" id="{ACC0B477-DB78-1D69-1C41-A57B4260CCC7}"/>
                  </a:ext>
                </a:extLst>
              </p:cNvPr>
              <p:cNvSpPr/>
              <p:nvPr/>
            </p:nvSpPr>
            <p:spPr>
              <a:xfrm>
                <a:off x="54546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15" name="Shape 18">
                <a:extLst>
                  <a:ext uri="{FF2B5EF4-FFF2-40B4-BE49-F238E27FC236}">
                    <a16:creationId xmlns:a16="http://schemas.microsoft.com/office/drawing/2014/main" id="{93B2DC05-210E-9DEF-8E07-E10A0CA9EA34}"/>
                  </a:ext>
                </a:extLst>
              </p:cNvPr>
              <p:cNvSpPr/>
              <p:nvPr/>
            </p:nvSpPr>
            <p:spPr>
              <a:xfrm>
                <a:off x="5454648" y="24773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6" name="Shape 20">
                <a:extLst>
                  <a:ext uri="{FF2B5EF4-FFF2-40B4-BE49-F238E27FC236}">
                    <a16:creationId xmlns:a16="http://schemas.microsoft.com/office/drawing/2014/main" id="{41531D8D-A222-8147-503B-4DDF90B60012}"/>
                  </a:ext>
                </a:extLst>
              </p:cNvPr>
              <p:cNvSpPr/>
              <p:nvPr/>
            </p:nvSpPr>
            <p:spPr>
              <a:xfrm>
                <a:off x="5454648" y="26297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7" name="Text 23">
                <a:extLst>
                  <a:ext uri="{FF2B5EF4-FFF2-40B4-BE49-F238E27FC236}">
                    <a16:creationId xmlns:a16="http://schemas.microsoft.com/office/drawing/2014/main" id="{390DB7C5-EA60-0716-B269-76B8FE966696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218" name="Text 25">
                <a:extLst>
                  <a:ext uri="{FF2B5EF4-FFF2-40B4-BE49-F238E27FC236}">
                    <a16:creationId xmlns:a16="http://schemas.microsoft.com/office/drawing/2014/main" id="{153D2F14-BA82-A934-2BDD-6F9E30EB072D}"/>
                  </a:ext>
                </a:extLst>
              </p:cNvPr>
              <p:cNvSpPr/>
              <p:nvPr/>
            </p:nvSpPr>
            <p:spPr>
              <a:xfrm>
                <a:off x="5454648" y="29345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221" name="Shape 28">
                <a:extLst>
                  <a:ext uri="{FF2B5EF4-FFF2-40B4-BE49-F238E27FC236}">
                    <a16:creationId xmlns:a16="http://schemas.microsoft.com/office/drawing/2014/main" id="{6A394FF7-D694-F020-5211-1F993281EFE9}"/>
                  </a:ext>
                </a:extLst>
              </p:cNvPr>
              <p:cNvSpPr/>
              <p:nvPr/>
            </p:nvSpPr>
            <p:spPr>
              <a:xfrm>
                <a:off x="4743448" y="26297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35" name="Shape 24">
                <a:extLst>
                  <a:ext uri="{FF2B5EF4-FFF2-40B4-BE49-F238E27FC236}">
                    <a16:creationId xmlns:a16="http://schemas.microsoft.com/office/drawing/2014/main" id="{52D84390-9E27-2C16-7591-7E9D7DE029BE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300" name="Text 7">
                <a:extLst>
                  <a:ext uri="{FF2B5EF4-FFF2-40B4-BE49-F238E27FC236}">
                    <a16:creationId xmlns:a16="http://schemas.microsoft.com/office/drawing/2014/main" id="{E2C119B1-E853-D1DF-B528-75F177CB8304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rgbClr val="FFFFFF"/>
                    </a:solidFill>
                    <a:latin typeface="+mj-lt"/>
                  </a:rPr>
                  <a:t>시도</a:t>
                </a:r>
                <a:endParaRPr lang="en-US" sz="950" dirty="0">
                  <a:latin typeface="+mj-lt"/>
                </a:endParaRPr>
              </a:p>
            </p:txBody>
          </p:sp>
          <p:sp>
            <p:nvSpPr>
              <p:cNvPr id="301" name="Text 11">
                <a:extLst>
                  <a:ext uri="{FF2B5EF4-FFF2-40B4-BE49-F238E27FC236}">
                    <a16:creationId xmlns:a16="http://schemas.microsoft.com/office/drawing/2014/main" id="{B6EC3357-A3BB-AEF4-B44B-E32CEE40B183}"/>
                  </a:ext>
                </a:extLst>
              </p:cNvPr>
              <p:cNvSpPr/>
              <p:nvPr/>
            </p:nvSpPr>
            <p:spPr>
              <a:xfrm>
                <a:off x="4743448" y="24773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302" name="Text 19">
                <a:extLst>
                  <a:ext uri="{FF2B5EF4-FFF2-40B4-BE49-F238E27FC236}">
                    <a16:creationId xmlns:a16="http://schemas.microsoft.com/office/drawing/2014/main" id="{EAA961EE-BEA2-9E6F-BA82-925EDF25D691}"/>
                  </a:ext>
                </a:extLst>
              </p:cNvPr>
              <p:cNvSpPr/>
              <p:nvPr/>
            </p:nvSpPr>
            <p:spPr>
              <a:xfrm>
                <a:off x="5454648" y="24773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303" name="Text 21">
                <a:extLst>
                  <a:ext uri="{FF2B5EF4-FFF2-40B4-BE49-F238E27FC236}">
                    <a16:creationId xmlns:a16="http://schemas.microsoft.com/office/drawing/2014/main" id="{1DBA41F2-173E-F559-7852-3ED8AA6767A3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304" name="Text 29">
                <a:extLst>
                  <a:ext uri="{FF2B5EF4-FFF2-40B4-BE49-F238E27FC236}">
                    <a16:creationId xmlns:a16="http://schemas.microsoft.com/office/drawing/2014/main" id="{5352ADA6-E3F5-68A6-CEB6-13B6B5F2444E}"/>
                  </a:ext>
                </a:extLst>
              </p:cNvPr>
              <p:cNvSpPr/>
              <p:nvPr/>
            </p:nvSpPr>
            <p:spPr>
              <a:xfrm>
                <a:off x="4743449" y="26297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311" name="Text 25">
                <a:extLst>
                  <a:ext uri="{FF2B5EF4-FFF2-40B4-BE49-F238E27FC236}">
                    <a16:creationId xmlns:a16="http://schemas.microsoft.com/office/drawing/2014/main" id="{DAD26BA9-3ED1-5B02-7EFB-F7A7EC87B72A}"/>
                  </a:ext>
                </a:extLst>
              </p:cNvPr>
              <p:cNvSpPr/>
              <p:nvPr/>
            </p:nvSpPr>
            <p:spPr>
              <a:xfrm>
                <a:off x="5454649" y="26297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 </a:t>
                </a:r>
                <a:endParaRPr lang="en-US" altLang="ko-KR" sz="750" dirty="0"/>
              </a:p>
            </p:txBody>
          </p:sp>
        </p:grp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8C87AC1-4979-5CF2-1EF1-729D5C1CD1C8}"/>
                </a:ext>
              </a:extLst>
            </p:cNvPr>
            <p:cNvGrpSpPr/>
            <p:nvPr/>
          </p:nvGrpSpPr>
          <p:grpSpPr>
            <a:xfrm>
              <a:off x="956556" y="4985880"/>
              <a:ext cx="1625600" cy="1361997"/>
              <a:chOff x="6415188" y="3533871"/>
              <a:chExt cx="1625600" cy="1174750"/>
            </a:xfrm>
          </p:grpSpPr>
          <p:sp>
            <p:nvSpPr>
              <p:cNvPr id="93" name="Shape 5">
                <a:extLst>
                  <a:ext uri="{FF2B5EF4-FFF2-40B4-BE49-F238E27FC236}">
                    <a16:creationId xmlns:a16="http://schemas.microsoft.com/office/drawing/2014/main" id="{9E11B4B8-AAB3-E529-14F4-F5669B01BB6D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13307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4" name="Shape 6">
                <a:extLst>
                  <a:ext uri="{FF2B5EF4-FFF2-40B4-BE49-F238E27FC236}">
                    <a16:creationId xmlns:a16="http://schemas.microsoft.com/office/drawing/2014/main" id="{D8E79614-7451-7908-1E50-C22CB6D6503C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95" name="Shape 8">
                <a:extLst>
                  <a:ext uri="{FF2B5EF4-FFF2-40B4-BE49-F238E27FC236}">
                    <a16:creationId xmlns:a16="http://schemas.microsoft.com/office/drawing/2014/main" id="{AF1E977C-53C7-14D3-6F4A-CA862AFEFCD0}"/>
                  </a:ext>
                </a:extLst>
              </p:cNvPr>
              <p:cNvSpPr/>
              <p:nvPr/>
            </p:nvSpPr>
            <p:spPr>
              <a:xfrm>
                <a:off x="644693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Text 9">
                <a:extLst>
                  <a:ext uri="{FF2B5EF4-FFF2-40B4-BE49-F238E27FC236}">
                    <a16:creationId xmlns:a16="http://schemas.microsoft.com/office/drawing/2014/main" id="{24E2CE83-4206-6C16-B709-6F3DF3845292}"/>
                  </a:ext>
                </a:extLst>
              </p:cNvPr>
              <p:cNvSpPr/>
              <p:nvPr/>
            </p:nvSpPr>
            <p:spPr>
              <a:xfrm>
                <a:off x="644693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97" name="Shape 10">
                <a:extLst>
                  <a:ext uri="{FF2B5EF4-FFF2-40B4-BE49-F238E27FC236}">
                    <a16:creationId xmlns:a16="http://schemas.microsoft.com/office/drawing/2014/main" id="{613533DD-FC37-9143-385D-1164BC8DDE43}"/>
                  </a:ext>
                </a:extLst>
              </p:cNvPr>
              <p:cNvSpPr/>
              <p:nvPr/>
            </p:nvSpPr>
            <p:spPr>
              <a:xfrm>
                <a:off x="6446937" y="39466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98" name="Shape 16">
                <a:extLst>
                  <a:ext uri="{FF2B5EF4-FFF2-40B4-BE49-F238E27FC236}">
                    <a16:creationId xmlns:a16="http://schemas.microsoft.com/office/drawing/2014/main" id="{0321C190-A2D0-02BF-5545-22183E88ABF9}"/>
                  </a:ext>
                </a:extLst>
              </p:cNvPr>
              <p:cNvSpPr/>
              <p:nvPr/>
            </p:nvSpPr>
            <p:spPr>
              <a:xfrm>
                <a:off x="724068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Text 17">
                <a:extLst>
                  <a:ext uri="{FF2B5EF4-FFF2-40B4-BE49-F238E27FC236}">
                    <a16:creationId xmlns:a16="http://schemas.microsoft.com/office/drawing/2014/main" id="{92192707-C111-1612-1396-A84235EA888A}"/>
                  </a:ext>
                </a:extLst>
              </p:cNvPr>
              <p:cNvSpPr/>
              <p:nvPr/>
            </p:nvSpPr>
            <p:spPr>
              <a:xfrm>
                <a:off x="724068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100" name="Shape 18">
                <a:extLst>
                  <a:ext uri="{FF2B5EF4-FFF2-40B4-BE49-F238E27FC236}">
                    <a16:creationId xmlns:a16="http://schemas.microsoft.com/office/drawing/2014/main" id="{BFFC6D90-AB15-5BA2-8B06-BE4E9C7F1E3F}"/>
                  </a:ext>
                </a:extLst>
              </p:cNvPr>
              <p:cNvSpPr/>
              <p:nvPr/>
            </p:nvSpPr>
            <p:spPr>
              <a:xfrm>
                <a:off x="7240687" y="39466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01" name="Text 23">
                <a:extLst>
                  <a:ext uri="{FF2B5EF4-FFF2-40B4-BE49-F238E27FC236}">
                    <a16:creationId xmlns:a16="http://schemas.microsoft.com/office/drawing/2014/main" id="{F247A978-418D-E56E-2ADF-4797DCE047E9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2" name="Text 25">
                <a:extLst>
                  <a:ext uri="{FF2B5EF4-FFF2-40B4-BE49-F238E27FC236}">
                    <a16:creationId xmlns:a16="http://schemas.microsoft.com/office/drawing/2014/main" id="{2E289DEE-06B0-787A-D22E-072CD9885903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3" name="Text 27">
                <a:extLst>
                  <a:ext uri="{FF2B5EF4-FFF2-40B4-BE49-F238E27FC236}">
                    <a16:creationId xmlns:a16="http://schemas.microsoft.com/office/drawing/2014/main" id="{643DD152-32DB-FF24-9574-E56373F6B0A0}"/>
                  </a:ext>
                </a:extLst>
              </p:cNvPr>
              <p:cNvSpPr/>
              <p:nvPr/>
            </p:nvSpPr>
            <p:spPr>
              <a:xfrm>
                <a:off x="7240687" y="44038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4" name="Text 29">
                <a:extLst>
                  <a:ext uri="{FF2B5EF4-FFF2-40B4-BE49-F238E27FC236}">
                    <a16:creationId xmlns:a16="http://schemas.microsoft.com/office/drawing/2014/main" id="{67F19111-169D-76D2-10A8-CBEBA658F648}"/>
                  </a:ext>
                </a:extLst>
              </p:cNvPr>
              <p:cNvSpPr/>
              <p:nvPr/>
            </p:nvSpPr>
            <p:spPr>
              <a:xfrm>
                <a:off x="7240687" y="45562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5" name="Shape 28">
                <a:extLst>
                  <a:ext uri="{FF2B5EF4-FFF2-40B4-BE49-F238E27FC236}">
                    <a16:creationId xmlns:a16="http://schemas.microsoft.com/office/drawing/2014/main" id="{2654E6BD-ECF9-D600-CE90-AAA44C21BA39}"/>
                  </a:ext>
                </a:extLst>
              </p:cNvPr>
              <p:cNvSpPr/>
              <p:nvPr/>
            </p:nvSpPr>
            <p:spPr>
              <a:xfrm>
                <a:off x="6446937" y="4251422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06" name="Shape 28">
                <a:extLst>
                  <a:ext uri="{FF2B5EF4-FFF2-40B4-BE49-F238E27FC236}">
                    <a16:creationId xmlns:a16="http://schemas.microsoft.com/office/drawing/2014/main" id="{E4BF571A-14A3-F13F-0CE7-E8408FACE32D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65" name="Shape 24">
                <a:extLst>
                  <a:ext uri="{FF2B5EF4-FFF2-40B4-BE49-F238E27FC236}">
                    <a16:creationId xmlns:a16="http://schemas.microsoft.com/office/drawing/2014/main" id="{B837E1CD-DA95-C1D5-05BA-E7C2CB61E6B8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69" name="Text 7">
                <a:extLst>
                  <a:ext uri="{FF2B5EF4-FFF2-40B4-BE49-F238E27FC236}">
                    <a16:creationId xmlns:a16="http://schemas.microsoft.com/office/drawing/2014/main" id="{6078D0FD-26B3-DCA2-DB74-C1E3C53184CC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chemeClr val="bg1"/>
                    </a:solidFill>
                    <a:latin typeface="+mj-lt"/>
                  </a:rPr>
                  <a:t>측량성과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70" name="Text 11">
                <a:extLst>
                  <a:ext uri="{FF2B5EF4-FFF2-40B4-BE49-F238E27FC236}">
                    <a16:creationId xmlns:a16="http://schemas.microsoft.com/office/drawing/2014/main" id="{16EB8F09-06C4-D986-8900-365431EC9E7A}"/>
                  </a:ext>
                </a:extLst>
              </p:cNvPr>
              <p:cNvSpPr/>
              <p:nvPr/>
            </p:nvSpPr>
            <p:spPr>
              <a:xfrm>
                <a:off x="6446937" y="39466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271" name="Text 19">
                <a:extLst>
                  <a:ext uri="{FF2B5EF4-FFF2-40B4-BE49-F238E27FC236}">
                    <a16:creationId xmlns:a16="http://schemas.microsoft.com/office/drawing/2014/main" id="{68464730-EAE2-1234-EC58-1A4937991C6C}"/>
                  </a:ext>
                </a:extLst>
              </p:cNvPr>
              <p:cNvSpPr/>
              <p:nvPr/>
            </p:nvSpPr>
            <p:spPr>
              <a:xfrm>
                <a:off x="7240687" y="39466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72" name="Text 29">
                <a:extLst>
                  <a:ext uri="{FF2B5EF4-FFF2-40B4-BE49-F238E27FC236}">
                    <a16:creationId xmlns:a16="http://schemas.microsoft.com/office/drawing/2014/main" id="{77A3E3B5-139F-4919-B047-4C3616A726B9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</a:t>
                </a:r>
                <a:endParaRPr lang="en-US" altLang="ko-KR" sz="750" dirty="0"/>
              </a:p>
            </p:txBody>
          </p:sp>
          <p:sp>
            <p:nvSpPr>
              <p:cNvPr id="330" name="Text 25">
                <a:extLst>
                  <a:ext uri="{FF2B5EF4-FFF2-40B4-BE49-F238E27FC236}">
                    <a16:creationId xmlns:a16="http://schemas.microsoft.com/office/drawing/2014/main" id="{588DF201-A00D-83CC-984F-8E8AD85F1EE5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331" name="Text 29">
                <a:extLst>
                  <a:ext uri="{FF2B5EF4-FFF2-40B4-BE49-F238E27FC236}">
                    <a16:creationId xmlns:a16="http://schemas.microsoft.com/office/drawing/2014/main" id="{027AC7C7-9FF6-0927-3600-CC1292BB9D01}"/>
                  </a:ext>
                </a:extLst>
              </p:cNvPr>
              <p:cNvSpPr/>
              <p:nvPr/>
            </p:nvSpPr>
            <p:spPr>
              <a:xfrm>
                <a:off x="6446937" y="4251422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Linux(RHEL)</a:t>
                </a:r>
                <a:endParaRPr lang="en-US" altLang="ko-KR" sz="750" dirty="0"/>
              </a:p>
            </p:txBody>
          </p:sp>
          <p:sp>
            <p:nvSpPr>
              <p:cNvPr id="347" name="RST_ssl_bg_3">
                <a:extLst>
                  <a:ext uri="{FF2B5EF4-FFF2-40B4-BE49-F238E27FC236}">
                    <a16:creationId xmlns:a16="http://schemas.microsoft.com/office/drawing/2014/main" id="{DBA7BCD3-E73F-FDA2-1618-485577ACE86C}"/>
                  </a:ext>
                </a:extLst>
              </p:cNvPr>
              <p:cNvSpPr/>
              <p:nvPr/>
            </p:nvSpPr>
            <p:spPr>
              <a:xfrm>
                <a:off x="6440588" y="4099022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ST_ssl_tx_3">
                <a:extLst>
                  <a:ext uri="{FF2B5EF4-FFF2-40B4-BE49-F238E27FC236}">
                    <a16:creationId xmlns:a16="http://schemas.microsoft.com/office/drawing/2014/main" id="{7FF0A504-9434-6385-E047-36551045B2CB}"/>
                  </a:ext>
                </a:extLst>
              </p:cNvPr>
              <p:cNvSpPr txBox="1"/>
              <p:nvPr/>
            </p:nvSpPr>
            <p:spPr>
              <a:xfrm>
                <a:off x="6440588" y="4099022"/>
                <a:ext cx="768350" cy="152400"/>
              </a:xfrm>
              <a:prstGeom prst="rect">
                <a:avLst/>
              </a:prstGeom>
              <a:noFill/>
            </p:spPr>
            <p:txBody>
              <a:bodyPr vert="horz" wrap="square" lIns="6350" tIns="6350" rIns="6350" bIns="6350" rtlCol="0" anchor="ctr" anchorCtr="0">
                <a:noAutofit/>
              </a:bodyPr>
              <a:lstStyle/>
              <a:p>
                <a:pPr algn="ctr"/>
                <a:r>
                  <a:rPr lang="en-US" altLang="ko-KR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SSL </a:t>
                </a:r>
                <a:r>
                  <a:rPr lang="ko-KR" altLang="en-US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인증</a:t>
                </a:r>
              </a:p>
            </p:txBody>
          </p:sp>
        </p:grpSp>
      </p:grpSp>
      <p:sp>
        <p:nvSpPr>
          <p:cNvPr id="166" name="Shape 5">
            <a:extLst>
              <a:ext uri="{FF2B5EF4-FFF2-40B4-BE49-F238E27FC236}">
                <a16:creationId xmlns:a16="http://schemas.microsoft.com/office/drawing/2014/main" id="{0FDD0DC1-39C9-450C-3115-08EB6049AFD6}"/>
              </a:ext>
            </a:extLst>
          </p:cNvPr>
          <p:cNvSpPr/>
          <p:nvPr/>
        </p:nvSpPr>
        <p:spPr>
          <a:xfrm>
            <a:off x="1006024" y="2109268"/>
            <a:ext cx="1750378" cy="1130299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6">
            <a:extLst>
              <a:ext uri="{FF2B5EF4-FFF2-40B4-BE49-F238E27FC236}">
                <a16:creationId xmlns:a16="http://schemas.microsoft.com/office/drawing/2014/main" id="{6B9D7486-7434-0A51-2107-58F975605191}"/>
              </a:ext>
            </a:extLst>
          </p:cNvPr>
          <p:cNvSpPr/>
          <p:nvPr/>
        </p:nvSpPr>
        <p:spPr>
          <a:xfrm>
            <a:off x="1006024" y="2109268"/>
            <a:ext cx="1750378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168" name="Shape 8">
            <a:extLst>
              <a:ext uri="{FF2B5EF4-FFF2-40B4-BE49-F238E27FC236}">
                <a16:creationId xmlns:a16="http://schemas.microsoft.com/office/drawing/2014/main" id="{28BBD1BA-1A4C-73AE-1A5B-0C4410889F5E}"/>
              </a:ext>
            </a:extLst>
          </p:cNvPr>
          <p:cNvSpPr/>
          <p:nvPr/>
        </p:nvSpPr>
        <p:spPr>
          <a:xfrm>
            <a:off x="1038925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69" name="Text 9">
            <a:extLst>
              <a:ext uri="{FF2B5EF4-FFF2-40B4-BE49-F238E27FC236}">
                <a16:creationId xmlns:a16="http://schemas.microsoft.com/office/drawing/2014/main" id="{283C423B-579D-BAAB-1401-ED7E1C08FF0D}"/>
              </a:ext>
            </a:extLst>
          </p:cNvPr>
          <p:cNvSpPr/>
          <p:nvPr/>
        </p:nvSpPr>
        <p:spPr>
          <a:xfrm>
            <a:off x="1038925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170" name="Shape 10">
            <a:extLst>
              <a:ext uri="{FF2B5EF4-FFF2-40B4-BE49-F238E27FC236}">
                <a16:creationId xmlns:a16="http://schemas.microsoft.com/office/drawing/2014/main" id="{0C55A96E-7E38-C953-66B3-F2EBC6544FCF}"/>
              </a:ext>
            </a:extLst>
          </p:cNvPr>
          <p:cNvSpPr/>
          <p:nvPr/>
        </p:nvSpPr>
        <p:spPr>
          <a:xfrm>
            <a:off x="1038925" y="25220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1" name="Shape 16">
            <a:extLst>
              <a:ext uri="{FF2B5EF4-FFF2-40B4-BE49-F238E27FC236}">
                <a16:creationId xmlns:a16="http://schemas.microsoft.com/office/drawing/2014/main" id="{AC03EFAA-8A8F-DE92-2F80-B978077460E6}"/>
              </a:ext>
            </a:extLst>
          </p:cNvPr>
          <p:cNvSpPr/>
          <p:nvPr/>
        </p:nvSpPr>
        <p:spPr>
          <a:xfrm>
            <a:off x="1894373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2" name="Text 17">
            <a:extLst>
              <a:ext uri="{FF2B5EF4-FFF2-40B4-BE49-F238E27FC236}">
                <a16:creationId xmlns:a16="http://schemas.microsoft.com/office/drawing/2014/main" id="{75B8198A-ACB3-AA25-3705-4A5AB4CFEF17}"/>
              </a:ext>
            </a:extLst>
          </p:cNvPr>
          <p:cNvSpPr/>
          <p:nvPr/>
        </p:nvSpPr>
        <p:spPr>
          <a:xfrm>
            <a:off x="1894373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173" name="Shape 18">
            <a:extLst>
              <a:ext uri="{FF2B5EF4-FFF2-40B4-BE49-F238E27FC236}">
                <a16:creationId xmlns:a16="http://schemas.microsoft.com/office/drawing/2014/main" id="{87DD8A95-B602-1952-61A7-5286D22CDA5C}"/>
              </a:ext>
            </a:extLst>
          </p:cNvPr>
          <p:cNvSpPr/>
          <p:nvPr/>
        </p:nvSpPr>
        <p:spPr>
          <a:xfrm>
            <a:off x="1894373" y="25220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4" name="Shape 20">
            <a:extLst>
              <a:ext uri="{FF2B5EF4-FFF2-40B4-BE49-F238E27FC236}">
                <a16:creationId xmlns:a16="http://schemas.microsoft.com/office/drawing/2014/main" id="{B48469B5-7AB2-FD76-F981-A87EBC8EF85E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AE74F0A5-7BB9-B370-BFCB-A2E32275B214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76" name="Text 29">
            <a:extLst>
              <a:ext uri="{FF2B5EF4-FFF2-40B4-BE49-F238E27FC236}">
                <a16:creationId xmlns:a16="http://schemas.microsoft.com/office/drawing/2014/main" id="{C94AEA70-4772-31A5-8FB3-49DD63400A0D}"/>
              </a:ext>
            </a:extLst>
          </p:cNvPr>
          <p:cNvSpPr/>
          <p:nvPr/>
        </p:nvSpPr>
        <p:spPr>
          <a:xfrm>
            <a:off x="1894373" y="29792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C6EC57-DA31-8564-50F9-CDD771EC475B}"/>
              </a:ext>
            </a:extLst>
          </p:cNvPr>
          <p:cNvGrpSpPr/>
          <p:nvPr/>
        </p:nvGrpSpPr>
        <p:grpSpPr>
          <a:xfrm>
            <a:off x="2809044" y="2109268"/>
            <a:ext cx="1398952" cy="1133077"/>
            <a:chOff x="2763163" y="2037260"/>
            <a:chExt cx="1105502" cy="1133077"/>
          </a:xfrm>
        </p:grpSpPr>
        <p:sp>
          <p:nvSpPr>
            <p:cNvPr id="177" name="Shape 55">
              <a:extLst>
                <a:ext uri="{FF2B5EF4-FFF2-40B4-BE49-F238E27FC236}">
                  <a16:creationId xmlns:a16="http://schemas.microsoft.com/office/drawing/2014/main" id="{8742F346-FC8C-616F-0587-D32E556F1BC4}"/>
                </a:ext>
              </a:extLst>
            </p:cNvPr>
            <p:cNvSpPr/>
            <p:nvPr/>
          </p:nvSpPr>
          <p:spPr>
            <a:xfrm>
              <a:off x="2763163" y="2037260"/>
              <a:ext cx="1105502" cy="11330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Shape 68">
              <a:extLst>
                <a:ext uri="{FF2B5EF4-FFF2-40B4-BE49-F238E27FC236}">
                  <a16:creationId xmlns:a16="http://schemas.microsoft.com/office/drawing/2014/main" id="{45A802D3-C18F-78E1-7C61-30A66694F2D2}"/>
                </a:ext>
              </a:extLst>
            </p:cNvPr>
            <p:cNvSpPr/>
            <p:nvPr/>
          </p:nvSpPr>
          <p:spPr>
            <a:xfrm>
              <a:off x="2796065" y="2450010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79" name="Shape 22">
              <a:extLst>
                <a:ext uri="{FF2B5EF4-FFF2-40B4-BE49-F238E27FC236}">
                  <a16:creationId xmlns:a16="http://schemas.microsoft.com/office/drawing/2014/main" id="{3A2C4703-6073-3460-D79E-6BC5902A038F}"/>
                </a:ext>
              </a:extLst>
            </p:cNvPr>
            <p:cNvSpPr/>
            <p:nvPr/>
          </p:nvSpPr>
          <p:spPr>
            <a:xfrm>
              <a:off x="2796064" y="2602411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80" name="Shape 24">
              <a:extLst>
                <a:ext uri="{FF2B5EF4-FFF2-40B4-BE49-F238E27FC236}">
                  <a16:creationId xmlns:a16="http://schemas.microsoft.com/office/drawing/2014/main" id="{F6A2DC70-A975-9EAF-6FC4-2F797A692FA0}"/>
                </a:ext>
              </a:extLst>
            </p:cNvPr>
            <p:cNvSpPr/>
            <p:nvPr/>
          </p:nvSpPr>
          <p:spPr>
            <a:xfrm>
              <a:off x="2796064" y="2754810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81" name="Text 42">
              <a:extLst>
                <a:ext uri="{FF2B5EF4-FFF2-40B4-BE49-F238E27FC236}">
                  <a16:creationId xmlns:a16="http://schemas.microsoft.com/office/drawing/2014/main" id="{01B1B4C2-B366-9804-FCBD-296C7F08EEA0}"/>
                </a:ext>
              </a:extLst>
            </p:cNvPr>
            <p:cNvSpPr/>
            <p:nvPr/>
          </p:nvSpPr>
          <p:spPr>
            <a:xfrm>
              <a:off x="2796064" y="2253160"/>
              <a:ext cx="10396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82" name="Shape 31">
              <a:extLst>
                <a:ext uri="{FF2B5EF4-FFF2-40B4-BE49-F238E27FC236}">
                  <a16:creationId xmlns:a16="http://schemas.microsoft.com/office/drawing/2014/main" id="{81EFBB06-61DA-3BD7-3031-8091585A69C8}"/>
                </a:ext>
              </a:extLst>
            </p:cNvPr>
            <p:cNvSpPr/>
            <p:nvPr/>
          </p:nvSpPr>
          <p:spPr>
            <a:xfrm>
              <a:off x="2763163" y="2037260"/>
              <a:ext cx="1105502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83" name="Text 69">
              <a:extLst>
                <a:ext uri="{FF2B5EF4-FFF2-40B4-BE49-F238E27FC236}">
                  <a16:creationId xmlns:a16="http://schemas.microsoft.com/office/drawing/2014/main" id="{068A3B40-D1E7-08C7-6B09-FEDCFE93FDD6}"/>
                </a:ext>
              </a:extLst>
            </p:cNvPr>
            <p:cNvSpPr/>
            <p:nvPr/>
          </p:nvSpPr>
          <p:spPr>
            <a:xfrm>
              <a:off x="2796065" y="2450010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184" name="Text 23">
              <a:extLst>
                <a:ext uri="{FF2B5EF4-FFF2-40B4-BE49-F238E27FC236}">
                  <a16:creationId xmlns:a16="http://schemas.microsoft.com/office/drawing/2014/main" id="{BE335EE4-E3B2-218E-9853-75F880D54F02}"/>
                </a:ext>
              </a:extLst>
            </p:cNvPr>
            <p:cNvSpPr/>
            <p:nvPr/>
          </p:nvSpPr>
          <p:spPr>
            <a:xfrm>
              <a:off x="2796064" y="2754810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solidFill>
                    <a:srgbClr val="000000"/>
                  </a:solidFill>
                  <a:cs typeface="Nanum Gothic" pitchFamily="34" charset="-120"/>
                </a:rPr>
                <a:t>Linux(RHEL)</a:t>
              </a:r>
              <a:endParaRPr lang="en-US" altLang="ko-KR" sz="75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25">
              <a:extLst>
                <a:ext uri="{FF2B5EF4-FFF2-40B4-BE49-F238E27FC236}">
                  <a16:creationId xmlns:a16="http://schemas.microsoft.com/office/drawing/2014/main" id="{B2C063FE-63D0-4D50-A5C2-B0D8E000CA32}"/>
                </a:ext>
              </a:extLst>
            </p:cNvPr>
            <p:cNvSpPr/>
            <p:nvPr/>
          </p:nvSpPr>
          <p:spPr>
            <a:xfrm>
              <a:off x="2796064" y="2602411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solidFill>
                    <a:srgbClr val="2B2B2B"/>
                  </a:solidFill>
                  <a:cs typeface="Nanum Gothic" pitchFamily="34" charset="-120"/>
                </a:rPr>
                <a:t>Jennifer </a:t>
              </a:r>
              <a:endParaRPr lang="en-US" altLang="ko-KR" sz="750" dirty="0"/>
            </a:p>
          </p:txBody>
        </p:sp>
        <p:sp>
          <p:nvSpPr>
            <p:cNvPr id="186" name="Text 32">
              <a:extLst>
                <a:ext uri="{FF2B5EF4-FFF2-40B4-BE49-F238E27FC236}">
                  <a16:creationId xmlns:a16="http://schemas.microsoft.com/office/drawing/2014/main" id="{1DE1A0A8-8563-8F80-E275-EDC522DFA827}"/>
                </a:ext>
              </a:extLst>
            </p:cNvPr>
            <p:cNvSpPr/>
            <p:nvPr/>
          </p:nvSpPr>
          <p:spPr>
            <a:xfrm>
              <a:off x="2763163" y="2037260"/>
              <a:ext cx="110550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 err="1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대민포털</a:t>
              </a:r>
              <a:r>
                <a:rPr lang="en-US" altLang="ko-KR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(</a:t>
              </a:r>
              <a:r>
                <a:rPr lang="ko-KR" altLang="en-US" sz="950" b="1" dirty="0" err="1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내부망</a:t>
              </a:r>
              <a:r>
                <a:rPr lang="en-US" altLang="ko-KR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)</a:t>
              </a:r>
              <a:endParaRPr lang="en-US" altLang="ko-KR" sz="950" dirty="0"/>
            </a:p>
          </p:txBody>
        </p:sp>
      </p:grpSp>
      <p:sp>
        <p:nvSpPr>
          <p:cNvPr id="187" name="Shape 28">
            <a:extLst>
              <a:ext uri="{FF2B5EF4-FFF2-40B4-BE49-F238E27FC236}">
                <a16:creationId xmlns:a16="http://schemas.microsoft.com/office/drawing/2014/main" id="{9C93AB6B-0EFE-55AD-6F40-DFB2BEB72F31}"/>
              </a:ext>
            </a:extLst>
          </p:cNvPr>
          <p:cNvSpPr/>
          <p:nvPr/>
        </p:nvSpPr>
        <p:spPr>
          <a:xfrm>
            <a:off x="1038925" y="28268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290" name="Text 7">
            <a:extLst>
              <a:ext uri="{FF2B5EF4-FFF2-40B4-BE49-F238E27FC236}">
                <a16:creationId xmlns:a16="http://schemas.microsoft.com/office/drawing/2014/main" id="{1C5D5C4D-07C5-BE6D-375A-1394849FD002}"/>
              </a:ext>
            </a:extLst>
          </p:cNvPr>
          <p:cNvSpPr/>
          <p:nvPr/>
        </p:nvSpPr>
        <p:spPr>
          <a:xfrm>
            <a:off x="1006024" y="2109268"/>
            <a:ext cx="17503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 err="1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대민포털</a:t>
            </a:r>
            <a:r>
              <a:rPr lang="en-US" altLang="ko-KR" sz="950" b="1" dirty="0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(</a:t>
            </a:r>
            <a:r>
              <a:rPr lang="ko-KR" altLang="en-US" sz="950" b="1" dirty="0" err="1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외부망</a:t>
            </a:r>
            <a:r>
              <a:rPr lang="en-US" altLang="ko-KR" sz="950" b="1" dirty="0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)</a:t>
            </a:r>
            <a:endParaRPr lang="en-US" sz="950" dirty="0">
              <a:latin typeface="+mj-lt"/>
            </a:endParaRPr>
          </a:p>
        </p:txBody>
      </p:sp>
      <p:sp>
        <p:nvSpPr>
          <p:cNvPr id="291" name="Text 11">
            <a:extLst>
              <a:ext uri="{FF2B5EF4-FFF2-40B4-BE49-F238E27FC236}">
                <a16:creationId xmlns:a16="http://schemas.microsoft.com/office/drawing/2014/main" id="{3866A0AC-F0FC-ED21-6DB8-F730103E1457}"/>
              </a:ext>
            </a:extLst>
          </p:cNvPr>
          <p:cNvSpPr/>
          <p:nvPr/>
        </p:nvSpPr>
        <p:spPr>
          <a:xfrm>
            <a:off x="1038925" y="25220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292" name="Text 19">
            <a:extLst>
              <a:ext uri="{FF2B5EF4-FFF2-40B4-BE49-F238E27FC236}">
                <a16:creationId xmlns:a16="http://schemas.microsoft.com/office/drawing/2014/main" id="{6FCCD858-082C-EE5C-B414-C8EBD88E8088}"/>
              </a:ext>
            </a:extLst>
          </p:cNvPr>
          <p:cNvSpPr/>
          <p:nvPr/>
        </p:nvSpPr>
        <p:spPr>
          <a:xfrm>
            <a:off x="1894373" y="25220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293" name="Text 21">
            <a:extLst>
              <a:ext uri="{FF2B5EF4-FFF2-40B4-BE49-F238E27FC236}">
                <a16:creationId xmlns:a16="http://schemas.microsoft.com/office/drawing/2014/main" id="{8E720A0A-B595-E103-FFEF-47DAA2F2BE73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Linux(RHEL)</a:t>
            </a:r>
            <a:endParaRPr lang="en-US" altLang="ko-KR" sz="750" dirty="0"/>
          </a:p>
        </p:txBody>
      </p:sp>
      <p:sp>
        <p:nvSpPr>
          <p:cNvPr id="294" name="Text 29">
            <a:extLst>
              <a:ext uri="{FF2B5EF4-FFF2-40B4-BE49-F238E27FC236}">
                <a16:creationId xmlns:a16="http://schemas.microsoft.com/office/drawing/2014/main" id="{16C9815A-5B96-E180-065F-9135B9DB933E}"/>
              </a:ext>
            </a:extLst>
          </p:cNvPr>
          <p:cNvSpPr/>
          <p:nvPr/>
        </p:nvSpPr>
        <p:spPr>
          <a:xfrm>
            <a:off x="1038925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Linux(RHEL)</a:t>
            </a:r>
            <a:endParaRPr lang="en-US" altLang="ko-KR" sz="750" dirty="0"/>
          </a:p>
        </p:txBody>
      </p:sp>
      <p:sp>
        <p:nvSpPr>
          <p:cNvPr id="333" name="ADD_cc_bg">
            <a:extLst>
              <a:ext uri="{FF2B5EF4-FFF2-40B4-BE49-F238E27FC236}">
                <a16:creationId xmlns:a16="http://schemas.microsoft.com/office/drawing/2014/main" id="{077CEC3B-2ED6-5E9F-D3D5-35D7ED7B0736}"/>
              </a:ext>
            </a:extLst>
          </p:cNvPr>
          <p:cNvSpPr/>
          <p:nvPr/>
        </p:nvSpPr>
        <p:spPr>
          <a:xfrm>
            <a:off x="1894374" y="2674418"/>
            <a:ext cx="829127" cy="152400"/>
          </a:xfrm>
          <a:prstGeom prst="rect">
            <a:avLst/>
          </a:prstGeom>
          <a:solidFill>
            <a:srgbClr val="F9F6F4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34" name="ADD_cc_tx">
            <a:extLst>
              <a:ext uri="{FF2B5EF4-FFF2-40B4-BE49-F238E27FC236}">
                <a16:creationId xmlns:a16="http://schemas.microsoft.com/office/drawing/2014/main" id="{27B04D7B-DDF5-67F0-1FB8-D69ECB1D1B84}"/>
              </a:ext>
            </a:extLst>
          </p:cNvPr>
          <p:cNvSpPr txBox="1"/>
          <p:nvPr/>
        </p:nvSpPr>
        <p:spPr>
          <a:xfrm>
            <a:off x="1894374" y="2674418"/>
            <a:ext cx="829127" cy="152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750" dirty="0" err="1">
                <a:latin typeface="나눔고딕" panose="020D0604000000000000" pitchFamily="50" charset="-127"/>
              </a:rPr>
              <a:t>Crosscert</a:t>
            </a:r>
            <a:endParaRPr lang="ko-KR" altLang="en-US" sz="750" dirty="0">
              <a:latin typeface="나눔고딕" panose="020D0604000000000000" pitchFamily="50" charset="-127"/>
            </a:endParaRPr>
          </a:p>
        </p:txBody>
      </p:sp>
      <p:sp>
        <p:nvSpPr>
          <p:cNvPr id="341" name="RST_ssl_bg_0">
            <a:extLst>
              <a:ext uri="{FF2B5EF4-FFF2-40B4-BE49-F238E27FC236}">
                <a16:creationId xmlns:a16="http://schemas.microsoft.com/office/drawing/2014/main" id="{E710DDFD-7317-E444-ABFB-C767053F18D4}"/>
              </a:ext>
            </a:extLst>
          </p:cNvPr>
          <p:cNvSpPr/>
          <p:nvPr/>
        </p:nvSpPr>
        <p:spPr>
          <a:xfrm>
            <a:off x="1032345" y="26744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42" name="RST_ssl_tx_0">
            <a:extLst>
              <a:ext uri="{FF2B5EF4-FFF2-40B4-BE49-F238E27FC236}">
                <a16:creationId xmlns:a16="http://schemas.microsoft.com/office/drawing/2014/main" id="{96C4FC95-AB3F-F3AD-353D-1F5F8F095F37}"/>
              </a:ext>
            </a:extLst>
          </p:cNvPr>
          <p:cNvSpPr txBox="1"/>
          <p:nvPr/>
        </p:nvSpPr>
        <p:spPr>
          <a:xfrm>
            <a:off x="1032345" y="2674418"/>
            <a:ext cx="829127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364" name="development-environment">
            <a:extLst>
              <a:ext uri="{FF2B5EF4-FFF2-40B4-BE49-F238E27FC236}">
                <a16:creationId xmlns:a16="http://schemas.microsoft.com/office/drawing/2014/main" id="{F3A2412A-07E1-6977-CF2A-A017E262C720}"/>
              </a:ext>
            </a:extLst>
          </p:cNvPr>
          <p:cNvSpPr>
            <a:spLocks noGrp="1"/>
          </p:cNvSpPr>
          <p:nvPr/>
        </p:nvSpPr>
        <p:spPr>
          <a:xfrm>
            <a:off x="372986" y="2105561"/>
            <a:ext cx="574861" cy="2619583"/>
          </a:xfrm>
          <a:prstGeom prst="roundRect">
            <a:avLst>
              <a:gd name="adj" fmla="val 9639"/>
            </a:avLst>
          </a:prstGeom>
          <a:solidFill>
            <a:srgbClr val="243B7C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89D2699E-5E31-6721-B815-5C574B2F3BCC}"/>
              </a:ext>
            </a:extLst>
          </p:cNvPr>
          <p:cNvSpPr>
            <a:spLocks noGrp="1"/>
          </p:cNvSpPr>
          <p:nvPr/>
        </p:nvSpPr>
        <p:spPr>
          <a:xfrm>
            <a:off x="454198" y="2180578"/>
            <a:ext cx="421641" cy="24005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A1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국가 핵심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67" name="development-environment">
            <a:extLst>
              <a:ext uri="{FF2B5EF4-FFF2-40B4-BE49-F238E27FC236}">
                <a16:creationId xmlns:a16="http://schemas.microsoft.com/office/drawing/2014/main" id="{8AA4E561-8CBA-74C5-91AA-0868B44973E2}"/>
              </a:ext>
            </a:extLst>
          </p:cNvPr>
          <p:cNvSpPr>
            <a:spLocks noGrp="1"/>
          </p:cNvSpPr>
          <p:nvPr/>
        </p:nvSpPr>
        <p:spPr>
          <a:xfrm>
            <a:off x="371783" y="4967861"/>
            <a:ext cx="574861" cy="1328841"/>
          </a:xfrm>
          <a:prstGeom prst="roundRect">
            <a:avLst>
              <a:gd name="adj" fmla="val 9639"/>
            </a:avLst>
          </a:prstGeom>
          <a:solidFill>
            <a:srgbClr val="0367B0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82D6C15B-E1CF-C2B9-DD9D-DF16CB794FEF}"/>
              </a:ext>
            </a:extLst>
          </p:cNvPr>
          <p:cNvSpPr>
            <a:spLocks noGrp="1"/>
          </p:cNvSpPr>
          <p:nvPr/>
        </p:nvSpPr>
        <p:spPr>
          <a:xfrm>
            <a:off x="452995" y="4967861"/>
            <a:ext cx="421641" cy="133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A2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대국민 필수</a:t>
            </a:r>
          </a:p>
        </p:txBody>
      </p:sp>
      <p:sp>
        <p:nvSpPr>
          <p:cNvPr id="369" name="development-environment">
            <a:extLst>
              <a:ext uri="{FF2B5EF4-FFF2-40B4-BE49-F238E27FC236}">
                <a16:creationId xmlns:a16="http://schemas.microsoft.com/office/drawing/2014/main" id="{CEA54304-1F40-5386-0B23-EFD0E4551657}"/>
              </a:ext>
            </a:extLst>
          </p:cNvPr>
          <p:cNvSpPr>
            <a:spLocks noGrp="1"/>
          </p:cNvSpPr>
          <p:nvPr/>
        </p:nvSpPr>
        <p:spPr>
          <a:xfrm>
            <a:off x="4170824" y="4974170"/>
            <a:ext cx="574861" cy="1328841"/>
          </a:xfrm>
          <a:prstGeom prst="roundRect">
            <a:avLst>
              <a:gd name="adj" fmla="val 9639"/>
            </a:avLst>
          </a:prstGeom>
          <a:solidFill>
            <a:srgbClr val="6B6B6B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347AC49B-9B8E-6FBC-5377-3823270E6566}"/>
              </a:ext>
            </a:extLst>
          </p:cNvPr>
          <p:cNvSpPr>
            <a:spLocks noGrp="1"/>
          </p:cNvSpPr>
          <p:nvPr/>
        </p:nvSpPr>
        <p:spPr>
          <a:xfrm>
            <a:off x="4252036" y="4931857"/>
            <a:ext cx="421641" cy="1371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A4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행정일반</a:t>
            </a: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C5BDBC1F-8D09-7572-E1C1-66D3FF177F2E}"/>
              </a:ext>
            </a:extLst>
          </p:cNvPr>
          <p:cNvSpPr/>
          <p:nvPr/>
        </p:nvSpPr>
        <p:spPr>
          <a:xfrm>
            <a:off x="4263930" y="2109268"/>
            <a:ext cx="1513485" cy="1133077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58CBD3C-0E7B-64BD-DC7A-2186B85C050A}"/>
              </a:ext>
            </a:extLst>
          </p:cNvPr>
          <p:cNvSpPr/>
          <p:nvPr/>
        </p:nvSpPr>
        <p:spPr>
          <a:xfrm>
            <a:off x="4263930" y="2109268"/>
            <a:ext cx="1513485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3D8DE218-41D1-355C-1357-E23F36923122}"/>
              </a:ext>
            </a:extLst>
          </p:cNvPr>
          <p:cNvSpPr/>
          <p:nvPr/>
        </p:nvSpPr>
        <p:spPr>
          <a:xfrm>
            <a:off x="4296831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292AEF0-3C0E-AD8F-A5F8-4C48B06F8B01}"/>
              </a:ext>
            </a:extLst>
          </p:cNvPr>
          <p:cNvSpPr/>
          <p:nvPr/>
        </p:nvSpPr>
        <p:spPr>
          <a:xfrm>
            <a:off x="4296831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6C542BAE-C88E-CAC6-3FFC-857ECF96F751}"/>
              </a:ext>
            </a:extLst>
          </p:cNvPr>
          <p:cNvSpPr/>
          <p:nvPr/>
        </p:nvSpPr>
        <p:spPr>
          <a:xfrm>
            <a:off x="4296831" y="25220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40F32070-8EA9-E614-ADFB-2923A3872DE8}"/>
              </a:ext>
            </a:extLst>
          </p:cNvPr>
          <p:cNvSpPr/>
          <p:nvPr/>
        </p:nvSpPr>
        <p:spPr>
          <a:xfrm>
            <a:off x="5033833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36F43E1-AAA4-14F0-E167-3442E1ACB9B9}"/>
              </a:ext>
            </a:extLst>
          </p:cNvPr>
          <p:cNvSpPr/>
          <p:nvPr/>
        </p:nvSpPr>
        <p:spPr>
          <a:xfrm>
            <a:off x="5033833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1996BD78-4A27-62A1-39B6-3FE5D60AF72D}"/>
              </a:ext>
            </a:extLst>
          </p:cNvPr>
          <p:cNvSpPr/>
          <p:nvPr/>
        </p:nvSpPr>
        <p:spPr>
          <a:xfrm>
            <a:off x="5033833" y="25220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CACADF2D-0925-94AC-F627-1B8406A1A379}"/>
              </a:ext>
            </a:extLst>
          </p:cNvPr>
          <p:cNvSpPr/>
          <p:nvPr/>
        </p:nvSpPr>
        <p:spPr>
          <a:xfrm>
            <a:off x="5033833" y="26744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B58D8E89-9916-ADAE-8979-028942F995D0}"/>
              </a:ext>
            </a:extLst>
          </p:cNvPr>
          <p:cNvSpPr/>
          <p:nvPr/>
        </p:nvSpPr>
        <p:spPr>
          <a:xfrm>
            <a:off x="5033833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5F77DC6-E84C-EB1A-F2A5-04F2CF71525D}"/>
              </a:ext>
            </a:extLst>
          </p:cNvPr>
          <p:cNvSpPr/>
          <p:nvPr/>
        </p:nvSpPr>
        <p:spPr>
          <a:xfrm>
            <a:off x="5033833" y="29792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69F5B56B-419C-3708-BACF-072FE637FD80}"/>
              </a:ext>
            </a:extLst>
          </p:cNvPr>
          <p:cNvSpPr/>
          <p:nvPr/>
        </p:nvSpPr>
        <p:spPr>
          <a:xfrm>
            <a:off x="4296831" y="28268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 dirty="0">
              <a:ea typeface="+mj-ea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DB990D72-5392-6FB2-0BF0-E36A8850AFD7}"/>
              </a:ext>
            </a:extLst>
          </p:cNvPr>
          <p:cNvSpPr/>
          <p:nvPr/>
        </p:nvSpPr>
        <p:spPr>
          <a:xfrm>
            <a:off x="5033833" y="28268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ea typeface="+mj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D14CCD1-0026-D14A-46B3-5F8A66C6285E}"/>
              </a:ext>
            </a:extLst>
          </p:cNvPr>
          <p:cNvGrpSpPr/>
          <p:nvPr/>
        </p:nvGrpSpPr>
        <p:grpSpPr>
          <a:xfrm>
            <a:off x="5033836" y="2979203"/>
            <a:ext cx="710681" cy="152416"/>
            <a:chOff x="9854215" y="4305512"/>
            <a:chExt cx="884542" cy="135374"/>
          </a:xfrm>
        </p:grpSpPr>
        <p:sp>
          <p:nvSpPr>
            <p:cNvPr id="252" name="Shape 24">
              <a:extLst>
                <a:ext uri="{FF2B5EF4-FFF2-40B4-BE49-F238E27FC236}">
                  <a16:creationId xmlns:a16="http://schemas.microsoft.com/office/drawing/2014/main" id="{1209A1DB-D229-0F8F-6F6F-CC70ECC60059}"/>
                </a:ext>
              </a:extLst>
            </p:cNvPr>
            <p:cNvSpPr/>
            <p:nvPr/>
          </p:nvSpPr>
          <p:spPr>
            <a:xfrm>
              <a:off x="9854215" y="4305525"/>
              <a:ext cx="884541" cy="13536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253" name="Text 25">
              <a:extLst>
                <a:ext uri="{FF2B5EF4-FFF2-40B4-BE49-F238E27FC236}">
                  <a16:creationId xmlns:a16="http://schemas.microsoft.com/office/drawing/2014/main" id="{15ACABE3-264F-B790-2C56-69889D4AB68A}"/>
                </a:ext>
              </a:extLst>
            </p:cNvPr>
            <p:cNvSpPr/>
            <p:nvPr/>
          </p:nvSpPr>
          <p:spPr>
            <a:xfrm>
              <a:off x="9854216" y="4305512"/>
              <a:ext cx="884541" cy="13536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7BAEB7D-59C8-68F8-721B-BDD5C632EB2E}"/>
              </a:ext>
            </a:extLst>
          </p:cNvPr>
          <p:cNvGrpSpPr/>
          <p:nvPr/>
        </p:nvGrpSpPr>
        <p:grpSpPr>
          <a:xfrm>
            <a:off x="1003852" y="3211809"/>
            <a:ext cx="6508689" cy="1489551"/>
            <a:chOff x="1003853" y="3211809"/>
            <a:chExt cx="6352362" cy="1489551"/>
          </a:xfrm>
        </p:grpSpPr>
        <p:sp>
          <p:nvSpPr>
            <p:cNvPr id="107" name="Shape 5">
              <a:extLst>
                <a:ext uri="{FF2B5EF4-FFF2-40B4-BE49-F238E27FC236}">
                  <a16:creationId xmlns:a16="http://schemas.microsoft.com/office/drawing/2014/main" id="{B34811EF-E480-7E73-DEF0-ABA53BFB336B}"/>
                </a:ext>
              </a:extLst>
            </p:cNvPr>
            <p:cNvSpPr/>
            <p:nvPr/>
          </p:nvSpPr>
          <p:spPr>
            <a:xfrm>
              <a:off x="3744532" y="3296268"/>
              <a:ext cx="2696275" cy="14050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8" name="Shape 6">
              <a:extLst>
                <a:ext uri="{FF2B5EF4-FFF2-40B4-BE49-F238E27FC236}">
                  <a16:creationId xmlns:a16="http://schemas.microsoft.com/office/drawing/2014/main" id="{B16FBCE4-F160-EDBD-37AD-B13FF9F4EBFA}"/>
                </a:ext>
              </a:extLst>
            </p:cNvPr>
            <p:cNvSpPr/>
            <p:nvPr/>
          </p:nvSpPr>
          <p:spPr>
            <a:xfrm>
              <a:off x="3744532" y="3296269"/>
              <a:ext cx="2696275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9" name="Shape 8">
              <a:extLst>
                <a:ext uri="{FF2B5EF4-FFF2-40B4-BE49-F238E27FC236}">
                  <a16:creationId xmlns:a16="http://schemas.microsoft.com/office/drawing/2014/main" id="{1CE35A5A-2830-8C50-CFC1-EE19AF90A44F}"/>
                </a:ext>
              </a:extLst>
            </p:cNvPr>
            <p:cNvSpPr/>
            <p:nvPr/>
          </p:nvSpPr>
          <p:spPr>
            <a:xfrm>
              <a:off x="3779824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0" name="Text 9">
              <a:extLst>
                <a:ext uri="{FF2B5EF4-FFF2-40B4-BE49-F238E27FC236}">
                  <a16:creationId xmlns:a16="http://schemas.microsoft.com/office/drawing/2014/main" id="{98EAB0E5-0D8E-A153-BC7D-FE86D815D896}"/>
                </a:ext>
              </a:extLst>
            </p:cNvPr>
            <p:cNvSpPr/>
            <p:nvPr/>
          </p:nvSpPr>
          <p:spPr>
            <a:xfrm>
              <a:off x="3779824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cs typeface="Nanum Gothic" pitchFamily="34" charset="-120"/>
                </a:rPr>
                <a:t>상용</a:t>
              </a:r>
              <a:r>
                <a:rPr lang="en-US" altLang="ko-KR" sz="750" b="1">
                  <a:latin typeface="+mj-ea"/>
                  <a:cs typeface="Nanum Gothic" pitchFamily="34" charset="-120"/>
                </a:rPr>
                <a:t>WAS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11" name="Shape 10">
              <a:extLst>
                <a:ext uri="{FF2B5EF4-FFF2-40B4-BE49-F238E27FC236}">
                  <a16:creationId xmlns:a16="http://schemas.microsoft.com/office/drawing/2014/main" id="{57A1D7A2-DAB2-EAC6-9CD5-BCADB09C5820}"/>
                </a:ext>
              </a:extLst>
            </p:cNvPr>
            <p:cNvSpPr/>
            <p:nvPr/>
          </p:nvSpPr>
          <p:spPr>
            <a:xfrm>
              <a:off x="3779824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2" name="Shape 12">
              <a:extLst>
                <a:ext uri="{FF2B5EF4-FFF2-40B4-BE49-F238E27FC236}">
                  <a16:creationId xmlns:a16="http://schemas.microsoft.com/office/drawing/2014/main" id="{EF119AA9-B7DE-1D7F-B63F-77291EB020B0}"/>
                </a:ext>
              </a:extLst>
            </p:cNvPr>
            <p:cNvSpPr/>
            <p:nvPr/>
          </p:nvSpPr>
          <p:spPr>
            <a:xfrm>
              <a:off x="3779824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 dirty="0">
                <a:ea typeface="+mj-ea"/>
              </a:endParaRPr>
            </a:p>
          </p:txBody>
        </p:sp>
        <p:sp>
          <p:nvSpPr>
            <p:cNvPr id="113" name="Shape 16">
              <a:extLst>
                <a:ext uri="{FF2B5EF4-FFF2-40B4-BE49-F238E27FC236}">
                  <a16:creationId xmlns:a16="http://schemas.microsoft.com/office/drawing/2014/main" id="{4739AE9D-F7ED-06ED-35DF-8EDFB5469504}"/>
                </a:ext>
              </a:extLst>
            </p:cNvPr>
            <p:cNvSpPr/>
            <p:nvPr/>
          </p:nvSpPr>
          <p:spPr>
            <a:xfrm>
              <a:off x="4664465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4" name="Text 17">
              <a:extLst>
                <a:ext uri="{FF2B5EF4-FFF2-40B4-BE49-F238E27FC236}">
                  <a16:creationId xmlns:a16="http://schemas.microsoft.com/office/drawing/2014/main" id="{20B0721E-4D20-187F-81B1-37BCC8E58CDD}"/>
                </a:ext>
              </a:extLst>
            </p:cNvPr>
            <p:cNvSpPr/>
            <p:nvPr/>
          </p:nvSpPr>
          <p:spPr>
            <a:xfrm>
              <a:off x="4664465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 dirty="0">
                  <a:latin typeface="+mj-ea"/>
                  <a:cs typeface="Nanum Gothic" pitchFamily="34" charset="-120"/>
                </a:rPr>
                <a:t> 상용</a:t>
              </a:r>
              <a:r>
                <a:rPr lang="en-US" altLang="ko-KR" sz="750" b="1" dirty="0">
                  <a:latin typeface="+mj-ea"/>
                  <a:cs typeface="Nanum Gothic" pitchFamily="34" charset="-120"/>
                </a:rPr>
                <a:t>APP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15" name="Shape 18">
              <a:extLst>
                <a:ext uri="{FF2B5EF4-FFF2-40B4-BE49-F238E27FC236}">
                  <a16:creationId xmlns:a16="http://schemas.microsoft.com/office/drawing/2014/main" id="{BFB2EDD1-C7FC-C984-A6D8-D9FC0D05F2E8}"/>
                </a:ext>
              </a:extLst>
            </p:cNvPr>
            <p:cNvSpPr/>
            <p:nvPr/>
          </p:nvSpPr>
          <p:spPr>
            <a:xfrm>
              <a:off x="4664465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6" name="Shape 28">
              <a:extLst>
                <a:ext uri="{FF2B5EF4-FFF2-40B4-BE49-F238E27FC236}">
                  <a16:creationId xmlns:a16="http://schemas.microsoft.com/office/drawing/2014/main" id="{D73EA42C-A752-1E38-4E77-18F61D49FE40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7" name="Shape 28">
              <a:extLst>
                <a:ext uri="{FF2B5EF4-FFF2-40B4-BE49-F238E27FC236}">
                  <a16:creationId xmlns:a16="http://schemas.microsoft.com/office/drawing/2014/main" id="{E72E4625-F28A-3172-E22F-1D36A935E845}"/>
                </a:ext>
              </a:extLst>
            </p:cNvPr>
            <p:cNvSpPr/>
            <p:nvPr/>
          </p:nvSpPr>
          <p:spPr>
            <a:xfrm>
              <a:off x="3779824" y="41662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8" name="Shape 10">
              <a:extLst>
                <a:ext uri="{FF2B5EF4-FFF2-40B4-BE49-F238E27FC236}">
                  <a16:creationId xmlns:a16="http://schemas.microsoft.com/office/drawing/2014/main" id="{1E5A5A52-EB58-9932-1DCD-4FE41E1A37EC}"/>
                </a:ext>
              </a:extLst>
            </p:cNvPr>
            <p:cNvSpPr/>
            <p:nvPr/>
          </p:nvSpPr>
          <p:spPr>
            <a:xfrm>
              <a:off x="5549107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19" name="Text 34">
              <a:extLst>
                <a:ext uri="{FF2B5EF4-FFF2-40B4-BE49-F238E27FC236}">
                  <a16:creationId xmlns:a16="http://schemas.microsoft.com/office/drawing/2014/main" id="{1AB1D5D4-649A-BCBC-ADAD-D1701B2E7FB4}"/>
                </a:ext>
              </a:extLst>
            </p:cNvPr>
            <p:cNvSpPr/>
            <p:nvPr/>
          </p:nvSpPr>
          <p:spPr>
            <a:xfrm>
              <a:off x="5549107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 dirty="0">
                  <a:latin typeface="+mj-ea"/>
                  <a:cs typeface="Nanum Gothic" pitchFamily="34" charset="-120"/>
                </a:rPr>
                <a:t>상용</a:t>
              </a:r>
              <a:r>
                <a:rPr lang="en-US" altLang="ko-KR" sz="750" b="1" dirty="0">
                  <a:latin typeface="+mj-ea"/>
                  <a:cs typeface="Nanum Gothic" pitchFamily="34" charset="-120"/>
                </a:rPr>
                <a:t>APP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20" name="Shape 28">
              <a:extLst>
                <a:ext uri="{FF2B5EF4-FFF2-40B4-BE49-F238E27FC236}">
                  <a16:creationId xmlns:a16="http://schemas.microsoft.com/office/drawing/2014/main" id="{DADCFF51-0F62-EB6D-433C-F128E88453F4}"/>
                </a:ext>
              </a:extLst>
            </p:cNvPr>
            <p:cNvSpPr/>
            <p:nvPr/>
          </p:nvSpPr>
          <p:spPr>
            <a:xfrm>
              <a:off x="3779824" y="43186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1" name="Shape 28">
              <a:extLst>
                <a:ext uri="{FF2B5EF4-FFF2-40B4-BE49-F238E27FC236}">
                  <a16:creationId xmlns:a16="http://schemas.microsoft.com/office/drawing/2014/main" id="{31006D42-F551-E284-D089-068F73A9B88A}"/>
                </a:ext>
              </a:extLst>
            </p:cNvPr>
            <p:cNvSpPr/>
            <p:nvPr/>
          </p:nvSpPr>
          <p:spPr>
            <a:xfrm>
              <a:off x="3779824" y="4471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2" name="Shape 20">
              <a:extLst>
                <a:ext uri="{FF2B5EF4-FFF2-40B4-BE49-F238E27FC236}">
                  <a16:creationId xmlns:a16="http://schemas.microsoft.com/office/drawing/2014/main" id="{F20A86E7-A710-6C64-D63D-F92313A74A45}"/>
                </a:ext>
              </a:extLst>
            </p:cNvPr>
            <p:cNvSpPr/>
            <p:nvPr/>
          </p:nvSpPr>
          <p:spPr>
            <a:xfrm>
              <a:off x="4664465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3" name="Shape 28">
              <a:extLst>
                <a:ext uri="{FF2B5EF4-FFF2-40B4-BE49-F238E27FC236}">
                  <a16:creationId xmlns:a16="http://schemas.microsoft.com/office/drawing/2014/main" id="{D7D99226-E4DF-2805-E713-1E27324B2175}"/>
                </a:ext>
              </a:extLst>
            </p:cNvPr>
            <p:cNvSpPr/>
            <p:nvPr/>
          </p:nvSpPr>
          <p:spPr>
            <a:xfrm>
              <a:off x="5549107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55" name="Text 15">
              <a:extLst>
                <a:ext uri="{FF2B5EF4-FFF2-40B4-BE49-F238E27FC236}">
                  <a16:creationId xmlns:a16="http://schemas.microsoft.com/office/drawing/2014/main" id="{96197DB5-6D1F-432D-F16E-2B4E0D0FBBD8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sz="750" dirty="0">
                  <a:ea typeface="+mj-ea"/>
                  <a:cs typeface="Nanum Gothic" pitchFamily="34" charset="-120"/>
                </a:rPr>
                <a:t>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06" name="Text 29">
              <a:extLst>
                <a:ext uri="{FF2B5EF4-FFF2-40B4-BE49-F238E27FC236}">
                  <a16:creationId xmlns:a16="http://schemas.microsoft.com/office/drawing/2014/main" id="{0CC3B486-5056-7815-7CE7-B6289D7D5012}"/>
                </a:ext>
              </a:extLst>
            </p:cNvPr>
            <p:cNvSpPr/>
            <p:nvPr/>
          </p:nvSpPr>
          <p:spPr>
            <a:xfrm>
              <a:off x="4019805" y="3284984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20" name="Text 29">
              <a:extLst>
                <a:ext uri="{FF2B5EF4-FFF2-40B4-BE49-F238E27FC236}">
                  <a16:creationId xmlns:a16="http://schemas.microsoft.com/office/drawing/2014/main" id="{439882F1-6B70-4809-FCEF-3D7E8B579FE1}"/>
                </a:ext>
              </a:extLst>
            </p:cNvPr>
            <p:cNvSpPr/>
            <p:nvPr/>
          </p:nvSpPr>
          <p:spPr>
            <a:xfrm>
              <a:off x="5699684" y="3284984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73" name="Text 7">
              <a:extLst>
                <a:ext uri="{FF2B5EF4-FFF2-40B4-BE49-F238E27FC236}">
                  <a16:creationId xmlns:a16="http://schemas.microsoft.com/office/drawing/2014/main" id="{6207491C-F21F-3C63-40D7-4A7AE8C2FBAE}"/>
                </a:ext>
              </a:extLst>
            </p:cNvPr>
            <p:cNvSpPr/>
            <p:nvPr/>
          </p:nvSpPr>
          <p:spPr>
            <a:xfrm>
              <a:off x="3744532" y="3296269"/>
              <a:ext cx="269627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950" b="1" dirty="0" err="1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상용SW</a:t>
              </a:r>
              <a:r>
                <a:rPr lang="en-US" altLang="ko-KR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ko-KR" altLang="en-US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영역</a:t>
              </a:r>
              <a:endParaRPr lang="en-US" sz="95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4" name="Text 11">
              <a:extLst>
                <a:ext uri="{FF2B5EF4-FFF2-40B4-BE49-F238E27FC236}">
                  <a16:creationId xmlns:a16="http://schemas.microsoft.com/office/drawing/2014/main" id="{1E6E8AE3-2DA3-1079-7F1C-B550D5C66A97}"/>
                </a:ext>
              </a:extLst>
            </p:cNvPr>
            <p:cNvSpPr/>
            <p:nvPr/>
          </p:nvSpPr>
          <p:spPr>
            <a:xfrm>
              <a:off x="3779824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5" name="Text 13">
              <a:extLst>
                <a:ext uri="{FF2B5EF4-FFF2-40B4-BE49-F238E27FC236}">
                  <a16:creationId xmlns:a16="http://schemas.microsoft.com/office/drawing/2014/main" id="{97D04659-7D90-8C2E-E99E-63726A461B17}"/>
                </a:ext>
              </a:extLst>
            </p:cNvPr>
            <p:cNvSpPr/>
            <p:nvPr/>
          </p:nvSpPr>
          <p:spPr>
            <a:xfrm>
              <a:off x="3779824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>
                  <a:cs typeface="Nanum Gothic" pitchFamily="34" charset="-120"/>
                </a:rPr>
                <a:t>리포팅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6" name="Text 19">
              <a:extLst>
                <a:ext uri="{FF2B5EF4-FFF2-40B4-BE49-F238E27FC236}">
                  <a16:creationId xmlns:a16="http://schemas.microsoft.com/office/drawing/2014/main" id="{A7B16B99-BCBC-6F59-433F-FF8E5CC1B63D}"/>
                </a:ext>
              </a:extLst>
            </p:cNvPr>
            <p:cNvSpPr/>
            <p:nvPr/>
          </p:nvSpPr>
          <p:spPr>
            <a:xfrm>
              <a:off x="4664465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 err="1">
                  <a:cs typeface="Nanum Gothic" pitchFamily="34" charset="-120"/>
                </a:rPr>
                <a:t>큐브원</a:t>
              </a:r>
              <a:r>
                <a:rPr lang="ko-KR" altLang="en-US" sz="750" dirty="0">
                  <a:cs typeface="Nanum Gothic" pitchFamily="34" charset="-120"/>
                </a:rPr>
                <a:t> 매니저</a:t>
              </a:r>
              <a:r>
                <a:rPr lang="en-US" altLang="ko-KR" sz="750" dirty="0">
                  <a:cs typeface="Nanum Gothic" pitchFamily="34" charset="-120"/>
                </a:rPr>
                <a:t> </a:t>
              </a:r>
              <a:endParaRPr lang="en-US" altLang="ko-KR" sz="750" dirty="0"/>
            </a:p>
          </p:txBody>
        </p:sp>
        <p:sp>
          <p:nvSpPr>
            <p:cNvPr id="277" name="Text 29">
              <a:extLst>
                <a:ext uri="{FF2B5EF4-FFF2-40B4-BE49-F238E27FC236}">
                  <a16:creationId xmlns:a16="http://schemas.microsoft.com/office/drawing/2014/main" id="{4475CED2-19E4-7AE6-81BE-93D582F86319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>
                  <a:cs typeface="Nanum Gothic" pitchFamily="34" charset="-120"/>
                </a:rPr>
                <a:t>음성솔루션</a:t>
              </a:r>
              <a:endParaRPr lang="en-US" sz="750" dirty="0">
                <a:latin typeface="나눔고딕 (본문)"/>
                <a:ea typeface="+mj-ea"/>
              </a:endParaRPr>
            </a:p>
          </p:txBody>
        </p:sp>
        <p:sp>
          <p:nvSpPr>
            <p:cNvPr id="278" name="Text 29">
              <a:extLst>
                <a:ext uri="{FF2B5EF4-FFF2-40B4-BE49-F238E27FC236}">
                  <a16:creationId xmlns:a16="http://schemas.microsoft.com/office/drawing/2014/main" id="{8E460404-1C14-1CB6-463A-784AE0A0F1C7}"/>
                </a:ext>
              </a:extLst>
            </p:cNvPr>
            <p:cNvSpPr/>
            <p:nvPr/>
          </p:nvSpPr>
          <p:spPr>
            <a:xfrm>
              <a:off x="3779824" y="41662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>
                  <a:cs typeface="Nanum Gothic" pitchFamily="34" charset="-120"/>
                </a:rPr>
                <a:t>복사방지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9" name="Text 11">
              <a:extLst>
                <a:ext uri="{FF2B5EF4-FFF2-40B4-BE49-F238E27FC236}">
                  <a16:creationId xmlns:a16="http://schemas.microsoft.com/office/drawing/2014/main" id="{03C6E4DB-A212-CAA9-FF03-D4862D89D978}"/>
                </a:ext>
              </a:extLst>
            </p:cNvPr>
            <p:cNvSpPr/>
            <p:nvPr/>
          </p:nvSpPr>
          <p:spPr>
            <a:xfrm>
              <a:off x="5549107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dirty="0" err="1">
                  <a:cs typeface="Nanum Gothic" pitchFamily="34" charset="-120"/>
                </a:rPr>
                <a:t>큐브원</a:t>
              </a:r>
              <a:r>
                <a:rPr lang="ko-KR" altLang="en-US" sz="750" dirty="0">
                  <a:cs typeface="Nanum Gothic" pitchFamily="34" charset="-120"/>
                </a:rPr>
                <a:t> 정책백업</a:t>
              </a:r>
              <a:endParaRPr lang="en-US" altLang="ko-KR" sz="750" dirty="0">
                <a:latin typeface="나눔고딕 (본문)"/>
              </a:endParaRPr>
            </a:p>
          </p:txBody>
        </p:sp>
        <p:sp>
          <p:nvSpPr>
            <p:cNvPr id="280" name="Text 29">
              <a:extLst>
                <a:ext uri="{FF2B5EF4-FFF2-40B4-BE49-F238E27FC236}">
                  <a16:creationId xmlns:a16="http://schemas.microsoft.com/office/drawing/2014/main" id="{BAA8A349-5B51-7CA6-643E-EE36B6081A27}"/>
                </a:ext>
              </a:extLst>
            </p:cNvPr>
            <p:cNvSpPr/>
            <p:nvPr/>
          </p:nvSpPr>
          <p:spPr>
            <a:xfrm>
              <a:off x="3779824" y="43186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Jennifer</a:t>
              </a:r>
              <a:endParaRPr lang="en-US" altLang="ko-KR" sz="750" dirty="0"/>
            </a:p>
          </p:txBody>
        </p:sp>
        <p:sp>
          <p:nvSpPr>
            <p:cNvPr id="281" name="Text 29">
              <a:extLst>
                <a:ext uri="{FF2B5EF4-FFF2-40B4-BE49-F238E27FC236}">
                  <a16:creationId xmlns:a16="http://schemas.microsoft.com/office/drawing/2014/main" id="{7AA44F42-CADF-7340-D96B-5DDB5D38F464}"/>
                </a:ext>
              </a:extLst>
            </p:cNvPr>
            <p:cNvSpPr/>
            <p:nvPr/>
          </p:nvSpPr>
          <p:spPr>
            <a:xfrm>
              <a:off x="3779824" y="4471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82" name="Text 21">
              <a:extLst>
                <a:ext uri="{FF2B5EF4-FFF2-40B4-BE49-F238E27FC236}">
                  <a16:creationId xmlns:a16="http://schemas.microsoft.com/office/drawing/2014/main" id="{FB35AD66-5DA8-C6B6-278D-F3FECD80C8E7}"/>
                </a:ext>
              </a:extLst>
            </p:cNvPr>
            <p:cNvSpPr/>
            <p:nvPr/>
          </p:nvSpPr>
          <p:spPr>
            <a:xfrm>
              <a:off x="4664465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Windows 2019</a:t>
              </a:r>
              <a:endParaRPr lang="en-US" altLang="ko-KR" sz="750" dirty="0"/>
            </a:p>
          </p:txBody>
        </p:sp>
        <p:sp>
          <p:nvSpPr>
            <p:cNvPr id="283" name="Text 29">
              <a:extLst>
                <a:ext uri="{FF2B5EF4-FFF2-40B4-BE49-F238E27FC236}">
                  <a16:creationId xmlns:a16="http://schemas.microsoft.com/office/drawing/2014/main" id="{28405107-8A07-EBAF-7956-85EEB8F5BFF6}"/>
                </a:ext>
              </a:extLst>
            </p:cNvPr>
            <p:cNvSpPr/>
            <p:nvPr/>
          </p:nvSpPr>
          <p:spPr>
            <a:xfrm>
              <a:off x="5549107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>
                <a:latin typeface="나눔고딕 (본문)"/>
              </a:endParaRPr>
            </a:p>
          </p:txBody>
        </p:sp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B8CD3733-ED53-6E61-FD02-6674133833D6}"/>
                </a:ext>
              </a:extLst>
            </p:cNvPr>
            <p:cNvSpPr/>
            <p:nvPr/>
          </p:nvSpPr>
          <p:spPr>
            <a:xfrm>
              <a:off x="2705782" y="3294371"/>
              <a:ext cx="988164" cy="14069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9" name="Shape 68">
              <a:extLst>
                <a:ext uri="{FF2B5EF4-FFF2-40B4-BE49-F238E27FC236}">
                  <a16:creationId xmlns:a16="http://schemas.microsoft.com/office/drawing/2014/main" id="{7DECB68A-16EA-E77D-06CF-B3589305A203}"/>
                </a:ext>
              </a:extLst>
            </p:cNvPr>
            <p:cNvSpPr/>
            <p:nvPr/>
          </p:nvSpPr>
          <p:spPr>
            <a:xfrm>
              <a:off x="2741073" y="37071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0" name="Shape 22">
              <a:extLst>
                <a:ext uri="{FF2B5EF4-FFF2-40B4-BE49-F238E27FC236}">
                  <a16:creationId xmlns:a16="http://schemas.microsoft.com/office/drawing/2014/main" id="{BBD67087-C76A-22E0-6251-825B599187EA}"/>
                </a:ext>
              </a:extLst>
            </p:cNvPr>
            <p:cNvSpPr/>
            <p:nvPr/>
          </p:nvSpPr>
          <p:spPr>
            <a:xfrm>
              <a:off x="2741073" y="38595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1" name="Shape 24">
              <a:extLst>
                <a:ext uri="{FF2B5EF4-FFF2-40B4-BE49-F238E27FC236}">
                  <a16:creationId xmlns:a16="http://schemas.microsoft.com/office/drawing/2014/main" id="{66EAF369-C5A2-AB18-C6CC-43F64FA42EFE}"/>
                </a:ext>
              </a:extLst>
            </p:cNvPr>
            <p:cNvSpPr/>
            <p:nvPr/>
          </p:nvSpPr>
          <p:spPr>
            <a:xfrm>
              <a:off x="2741073" y="40119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2" name="Text 42">
              <a:extLst>
                <a:ext uri="{FF2B5EF4-FFF2-40B4-BE49-F238E27FC236}">
                  <a16:creationId xmlns:a16="http://schemas.microsoft.com/office/drawing/2014/main" id="{201F88CB-5904-5323-31BC-303721071B93}"/>
                </a:ext>
              </a:extLst>
            </p:cNvPr>
            <p:cNvSpPr/>
            <p:nvPr/>
          </p:nvSpPr>
          <p:spPr>
            <a:xfrm>
              <a:off x="2741073" y="3510271"/>
              <a:ext cx="917581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750" b="1">
                  <a:latin typeface="+mj-ea"/>
                  <a:ea typeface="+mj-ea"/>
                  <a:cs typeface="Nanum Gothic" pitchFamily="34" charset="-120"/>
                </a:rPr>
                <a:t>세션서버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93" name="Shape 31">
              <a:extLst>
                <a:ext uri="{FF2B5EF4-FFF2-40B4-BE49-F238E27FC236}">
                  <a16:creationId xmlns:a16="http://schemas.microsoft.com/office/drawing/2014/main" id="{678B548C-291B-93BA-FA20-7AF13135EED1}"/>
                </a:ext>
              </a:extLst>
            </p:cNvPr>
            <p:cNvSpPr/>
            <p:nvPr/>
          </p:nvSpPr>
          <p:spPr>
            <a:xfrm>
              <a:off x="2705782" y="3294370"/>
              <a:ext cx="988164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284" name="Text 69">
              <a:extLst>
                <a:ext uri="{FF2B5EF4-FFF2-40B4-BE49-F238E27FC236}">
                  <a16:creationId xmlns:a16="http://schemas.microsoft.com/office/drawing/2014/main" id="{9D1DF80C-DDDA-49C1-CD7F-2D8F1B9BD7D9}"/>
                </a:ext>
              </a:extLst>
            </p:cNvPr>
            <p:cNvSpPr/>
            <p:nvPr/>
          </p:nvSpPr>
          <p:spPr>
            <a:xfrm>
              <a:off x="2741073" y="37071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ea typeface="Nanum Gothic" pitchFamily="34" charset="-122"/>
                  <a:cs typeface="Nanum Gothic" pitchFamily="34" charset="-120"/>
                </a:rPr>
                <a:t>ActiveMQ 5.17</a:t>
              </a:r>
              <a:endParaRPr lang="en-US" altLang="ko-KR" sz="800" dirty="0"/>
            </a:p>
          </p:txBody>
        </p:sp>
        <p:sp>
          <p:nvSpPr>
            <p:cNvPr id="285" name="Text 23">
              <a:extLst>
                <a:ext uri="{FF2B5EF4-FFF2-40B4-BE49-F238E27FC236}">
                  <a16:creationId xmlns:a16="http://schemas.microsoft.com/office/drawing/2014/main" id="{05AA08B2-9FD6-63D8-5694-4D0949511F9D}"/>
                </a:ext>
              </a:extLst>
            </p:cNvPr>
            <p:cNvSpPr/>
            <p:nvPr/>
          </p:nvSpPr>
          <p:spPr>
            <a:xfrm>
              <a:off x="2741073" y="40119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  <p:sp>
          <p:nvSpPr>
            <p:cNvPr id="286" name="Text 25">
              <a:extLst>
                <a:ext uri="{FF2B5EF4-FFF2-40B4-BE49-F238E27FC236}">
                  <a16:creationId xmlns:a16="http://schemas.microsoft.com/office/drawing/2014/main" id="{1A786D0E-33F3-88BB-0B0A-0EF51DE0D20B}"/>
                </a:ext>
              </a:extLst>
            </p:cNvPr>
            <p:cNvSpPr/>
            <p:nvPr/>
          </p:nvSpPr>
          <p:spPr>
            <a:xfrm>
              <a:off x="2741073" y="38595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Redis 7.4</a:t>
              </a:r>
              <a:endParaRPr lang="en-US" altLang="ko-KR" sz="750" dirty="0"/>
            </a:p>
          </p:txBody>
        </p:sp>
        <p:sp>
          <p:nvSpPr>
            <p:cNvPr id="287" name="Text 32">
              <a:extLst>
                <a:ext uri="{FF2B5EF4-FFF2-40B4-BE49-F238E27FC236}">
                  <a16:creationId xmlns:a16="http://schemas.microsoft.com/office/drawing/2014/main" id="{278EDD60-B4DD-5FE9-80A3-86B832872194}"/>
                </a:ext>
              </a:extLst>
            </p:cNvPr>
            <p:cNvSpPr/>
            <p:nvPr/>
          </p:nvSpPr>
          <p:spPr>
            <a:xfrm>
              <a:off x="2705782" y="3294371"/>
              <a:ext cx="98816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세션관리</a:t>
              </a:r>
              <a:endParaRPr lang="en-US" altLang="ko-KR" sz="950" dirty="0"/>
            </a:p>
          </p:txBody>
        </p:sp>
        <p:sp>
          <p:nvSpPr>
            <p:cNvPr id="222" name="Shape 5">
              <a:extLst>
                <a:ext uri="{FF2B5EF4-FFF2-40B4-BE49-F238E27FC236}">
                  <a16:creationId xmlns:a16="http://schemas.microsoft.com/office/drawing/2014/main" id="{6825CF02-3AAC-FC69-DA65-DDA3E138BB66}"/>
                </a:ext>
              </a:extLst>
            </p:cNvPr>
            <p:cNvSpPr/>
            <p:nvPr/>
          </p:nvSpPr>
          <p:spPr>
            <a:xfrm>
              <a:off x="1003853" y="3290599"/>
              <a:ext cx="1623412" cy="14069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3" name="Shape 6">
              <a:extLst>
                <a:ext uri="{FF2B5EF4-FFF2-40B4-BE49-F238E27FC236}">
                  <a16:creationId xmlns:a16="http://schemas.microsoft.com/office/drawing/2014/main" id="{4D1E57FE-45E3-D368-07EB-38D42D8E7050}"/>
                </a:ext>
              </a:extLst>
            </p:cNvPr>
            <p:cNvSpPr/>
            <p:nvPr/>
          </p:nvSpPr>
          <p:spPr>
            <a:xfrm>
              <a:off x="1003853" y="3290599"/>
              <a:ext cx="1623412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224" name="Shape 8">
              <a:extLst>
                <a:ext uri="{FF2B5EF4-FFF2-40B4-BE49-F238E27FC236}">
                  <a16:creationId xmlns:a16="http://schemas.microsoft.com/office/drawing/2014/main" id="{19DEB6E9-4BE5-F740-D152-676CA2D451F5}"/>
                </a:ext>
              </a:extLst>
            </p:cNvPr>
            <p:cNvSpPr/>
            <p:nvPr/>
          </p:nvSpPr>
          <p:spPr>
            <a:xfrm>
              <a:off x="1039143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5" name="Text 9">
              <a:extLst>
                <a:ext uri="{FF2B5EF4-FFF2-40B4-BE49-F238E27FC236}">
                  <a16:creationId xmlns:a16="http://schemas.microsoft.com/office/drawing/2014/main" id="{6EF2FDD8-5C94-74C3-37C5-9753064E5C85}"/>
                </a:ext>
              </a:extLst>
            </p:cNvPr>
            <p:cNvSpPr/>
            <p:nvPr/>
          </p:nvSpPr>
          <p:spPr>
            <a:xfrm>
              <a:off x="1039143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ea typeface="+mj-ea"/>
                  <a:cs typeface="Nanum Gothic" pitchFamily="34" charset="-120"/>
                </a:rPr>
                <a:t>업무</a:t>
              </a:r>
              <a:r>
                <a:rPr lang="en-US" altLang="ko-KR" sz="750" b="1">
                  <a:latin typeface="+mj-ea"/>
                  <a:ea typeface="+mj-ea"/>
                  <a:cs typeface="Nanum Gothic" pitchFamily="34" charset="-120"/>
                </a:rPr>
                <a:t>GIS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226" name="Shape 10">
              <a:extLst>
                <a:ext uri="{FF2B5EF4-FFF2-40B4-BE49-F238E27FC236}">
                  <a16:creationId xmlns:a16="http://schemas.microsoft.com/office/drawing/2014/main" id="{62F8FDAC-82A0-3169-D544-54312F9F3D12}"/>
                </a:ext>
              </a:extLst>
            </p:cNvPr>
            <p:cNvSpPr/>
            <p:nvPr/>
          </p:nvSpPr>
          <p:spPr>
            <a:xfrm>
              <a:off x="1039143" y="37033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27" name="Shape 12">
              <a:extLst>
                <a:ext uri="{FF2B5EF4-FFF2-40B4-BE49-F238E27FC236}">
                  <a16:creationId xmlns:a16="http://schemas.microsoft.com/office/drawing/2014/main" id="{2B7E89BC-27D8-3BF8-9B86-FDBC41FF83F3}"/>
                </a:ext>
              </a:extLst>
            </p:cNvPr>
            <p:cNvSpPr/>
            <p:nvPr/>
          </p:nvSpPr>
          <p:spPr>
            <a:xfrm>
              <a:off x="1039143" y="38557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 dirty="0">
                <a:ea typeface="+mj-ea"/>
              </a:endParaRPr>
            </a:p>
          </p:txBody>
        </p:sp>
        <p:sp>
          <p:nvSpPr>
            <p:cNvPr id="228" name="Shape 16">
              <a:extLst>
                <a:ext uri="{FF2B5EF4-FFF2-40B4-BE49-F238E27FC236}">
                  <a16:creationId xmlns:a16="http://schemas.microsoft.com/office/drawing/2014/main" id="{F58E69CD-AC05-F13B-17D6-6062E3B758AD}"/>
                </a:ext>
              </a:extLst>
            </p:cNvPr>
            <p:cNvSpPr/>
            <p:nvPr/>
          </p:nvSpPr>
          <p:spPr>
            <a:xfrm>
              <a:off x="1829674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9" name="Text 17">
              <a:extLst>
                <a:ext uri="{FF2B5EF4-FFF2-40B4-BE49-F238E27FC236}">
                  <a16:creationId xmlns:a16="http://schemas.microsoft.com/office/drawing/2014/main" id="{70BA216B-9C1B-8A3A-F5B0-12CEBD9A46D0}"/>
                </a:ext>
              </a:extLst>
            </p:cNvPr>
            <p:cNvSpPr/>
            <p:nvPr/>
          </p:nvSpPr>
          <p:spPr>
            <a:xfrm>
              <a:off x="1829674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cs typeface="Nanum Gothic" pitchFamily="34" charset="-120"/>
                </a:rPr>
                <a:t>미들</a:t>
              </a:r>
              <a:r>
                <a:rPr lang="en-US" altLang="ko-KR" sz="750" b="1">
                  <a:latin typeface="+mj-ea"/>
                  <a:cs typeface="Nanum Gothic" pitchFamily="34" charset="-120"/>
                </a:rPr>
                <a:t>GIS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230" name="Shape 18">
              <a:extLst>
                <a:ext uri="{FF2B5EF4-FFF2-40B4-BE49-F238E27FC236}">
                  <a16:creationId xmlns:a16="http://schemas.microsoft.com/office/drawing/2014/main" id="{7986D6F5-FF5C-29D5-62A6-F64B58255256}"/>
                </a:ext>
              </a:extLst>
            </p:cNvPr>
            <p:cNvSpPr/>
            <p:nvPr/>
          </p:nvSpPr>
          <p:spPr>
            <a:xfrm>
              <a:off x="1829674" y="37033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31" name="Shape 20">
              <a:extLst>
                <a:ext uri="{FF2B5EF4-FFF2-40B4-BE49-F238E27FC236}">
                  <a16:creationId xmlns:a16="http://schemas.microsoft.com/office/drawing/2014/main" id="{C5AC4801-C44D-7F3E-F487-F8757067B193}"/>
                </a:ext>
              </a:extLst>
            </p:cNvPr>
            <p:cNvSpPr/>
            <p:nvPr/>
          </p:nvSpPr>
          <p:spPr>
            <a:xfrm>
              <a:off x="1829674" y="38557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32" name="Text 23">
              <a:extLst>
                <a:ext uri="{FF2B5EF4-FFF2-40B4-BE49-F238E27FC236}">
                  <a16:creationId xmlns:a16="http://schemas.microsoft.com/office/drawing/2014/main" id="{B3563CCF-CCA5-4870-1118-CF22BA63E120}"/>
                </a:ext>
              </a:extLst>
            </p:cNvPr>
            <p:cNvSpPr/>
            <p:nvPr/>
          </p:nvSpPr>
          <p:spPr>
            <a:xfrm>
              <a:off x="1829674" y="40081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33" name="Text 29">
              <a:extLst>
                <a:ext uri="{FF2B5EF4-FFF2-40B4-BE49-F238E27FC236}">
                  <a16:creationId xmlns:a16="http://schemas.microsoft.com/office/drawing/2014/main" id="{679CD030-BC48-65F7-29A6-1041473E6938}"/>
                </a:ext>
              </a:extLst>
            </p:cNvPr>
            <p:cNvSpPr/>
            <p:nvPr/>
          </p:nvSpPr>
          <p:spPr>
            <a:xfrm>
              <a:off x="1829674" y="41605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44" name="Text 15">
              <a:extLst>
                <a:ext uri="{FF2B5EF4-FFF2-40B4-BE49-F238E27FC236}">
                  <a16:creationId xmlns:a16="http://schemas.microsoft.com/office/drawing/2014/main" id="{91F99926-5B31-0DDD-826E-C831C868B83D}"/>
                </a:ext>
              </a:extLst>
            </p:cNvPr>
            <p:cNvSpPr/>
            <p:nvPr/>
          </p:nvSpPr>
          <p:spPr>
            <a:xfrm>
              <a:off x="1039143" y="40081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sz="750" dirty="0">
                  <a:ea typeface="+mj-ea"/>
                  <a:cs typeface="Nanum Gothic" pitchFamily="34" charset="-120"/>
                </a:rPr>
                <a:t>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5" name="Text 7">
              <a:extLst>
                <a:ext uri="{FF2B5EF4-FFF2-40B4-BE49-F238E27FC236}">
                  <a16:creationId xmlns:a16="http://schemas.microsoft.com/office/drawing/2014/main" id="{59C9A824-452B-CF7A-480F-1F36F5ADE6E8}"/>
                </a:ext>
              </a:extLst>
            </p:cNvPr>
            <p:cNvSpPr/>
            <p:nvPr/>
          </p:nvSpPr>
          <p:spPr>
            <a:xfrm>
              <a:off x="1003853" y="3290599"/>
              <a:ext cx="162341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FFFFFF"/>
                  </a:solidFill>
                  <a:latin typeface="+mj-lt"/>
                </a:rPr>
                <a:t>GIS</a:t>
              </a:r>
              <a:r>
                <a:rPr lang="ko-KR" altLang="en-US" sz="950" b="1" dirty="0">
                  <a:solidFill>
                    <a:srgbClr val="FFFFFF"/>
                  </a:solidFill>
                  <a:latin typeface="+mj-lt"/>
                </a:rPr>
                <a:t>서버</a:t>
              </a:r>
              <a:endParaRPr lang="en-US" sz="950" dirty="0">
                <a:latin typeface="+mj-lt"/>
              </a:endParaRPr>
            </a:p>
          </p:txBody>
        </p:sp>
        <p:sp>
          <p:nvSpPr>
            <p:cNvPr id="306" name="Text 11">
              <a:extLst>
                <a:ext uri="{FF2B5EF4-FFF2-40B4-BE49-F238E27FC236}">
                  <a16:creationId xmlns:a16="http://schemas.microsoft.com/office/drawing/2014/main" id="{85AD2A7A-6B84-81D6-017F-2F3CA95393FA}"/>
                </a:ext>
              </a:extLst>
            </p:cNvPr>
            <p:cNvSpPr/>
            <p:nvPr/>
          </p:nvSpPr>
          <p:spPr>
            <a:xfrm>
              <a:off x="1039143" y="37033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 err="1">
                  <a:cs typeface="Nanum Gothic" pitchFamily="34" charset="-120"/>
                </a:rPr>
                <a:t>MapPrime</a:t>
              </a:r>
              <a:r>
                <a:rPr lang="en-US" altLang="ko-KR" sz="750" dirty="0">
                  <a:cs typeface="Nanum Gothic" pitchFamily="34" charset="-120"/>
                </a:rPr>
                <a:t>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7" name="Text 13">
              <a:extLst>
                <a:ext uri="{FF2B5EF4-FFF2-40B4-BE49-F238E27FC236}">
                  <a16:creationId xmlns:a16="http://schemas.microsoft.com/office/drawing/2014/main" id="{A6B224E3-93FD-2992-5571-915587D2D241}"/>
                </a:ext>
              </a:extLst>
            </p:cNvPr>
            <p:cNvSpPr/>
            <p:nvPr/>
          </p:nvSpPr>
          <p:spPr>
            <a:xfrm>
              <a:off x="1039143" y="38557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8" name="Text 19">
              <a:extLst>
                <a:ext uri="{FF2B5EF4-FFF2-40B4-BE49-F238E27FC236}">
                  <a16:creationId xmlns:a16="http://schemas.microsoft.com/office/drawing/2014/main" id="{41068505-1364-3CE2-7F15-AD0BE98B77F4}"/>
                </a:ext>
              </a:extLst>
            </p:cNvPr>
            <p:cNvSpPr/>
            <p:nvPr/>
          </p:nvSpPr>
          <p:spPr>
            <a:xfrm>
              <a:off x="1829674" y="37033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 err="1">
                  <a:cs typeface="Nanum Gothic" pitchFamily="34" charset="-120"/>
                </a:rPr>
                <a:t>MapPrime</a:t>
              </a:r>
              <a:r>
                <a:rPr lang="en-US" altLang="ko-KR" sz="750" dirty="0">
                  <a:cs typeface="Nanum Gothic" pitchFamily="34" charset="-120"/>
                </a:rPr>
                <a:t> </a:t>
              </a:r>
              <a:endParaRPr lang="en-US" altLang="ko-KR" sz="750" dirty="0"/>
            </a:p>
          </p:txBody>
        </p:sp>
        <p:sp>
          <p:nvSpPr>
            <p:cNvPr id="309" name="Text 21">
              <a:extLst>
                <a:ext uri="{FF2B5EF4-FFF2-40B4-BE49-F238E27FC236}">
                  <a16:creationId xmlns:a16="http://schemas.microsoft.com/office/drawing/2014/main" id="{8E876963-C826-EECE-D50C-770F2AB9F602}"/>
                </a:ext>
              </a:extLst>
            </p:cNvPr>
            <p:cNvSpPr/>
            <p:nvPr/>
          </p:nvSpPr>
          <p:spPr>
            <a:xfrm>
              <a:off x="1829674" y="38557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  <p:sp>
          <p:nvSpPr>
            <p:cNvPr id="12" name="Shape 55">
              <a:extLst>
                <a:ext uri="{FF2B5EF4-FFF2-40B4-BE49-F238E27FC236}">
                  <a16:creationId xmlns:a16="http://schemas.microsoft.com/office/drawing/2014/main" id="{BEABC389-91AC-B3BC-B953-81EEDF56BECB}"/>
                </a:ext>
              </a:extLst>
            </p:cNvPr>
            <p:cNvSpPr/>
            <p:nvPr/>
          </p:nvSpPr>
          <p:spPr>
            <a:xfrm>
              <a:off x="6500767" y="3294037"/>
              <a:ext cx="855448" cy="140355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68">
              <a:extLst>
                <a:ext uri="{FF2B5EF4-FFF2-40B4-BE49-F238E27FC236}">
                  <a16:creationId xmlns:a16="http://schemas.microsoft.com/office/drawing/2014/main" id="{6E27315A-D597-1234-039D-C5FA8F6E3091}"/>
                </a:ext>
              </a:extLst>
            </p:cNvPr>
            <p:cNvSpPr/>
            <p:nvPr/>
          </p:nvSpPr>
          <p:spPr>
            <a:xfrm>
              <a:off x="6533668" y="3706787"/>
              <a:ext cx="789644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" name="Shape 22">
              <a:extLst>
                <a:ext uri="{FF2B5EF4-FFF2-40B4-BE49-F238E27FC236}">
                  <a16:creationId xmlns:a16="http://schemas.microsoft.com/office/drawing/2014/main" id="{E06250DC-FEFC-9485-DC35-D6C8E8E92F50}"/>
                </a:ext>
              </a:extLst>
            </p:cNvPr>
            <p:cNvSpPr/>
            <p:nvPr/>
          </p:nvSpPr>
          <p:spPr>
            <a:xfrm>
              <a:off x="6533668" y="3859187"/>
              <a:ext cx="789644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6" name="Text 42">
              <a:extLst>
                <a:ext uri="{FF2B5EF4-FFF2-40B4-BE49-F238E27FC236}">
                  <a16:creationId xmlns:a16="http://schemas.microsoft.com/office/drawing/2014/main" id="{4748ADA9-1A64-648F-3B6F-ACE09F15E1F4}"/>
                </a:ext>
              </a:extLst>
            </p:cNvPr>
            <p:cNvSpPr/>
            <p:nvPr/>
          </p:nvSpPr>
          <p:spPr>
            <a:xfrm>
              <a:off x="6533668" y="3509937"/>
              <a:ext cx="789644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8" name="Shape 31">
              <a:extLst>
                <a:ext uri="{FF2B5EF4-FFF2-40B4-BE49-F238E27FC236}">
                  <a16:creationId xmlns:a16="http://schemas.microsoft.com/office/drawing/2014/main" id="{04B149C7-B376-70E2-0F0D-8E6A3F55B202}"/>
                </a:ext>
              </a:extLst>
            </p:cNvPr>
            <p:cNvSpPr/>
            <p:nvPr/>
          </p:nvSpPr>
          <p:spPr>
            <a:xfrm>
              <a:off x="6500767" y="3294037"/>
              <a:ext cx="855448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9" name="Text 69">
              <a:extLst>
                <a:ext uri="{FF2B5EF4-FFF2-40B4-BE49-F238E27FC236}">
                  <a16:creationId xmlns:a16="http://schemas.microsoft.com/office/drawing/2014/main" id="{79D46163-0E9D-89FC-EFC3-14CFA607E057}"/>
                </a:ext>
              </a:extLst>
            </p:cNvPr>
            <p:cNvSpPr/>
            <p:nvPr/>
          </p:nvSpPr>
          <p:spPr>
            <a:xfrm>
              <a:off x="6533668" y="3706787"/>
              <a:ext cx="789644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20" name="Text 23">
              <a:extLst>
                <a:ext uri="{FF2B5EF4-FFF2-40B4-BE49-F238E27FC236}">
                  <a16:creationId xmlns:a16="http://schemas.microsoft.com/office/drawing/2014/main" id="{86B4784A-E247-ACE3-D334-EB768AC5F7B3}"/>
                </a:ext>
              </a:extLst>
            </p:cNvPr>
            <p:cNvSpPr/>
            <p:nvPr/>
          </p:nvSpPr>
          <p:spPr>
            <a:xfrm>
              <a:off x="6533668" y="3859187"/>
              <a:ext cx="789644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1B8CEAA6-CEF3-AFAE-22EC-ED699CA32DBD}"/>
                </a:ext>
              </a:extLst>
            </p:cNvPr>
            <p:cNvSpPr/>
            <p:nvPr/>
          </p:nvSpPr>
          <p:spPr>
            <a:xfrm>
              <a:off x="6500766" y="3294037"/>
              <a:ext cx="85544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행공연계</a:t>
              </a:r>
              <a:endParaRPr lang="en-US" altLang="ko-KR" sz="95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12008271-DAC6-EEFE-CC7D-17FC9AFC061B}"/>
                </a:ext>
              </a:extLst>
            </p:cNvPr>
            <p:cNvSpPr/>
            <p:nvPr/>
          </p:nvSpPr>
          <p:spPr>
            <a:xfrm>
              <a:off x="4106720" y="3211809"/>
              <a:ext cx="710680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37" name="Text 27">
              <a:extLst>
                <a:ext uri="{FF2B5EF4-FFF2-40B4-BE49-F238E27FC236}">
                  <a16:creationId xmlns:a16="http://schemas.microsoft.com/office/drawing/2014/main" id="{8A606DA3-6F23-791E-AD16-FCBFED7C071F}"/>
                </a:ext>
              </a:extLst>
            </p:cNvPr>
            <p:cNvSpPr/>
            <p:nvPr/>
          </p:nvSpPr>
          <p:spPr>
            <a:xfrm>
              <a:off x="5672848" y="3211809"/>
              <a:ext cx="710680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</p:grpSp>
      <p:sp>
        <p:nvSpPr>
          <p:cNvPr id="38" name="Text 7">
            <a:extLst>
              <a:ext uri="{FF2B5EF4-FFF2-40B4-BE49-F238E27FC236}">
                <a16:creationId xmlns:a16="http://schemas.microsoft.com/office/drawing/2014/main" id="{FF3423D1-AFE1-3A63-AD57-8B17BEB2B9B5}"/>
              </a:ext>
            </a:extLst>
          </p:cNvPr>
          <p:cNvSpPr/>
          <p:nvPr/>
        </p:nvSpPr>
        <p:spPr>
          <a:xfrm>
            <a:off x="4263930" y="2109268"/>
            <a:ext cx="1513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+mj-lt"/>
              </a:rPr>
              <a:t>행정업무</a:t>
            </a:r>
            <a:endParaRPr lang="en-US" sz="950" dirty="0">
              <a:latin typeface="+mj-lt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170791B9-D3B4-53A5-5E39-E3294FC41C21}"/>
              </a:ext>
            </a:extLst>
          </p:cNvPr>
          <p:cNvSpPr/>
          <p:nvPr/>
        </p:nvSpPr>
        <p:spPr>
          <a:xfrm>
            <a:off x="4296831" y="25220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37A1C12-C05E-8C2B-7956-DEB95A8A2A2C}"/>
              </a:ext>
            </a:extLst>
          </p:cNvPr>
          <p:cNvSpPr/>
          <p:nvPr/>
        </p:nvSpPr>
        <p:spPr>
          <a:xfrm>
            <a:off x="5033833" y="25220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ea typeface="Nanum Gothic" pitchFamily="34" charset="-122"/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D96DDBAC-00C1-F479-42E0-F7E6F6DB9641}"/>
              </a:ext>
            </a:extLst>
          </p:cNvPr>
          <p:cNvSpPr/>
          <p:nvPr/>
        </p:nvSpPr>
        <p:spPr>
          <a:xfrm>
            <a:off x="5033833" y="26744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ko-KR" altLang="en-US" sz="750" dirty="0" err="1">
                <a:cs typeface="Nanum Gothic" pitchFamily="34" charset="-120"/>
              </a:rPr>
              <a:t>큐브원</a:t>
            </a:r>
            <a:endParaRPr lang="en-US" altLang="ko-KR" sz="75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D6D170CB-83C9-BBBD-8A31-DDA3262EA068}"/>
              </a:ext>
            </a:extLst>
          </p:cNvPr>
          <p:cNvSpPr/>
          <p:nvPr/>
        </p:nvSpPr>
        <p:spPr>
          <a:xfrm>
            <a:off x="4296832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Linux(RHEL)</a:t>
            </a:r>
            <a:endParaRPr lang="en-US" sz="750" dirty="0">
              <a:ea typeface="+mj-ea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3A88B875-E792-C171-C2AC-D4FA50968D95}"/>
              </a:ext>
            </a:extLst>
          </p:cNvPr>
          <p:cNvSpPr/>
          <p:nvPr/>
        </p:nvSpPr>
        <p:spPr>
          <a:xfrm>
            <a:off x="5033834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rmAutofit/>
          </a:bodyPr>
          <a:lstStyle/>
          <a:p>
            <a:pPr algn="ctr"/>
            <a:r>
              <a:rPr lang="en-US" altLang="ko-KR" sz="750" dirty="0">
                <a:cs typeface="Nanum Gothic" pitchFamily="34" charset="-120"/>
              </a:rPr>
              <a:t>Jennifer</a:t>
            </a:r>
            <a:endParaRPr lang="en-US" altLang="ko-KR" sz="750" dirty="0"/>
          </a:p>
        </p:txBody>
      </p:sp>
      <p:sp>
        <p:nvSpPr>
          <p:cNvPr id="44" name="RST_ssl_bg_1">
            <a:extLst>
              <a:ext uri="{FF2B5EF4-FFF2-40B4-BE49-F238E27FC236}">
                <a16:creationId xmlns:a16="http://schemas.microsoft.com/office/drawing/2014/main" id="{EB5B2A68-3965-74DF-3D0E-1C3D2CA9DCBC}"/>
              </a:ext>
            </a:extLst>
          </p:cNvPr>
          <p:cNvSpPr/>
          <p:nvPr/>
        </p:nvSpPr>
        <p:spPr>
          <a:xfrm>
            <a:off x="4290253" y="26744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5" name="RST_ssl_tx_1">
            <a:extLst>
              <a:ext uri="{FF2B5EF4-FFF2-40B4-BE49-F238E27FC236}">
                <a16:creationId xmlns:a16="http://schemas.microsoft.com/office/drawing/2014/main" id="{90004C4F-85FB-2AAD-4C4E-840BB4B3D643}"/>
              </a:ext>
            </a:extLst>
          </p:cNvPr>
          <p:cNvSpPr txBox="1"/>
          <p:nvPr/>
        </p:nvSpPr>
        <p:spPr>
          <a:xfrm>
            <a:off x="4290253" y="2674418"/>
            <a:ext cx="710680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59B2D437-36EC-FB51-D974-DEB198B101D5}"/>
              </a:ext>
            </a:extLst>
          </p:cNvPr>
          <p:cNvSpPr/>
          <p:nvPr/>
        </p:nvSpPr>
        <p:spPr>
          <a:xfrm>
            <a:off x="5827967" y="2105561"/>
            <a:ext cx="1684575" cy="113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B185E041-2A0A-6205-6384-BA0FAC01F709}"/>
              </a:ext>
            </a:extLst>
          </p:cNvPr>
          <p:cNvSpPr/>
          <p:nvPr/>
        </p:nvSpPr>
        <p:spPr>
          <a:xfrm>
            <a:off x="5827967" y="2105561"/>
            <a:ext cx="1684575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0D741916-BBC9-81D5-7DC9-609A8604F4A9}"/>
              </a:ext>
            </a:extLst>
          </p:cNvPr>
          <p:cNvSpPr/>
          <p:nvPr/>
        </p:nvSpPr>
        <p:spPr>
          <a:xfrm>
            <a:off x="5860869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E73E5924-FAA7-131C-A77B-5A8A4E100451}"/>
              </a:ext>
            </a:extLst>
          </p:cNvPr>
          <p:cNvSpPr/>
          <p:nvPr/>
        </p:nvSpPr>
        <p:spPr>
          <a:xfrm>
            <a:off x="5860869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1A8675EF-AA94-CB6A-D9F7-F2407AE8A30E}"/>
              </a:ext>
            </a:extLst>
          </p:cNvPr>
          <p:cNvSpPr/>
          <p:nvPr/>
        </p:nvSpPr>
        <p:spPr>
          <a:xfrm>
            <a:off x="5860869" y="25183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15FC2398-47FA-1181-C20C-D39D22ADEA19}"/>
              </a:ext>
            </a:extLst>
          </p:cNvPr>
          <p:cNvSpPr/>
          <p:nvPr/>
        </p:nvSpPr>
        <p:spPr>
          <a:xfrm>
            <a:off x="6683415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EA14BAA2-7EE5-0175-6D49-A00569C7FBAC}"/>
              </a:ext>
            </a:extLst>
          </p:cNvPr>
          <p:cNvSpPr/>
          <p:nvPr/>
        </p:nvSpPr>
        <p:spPr>
          <a:xfrm>
            <a:off x="6683415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811EA156-CF9B-EF7B-E3F1-1513FDA4279C}"/>
              </a:ext>
            </a:extLst>
          </p:cNvPr>
          <p:cNvSpPr/>
          <p:nvPr/>
        </p:nvSpPr>
        <p:spPr>
          <a:xfrm>
            <a:off x="6683415" y="25183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EB79FC08-7CB9-51B8-9B6E-A99AB8975541}"/>
              </a:ext>
            </a:extLst>
          </p:cNvPr>
          <p:cNvSpPr/>
          <p:nvPr/>
        </p:nvSpPr>
        <p:spPr>
          <a:xfrm>
            <a:off x="6683415" y="26707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24" name="Text 23">
            <a:extLst>
              <a:ext uri="{FF2B5EF4-FFF2-40B4-BE49-F238E27FC236}">
                <a16:creationId xmlns:a16="http://schemas.microsoft.com/office/drawing/2014/main" id="{460C4181-72AB-D35B-1D31-9E692720EE46}"/>
              </a:ext>
            </a:extLst>
          </p:cNvPr>
          <p:cNvSpPr/>
          <p:nvPr/>
        </p:nvSpPr>
        <p:spPr>
          <a:xfrm>
            <a:off x="6683415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43" name="Text 25">
            <a:extLst>
              <a:ext uri="{FF2B5EF4-FFF2-40B4-BE49-F238E27FC236}">
                <a16:creationId xmlns:a16="http://schemas.microsoft.com/office/drawing/2014/main" id="{CDC4210F-D0A8-6020-79C4-49FD4DBBB26E}"/>
              </a:ext>
            </a:extLst>
          </p:cNvPr>
          <p:cNvSpPr/>
          <p:nvPr/>
        </p:nvSpPr>
        <p:spPr>
          <a:xfrm>
            <a:off x="6683415" y="29755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56" name="Shape 28">
            <a:extLst>
              <a:ext uri="{FF2B5EF4-FFF2-40B4-BE49-F238E27FC236}">
                <a16:creationId xmlns:a16="http://schemas.microsoft.com/office/drawing/2014/main" id="{4F5772E4-A16C-109E-8613-8CB41BFFA23E}"/>
              </a:ext>
            </a:extLst>
          </p:cNvPr>
          <p:cNvSpPr/>
          <p:nvPr/>
        </p:nvSpPr>
        <p:spPr>
          <a:xfrm>
            <a:off x="5860869" y="28231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57" name="Shape 28">
            <a:extLst>
              <a:ext uri="{FF2B5EF4-FFF2-40B4-BE49-F238E27FC236}">
                <a16:creationId xmlns:a16="http://schemas.microsoft.com/office/drawing/2014/main" id="{B40DC6BE-6A32-CC42-BE63-787CECF3B085}"/>
              </a:ext>
            </a:extLst>
          </p:cNvPr>
          <p:cNvSpPr/>
          <p:nvPr/>
        </p:nvSpPr>
        <p:spPr>
          <a:xfrm>
            <a:off x="6683415" y="28231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67BBCBF-9649-BDDD-56CA-E2FBBA8716B4}"/>
              </a:ext>
            </a:extLst>
          </p:cNvPr>
          <p:cNvGrpSpPr/>
          <p:nvPr/>
        </p:nvGrpSpPr>
        <p:grpSpPr>
          <a:xfrm>
            <a:off x="6683416" y="2975511"/>
            <a:ext cx="796227" cy="152400"/>
            <a:chOff x="9872331" y="4296333"/>
            <a:chExt cx="893900" cy="153007"/>
          </a:xfrm>
        </p:grpSpPr>
        <p:sp>
          <p:nvSpPr>
            <p:cNvPr id="249" name="Shape 24">
              <a:extLst>
                <a:ext uri="{FF2B5EF4-FFF2-40B4-BE49-F238E27FC236}">
                  <a16:creationId xmlns:a16="http://schemas.microsoft.com/office/drawing/2014/main" id="{2FEBE5CB-8A27-5100-8B5A-1A5155D73AF3}"/>
                </a:ext>
              </a:extLst>
            </p:cNvPr>
            <p:cNvSpPr/>
            <p:nvPr/>
          </p:nvSpPr>
          <p:spPr>
            <a:xfrm>
              <a:off x="9872331" y="4296333"/>
              <a:ext cx="893898" cy="153007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251" name="Text 25">
              <a:extLst>
                <a:ext uri="{FF2B5EF4-FFF2-40B4-BE49-F238E27FC236}">
                  <a16:creationId xmlns:a16="http://schemas.microsoft.com/office/drawing/2014/main" id="{648309AB-D706-E25F-C853-0B6C9A860E1F}"/>
                </a:ext>
              </a:extLst>
            </p:cNvPr>
            <p:cNvSpPr/>
            <p:nvPr/>
          </p:nvSpPr>
          <p:spPr>
            <a:xfrm>
              <a:off x="9872333" y="4296333"/>
              <a:ext cx="893898" cy="153007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Linux(RHEL)</a:t>
              </a:r>
              <a:endParaRPr lang="en-US" altLang="ko-KR" sz="750" dirty="0"/>
            </a:p>
          </p:txBody>
        </p:sp>
      </p:grpSp>
      <p:sp>
        <p:nvSpPr>
          <p:cNvPr id="159" name="Text 7">
            <a:extLst>
              <a:ext uri="{FF2B5EF4-FFF2-40B4-BE49-F238E27FC236}">
                <a16:creationId xmlns:a16="http://schemas.microsoft.com/office/drawing/2014/main" id="{53D38A60-C365-F09D-3C0F-479FAF8705F1}"/>
              </a:ext>
            </a:extLst>
          </p:cNvPr>
          <p:cNvSpPr/>
          <p:nvPr/>
        </p:nvSpPr>
        <p:spPr>
          <a:xfrm>
            <a:off x="5827967" y="2105561"/>
            <a:ext cx="1684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>
                <a:solidFill>
                  <a:schemeClr val="bg1"/>
                </a:solidFill>
                <a:latin typeface="+mj-lt"/>
              </a:rPr>
              <a:t>내부연계</a:t>
            </a:r>
            <a:endParaRPr lang="en-US" sz="9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0" name="Text 11">
            <a:extLst>
              <a:ext uri="{FF2B5EF4-FFF2-40B4-BE49-F238E27FC236}">
                <a16:creationId xmlns:a16="http://schemas.microsoft.com/office/drawing/2014/main" id="{B8E554AF-8636-6A9B-FA8D-018A250D5722}"/>
              </a:ext>
            </a:extLst>
          </p:cNvPr>
          <p:cNvSpPr/>
          <p:nvPr/>
        </p:nvSpPr>
        <p:spPr>
          <a:xfrm>
            <a:off x="5860869" y="25183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161" name="Text 19">
            <a:extLst>
              <a:ext uri="{FF2B5EF4-FFF2-40B4-BE49-F238E27FC236}">
                <a16:creationId xmlns:a16="http://schemas.microsoft.com/office/drawing/2014/main" id="{FDAEACDC-7710-3F63-14A8-F98DAD0DA96F}"/>
              </a:ext>
            </a:extLst>
          </p:cNvPr>
          <p:cNvSpPr/>
          <p:nvPr/>
        </p:nvSpPr>
        <p:spPr>
          <a:xfrm>
            <a:off x="6683415" y="25183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162" name="Text 21">
            <a:extLst>
              <a:ext uri="{FF2B5EF4-FFF2-40B4-BE49-F238E27FC236}">
                <a16:creationId xmlns:a16="http://schemas.microsoft.com/office/drawing/2014/main" id="{38D2223C-6E62-2681-EA86-652A336670A7}"/>
              </a:ext>
            </a:extLst>
          </p:cNvPr>
          <p:cNvSpPr/>
          <p:nvPr/>
        </p:nvSpPr>
        <p:spPr>
          <a:xfrm>
            <a:off x="6683415" y="26707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ko-KR" altLang="en-US" sz="750" dirty="0" err="1">
                <a:cs typeface="Nanum Gothic" pitchFamily="34" charset="-120"/>
              </a:rPr>
              <a:t>큐브원</a:t>
            </a:r>
            <a:endParaRPr lang="en-US" altLang="ko-KR" sz="750" dirty="0"/>
          </a:p>
        </p:txBody>
      </p:sp>
      <p:sp>
        <p:nvSpPr>
          <p:cNvPr id="163" name="Text 29">
            <a:extLst>
              <a:ext uri="{FF2B5EF4-FFF2-40B4-BE49-F238E27FC236}">
                <a16:creationId xmlns:a16="http://schemas.microsoft.com/office/drawing/2014/main" id="{1606D494-9216-83E9-A91A-274641666A5C}"/>
              </a:ext>
            </a:extLst>
          </p:cNvPr>
          <p:cNvSpPr/>
          <p:nvPr/>
        </p:nvSpPr>
        <p:spPr>
          <a:xfrm>
            <a:off x="5860868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Linux(RHEL)</a:t>
            </a:r>
            <a:endParaRPr lang="en-US" altLang="ko-KR" sz="750" dirty="0"/>
          </a:p>
        </p:txBody>
      </p:sp>
      <p:sp>
        <p:nvSpPr>
          <p:cNvPr id="164" name="Text 29">
            <a:extLst>
              <a:ext uri="{FF2B5EF4-FFF2-40B4-BE49-F238E27FC236}">
                <a16:creationId xmlns:a16="http://schemas.microsoft.com/office/drawing/2014/main" id="{ABEC03A6-2B07-FEAE-70FF-606E50E6B72B}"/>
              </a:ext>
            </a:extLst>
          </p:cNvPr>
          <p:cNvSpPr/>
          <p:nvPr/>
        </p:nvSpPr>
        <p:spPr>
          <a:xfrm>
            <a:off x="6683414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 dirty="0">
                <a:cs typeface="Nanum Gothic" pitchFamily="34" charset="-120"/>
              </a:rPr>
              <a:t>Jennifer</a:t>
            </a:r>
            <a:endParaRPr lang="en-US" altLang="ko-KR" sz="750" dirty="0"/>
          </a:p>
        </p:txBody>
      </p:sp>
      <p:sp>
        <p:nvSpPr>
          <p:cNvPr id="247" name="RST_ssl_bg_ic">
            <a:extLst>
              <a:ext uri="{FF2B5EF4-FFF2-40B4-BE49-F238E27FC236}">
                <a16:creationId xmlns:a16="http://schemas.microsoft.com/office/drawing/2014/main" id="{2D52E61D-0A44-4B0F-493A-42E1C5C1639F}"/>
              </a:ext>
            </a:extLst>
          </p:cNvPr>
          <p:cNvSpPr/>
          <p:nvPr/>
        </p:nvSpPr>
        <p:spPr>
          <a:xfrm>
            <a:off x="5867450" y="26707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48" name="RST_ssl_tx_ic">
            <a:extLst>
              <a:ext uri="{FF2B5EF4-FFF2-40B4-BE49-F238E27FC236}">
                <a16:creationId xmlns:a16="http://schemas.microsoft.com/office/drawing/2014/main" id="{C72E0785-618D-9F6F-74BC-80F4BC4644F7}"/>
              </a:ext>
            </a:extLst>
          </p:cNvPr>
          <p:cNvSpPr txBox="1"/>
          <p:nvPr/>
        </p:nvSpPr>
        <p:spPr>
          <a:xfrm>
            <a:off x="5867450" y="2670711"/>
            <a:ext cx="796225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6C3BE-8F9F-B933-BEBD-EF29DF774F30}"/>
              </a:ext>
            </a:extLst>
          </p:cNvPr>
          <p:cNvSpPr/>
          <p:nvPr/>
        </p:nvSpPr>
        <p:spPr>
          <a:xfrm>
            <a:off x="10029564" y="2674417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34BF-C4DA-43B8-A206-6937F9940E91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CNR-004-41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CNR-001-09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B76DDBC-1B6B-B8C4-112F-3043034FDEEA}"/>
              </a:ext>
            </a:extLst>
          </p:cNvPr>
          <p:cNvSpPr/>
          <p:nvPr/>
        </p:nvSpPr>
        <p:spPr>
          <a:xfrm>
            <a:off x="308484" y="2049304"/>
            <a:ext cx="7308812" cy="27478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EAD61BF-5073-DEE3-559F-14F0AC1C0A4B}"/>
              </a:ext>
            </a:extLst>
          </p:cNvPr>
          <p:cNvSpPr/>
          <p:nvPr/>
        </p:nvSpPr>
        <p:spPr>
          <a:xfrm>
            <a:off x="308484" y="4913873"/>
            <a:ext cx="3764205" cy="1440160"/>
          </a:xfrm>
          <a:prstGeom prst="rect">
            <a:avLst/>
          </a:prstGeom>
          <a:noFill/>
          <a:ln w="19050" cap="flat" cmpd="sng" algn="ctr">
            <a:solidFill>
              <a:srgbClr val="2F559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E91948A-49D3-97C6-EB2B-D1B331E8529E}"/>
              </a:ext>
            </a:extLst>
          </p:cNvPr>
          <p:cNvSpPr/>
          <p:nvPr/>
        </p:nvSpPr>
        <p:spPr>
          <a:xfrm>
            <a:off x="4132414" y="4913873"/>
            <a:ext cx="5469708" cy="1440160"/>
          </a:xfrm>
          <a:prstGeom prst="rect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development-environment">
            <a:extLst>
              <a:ext uri="{FF2B5EF4-FFF2-40B4-BE49-F238E27FC236}">
                <a16:creationId xmlns:a16="http://schemas.microsoft.com/office/drawing/2014/main" id="{9599A2D8-8E0B-1772-0B6C-1B79A90B582B}"/>
              </a:ext>
            </a:extLst>
          </p:cNvPr>
          <p:cNvSpPr>
            <a:spLocks noGrp="1"/>
          </p:cNvSpPr>
          <p:nvPr/>
        </p:nvSpPr>
        <p:spPr>
          <a:xfrm>
            <a:off x="7869324" y="3317986"/>
            <a:ext cx="574861" cy="1405091"/>
          </a:xfrm>
          <a:prstGeom prst="roundRect">
            <a:avLst>
              <a:gd name="adj" fmla="val 9639"/>
            </a:avLst>
          </a:prstGeom>
          <a:solidFill>
            <a:srgbClr val="0367B0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3E1FA5D-756F-A43F-8160-900A256D7EA9}"/>
              </a:ext>
            </a:extLst>
          </p:cNvPr>
          <p:cNvSpPr>
            <a:spLocks noGrp="1"/>
          </p:cNvSpPr>
          <p:nvPr/>
        </p:nvSpPr>
        <p:spPr>
          <a:xfrm>
            <a:off x="7950536" y="3317986"/>
            <a:ext cx="421641" cy="133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A2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대국민 필수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9B3DB8-CE7D-D504-5727-FB10DF22D695}"/>
              </a:ext>
            </a:extLst>
          </p:cNvPr>
          <p:cNvSpPr/>
          <p:nvPr/>
        </p:nvSpPr>
        <p:spPr>
          <a:xfrm>
            <a:off x="7832433" y="3284984"/>
            <a:ext cx="1756030" cy="1512168"/>
          </a:xfrm>
          <a:prstGeom prst="rect">
            <a:avLst/>
          </a:prstGeom>
          <a:noFill/>
          <a:ln w="19050" cap="flat" cmpd="sng" algn="ctr">
            <a:solidFill>
              <a:srgbClr val="2F559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25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(4/7)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A-A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목표모델 구현 방안 비교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구현 방안을 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과 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동시 쓰기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구분하여 제시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 :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· WAS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를 상시 기동하여 조회 업무를 동시 처리하고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업무는 주센터로 집중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조회 전용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복제본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오라클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ADG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으로 운영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 :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각각 쓰기를 처리하며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데이터 정합성 확보를 위해 센터 간 양방향 복제 필요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기준은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응용 영향도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경제성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기술 구현 가능성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결과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 모두에서 우위인 모델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·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을 권고</a:t>
            </a: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4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텍스트 개체 틀 72">
            <a:extLst>
              <a:ext uri="{FF2B5EF4-FFF2-40B4-BE49-F238E27FC236}">
                <a16:creationId xmlns:a16="http://schemas.microsoft.com/office/drawing/2014/main" id="{FC833513-DFBA-1221-7863-BC3524434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응용 </a:t>
            </a:r>
            <a:r>
              <a:rPr lang="en-US" altLang="ko-KR"/>
              <a:t>A-A </a:t>
            </a:r>
            <a:r>
              <a:rPr lang="ko-KR" altLang="en-US"/>
              <a:t>구현 방안을 조회는 분산하고 쓰기는 주센터로 집중하는 모델 </a:t>
            </a:r>
            <a:r>
              <a:rPr lang="en-US" altLang="ko-KR"/>
              <a:t>1</a:t>
            </a:r>
            <a:r>
              <a:rPr lang="ko-KR" altLang="en-US"/>
              <a:t>과 센터 간 동시에 쓰기를 처리하는 모델 </a:t>
            </a:r>
            <a:r>
              <a:rPr lang="en-US" altLang="ko-KR"/>
              <a:t>2</a:t>
            </a:r>
            <a:r>
              <a:rPr lang="ko-KR" altLang="en-US"/>
              <a:t>로 구분하고</a:t>
            </a:r>
            <a:r>
              <a:rPr lang="en-US" altLang="ko-KR"/>
              <a:t>, </a:t>
            </a:r>
            <a:r>
              <a:rPr lang="ko-KR" altLang="en-US"/>
              <a:t>응용 영향도 </a:t>
            </a:r>
            <a:r>
              <a:rPr lang="en-US" altLang="ko-KR"/>
              <a:t>· </a:t>
            </a:r>
            <a:r>
              <a:rPr lang="ko-KR" altLang="en-US"/>
              <a:t>경제성 </a:t>
            </a:r>
            <a:r>
              <a:rPr lang="en-US" altLang="ko-KR"/>
              <a:t>· </a:t>
            </a:r>
            <a:r>
              <a:rPr lang="ko-KR" altLang="en-US"/>
              <a:t>기술 구현 가능성 관점에서 비교 제시함</a:t>
            </a:r>
            <a:endParaRPr lang="ko-KR" altLang="en-US" dirty="0"/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F936E187-60CA-968C-4F62-760E0C64A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85151"/>
              </p:ext>
            </p:extLst>
          </p:nvPr>
        </p:nvGraphicFramePr>
        <p:xfrm>
          <a:off x="281927" y="2095986"/>
          <a:ext cx="6650685" cy="4225360"/>
        </p:xfrm>
        <a:graphic>
          <a:graphicData uri="http://schemas.openxmlformats.org/drawingml/2006/table">
            <a:tbl>
              <a:tblPr firstRow="1" bandRow="1"/>
              <a:tblGrid>
                <a:gridCol w="301817">
                  <a:extLst>
                    <a:ext uri="{9D8B030D-6E8A-4147-A177-3AD203B41FA5}">
                      <a16:colId xmlns:a16="http://schemas.microsoft.com/office/drawing/2014/main" val="318682176"/>
                    </a:ext>
                  </a:extLst>
                </a:gridCol>
                <a:gridCol w="788656">
                  <a:extLst>
                    <a:ext uri="{9D8B030D-6E8A-4147-A177-3AD203B41FA5}">
                      <a16:colId xmlns:a16="http://schemas.microsoft.com/office/drawing/2014/main" val="242176763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87407405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367755669"/>
                    </a:ext>
                  </a:extLst>
                </a:gridCol>
              </a:tblGrid>
              <a:tr h="258825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 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모델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1 (</a:t>
                      </a: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조회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A-A · </a:t>
                      </a: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 </a:t>
                      </a:r>
                      <a:r>
                        <a:rPr lang="ko-KR" altLang="en-US" sz="1100" b="1" kern="100" spc="0" baseline="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모델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2 (</a:t>
                      </a: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간 동시 쓰기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A-A)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87698"/>
                  </a:ext>
                </a:extLst>
              </a:tr>
              <a:tr h="1612900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개념도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94634"/>
                  </a:ext>
                </a:extLst>
              </a:tr>
              <a:tr h="600543">
                <a:tc rowSpan="3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선정기준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응용 영향도</a:t>
                      </a:r>
                      <a:endParaRPr lang="ko-KR" altLang="en-US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응용 변경 최소화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도메인 기준 유지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연계기관 추가 협의 범위 최소화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간 데이터 정합성 확보 로직 신규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 충돌 방지를 위한 업무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키 체계 재설계 필요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04933"/>
                  </a:ext>
                </a:extLst>
              </a:tr>
              <a:tr h="759084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경제성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DB 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표준연계 기반 활용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DR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센터는 조회 전용 복제본으로 구축비용 최소화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매우 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주센터와 동일 규모의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DB 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연계 인프라 추가 구축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상용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SW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정식 라이선스 센터 간 확보 필요</a:t>
                      </a:r>
                      <a:endParaRPr lang="en-US" altLang="ko-KR" sz="900" b="0" kern="100" spc="-8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48661"/>
                  </a:ext>
                </a:extLst>
              </a:tr>
              <a:tr h="991593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기술 구현 가능성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오라클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ADG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조회 전용 복제 활용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공공 선진사례 다수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쓰기는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집중으로 원거리 지연 회피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매우 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데이터 정합성 확보를 위한 양방향 데이터 복제 구현 불가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제조사 사례 없음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Sync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방식 복제를 위한 센터 간 최단거리 확보 필요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40284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2237E6B2-9DCD-9E89-32A9-005D02503CCC}"/>
              </a:ext>
            </a:extLst>
          </p:cNvPr>
          <p:cNvGrpSpPr/>
          <p:nvPr/>
        </p:nvGrpSpPr>
        <p:grpSpPr>
          <a:xfrm>
            <a:off x="1472679" y="2404984"/>
            <a:ext cx="2548565" cy="1495487"/>
            <a:chOff x="1757587" y="2516889"/>
            <a:chExt cx="2630192" cy="234144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4A4E8B1-BE88-A38B-5801-6FD3A685B024}"/>
                </a:ext>
              </a:extLst>
            </p:cNvPr>
            <p:cNvSpPr/>
            <p:nvPr/>
          </p:nvSpPr>
          <p:spPr>
            <a:xfrm>
              <a:off x="1757587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58FB7A8-EF5E-F5CF-5DA8-F8EFFA01F52D}"/>
                </a:ext>
              </a:extLst>
            </p:cNvPr>
            <p:cNvSpPr/>
            <p:nvPr/>
          </p:nvSpPr>
          <p:spPr>
            <a:xfrm>
              <a:off x="3130578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사각형: 둥근 모서리 14">
              <a:extLst>
                <a:ext uri="{FF2B5EF4-FFF2-40B4-BE49-F238E27FC236}">
                  <a16:creationId xmlns:a16="http://schemas.microsoft.com/office/drawing/2014/main" id="{28D4D916-0929-721A-F89E-D1992A6EAA19}"/>
                </a:ext>
              </a:extLst>
            </p:cNvPr>
            <p:cNvSpPr/>
            <p:nvPr/>
          </p:nvSpPr>
          <p:spPr>
            <a:xfrm flipH="1">
              <a:off x="3512095" y="2626974"/>
              <a:ext cx="496305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사각형: 둥근 모서리 21">
              <a:extLst>
                <a:ext uri="{FF2B5EF4-FFF2-40B4-BE49-F238E27FC236}">
                  <a16:creationId xmlns:a16="http://schemas.microsoft.com/office/drawing/2014/main" id="{23F34C1F-4E4F-EA82-34B9-6C4F752B1444}"/>
                </a:ext>
              </a:extLst>
            </p:cNvPr>
            <p:cNvSpPr/>
            <p:nvPr/>
          </p:nvSpPr>
          <p:spPr>
            <a:xfrm>
              <a:off x="2176971" y="2626974"/>
              <a:ext cx="436747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3DCE566-00B4-E41C-8239-B73330EF6616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4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60A1008-AA5F-6043-3BBB-E21591330E96}"/>
                </a:ext>
              </a:extLst>
            </p:cNvPr>
            <p:cNvCxnSpPr>
              <a:cxnSpLocks/>
            </p:cNvCxnSpPr>
            <p:nvPr/>
          </p:nvCxnSpPr>
          <p:spPr>
            <a:xfrm>
              <a:off x="322403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3AEB3FCC-703D-9F44-4173-81E341F21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0217" y="4222306"/>
              <a:ext cx="235218" cy="254979"/>
            </a:xfrm>
            <a:prstGeom prst="rect">
              <a:avLst/>
            </a:prstGeom>
          </p:spPr>
        </p:pic>
        <p:sp>
          <p:nvSpPr>
            <p:cNvPr id="83" name="사각형: 둥근 모서리 133">
              <a:extLst>
                <a:ext uri="{FF2B5EF4-FFF2-40B4-BE49-F238E27FC236}">
                  <a16:creationId xmlns:a16="http://schemas.microsoft.com/office/drawing/2014/main" id="{2845C47F-8A48-3522-B61F-09C765122775}"/>
                </a:ext>
              </a:extLst>
            </p:cNvPr>
            <p:cNvSpPr/>
            <p:nvPr/>
          </p:nvSpPr>
          <p:spPr>
            <a:xfrm>
              <a:off x="2082272" y="3334834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사각형: 둥근 모서리 134">
              <a:extLst>
                <a:ext uri="{FF2B5EF4-FFF2-40B4-BE49-F238E27FC236}">
                  <a16:creationId xmlns:a16="http://schemas.microsoft.com/office/drawing/2014/main" id="{B4BB63B2-56B4-D5FD-A84D-82AF0B122B16}"/>
                </a:ext>
              </a:extLst>
            </p:cNvPr>
            <p:cNvSpPr/>
            <p:nvPr/>
          </p:nvSpPr>
          <p:spPr>
            <a:xfrm>
              <a:off x="2082272" y="3567862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5D72805-9BB7-91CA-5535-316579A1453B}"/>
                </a:ext>
              </a:extLst>
            </p:cNvPr>
            <p:cNvCxnSpPr>
              <a:cxnSpLocks/>
              <a:stCxn id="102" idx="2"/>
              <a:endCxn id="83" idx="0"/>
            </p:cNvCxnSpPr>
            <p:nvPr/>
          </p:nvCxnSpPr>
          <p:spPr>
            <a:xfrm>
              <a:off x="2386179" y="3268959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5C4AF708-33AD-D549-14A7-AAED516BE0E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2386179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사각형: 둥근 모서리 41">
              <a:extLst>
                <a:ext uri="{FF2B5EF4-FFF2-40B4-BE49-F238E27FC236}">
                  <a16:creationId xmlns:a16="http://schemas.microsoft.com/office/drawing/2014/main" id="{5D1CBF59-BCE9-C54B-2332-74E5044F0101}"/>
                </a:ext>
              </a:extLst>
            </p:cNvPr>
            <p:cNvSpPr/>
            <p:nvPr/>
          </p:nvSpPr>
          <p:spPr>
            <a:xfrm>
              <a:off x="1837764" y="3855194"/>
              <a:ext cx="414420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사각형: 둥근 모서리 43">
              <a:extLst>
                <a:ext uri="{FF2B5EF4-FFF2-40B4-BE49-F238E27FC236}">
                  <a16:creationId xmlns:a16="http://schemas.microsoft.com/office/drawing/2014/main" id="{32D01E91-A58B-6093-4F2A-C9A365DFE676}"/>
                </a:ext>
              </a:extLst>
            </p:cNvPr>
            <p:cNvSpPr/>
            <p:nvPr/>
          </p:nvSpPr>
          <p:spPr>
            <a:xfrm>
              <a:off x="2520176" y="3855194"/>
              <a:ext cx="414420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FF33BB6-8D63-FD39-EFA1-2AC1D802E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7221" y="4222298"/>
              <a:ext cx="235218" cy="254979"/>
            </a:xfrm>
            <a:prstGeom prst="rect">
              <a:avLst/>
            </a:prstGeom>
          </p:spPr>
        </p:pic>
        <p:cxnSp>
          <p:nvCxnSpPr>
            <p:cNvPr id="90" name="연결선: 꺾임 184">
              <a:extLst>
                <a:ext uri="{FF2B5EF4-FFF2-40B4-BE49-F238E27FC236}">
                  <a16:creationId xmlns:a16="http://schemas.microsoft.com/office/drawing/2014/main" id="{CEE34ABF-2BC5-750C-2337-86D516E1B470}"/>
                </a:ext>
              </a:extLst>
            </p:cNvPr>
            <p:cNvCxnSpPr>
              <a:stCxn id="87" idx="2"/>
              <a:endCxn id="89" idx="0"/>
            </p:cNvCxnSpPr>
            <p:nvPr/>
          </p:nvCxnSpPr>
          <p:spPr>
            <a:xfrm rot="16200000" flipH="1">
              <a:off x="2125882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꺾임 185">
              <a:extLst>
                <a:ext uri="{FF2B5EF4-FFF2-40B4-BE49-F238E27FC236}">
                  <a16:creationId xmlns:a16="http://schemas.microsoft.com/office/drawing/2014/main" id="{6EC6C181-B8BB-51A9-BFCB-0AB69E743850}"/>
                </a:ext>
              </a:extLst>
            </p:cNvPr>
            <p:cNvCxnSpPr>
              <a:cxnSpLocks/>
              <a:stCxn id="88" idx="2"/>
              <a:endCxn id="89" idx="0"/>
            </p:cNvCxnSpPr>
            <p:nvPr/>
          </p:nvCxnSpPr>
          <p:spPr>
            <a:xfrm rot="5400000">
              <a:off x="2467089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151C36-EBDB-976D-97CB-D5483D1062B0}"/>
                </a:ext>
              </a:extLst>
            </p:cNvPr>
            <p:cNvSpPr txBox="1"/>
            <p:nvPr/>
          </p:nvSpPr>
          <p:spPr>
            <a:xfrm>
              <a:off x="1771361" y="4253783"/>
              <a:ext cx="460406" cy="1927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3" name="연결선: 꺾임 399">
              <a:extLst>
                <a:ext uri="{FF2B5EF4-FFF2-40B4-BE49-F238E27FC236}">
                  <a16:creationId xmlns:a16="http://schemas.microsoft.com/office/drawing/2014/main" id="{2F41996B-78CF-562F-8210-898025CD25A1}"/>
                </a:ext>
              </a:extLst>
            </p:cNvPr>
            <p:cNvCxnSpPr>
              <a:cxnSpLocks/>
              <a:stCxn id="125" idx="2"/>
              <a:endCxn id="87" idx="0"/>
            </p:cNvCxnSpPr>
            <p:nvPr/>
          </p:nvCxnSpPr>
          <p:spPr>
            <a:xfrm rot="5400000">
              <a:off x="2148680" y="3640876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연결선: 꺾임 400">
              <a:extLst>
                <a:ext uri="{FF2B5EF4-FFF2-40B4-BE49-F238E27FC236}">
                  <a16:creationId xmlns:a16="http://schemas.microsoft.com/office/drawing/2014/main" id="{23C09FEA-7A46-7140-7637-501ED539CFF5}"/>
                </a:ext>
              </a:extLst>
            </p:cNvPr>
            <p:cNvCxnSpPr>
              <a:cxnSpLocks/>
              <a:stCxn id="126" idx="2"/>
              <a:endCxn id="88" idx="0"/>
            </p:cNvCxnSpPr>
            <p:nvPr/>
          </p:nvCxnSpPr>
          <p:spPr>
            <a:xfrm rot="16200000" flipH="1">
              <a:off x="2513690" y="3641498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D03A2BA-2D4A-1F8C-E956-B5606EC591E4}"/>
                </a:ext>
              </a:extLst>
            </p:cNvPr>
            <p:cNvGrpSpPr/>
            <p:nvPr/>
          </p:nvGrpSpPr>
          <p:grpSpPr>
            <a:xfrm>
              <a:off x="2341511" y="3586687"/>
              <a:ext cx="90582" cy="157895"/>
              <a:chOff x="4408940" y="3256599"/>
              <a:chExt cx="132898" cy="45719"/>
            </a:xfrm>
            <a:noFill/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A490002C-1773-1ACB-86EB-E213FE686A74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D4C0A14C-4BE0-DDE1-DBDC-A5A41DD35B6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1" name="자유형: 도형 426">
              <a:extLst>
                <a:ext uri="{FF2B5EF4-FFF2-40B4-BE49-F238E27FC236}">
                  <a16:creationId xmlns:a16="http://schemas.microsoft.com/office/drawing/2014/main" id="{15BFB8A8-FB91-7176-7EEA-70F447D626DB}"/>
                </a:ext>
              </a:extLst>
            </p:cNvPr>
            <p:cNvSpPr/>
            <p:nvPr/>
          </p:nvSpPr>
          <p:spPr>
            <a:xfrm>
              <a:off x="2034246" y="3238574"/>
              <a:ext cx="327396" cy="988392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2" name="사각형: 둥근 모서리 132">
              <a:extLst>
                <a:ext uri="{FF2B5EF4-FFF2-40B4-BE49-F238E27FC236}">
                  <a16:creationId xmlns:a16="http://schemas.microsoft.com/office/drawing/2014/main" id="{4748F451-94BF-B944-C1F2-9488EDA1F2BD}"/>
                </a:ext>
              </a:extLst>
            </p:cNvPr>
            <p:cNvSpPr/>
            <p:nvPr/>
          </p:nvSpPr>
          <p:spPr>
            <a:xfrm>
              <a:off x="2082272" y="3089897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사각형: 둥근 모서리 429">
              <a:extLst>
                <a:ext uri="{FF2B5EF4-FFF2-40B4-BE49-F238E27FC236}">
                  <a16:creationId xmlns:a16="http://schemas.microsoft.com/office/drawing/2014/main" id="{FD3DCEDD-ECB5-D9A8-A871-1DF7F38B4CFC}"/>
                </a:ext>
              </a:extLst>
            </p:cNvPr>
            <p:cNvSpPr/>
            <p:nvPr/>
          </p:nvSpPr>
          <p:spPr>
            <a:xfrm>
              <a:off x="3455268" y="3334840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사각형: 둥근 모서리 430">
              <a:extLst>
                <a:ext uri="{FF2B5EF4-FFF2-40B4-BE49-F238E27FC236}">
                  <a16:creationId xmlns:a16="http://schemas.microsoft.com/office/drawing/2014/main" id="{DCADCE95-CDEB-F125-D705-D25CC147A809}"/>
                </a:ext>
              </a:extLst>
            </p:cNvPr>
            <p:cNvSpPr/>
            <p:nvPr/>
          </p:nvSpPr>
          <p:spPr>
            <a:xfrm>
              <a:off x="3455268" y="3567869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581D73-7C83-00A7-5251-49ED81838F18}"/>
                </a:ext>
              </a:extLst>
            </p:cNvPr>
            <p:cNvCxnSpPr>
              <a:cxnSpLocks/>
              <a:stCxn id="115" idx="2"/>
              <a:endCxn id="103" idx="0"/>
            </p:cNvCxnSpPr>
            <p:nvPr/>
          </p:nvCxnSpPr>
          <p:spPr>
            <a:xfrm>
              <a:off x="3759176" y="3268964"/>
              <a:ext cx="0" cy="6587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061418DC-D864-397B-C13C-10C27AAED8EC}"/>
                </a:ext>
              </a:extLst>
            </p:cNvPr>
            <p:cNvCxnSpPr>
              <a:cxnSpLocks/>
              <a:stCxn id="103" idx="2"/>
              <a:endCxn id="104" idx="0"/>
            </p:cNvCxnSpPr>
            <p:nvPr/>
          </p:nvCxnSpPr>
          <p:spPr>
            <a:xfrm>
              <a:off x="3759176" y="3513902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사각형: 둥근 모서리 433">
              <a:extLst>
                <a:ext uri="{FF2B5EF4-FFF2-40B4-BE49-F238E27FC236}">
                  <a16:creationId xmlns:a16="http://schemas.microsoft.com/office/drawing/2014/main" id="{F0C2262C-3E76-FE62-BC05-47B92F12659C}"/>
                </a:ext>
              </a:extLst>
            </p:cNvPr>
            <p:cNvSpPr/>
            <p:nvPr/>
          </p:nvSpPr>
          <p:spPr>
            <a:xfrm>
              <a:off x="3210760" y="3855202"/>
              <a:ext cx="414421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434">
              <a:extLst>
                <a:ext uri="{FF2B5EF4-FFF2-40B4-BE49-F238E27FC236}">
                  <a16:creationId xmlns:a16="http://schemas.microsoft.com/office/drawing/2014/main" id="{31A5AF4C-83F3-2561-5929-A273211E4D18}"/>
                </a:ext>
              </a:extLst>
            </p:cNvPr>
            <p:cNvSpPr/>
            <p:nvPr/>
          </p:nvSpPr>
          <p:spPr>
            <a:xfrm>
              <a:off x="3893171" y="3855202"/>
              <a:ext cx="414421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9" name="연결선: 꺾임 436">
              <a:extLst>
                <a:ext uri="{FF2B5EF4-FFF2-40B4-BE49-F238E27FC236}">
                  <a16:creationId xmlns:a16="http://schemas.microsoft.com/office/drawing/2014/main" id="{06BB2F70-B35D-8B92-269F-99E637600137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rot="16200000" flipH="1">
              <a:off x="3498877" y="3953355"/>
              <a:ext cx="188043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연결선: 꺾임 437">
              <a:extLst>
                <a:ext uri="{FF2B5EF4-FFF2-40B4-BE49-F238E27FC236}">
                  <a16:creationId xmlns:a16="http://schemas.microsoft.com/office/drawing/2014/main" id="{7F648C0D-FE6F-60D9-EEE9-5ED0EDE196E9}"/>
                </a:ext>
              </a:extLst>
            </p:cNvPr>
            <p:cNvCxnSpPr>
              <a:cxnSpLocks/>
              <a:stCxn id="108" idx="2"/>
            </p:cNvCxnSpPr>
            <p:nvPr/>
          </p:nvCxnSpPr>
          <p:spPr>
            <a:xfrm rot="5400000">
              <a:off x="3840084" y="3962006"/>
              <a:ext cx="188043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BD0D97C-EDCB-A253-C661-6B9B3E7D0CC1}"/>
                </a:ext>
              </a:extLst>
            </p:cNvPr>
            <p:cNvSpPr txBox="1"/>
            <p:nvPr/>
          </p:nvSpPr>
          <p:spPr>
            <a:xfrm>
              <a:off x="3922753" y="4253788"/>
              <a:ext cx="349067" cy="1927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2" name="연결선: 꺾임 439">
              <a:extLst>
                <a:ext uri="{FF2B5EF4-FFF2-40B4-BE49-F238E27FC236}">
                  <a16:creationId xmlns:a16="http://schemas.microsoft.com/office/drawing/2014/main" id="{CA1B28E6-F77C-F9A9-23E8-27640A07E4E0}"/>
                </a:ext>
              </a:extLst>
            </p:cNvPr>
            <p:cNvCxnSpPr>
              <a:cxnSpLocks/>
              <a:stCxn id="123" idx="2"/>
              <a:endCxn id="107" idx="0"/>
            </p:cNvCxnSpPr>
            <p:nvPr/>
          </p:nvCxnSpPr>
          <p:spPr>
            <a:xfrm rot="5400000">
              <a:off x="3521674" y="3640882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연결선: 꺾임 440">
              <a:extLst>
                <a:ext uri="{FF2B5EF4-FFF2-40B4-BE49-F238E27FC236}">
                  <a16:creationId xmlns:a16="http://schemas.microsoft.com/office/drawing/2014/main" id="{3056C78B-355F-847E-7A30-F3B560F280FD}"/>
                </a:ext>
              </a:extLst>
            </p:cNvPr>
            <p:cNvCxnSpPr>
              <a:cxnSpLocks/>
              <a:stCxn id="124" idx="2"/>
              <a:endCxn id="108" idx="0"/>
            </p:cNvCxnSpPr>
            <p:nvPr/>
          </p:nvCxnSpPr>
          <p:spPr>
            <a:xfrm rot="16200000" flipH="1">
              <a:off x="3886686" y="3641505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0B0BACF8-B48A-98B5-ABD1-31FE5A1A5444}"/>
                </a:ext>
              </a:extLst>
            </p:cNvPr>
            <p:cNvGrpSpPr/>
            <p:nvPr/>
          </p:nvGrpSpPr>
          <p:grpSpPr>
            <a:xfrm>
              <a:off x="3714466" y="3586693"/>
              <a:ext cx="90581" cy="157894"/>
              <a:chOff x="4408940" y="3256599"/>
              <a:chExt cx="132898" cy="45719"/>
            </a:xfrm>
            <a:noFill/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CF8D4D4-598A-B778-C6F0-5E5BA9790E66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EBD8C1F0-DB1B-8049-5A4C-737F3CB47B9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5" name="사각형: 둥근 모서리 443">
              <a:extLst>
                <a:ext uri="{FF2B5EF4-FFF2-40B4-BE49-F238E27FC236}">
                  <a16:creationId xmlns:a16="http://schemas.microsoft.com/office/drawing/2014/main" id="{7D02CA94-925D-C7B4-7DC1-7F0CA409F7C3}"/>
                </a:ext>
              </a:extLst>
            </p:cNvPr>
            <p:cNvSpPr/>
            <p:nvPr/>
          </p:nvSpPr>
          <p:spPr>
            <a:xfrm>
              <a:off x="3455268" y="3089903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자유형: 도형 446">
              <a:extLst>
                <a:ext uri="{FF2B5EF4-FFF2-40B4-BE49-F238E27FC236}">
                  <a16:creationId xmlns:a16="http://schemas.microsoft.com/office/drawing/2014/main" id="{A86B28FE-8C25-4ADA-E008-55F12CCEFDB5}"/>
                </a:ext>
              </a:extLst>
            </p:cNvPr>
            <p:cNvSpPr/>
            <p:nvPr/>
          </p:nvSpPr>
          <p:spPr>
            <a:xfrm>
              <a:off x="2424500" y="3266207"/>
              <a:ext cx="1674259" cy="962836"/>
            </a:xfrm>
            <a:custGeom>
              <a:avLst/>
              <a:gdLst>
                <a:gd name="connsiteX0" fmla="*/ 1041400 w 1282700"/>
                <a:gd name="connsiteY0" fmla="*/ 0 h 713316"/>
                <a:gd name="connsiteX1" fmla="*/ 1041400 w 1282700"/>
                <a:gd name="connsiteY1" fmla="*/ 406400 h 713316"/>
                <a:gd name="connsiteX2" fmla="*/ 1282700 w 1282700"/>
                <a:gd name="connsiteY2" fmla="*/ 406400 h 713316"/>
                <a:gd name="connsiteX3" fmla="*/ 1282700 w 1282700"/>
                <a:gd name="connsiteY3" fmla="*/ 543983 h 713316"/>
                <a:gd name="connsiteX4" fmla="*/ 986366 w 1282700"/>
                <a:gd name="connsiteY4" fmla="*/ 543983 h 713316"/>
                <a:gd name="connsiteX5" fmla="*/ 986366 w 1282700"/>
                <a:gd name="connsiteY5" fmla="*/ 91016 h 713316"/>
                <a:gd name="connsiteX6" fmla="*/ 0 w 1282700"/>
                <a:gd name="connsiteY6" fmla="*/ 91016 h 713316"/>
                <a:gd name="connsiteX7" fmla="*/ 0 w 1282700"/>
                <a:gd name="connsiteY7" fmla="*/ 713316 h 71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82700" h="713316">
                  <a:moveTo>
                    <a:pt x="1041400" y="0"/>
                  </a:moveTo>
                  <a:lnTo>
                    <a:pt x="1041400" y="406400"/>
                  </a:lnTo>
                  <a:lnTo>
                    <a:pt x="1282700" y="406400"/>
                  </a:lnTo>
                  <a:lnTo>
                    <a:pt x="1282700" y="543983"/>
                  </a:lnTo>
                  <a:lnTo>
                    <a:pt x="986366" y="543983"/>
                  </a:lnTo>
                  <a:lnTo>
                    <a:pt x="986366" y="91016"/>
                  </a:lnTo>
                  <a:lnTo>
                    <a:pt x="0" y="91016"/>
                  </a:lnTo>
                  <a:lnTo>
                    <a:pt x="0" y="713316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03419D35-6F79-5820-81F3-772CCEBC4F10}"/>
                </a:ext>
              </a:extLst>
            </p:cNvPr>
            <p:cNvCxnSpPr/>
            <p:nvPr/>
          </p:nvCxnSpPr>
          <p:spPr>
            <a:xfrm>
              <a:off x="2512444" y="4313065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58AF51C0-1BD4-217B-B85B-84EFB2875C17}"/>
                </a:ext>
              </a:extLst>
            </p:cNvPr>
            <p:cNvCxnSpPr/>
            <p:nvPr/>
          </p:nvCxnSpPr>
          <p:spPr>
            <a:xfrm>
              <a:off x="2512444" y="4387660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949BD50-5A5E-044E-BDE6-EF285F9F3888}"/>
                </a:ext>
              </a:extLst>
            </p:cNvPr>
            <p:cNvGrpSpPr/>
            <p:nvPr/>
          </p:nvGrpSpPr>
          <p:grpSpPr>
            <a:xfrm>
              <a:off x="2440224" y="4534301"/>
              <a:ext cx="1264912" cy="324028"/>
              <a:chOff x="4559764" y="3825875"/>
              <a:chExt cx="882186" cy="225987"/>
            </a:xfrm>
          </p:grpSpPr>
          <p:sp>
            <p:nvSpPr>
              <p:cNvPr id="120" name="사각형: 둥근 모서리 514">
                <a:extLst>
                  <a:ext uri="{FF2B5EF4-FFF2-40B4-BE49-F238E27FC236}">
                    <a16:creationId xmlns:a16="http://schemas.microsoft.com/office/drawing/2014/main" id="{14541189-1882-74D3-FBC9-E51DB45E126B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Freeform 10">
                <a:extLst>
                  <a:ext uri="{FF2B5EF4-FFF2-40B4-BE49-F238E27FC236}">
                    <a16:creationId xmlns:a16="http://schemas.microsoft.com/office/drawing/2014/main" id="{2F926C37-9E71-3680-B75F-B90928D4BDF1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F98FD04-737D-0991-38B7-CBFFAD63E67D}"/>
                  </a:ext>
                </a:extLst>
              </p:cNvPr>
              <p:cNvSpPr txBox="1"/>
              <p:nvPr/>
            </p:nvSpPr>
            <p:spPr>
              <a:xfrm>
                <a:off x="4789140" y="3883824"/>
                <a:ext cx="423441" cy="1680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AP </a:t>
                </a: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이중화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DC11149-BF87-05FE-4631-70F175A82001}"/>
              </a:ext>
            </a:extLst>
          </p:cNvPr>
          <p:cNvGrpSpPr/>
          <p:nvPr/>
        </p:nvGrpSpPr>
        <p:grpSpPr>
          <a:xfrm>
            <a:off x="4240640" y="2422963"/>
            <a:ext cx="2548564" cy="1512626"/>
            <a:chOff x="7729904" y="2516882"/>
            <a:chExt cx="2630191" cy="234002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98E2157-4A83-A129-864B-82728CEC938D}"/>
                </a:ext>
              </a:extLst>
            </p:cNvPr>
            <p:cNvSpPr/>
            <p:nvPr/>
          </p:nvSpPr>
          <p:spPr>
            <a:xfrm>
              <a:off x="772990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EC14B5A-F561-B232-4E21-087C6E8A6005}"/>
                </a:ext>
              </a:extLst>
            </p:cNvPr>
            <p:cNvSpPr/>
            <p:nvPr/>
          </p:nvSpPr>
          <p:spPr>
            <a:xfrm>
              <a:off x="910289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사각형: 둥근 모서리 14">
              <a:extLst>
                <a:ext uri="{FF2B5EF4-FFF2-40B4-BE49-F238E27FC236}">
                  <a16:creationId xmlns:a16="http://schemas.microsoft.com/office/drawing/2014/main" id="{15E43B11-25B8-E9A4-894B-418468C3DD2E}"/>
                </a:ext>
              </a:extLst>
            </p:cNvPr>
            <p:cNvSpPr/>
            <p:nvPr/>
          </p:nvSpPr>
          <p:spPr>
            <a:xfrm flipH="1">
              <a:off x="9484416" y="2628549"/>
              <a:ext cx="496305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사각형: 둥근 모서리 21">
              <a:extLst>
                <a:ext uri="{FF2B5EF4-FFF2-40B4-BE49-F238E27FC236}">
                  <a16:creationId xmlns:a16="http://schemas.microsoft.com/office/drawing/2014/main" id="{1D572704-8292-7CA0-822D-1486A721DB6D}"/>
                </a:ext>
              </a:extLst>
            </p:cNvPr>
            <p:cNvSpPr/>
            <p:nvPr/>
          </p:nvSpPr>
          <p:spPr>
            <a:xfrm>
              <a:off x="8149291" y="2628549"/>
              <a:ext cx="436747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491AE256-74E1-81F6-F7B8-2D06031D7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23362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50EC40F-1706-8B3F-660B-CD849D7B9589}"/>
                </a:ext>
              </a:extLst>
            </p:cNvPr>
            <p:cNvCxnSpPr>
              <a:cxnSpLocks/>
            </p:cNvCxnSpPr>
            <p:nvPr/>
          </p:nvCxnSpPr>
          <p:spPr>
            <a:xfrm>
              <a:off x="9196353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C86892A-5173-1352-0805-3EB8FA97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537" y="4222298"/>
              <a:ext cx="235218" cy="254979"/>
            </a:xfrm>
            <a:prstGeom prst="rect">
              <a:avLst/>
            </a:prstGeom>
          </p:spPr>
        </p:pic>
        <p:sp>
          <p:nvSpPr>
            <p:cNvPr id="135" name="사각형: 둥근 모서리 619">
              <a:extLst>
                <a:ext uri="{FF2B5EF4-FFF2-40B4-BE49-F238E27FC236}">
                  <a16:creationId xmlns:a16="http://schemas.microsoft.com/office/drawing/2014/main" id="{9FDA1A83-224B-9AC1-38B2-034E5AC95CF0}"/>
                </a:ext>
              </a:extLst>
            </p:cNvPr>
            <p:cNvSpPr/>
            <p:nvPr/>
          </p:nvSpPr>
          <p:spPr>
            <a:xfrm>
              <a:off x="8054596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사각형: 둥근 모서리 620">
              <a:extLst>
                <a:ext uri="{FF2B5EF4-FFF2-40B4-BE49-F238E27FC236}">
                  <a16:creationId xmlns:a16="http://schemas.microsoft.com/office/drawing/2014/main" id="{6E7D067F-5099-54EF-7F54-95BE0537D056}"/>
                </a:ext>
              </a:extLst>
            </p:cNvPr>
            <p:cNvSpPr/>
            <p:nvPr/>
          </p:nvSpPr>
          <p:spPr>
            <a:xfrm>
              <a:off x="8054596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CE482D1-E4DF-A9F8-9A76-D9B954287D22}"/>
                </a:ext>
              </a:extLst>
            </p:cNvPr>
            <p:cNvCxnSpPr>
              <a:cxnSpLocks/>
              <a:stCxn id="167" idx="2"/>
              <a:endCxn id="135" idx="0"/>
            </p:cNvCxnSpPr>
            <p:nvPr/>
          </p:nvCxnSpPr>
          <p:spPr>
            <a:xfrm>
              <a:off x="8358503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42FC3EF-E593-D87B-D238-D8B3A58416FF}"/>
                </a:ext>
              </a:extLst>
            </p:cNvPr>
            <p:cNvCxnSpPr>
              <a:cxnSpLocks/>
              <a:stCxn id="135" idx="2"/>
              <a:endCxn id="136" idx="0"/>
            </p:cNvCxnSpPr>
            <p:nvPr/>
          </p:nvCxnSpPr>
          <p:spPr>
            <a:xfrm>
              <a:off x="8358503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사각형: 둥근 모서리 623">
              <a:extLst>
                <a:ext uri="{FF2B5EF4-FFF2-40B4-BE49-F238E27FC236}">
                  <a16:creationId xmlns:a16="http://schemas.microsoft.com/office/drawing/2014/main" id="{4FE86E61-397F-3ABA-3DFC-15F29FD4A4B6}"/>
                </a:ext>
              </a:extLst>
            </p:cNvPr>
            <p:cNvSpPr/>
            <p:nvPr/>
          </p:nvSpPr>
          <p:spPr>
            <a:xfrm>
              <a:off x="781008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0" name="사각형: 둥근 모서리 624">
              <a:extLst>
                <a:ext uri="{FF2B5EF4-FFF2-40B4-BE49-F238E27FC236}">
                  <a16:creationId xmlns:a16="http://schemas.microsoft.com/office/drawing/2014/main" id="{D3C51334-14A2-2B3B-7A52-516E23AB9FD7}"/>
                </a:ext>
              </a:extLst>
            </p:cNvPr>
            <p:cNvSpPr/>
            <p:nvPr/>
          </p:nvSpPr>
          <p:spPr>
            <a:xfrm>
              <a:off x="8492500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6E1A52B0-F4C0-85C6-ECB4-6B04136B2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9545" y="4222298"/>
              <a:ext cx="235218" cy="254979"/>
            </a:xfrm>
            <a:prstGeom prst="rect">
              <a:avLst/>
            </a:prstGeom>
          </p:spPr>
        </p:pic>
        <p:cxnSp>
          <p:nvCxnSpPr>
            <p:cNvPr id="142" name="연결선: 꺾임 626">
              <a:extLst>
                <a:ext uri="{FF2B5EF4-FFF2-40B4-BE49-F238E27FC236}">
                  <a16:creationId xmlns:a16="http://schemas.microsoft.com/office/drawing/2014/main" id="{361A7A0A-B424-1C73-F62C-A3DCB86B38A1}"/>
                </a:ext>
              </a:extLst>
            </p:cNvPr>
            <p:cNvCxnSpPr>
              <a:stCxn id="139" idx="2"/>
              <a:endCxn id="141" idx="0"/>
            </p:cNvCxnSpPr>
            <p:nvPr/>
          </p:nvCxnSpPr>
          <p:spPr>
            <a:xfrm rot="16200000" flipH="1">
              <a:off x="8098206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연결선: 꺾임 627">
              <a:extLst>
                <a:ext uri="{FF2B5EF4-FFF2-40B4-BE49-F238E27FC236}">
                  <a16:creationId xmlns:a16="http://schemas.microsoft.com/office/drawing/2014/main" id="{484FA32D-5046-E2EF-84B1-478E5551CD50}"/>
                </a:ext>
              </a:extLst>
            </p:cNvPr>
            <p:cNvCxnSpPr>
              <a:cxnSpLocks/>
              <a:stCxn id="140" idx="2"/>
              <a:endCxn id="141" idx="0"/>
            </p:cNvCxnSpPr>
            <p:nvPr/>
          </p:nvCxnSpPr>
          <p:spPr>
            <a:xfrm rot="5400000">
              <a:off x="843941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D528D6A-AE96-39F8-290C-32F1A5BBA686}"/>
                </a:ext>
              </a:extLst>
            </p:cNvPr>
            <p:cNvSpPr txBox="1"/>
            <p:nvPr/>
          </p:nvSpPr>
          <p:spPr>
            <a:xfrm>
              <a:off x="7870565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45" name="연결선: 꺾임 629">
              <a:extLst>
                <a:ext uri="{FF2B5EF4-FFF2-40B4-BE49-F238E27FC236}">
                  <a16:creationId xmlns:a16="http://schemas.microsoft.com/office/drawing/2014/main" id="{B7A0C597-2EF4-6E5E-B391-A25D1F0B0098}"/>
                </a:ext>
              </a:extLst>
            </p:cNvPr>
            <p:cNvCxnSpPr>
              <a:cxnSpLocks/>
              <a:stCxn id="174" idx="2"/>
              <a:endCxn id="139" idx="0"/>
            </p:cNvCxnSpPr>
            <p:nvPr/>
          </p:nvCxnSpPr>
          <p:spPr>
            <a:xfrm rot="5400000">
              <a:off x="8121004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연결선: 꺾임 630">
              <a:extLst>
                <a:ext uri="{FF2B5EF4-FFF2-40B4-BE49-F238E27FC236}">
                  <a16:creationId xmlns:a16="http://schemas.microsoft.com/office/drawing/2014/main" id="{62A4617F-FF4C-016A-F7DF-706EE82C4BC3}"/>
                </a:ext>
              </a:extLst>
            </p:cNvPr>
            <p:cNvCxnSpPr>
              <a:cxnSpLocks/>
              <a:stCxn id="175" idx="2"/>
              <a:endCxn id="140" idx="0"/>
            </p:cNvCxnSpPr>
            <p:nvPr/>
          </p:nvCxnSpPr>
          <p:spPr>
            <a:xfrm rot="16200000" flipH="1">
              <a:off x="848601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E6B1CCA-C446-A6C7-29F7-1687A2477A56}"/>
                </a:ext>
              </a:extLst>
            </p:cNvPr>
            <p:cNvGrpSpPr/>
            <p:nvPr/>
          </p:nvGrpSpPr>
          <p:grpSpPr>
            <a:xfrm>
              <a:off x="831383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1224493B-086A-8BC4-9266-7B0C845E69CD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019721CF-7E58-FC15-300C-2B1F896AC94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48" name="자유형: 도형 632">
              <a:extLst>
                <a:ext uri="{FF2B5EF4-FFF2-40B4-BE49-F238E27FC236}">
                  <a16:creationId xmlns:a16="http://schemas.microsoft.com/office/drawing/2014/main" id="{8C7A114F-24E3-DEE7-710E-721F9B87AF61}"/>
                </a:ext>
              </a:extLst>
            </p:cNvPr>
            <p:cNvSpPr/>
            <p:nvPr/>
          </p:nvSpPr>
          <p:spPr>
            <a:xfrm>
              <a:off x="8006571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9" name="사각형: 둥근 모서리 634">
              <a:extLst>
                <a:ext uri="{FF2B5EF4-FFF2-40B4-BE49-F238E27FC236}">
                  <a16:creationId xmlns:a16="http://schemas.microsoft.com/office/drawing/2014/main" id="{55AEEE30-16BE-D71D-550D-E314630C9D30}"/>
                </a:ext>
              </a:extLst>
            </p:cNvPr>
            <p:cNvSpPr/>
            <p:nvPr/>
          </p:nvSpPr>
          <p:spPr>
            <a:xfrm>
              <a:off x="9427587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0" name="사각형: 둥근 모서리 635">
              <a:extLst>
                <a:ext uri="{FF2B5EF4-FFF2-40B4-BE49-F238E27FC236}">
                  <a16:creationId xmlns:a16="http://schemas.microsoft.com/office/drawing/2014/main" id="{42907800-9B15-A818-5D2E-1F132550D314}"/>
                </a:ext>
              </a:extLst>
            </p:cNvPr>
            <p:cNvSpPr/>
            <p:nvPr/>
          </p:nvSpPr>
          <p:spPr>
            <a:xfrm>
              <a:off x="9427587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89FB29FB-77C1-A453-1C67-0E63C667D524}"/>
                </a:ext>
              </a:extLst>
            </p:cNvPr>
            <p:cNvCxnSpPr>
              <a:cxnSpLocks/>
              <a:stCxn id="168" idx="2"/>
              <a:endCxn id="149" idx="0"/>
            </p:cNvCxnSpPr>
            <p:nvPr/>
          </p:nvCxnSpPr>
          <p:spPr>
            <a:xfrm>
              <a:off x="9731495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CB62160-267F-544A-9A93-0763786AC906}"/>
                </a:ext>
              </a:extLst>
            </p:cNvPr>
            <p:cNvCxnSpPr>
              <a:cxnSpLocks/>
              <a:stCxn id="149" idx="2"/>
              <a:endCxn id="150" idx="0"/>
            </p:cNvCxnSpPr>
            <p:nvPr/>
          </p:nvCxnSpPr>
          <p:spPr>
            <a:xfrm>
              <a:off x="9731495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사각형: 둥근 모서리 638">
              <a:extLst>
                <a:ext uri="{FF2B5EF4-FFF2-40B4-BE49-F238E27FC236}">
                  <a16:creationId xmlns:a16="http://schemas.microsoft.com/office/drawing/2014/main" id="{49EA24B3-219A-F7E2-2027-B24A5AD179E7}"/>
                </a:ext>
              </a:extLst>
            </p:cNvPr>
            <p:cNvSpPr/>
            <p:nvPr/>
          </p:nvSpPr>
          <p:spPr>
            <a:xfrm>
              <a:off x="918307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사각형: 둥근 모서리 639">
              <a:extLst>
                <a:ext uri="{FF2B5EF4-FFF2-40B4-BE49-F238E27FC236}">
                  <a16:creationId xmlns:a16="http://schemas.microsoft.com/office/drawing/2014/main" id="{0D606227-C1CE-8E17-9CEB-29BB9E6AF162}"/>
                </a:ext>
              </a:extLst>
            </p:cNvPr>
            <p:cNvSpPr/>
            <p:nvPr/>
          </p:nvSpPr>
          <p:spPr>
            <a:xfrm>
              <a:off x="9865491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5" name="연결선: 꺾임 640">
              <a:extLst>
                <a:ext uri="{FF2B5EF4-FFF2-40B4-BE49-F238E27FC236}">
                  <a16:creationId xmlns:a16="http://schemas.microsoft.com/office/drawing/2014/main" id="{1D8F5F03-93D5-102D-ED7B-17B318911DBB}"/>
                </a:ext>
              </a:extLst>
            </p:cNvPr>
            <p:cNvCxnSpPr>
              <a:cxnSpLocks/>
              <a:stCxn id="153" idx="2"/>
            </p:cNvCxnSpPr>
            <p:nvPr/>
          </p:nvCxnSpPr>
          <p:spPr>
            <a:xfrm rot="16200000" flipH="1">
              <a:off x="9471197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연결선: 꺾임 641">
              <a:extLst>
                <a:ext uri="{FF2B5EF4-FFF2-40B4-BE49-F238E27FC236}">
                  <a16:creationId xmlns:a16="http://schemas.microsoft.com/office/drawing/2014/main" id="{BB8924AA-A395-742D-D080-B0D7809D29C3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 rot="5400000">
              <a:off x="981240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18DFF22-9D74-4B7E-5DCE-A01670FD90BC}"/>
                </a:ext>
              </a:extLst>
            </p:cNvPr>
            <p:cNvSpPr txBox="1"/>
            <p:nvPr/>
          </p:nvSpPr>
          <p:spPr>
            <a:xfrm>
              <a:off x="9899556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8" name="연결선: 꺾임 643">
              <a:extLst>
                <a:ext uri="{FF2B5EF4-FFF2-40B4-BE49-F238E27FC236}">
                  <a16:creationId xmlns:a16="http://schemas.microsoft.com/office/drawing/2014/main" id="{31665EF3-7700-0517-2270-C5950B12A8BB}"/>
                </a:ext>
              </a:extLst>
            </p:cNvPr>
            <p:cNvCxnSpPr>
              <a:cxnSpLocks/>
              <a:stCxn id="172" idx="2"/>
              <a:endCxn id="153" idx="0"/>
            </p:cNvCxnSpPr>
            <p:nvPr/>
          </p:nvCxnSpPr>
          <p:spPr>
            <a:xfrm rot="5400000">
              <a:off x="9493995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연결선: 꺾임 644">
              <a:extLst>
                <a:ext uri="{FF2B5EF4-FFF2-40B4-BE49-F238E27FC236}">
                  <a16:creationId xmlns:a16="http://schemas.microsoft.com/office/drawing/2014/main" id="{161F1B24-B68C-91CE-72C3-DEF9D3DF77DD}"/>
                </a:ext>
              </a:extLst>
            </p:cNvPr>
            <p:cNvCxnSpPr>
              <a:cxnSpLocks/>
              <a:stCxn id="173" idx="2"/>
              <a:endCxn id="154" idx="0"/>
            </p:cNvCxnSpPr>
            <p:nvPr/>
          </p:nvCxnSpPr>
          <p:spPr>
            <a:xfrm rot="16200000" flipH="1">
              <a:off x="985900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FCB6B7B-D011-4CD3-ED6E-05D1665625CD}"/>
                </a:ext>
              </a:extLst>
            </p:cNvPr>
            <p:cNvGrpSpPr/>
            <p:nvPr/>
          </p:nvGrpSpPr>
          <p:grpSpPr>
            <a:xfrm>
              <a:off x="968682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F02A30C-E12F-CD08-8923-E8B01D0E6EA2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F9FD87-86BB-2F6E-0318-F93DC747486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15EF8F83-0F4D-1C83-DDB2-62517ABF3950}"/>
                </a:ext>
              </a:extLst>
            </p:cNvPr>
            <p:cNvCxnSpPr/>
            <p:nvPr/>
          </p:nvCxnSpPr>
          <p:spPr>
            <a:xfrm>
              <a:off x="8484764" y="4313057"/>
              <a:ext cx="1150483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3FDD66AC-6351-D802-ACA7-00C2ACB56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4766" y="4387652"/>
              <a:ext cx="1140362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A8D82B1-210A-531C-180D-3F0D885B4F85}"/>
                </a:ext>
              </a:extLst>
            </p:cNvPr>
            <p:cNvGrpSpPr/>
            <p:nvPr/>
          </p:nvGrpSpPr>
          <p:grpSpPr>
            <a:xfrm>
              <a:off x="8418289" y="4534316"/>
              <a:ext cx="1264912" cy="322592"/>
              <a:chOff x="4559764" y="3825875"/>
              <a:chExt cx="882186" cy="224984"/>
            </a:xfrm>
          </p:grpSpPr>
          <p:sp>
            <p:nvSpPr>
              <p:cNvPr id="169" name="사각형: 둥근 모서리 651">
                <a:extLst>
                  <a:ext uri="{FF2B5EF4-FFF2-40B4-BE49-F238E27FC236}">
                    <a16:creationId xmlns:a16="http://schemas.microsoft.com/office/drawing/2014/main" id="{8C4A9B7F-BF0C-9845-7383-D2284D0EE78F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0" name="Freeform 10">
                <a:extLst>
                  <a:ext uri="{FF2B5EF4-FFF2-40B4-BE49-F238E27FC236}">
                    <a16:creationId xmlns:a16="http://schemas.microsoft.com/office/drawing/2014/main" id="{4E4F7ECD-44D2-18AE-4D74-491194E9BCD5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C897EF1-0100-79EB-ECE8-4B5A9505A50E}"/>
                  </a:ext>
                </a:extLst>
              </p:cNvPr>
              <p:cNvSpPr txBox="1"/>
              <p:nvPr/>
            </p:nvSpPr>
            <p:spPr>
              <a:xfrm>
                <a:off x="4753949" y="3884827"/>
                <a:ext cx="493821" cy="16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센터 이중화</a:t>
                </a:r>
              </a:p>
            </p:txBody>
          </p:sp>
        </p:grpSp>
        <p:sp>
          <p:nvSpPr>
            <p:cNvPr id="164" name="자유형: 도형 709">
              <a:extLst>
                <a:ext uri="{FF2B5EF4-FFF2-40B4-BE49-F238E27FC236}">
                  <a16:creationId xmlns:a16="http://schemas.microsoft.com/office/drawing/2014/main" id="{99867812-7299-3953-7B06-1DB628093886}"/>
                </a:ext>
              </a:extLst>
            </p:cNvPr>
            <p:cNvSpPr/>
            <p:nvPr/>
          </p:nvSpPr>
          <p:spPr>
            <a:xfrm flipH="1">
              <a:off x="8391980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5" name="자유형: 도형 710">
              <a:extLst>
                <a:ext uri="{FF2B5EF4-FFF2-40B4-BE49-F238E27FC236}">
                  <a16:creationId xmlns:a16="http://schemas.microsoft.com/office/drawing/2014/main" id="{0208AEEE-C30B-678E-9144-3086627A7C62}"/>
                </a:ext>
              </a:extLst>
            </p:cNvPr>
            <p:cNvSpPr/>
            <p:nvPr/>
          </p:nvSpPr>
          <p:spPr>
            <a:xfrm>
              <a:off x="9380373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자유형: 도형 711">
              <a:extLst>
                <a:ext uri="{FF2B5EF4-FFF2-40B4-BE49-F238E27FC236}">
                  <a16:creationId xmlns:a16="http://schemas.microsoft.com/office/drawing/2014/main" id="{99D3378D-B261-1E9A-7083-F2944F94BC23}"/>
                </a:ext>
              </a:extLst>
            </p:cNvPr>
            <p:cNvSpPr/>
            <p:nvPr/>
          </p:nvSpPr>
          <p:spPr>
            <a:xfrm flipH="1">
              <a:off x="9765784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7" name="사각형: 둥근 모서리 633">
              <a:extLst>
                <a:ext uri="{FF2B5EF4-FFF2-40B4-BE49-F238E27FC236}">
                  <a16:creationId xmlns:a16="http://schemas.microsoft.com/office/drawing/2014/main" id="{5733E982-4912-8A86-A915-22B24A05A670}"/>
                </a:ext>
              </a:extLst>
            </p:cNvPr>
            <p:cNvSpPr/>
            <p:nvPr/>
          </p:nvSpPr>
          <p:spPr>
            <a:xfrm>
              <a:off x="8054596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사각형: 둥근 모서리 650">
              <a:extLst>
                <a:ext uri="{FF2B5EF4-FFF2-40B4-BE49-F238E27FC236}">
                  <a16:creationId xmlns:a16="http://schemas.microsoft.com/office/drawing/2014/main" id="{AB5B85F8-AFC1-12AC-C39E-28C474095325}"/>
                </a:ext>
              </a:extLst>
            </p:cNvPr>
            <p:cNvSpPr/>
            <p:nvPr/>
          </p:nvSpPr>
          <p:spPr>
            <a:xfrm>
              <a:off x="9427587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1DECB0F-E5D8-189A-EAD8-FC525106F44F}"/>
              </a:ext>
            </a:extLst>
          </p:cNvPr>
          <p:cNvSpPr/>
          <p:nvPr/>
        </p:nvSpPr>
        <p:spPr>
          <a:xfrm>
            <a:off x="1372400" y="2095986"/>
            <a:ext cx="2780106" cy="4225360"/>
          </a:xfrm>
          <a:prstGeom prst="rect">
            <a:avLst/>
          </a:prstGeom>
          <a:noFill/>
          <a:ln w="381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38100" cap="flat" cmpd="sng" algn="ctr">
                <a:solidFill>
                  <a:srgbClr val="1F459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976FE1-5B2F-5E35-A703-77C7BFF498AD}"/>
              </a:ext>
            </a:extLst>
          </p:cNvPr>
          <p:cNvSpPr/>
          <p:nvPr/>
        </p:nvSpPr>
        <p:spPr>
          <a:xfrm>
            <a:off x="1344850" y="2058357"/>
            <a:ext cx="2807656" cy="427204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78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(5/7)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조회 업무는 </a:t>
            </a:r>
            <a:r>
              <a:rPr lang="ko-KR" altLang="en-US" dirty="0" err="1"/>
              <a:t>주센터</a:t>
            </a:r>
            <a:r>
              <a:rPr lang="en-US" altLang="ko-KR" dirty="0"/>
              <a:t>·DR</a:t>
            </a:r>
            <a:r>
              <a:rPr lang="ko-KR" altLang="en-US" dirty="0"/>
              <a:t>센터에서 동시에 처리하고 쓰기 업무는 주센터로 모아</a:t>
            </a:r>
            <a:r>
              <a:rPr lang="en-US" altLang="ko-KR" dirty="0"/>
              <a:t>, </a:t>
            </a:r>
            <a:r>
              <a:rPr lang="ko-KR" altLang="en-US" dirty="0"/>
              <a:t>원거리</a:t>
            </a:r>
            <a:r>
              <a:rPr lang="en-US" altLang="ko-KR" dirty="0"/>
              <a:t> </a:t>
            </a:r>
            <a:r>
              <a:rPr lang="ko-KR" altLang="en-US" dirty="0"/>
              <a:t>동시 쓰기 부담 없이 조회 부하를 분산하고 장애 시 신속하게 센터를 전환함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아키텍처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(A-A)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주센터와 동일한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3-Tier(WEB · WAS · DB)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구조를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도메인으로 조회 업무는 센터 간 동시 처리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업무는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고정 라우팅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센터의 쓰기 업무는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로 전달되어 처리되고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의 조회 전용 복제본으로 운영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오라클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ADG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등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세션은 센터 간 양방향 복제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 산출물로 센터 간 동일 버전 유지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정책 동일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기준 유지로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응용 변경 및 연계기관 협의 범위 최소화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간 네트워크 지연으로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응답이 늦어질 수 있어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에서 처리하고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제한적으로 적용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6" name="AR_u0">
            <a:extLst>
              <a:ext uri="{FF2B5EF4-FFF2-40B4-BE49-F238E27FC236}">
                <a16:creationId xmlns:a16="http://schemas.microsoft.com/office/drawing/2014/main" id="{ABAF4587-512F-E9BF-3450-1EBE0E32F074}"/>
              </a:ext>
            </a:extLst>
          </p:cNvPr>
          <p:cNvSpPr/>
          <p:nvPr/>
        </p:nvSpPr>
        <p:spPr>
          <a:xfrm>
            <a:off x="3683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인터넷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무인민원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AR_u1">
            <a:extLst>
              <a:ext uri="{FF2B5EF4-FFF2-40B4-BE49-F238E27FC236}">
                <a16:creationId xmlns:a16="http://schemas.microsoft.com/office/drawing/2014/main" id="{D2800ED5-774D-5F3A-46AD-B3CBA0BFBCC9}"/>
              </a:ext>
            </a:extLst>
          </p:cNvPr>
          <p:cNvSpPr/>
          <p:nvPr/>
        </p:nvSpPr>
        <p:spPr>
          <a:xfrm>
            <a:off x="26416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지자체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AR_u2">
            <a:extLst>
              <a:ext uri="{FF2B5EF4-FFF2-40B4-BE49-F238E27FC236}">
                <a16:creationId xmlns:a16="http://schemas.microsoft.com/office/drawing/2014/main" id="{49C2289A-D636-52C7-BC8E-4C3383D26EAE}"/>
              </a:ext>
            </a:extLst>
          </p:cNvPr>
          <p:cNvSpPr/>
          <p:nvPr/>
        </p:nvSpPr>
        <p:spPr>
          <a:xfrm>
            <a:off x="49149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(624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438400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센터 간 분산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12" name="AR_ua0">
            <a:extLst>
              <a:ext uri="{FF2B5EF4-FFF2-40B4-BE49-F238E27FC236}">
                <a16:creationId xmlns:a16="http://schemas.microsoft.com/office/drawing/2014/main" id="{2C771898-4B6D-3584-4E87-A5B9666C6CB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208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R_ua1">
            <a:extLst>
              <a:ext uri="{FF2B5EF4-FFF2-40B4-BE49-F238E27FC236}">
                <a16:creationId xmlns:a16="http://schemas.microsoft.com/office/drawing/2014/main" id="{A6286845-6E9F-1128-AE58-538F1F0BD099}"/>
              </a:ext>
            </a:extLst>
          </p:cNvPr>
          <p:cNvCxnSpPr/>
          <p:nvPr/>
        </p:nvCxnSpPr>
        <p:spPr>
          <a:xfrm>
            <a:off x="3594100" y="2298700"/>
            <a:ext cx="0" cy="1397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R_ua2">
            <a:extLst>
              <a:ext uri="{FF2B5EF4-FFF2-40B4-BE49-F238E27FC236}">
                <a16:creationId xmlns:a16="http://schemas.microsoft.com/office/drawing/2014/main" id="{5EA34AF5-288D-F460-94C4-FC2406FB741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8641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 2.4)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 7.4)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2" name="AR_m_c0">
            <a:extLst>
              <a:ext uri="{FF2B5EF4-FFF2-40B4-BE49-F238E27FC236}">
                <a16:creationId xmlns:a16="http://schemas.microsoft.com/office/drawing/2014/main" id="{6DE3E6F7-B7DC-0CF5-4B60-EE4476E35BC0}"/>
              </a:ext>
            </a:extLst>
          </p:cNvPr>
          <p:cNvSpPr/>
          <p:nvPr/>
        </p:nvSpPr>
        <p:spPr>
          <a:xfrm>
            <a:off x="444500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 7.4)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3" name="AR_m_c1">
            <a:extLst>
              <a:ext uri="{FF2B5EF4-FFF2-40B4-BE49-F238E27FC236}">
                <a16:creationId xmlns:a16="http://schemas.microsoft.com/office/drawing/2014/main" id="{C672F000-3A29-0D39-AA29-3F05E5A5863E}"/>
              </a:ext>
            </a:extLst>
          </p:cNvPr>
          <p:cNvSpPr/>
          <p:nvPr/>
        </p:nvSpPr>
        <p:spPr>
          <a:xfrm>
            <a:off x="1380067" y="4648200"/>
            <a:ext cx="897466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(MapPrime)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4" name="AR_m_c2">
            <a:extLst>
              <a:ext uri="{FF2B5EF4-FFF2-40B4-BE49-F238E27FC236}">
                <a16:creationId xmlns:a16="http://schemas.microsoft.com/office/drawing/2014/main" id="{305E6740-32E5-FBA1-573E-5F866DEF7EF4}"/>
              </a:ext>
            </a:extLst>
          </p:cNvPr>
          <p:cNvSpPr/>
          <p:nvPr/>
        </p:nvSpPr>
        <p:spPr>
          <a:xfrm>
            <a:off x="2315633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19102" y="4978400"/>
            <a:ext cx="26681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(Primary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 2.4)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 7.4)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52" name="AR_d_c0">
            <a:extLst>
              <a:ext uri="{FF2B5EF4-FFF2-40B4-BE49-F238E27FC236}">
                <a16:creationId xmlns:a16="http://schemas.microsoft.com/office/drawing/2014/main" id="{E35C1459-8A30-49B1-40F7-EE682A60DF23}"/>
              </a:ext>
            </a:extLst>
          </p:cNvPr>
          <p:cNvSpPr/>
          <p:nvPr/>
        </p:nvSpPr>
        <p:spPr>
          <a:xfrm>
            <a:off x="3975100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 7.4)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AR_d_c1">
            <a:extLst>
              <a:ext uri="{FF2B5EF4-FFF2-40B4-BE49-F238E27FC236}">
                <a16:creationId xmlns:a16="http://schemas.microsoft.com/office/drawing/2014/main" id="{8D3FE3A3-8530-5558-C842-501C1D14C494}"/>
              </a:ext>
            </a:extLst>
          </p:cNvPr>
          <p:cNvSpPr/>
          <p:nvPr/>
        </p:nvSpPr>
        <p:spPr>
          <a:xfrm>
            <a:off x="4910667" y="4648200"/>
            <a:ext cx="897466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4" name="AR_d_c2">
            <a:extLst>
              <a:ext uri="{FF2B5EF4-FFF2-40B4-BE49-F238E27FC236}">
                <a16:creationId xmlns:a16="http://schemas.microsoft.com/office/drawing/2014/main" id="{AFCA2F3B-18A9-703D-8E3A-E597E11C2DC0}"/>
              </a:ext>
            </a:extLst>
          </p:cNvPr>
          <p:cNvSpPr/>
          <p:nvPr/>
        </p:nvSpPr>
        <p:spPr>
          <a:xfrm>
            <a:off x="5846233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4100946" y="4978400"/>
            <a:ext cx="26427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(Standby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cxnSp>
        <p:nvCxnSpPr>
          <p:cNvPr id="57" name="AR_g2m">
            <a:extLst>
              <a:ext uri="{FF2B5EF4-FFF2-40B4-BE49-F238E27FC236}">
                <a16:creationId xmlns:a16="http://schemas.microsoft.com/office/drawing/2014/main" id="{CAA8CA6C-5775-32F4-3101-B39FAD8D6CFB}"/>
              </a:ext>
            </a:extLst>
          </p:cNvPr>
          <p:cNvCxnSpPr/>
          <p:nvPr/>
        </p:nvCxnSpPr>
        <p:spPr>
          <a:xfrm flipH="1">
            <a:off x="1828800" y="2667000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667000"/>
            <a:ext cx="1003300" cy="152400"/>
          </a:xfrm>
          <a:prstGeom prst="straightConnector1">
            <a:avLst/>
          </a:prstGeom>
          <a:ln w="34925">
            <a:solidFill>
              <a:srgbClr val="FF8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R_rs">
            <a:extLst>
              <a:ext uri="{FF2B5EF4-FFF2-40B4-BE49-F238E27FC236}">
                <a16:creationId xmlns:a16="http://schemas.microsoft.com/office/drawing/2014/main" id="{5515E07B-A808-3466-D237-8C3027CF57FE}"/>
              </a:ext>
            </a:extLst>
          </p:cNvPr>
          <p:cNvCxnSpPr/>
          <p:nvPr/>
        </p:nvCxnSpPr>
        <p:spPr>
          <a:xfrm>
            <a:off x="3289300" y="4762500"/>
            <a:ext cx="609600" cy="0"/>
          </a:xfrm>
          <a:prstGeom prst="straightConnector1">
            <a:avLst/>
          </a:prstGeom>
          <a:ln w="28575">
            <a:solidFill>
              <a:srgbClr val="0367B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_rsl">
            <a:extLst>
              <a:ext uri="{FF2B5EF4-FFF2-40B4-BE49-F238E27FC236}">
                <a16:creationId xmlns:a16="http://schemas.microsoft.com/office/drawing/2014/main" id="{764D52DA-317E-F00C-75D9-21F867D42267}"/>
              </a:ext>
            </a:extLst>
          </p:cNvPr>
          <p:cNvSpPr txBox="1"/>
          <p:nvPr/>
        </p:nvSpPr>
        <p:spPr>
          <a:xfrm>
            <a:off x="3302000" y="4488562"/>
            <a:ext cx="584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</a:t>
            </a:r>
          </a:p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양방향</a:t>
            </a:r>
          </a:p>
        </p:txBody>
      </p: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089501" y="5265204"/>
            <a:ext cx="981768" cy="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400138" y="5337212"/>
            <a:ext cx="387927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복제 </a:t>
            </a:r>
            <a:endParaRPr lang="en-US" altLang="ko-KR" sz="800" b="1" dirty="0">
              <a:solidFill>
                <a:srgbClr val="0367B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3" name="AR_deploy">
            <a:extLst>
              <a:ext uri="{FF2B5EF4-FFF2-40B4-BE49-F238E27FC236}">
                <a16:creationId xmlns:a16="http://schemas.microsoft.com/office/drawing/2014/main" id="{5E6D242F-297F-B31E-16B7-9AC074DA1C27}"/>
              </a:ext>
            </a:extLst>
          </p:cNvPr>
          <p:cNvSpPr/>
          <p:nvPr/>
        </p:nvSpPr>
        <p:spPr>
          <a:xfrm>
            <a:off x="368300" y="563880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Nexus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 빌드 산출물 → 센터 간 동일 버전 배포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일치 점검</a:t>
            </a:r>
          </a:p>
        </p:txBody>
      </p:sp>
      <p:sp>
        <p:nvSpPr>
          <p:cNvPr id="64" name="AR_legend">
            <a:extLst>
              <a:ext uri="{FF2B5EF4-FFF2-40B4-BE49-F238E27FC236}">
                <a16:creationId xmlns:a16="http://schemas.microsoft.com/office/drawing/2014/main" id="{FEB07F40-18D7-2F34-A995-8FAD585BDFE5}"/>
              </a:ext>
            </a:extLst>
          </p:cNvPr>
          <p:cNvSpPr txBox="1"/>
          <p:nvPr/>
        </p:nvSpPr>
        <p:spPr>
          <a:xfrm>
            <a:off x="368300" y="5909389"/>
            <a:ext cx="645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업무 동시 처리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(DB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복제본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/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업무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발급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편집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수신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처리 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 A1 · A2 · A4 =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장애 시 복구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검증 우선순위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CNR-004-43</a:t>
            </a:r>
          </a:p>
          <a:p>
            <a:pPr algn="ctr"/>
            <a:r>
              <a:rPr lang="en-US" altLang="ko-KR" sz="1100"/>
              <a:t>CNR-001-13</a:t>
            </a:r>
            <a:endParaRPr lang="ko-KR" altLang="en-US" sz="400" dirty="0"/>
          </a:p>
        </p:txBody>
      </p:sp>
      <p:sp>
        <p:nvSpPr>
          <p:cNvPr id="3" name="AR_g2ml">
            <a:extLst>
              <a:ext uri="{FF2B5EF4-FFF2-40B4-BE49-F238E27FC236}">
                <a16:creationId xmlns:a16="http://schemas.microsoft.com/office/drawing/2014/main" id="{CBAA011A-321B-EA51-3DD7-04C6E3311B79}"/>
              </a:ext>
            </a:extLst>
          </p:cNvPr>
          <p:cNvSpPr txBox="1"/>
          <p:nvPr/>
        </p:nvSpPr>
        <p:spPr>
          <a:xfrm>
            <a:off x="1016000" y="2643544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</a:p>
        </p:txBody>
      </p:sp>
      <p:sp>
        <p:nvSpPr>
          <p:cNvPr id="4" name="AR_g2dl">
            <a:extLst>
              <a:ext uri="{FF2B5EF4-FFF2-40B4-BE49-F238E27FC236}">
                <a16:creationId xmlns:a16="http://schemas.microsoft.com/office/drawing/2014/main" id="{41D12723-1403-228B-4725-74A40F214AB2}"/>
              </a:ext>
            </a:extLst>
          </p:cNvPr>
          <p:cNvSpPr txBox="1"/>
          <p:nvPr/>
        </p:nvSpPr>
        <p:spPr>
          <a:xfrm>
            <a:off x="5384800" y="2643544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조회만</a:t>
            </a:r>
          </a:p>
        </p:txBody>
      </p:sp>
      <p:sp>
        <p:nvSpPr>
          <p:cNvPr id="65" name="AR_dmll">
            <a:extLst>
              <a:ext uri="{FF2B5EF4-FFF2-40B4-BE49-F238E27FC236}">
                <a16:creationId xmlns:a16="http://schemas.microsoft.com/office/drawing/2014/main" id="{103CCC6C-00A1-482A-8C42-9F9AB5338C2D}"/>
              </a:ext>
            </a:extLst>
          </p:cNvPr>
          <p:cNvSpPr txBox="1"/>
          <p:nvPr/>
        </p:nvSpPr>
        <p:spPr>
          <a:xfrm>
            <a:off x="3260812" y="4871879"/>
            <a:ext cx="63959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Redirect</a:t>
            </a:r>
            <a:endParaRPr lang="ko-KR" altLang="en-US" sz="800" b="1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66" name="AR_flow_m">
            <a:extLst>
              <a:ext uri="{FF2B5EF4-FFF2-40B4-BE49-F238E27FC236}">
                <a16:creationId xmlns:a16="http://schemas.microsoft.com/office/drawing/2014/main" id="{A5E3E12F-3161-5FBE-422F-B467426650A1}"/>
              </a:ext>
            </a:extLst>
          </p:cNvPr>
          <p:cNvCxnSpPr>
            <a:cxnSpLocks/>
          </p:cNvCxnSpPr>
          <p:nvPr/>
        </p:nvCxnSpPr>
        <p:spPr>
          <a:xfrm>
            <a:off x="406400" y="3136900"/>
            <a:ext cx="0" cy="1912280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_flow_m_vip">
            <a:extLst>
              <a:ext uri="{FF2B5EF4-FFF2-40B4-BE49-F238E27FC236}">
                <a16:creationId xmlns:a16="http://schemas.microsoft.com/office/drawing/2014/main" id="{B5E46345-37F4-2F9E-700C-CDFE5ABB0CA3}"/>
              </a:ext>
            </a:extLst>
          </p:cNvPr>
          <p:cNvCxnSpPr/>
          <p:nvPr/>
        </p:nvCxnSpPr>
        <p:spPr>
          <a:xfrm>
            <a:off x="1828800" y="32639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_flow_m_web">
            <a:extLst>
              <a:ext uri="{FF2B5EF4-FFF2-40B4-BE49-F238E27FC236}">
                <a16:creationId xmlns:a16="http://schemas.microsoft.com/office/drawing/2014/main" id="{078DE816-D40C-1584-B0A3-517FA7428E2D}"/>
              </a:ext>
            </a:extLst>
          </p:cNvPr>
          <p:cNvCxnSpPr/>
          <p:nvPr/>
        </p:nvCxnSpPr>
        <p:spPr>
          <a:xfrm>
            <a:off x="1828800" y="34925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AR_flow_d">
            <a:extLst>
              <a:ext uri="{FF2B5EF4-FFF2-40B4-BE49-F238E27FC236}">
                <a16:creationId xmlns:a16="http://schemas.microsoft.com/office/drawing/2014/main" id="{7FD0D18F-3682-8141-9118-CFE11C5F6F45}"/>
              </a:ext>
            </a:extLst>
          </p:cNvPr>
          <p:cNvCxnSpPr>
            <a:cxnSpLocks/>
          </p:cNvCxnSpPr>
          <p:nvPr/>
        </p:nvCxnSpPr>
        <p:spPr>
          <a:xfrm>
            <a:off x="3937000" y="3112886"/>
            <a:ext cx="0" cy="1486828"/>
          </a:xfrm>
          <a:prstGeom prst="straightConnector1">
            <a:avLst/>
          </a:prstGeom>
          <a:ln w="38100">
            <a:solidFill>
              <a:srgbClr val="FF8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R_flow_d_vip">
            <a:extLst>
              <a:ext uri="{FF2B5EF4-FFF2-40B4-BE49-F238E27FC236}">
                <a16:creationId xmlns:a16="http://schemas.microsoft.com/office/drawing/2014/main" id="{F46D8CD0-A54C-E7B0-BBEC-80F6E72D9E03}"/>
              </a:ext>
            </a:extLst>
          </p:cNvPr>
          <p:cNvCxnSpPr/>
          <p:nvPr/>
        </p:nvCxnSpPr>
        <p:spPr>
          <a:xfrm>
            <a:off x="5359400" y="32639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_flow_d_web">
            <a:extLst>
              <a:ext uri="{FF2B5EF4-FFF2-40B4-BE49-F238E27FC236}">
                <a16:creationId xmlns:a16="http://schemas.microsoft.com/office/drawing/2014/main" id="{7D5E7F6B-1BA1-B051-1D77-D0D2E44F66F2}"/>
              </a:ext>
            </a:extLst>
          </p:cNvPr>
          <p:cNvCxnSpPr/>
          <p:nvPr/>
        </p:nvCxnSpPr>
        <p:spPr>
          <a:xfrm>
            <a:off x="5359400" y="34925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_wpath">
            <a:extLst>
              <a:ext uri="{FF2B5EF4-FFF2-40B4-BE49-F238E27FC236}">
                <a16:creationId xmlns:a16="http://schemas.microsoft.com/office/drawing/2014/main" id="{AC1031BA-096B-72A9-1B32-DECEF5FC8443}"/>
              </a:ext>
            </a:extLst>
          </p:cNvPr>
          <p:cNvSpPr/>
          <p:nvPr/>
        </p:nvSpPr>
        <p:spPr>
          <a:xfrm>
            <a:off x="3125354" y="4598422"/>
            <a:ext cx="811647" cy="545079"/>
          </a:xfrm>
          <a:custGeom>
            <a:avLst/>
            <a:gdLst/>
            <a:ahLst/>
            <a:cxnLst/>
            <a:rect l="0" t="0" r="0" b="0"/>
            <a:pathLst>
              <a:path w="723901" h="762001">
                <a:moveTo>
                  <a:pt x="723900" y="0"/>
                </a:moveTo>
                <a:lnTo>
                  <a:pt x="723900" y="762000"/>
                </a:lnTo>
                <a:lnTo>
                  <a:pt x="0" y="762000"/>
                </a:lnTo>
              </a:path>
            </a:pathLst>
          </a:custGeom>
          <a:ln w="349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AR_dmlnote">
            <a:extLst>
              <a:ext uri="{FF2B5EF4-FFF2-40B4-BE49-F238E27FC236}">
                <a16:creationId xmlns:a16="http://schemas.microsoft.com/office/drawing/2014/main" id="{3AB5732B-E5D5-CDE3-5AC8-FEC4132F1669}"/>
              </a:ext>
            </a:extLst>
          </p:cNvPr>
          <p:cNvSpPr txBox="1"/>
          <p:nvPr/>
        </p:nvSpPr>
        <p:spPr>
          <a:xfrm>
            <a:off x="368300" y="6216092"/>
            <a:ext cx="64516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DML Redirect : Oracle Active Data Guard 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복제본의 쓰기를 </a:t>
            </a:r>
            <a:r>
              <a:rPr lang="ko-KR" altLang="en-US" sz="7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자동 전달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간 왕복으로 응답 지연 가능성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41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</a:t>
            </a:r>
            <a:r>
              <a:rPr lang="en-US" altLang="ko-KR">
                <a:solidFill>
                  <a:srgbClr val="000000"/>
                </a:solidFill>
              </a:rPr>
              <a:t>A-A/A-S </a:t>
            </a:r>
            <a:r>
              <a:rPr lang="ko-KR" altLang="en-US">
                <a:solidFill>
                  <a:srgbClr val="000000"/>
                </a:solidFill>
              </a:rPr>
              <a:t>방안 설계 </a:t>
            </a:r>
            <a:r>
              <a:rPr lang="en-US" altLang="ko-KR">
                <a:solidFill>
                  <a:srgbClr val="000000"/>
                </a:solidFill>
              </a:rPr>
              <a:t>(6/7)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3071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A-S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목표모델 구현 방안 비교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구현 방안을 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1(Hot Standby)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과 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2(Warm · Cold Standby)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구분하여 제시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 : DR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주센터와 동일한 응용을 상시 기동하고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를 복제하여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승격 후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전환으로 서비스 재개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기동 불필요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 :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응용을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또는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· WAS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만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상태로 두고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기동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절차를 거쳐 서비스 재개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기준은 서비스 연속성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(RTO)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경제성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기술 구현 가능성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RTO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요구가 엄격한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A1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서비스는 서비스 연속성에서 우위인 모델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 (Hot Standby)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을 우선 고려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(A2 · A4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경제성을 고려해 모델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적용 검토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4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텍스트 개체 틀 72">
            <a:extLst>
              <a:ext uri="{FF2B5EF4-FFF2-40B4-BE49-F238E27FC236}">
                <a16:creationId xmlns:a16="http://schemas.microsoft.com/office/drawing/2014/main" id="{FC833513-DFBA-1221-7863-BC3524434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응용 </a:t>
            </a:r>
            <a:r>
              <a:rPr lang="en-US" altLang="ko-KR" dirty="0"/>
              <a:t>A-S </a:t>
            </a:r>
            <a:r>
              <a:rPr lang="ko-KR" altLang="en-US" dirty="0"/>
              <a:t>구현 방안을 </a:t>
            </a:r>
            <a:r>
              <a:rPr lang="en-US" altLang="ko-KR" dirty="0"/>
              <a:t>DR</a:t>
            </a:r>
            <a:r>
              <a:rPr lang="ko-KR" altLang="en-US" dirty="0"/>
              <a:t>센터 응용을 상시 기동하는 모델 </a:t>
            </a:r>
            <a:r>
              <a:rPr lang="en-US" altLang="ko-KR" dirty="0"/>
              <a:t>1(Hot Standby)</a:t>
            </a:r>
            <a:r>
              <a:rPr lang="ko-KR" altLang="en-US" dirty="0"/>
              <a:t>과 전환 시 기동 </a:t>
            </a:r>
            <a:r>
              <a:rPr lang="en-US" altLang="ko-KR" dirty="0"/>
              <a:t>· </a:t>
            </a:r>
            <a:r>
              <a:rPr lang="ko-KR" altLang="en-US" dirty="0"/>
              <a:t>복구하는 모델 </a:t>
            </a:r>
            <a:r>
              <a:rPr lang="en-US" altLang="ko-KR" dirty="0"/>
              <a:t>2(Warm · Cold Standby)</a:t>
            </a:r>
            <a:r>
              <a:rPr lang="ko-KR" altLang="en-US" dirty="0"/>
              <a:t>로 구분하고</a:t>
            </a:r>
            <a:r>
              <a:rPr lang="en-US" altLang="ko-KR" dirty="0"/>
              <a:t>, </a:t>
            </a:r>
            <a:r>
              <a:rPr lang="ko-KR" altLang="en-US" dirty="0"/>
              <a:t>서비스 연속성 </a:t>
            </a:r>
            <a:r>
              <a:rPr lang="en-US" altLang="ko-KR" dirty="0"/>
              <a:t>· </a:t>
            </a:r>
            <a:r>
              <a:rPr lang="ko-KR" altLang="en-US" dirty="0"/>
              <a:t>경제성 </a:t>
            </a:r>
            <a:r>
              <a:rPr lang="en-US" altLang="ko-KR" dirty="0"/>
              <a:t>· </a:t>
            </a:r>
            <a:r>
              <a:rPr lang="ko-KR" altLang="en-US" dirty="0"/>
              <a:t>기술 구현 가능성 관점에서 비교 제시함</a:t>
            </a: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F936E187-60CA-968C-4F62-760E0C64A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36840"/>
              </p:ext>
            </p:extLst>
          </p:nvPr>
        </p:nvGraphicFramePr>
        <p:xfrm>
          <a:off x="281927" y="2095986"/>
          <a:ext cx="6650685" cy="4307024"/>
        </p:xfrm>
        <a:graphic>
          <a:graphicData uri="http://schemas.openxmlformats.org/drawingml/2006/table">
            <a:tbl>
              <a:tblPr firstRow="1" bandRow="1"/>
              <a:tblGrid>
                <a:gridCol w="301817">
                  <a:extLst>
                    <a:ext uri="{9D8B030D-6E8A-4147-A177-3AD203B41FA5}">
                      <a16:colId xmlns:a16="http://schemas.microsoft.com/office/drawing/2014/main" val="318682176"/>
                    </a:ext>
                  </a:extLst>
                </a:gridCol>
                <a:gridCol w="788656">
                  <a:extLst>
                    <a:ext uri="{9D8B030D-6E8A-4147-A177-3AD203B41FA5}">
                      <a16:colId xmlns:a16="http://schemas.microsoft.com/office/drawing/2014/main" val="242176763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87407405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367755669"/>
                    </a:ext>
                  </a:extLst>
                </a:gridCol>
              </a:tblGrid>
              <a:tr h="308700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 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모델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1 (Hot Standby)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모델 </a:t>
                      </a:r>
                      <a:r>
                        <a:rPr lang="en-US" altLang="ko-KR" sz="11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2 (Warm · Cold Standby)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87698"/>
                  </a:ext>
                </a:extLst>
              </a:tr>
              <a:tr h="1698576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개념도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94634"/>
                  </a:ext>
                </a:extLst>
              </a:tr>
              <a:tr h="558081">
                <a:tc rowSpan="3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선정기준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서비스 연속성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(RTO)</a:t>
                      </a:r>
                      <a:endParaRPr lang="ko-KR" altLang="en-US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DR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응용 상시 기동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—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전환 시 응용 기동 절차 불요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단시간 내 서비스 재개 가능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전환 시 응용 기동 또는 백업 복구 후 서비스 재개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기동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복구 소요시간만큼 중단 구간 발생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04933"/>
                  </a:ext>
                </a:extLst>
              </a:tr>
              <a:tr h="655320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경제성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DR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인프라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상용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SW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라이선스 상시 확보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평시 미사용 자원의 운영 비용 발생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미기동 구간의 상용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SW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라이선스 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운영 비용 절감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백업 소산 방식은 인프라 최소 구성</a:t>
                      </a:r>
                      <a:endParaRPr lang="en-US" altLang="ko-KR" sz="850" b="0" kern="100" spc="-8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48661"/>
                  </a:ext>
                </a:extLst>
              </a:tr>
              <a:tr h="605212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기술 구현 가능성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동일 구성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단일 빌드 배포로 형상 일치 용이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평시 </a:t>
                      </a:r>
                      <a:r>
                        <a:rPr lang="ko-KR" altLang="en-US" sz="85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무트래픽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구간은 전환 훈련으로 검증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중간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기동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복구 절차 표준화 및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Runbook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검증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장기 미기동에 따른 형상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패치 불일치 관리 필요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40284"/>
                  </a:ext>
                </a:extLst>
              </a:tr>
              <a:tr h="39751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적용 대상</a:t>
                      </a:r>
                      <a:r>
                        <a:rPr lang="en-US" altLang="ko-KR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안</a:t>
                      </a:r>
                      <a:r>
                        <a:rPr lang="en-US" altLang="ko-KR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A1 (</a:t>
                      </a:r>
                      <a:r>
                        <a:rPr lang="ko-KR" altLang="en-US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국가 핵심</a:t>
                      </a:r>
                      <a:r>
                        <a:rPr lang="en-US" altLang="ko-KR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— </a:t>
                      </a:r>
                      <a:r>
                        <a:rPr lang="ko-KR" altLang="en-US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대민서비스 </a:t>
                      </a:r>
                      <a:r>
                        <a:rPr lang="en-US" altLang="ko-KR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창구민원 </a:t>
                      </a:r>
                      <a:r>
                        <a:rPr lang="en-US" altLang="ko-KR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표준연계 </a:t>
                      </a:r>
                      <a:r>
                        <a:rPr lang="en-US" altLang="ko-KR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1" kern="100" spc="-30" baseline="0" noProof="0" dirty="0">
                          <a:solidFill>
                            <a:srgbClr val="1F3864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지적행정</a:t>
                      </a:r>
                      <a:endParaRPr lang="en-US" altLang="ko-KR" sz="900" b="1" kern="100" spc="-30" baseline="0" noProof="0" dirty="0">
                        <a:solidFill>
                          <a:srgbClr val="1F3864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  <a:cs typeface="Times New Roman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-84138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A2 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대국민 필수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2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개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A4 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국민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행정 일반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1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개</a:t>
                      </a:r>
                      <a:endParaRPr lang="en-US" altLang="ko-KR" sz="900" b="0" kern="100" spc="-30" baseline="0" noProof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  <a:cs typeface="Times New Roman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64414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2237E6B2-9DCD-9E89-32A9-005D02503CCC}"/>
              </a:ext>
            </a:extLst>
          </p:cNvPr>
          <p:cNvGrpSpPr/>
          <p:nvPr/>
        </p:nvGrpSpPr>
        <p:grpSpPr>
          <a:xfrm>
            <a:off x="1472679" y="2473576"/>
            <a:ext cx="2548565" cy="1495484"/>
            <a:chOff x="1757587" y="2516889"/>
            <a:chExt cx="2630192" cy="2341435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4A4E8B1-BE88-A38B-5801-6FD3A685B024}"/>
                </a:ext>
              </a:extLst>
            </p:cNvPr>
            <p:cNvSpPr/>
            <p:nvPr/>
          </p:nvSpPr>
          <p:spPr>
            <a:xfrm>
              <a:off x="1757587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58FB7A8-EF5E-F5CF-5DA8-F8EFFA01F52D}"/>
                </a:ext>
              </a:extLst>
            </p:cNvPr>
            <p:cNvSpPr/>
            <p:nvPr/>
          </p:nvSpPr>
          <p:spPr>
            <a:xfrm>
              <a:off x="3130578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사각형: 둥근 모서리 14">
              <a:extLst>
                <a:ext uri="{FF2B5EF4-FFF2-40B4-BE49-F238E27FC236}">
                  <a16:creationId xmlns:a16="http://schemas.microsoft.com/office/drawing/2014/main" id="{28D4D916-0929-721A-F89E-D1992A6EAA19}"/>
                </a:ext>
              </a:extLst>
            </p:cNvPr>
            <p:cNvSpPr/>
            <p:nvPr/>
          </p:nvSpPr>
          <p:spPr>
            <a:xfrm flipH="1">
              <a:off x="3512095" y="2626974"/>
              <a:ext cx="496305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사각형: 둥근 모서리 21">
              <a:extLst>
                <a:ext uri="{FF2B5EF4-FFF2-40B4-BE49-F238E27FC236}">
                  <a16:creationId xmlns:a16="http://schemas.microsoft.com/office/drawing/2014/main" id="{23F34C1F-4E4F-EA82-34B9-6C4F752B1444}"/>
                </a:ext>
              </a:extLst>
            </p:cNvPr>
            <p:cNvSpPr/>
            <p:nvPr/>
          </p:nvSpPr>
          <p:spPr>
            <a:xfrm>
              <a:off x="2176971" y="2626974"/>
              <a:ext cx="436747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3DCE566-00B4-E41C-8239-B73330EF6616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4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60A1008-AA5F-6043-3BBB-E21591330E96}"/>
                </a:ext>
              </a:extLst>
            </p:cNvPr>
            <p:cNvCxnSpPr>
              <a:cxnSpLocks/>
            </p:cNvCxnSpPr>
            <p:nvPr/>
          </p:nvCxnSpPr>
          <p:spPr>
            <a:xfrm>
              <a:off x="322403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3AEB3FCC-703D-9F44-4173-81E341F21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0217" y="4222306"/>
              <a:ext cx="235218" cy="254979"/>
            </a:xfrm>
            <a:prstGeom prst="rect">
              <a:avLst/>
            </a:prstGeom>
          </p:spPr>
        </p:pic>
        <p:sp>
          <p:nvSpPr>
            <p:cNvPr id="83" name="사각형: 둥근 모서리 133">
              <a:extLst>
                <a:ext uri="{FF2B5EF4-FFF2-40B4-BE49-F238E27FC236}">
                  <a16:creationId xmlns:a16="http://schemas.microsoft.com/office/drawing/2014/main" id="{2845C47F-8A48-3522-B61F-09C765122775}"/>
                </a:ext>
              </a:extLst>
            </p:cNvPr>
            <p:cNvSpPr/>
            <p:nvPr/>
          </p:nvSpPr>
          <p:spPr>
            <a:xfrm>
              <a:off x="2082272" y="3334834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사각형: 둥근 모서리 134">
              <a:extLst>
                <a:ext uri="{FF2B5EF4-FFF2-40B4-BE49-F238E27FC236}">
                  <a16:creationId xmlns:a16="http://schemas.microsoft.com/office/drawing/2014/main" id="{B4BB63B2-56B4-D5FD-A84D-82AF0B122B16}"/>
                </a:ext>
              </a:extLst>
            </p:cNvPr>
            <p:cNvSpPr/>
            <p:nvPr/>
          </p:nvSpPr>
          <p:spPr>
            <a:xfrm>
              <a:off x="2082272" y="3567862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5D72805-9BB7-91CA-5535-316579A1453B}"/>
                </a:ext>
              </a:extLst>
            </p:cNvPr>
            <p:cNvCxnSpPr>
              <a:cxnSpLocks/>
              <a:stCxn id="102" idx="2"/>
              <a:endCxn id="83" idx="0"/>
            </p:cNvCxnSpPr>
            <p:nvPr/>
          </p:nvCxnSpPr>
          <p:spPr>
            <a:xfrm>
              <a:off x="2386179" y="3268959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5C4AF708-33AD-D549-14A7-AAED516BE0E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2386179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사각형: 둥근 모서리 41">
              <a:extLst>
                <a:ext uri="{FF2B5EF4-FFF2-40B4-BE49-F238E27FC236}">
                  <a16:creationId xmlns:a16="http://schemas.microsoft.com/office/drawing/2014/main" id="{5D1CBF59-BCE9-C54B-2332-74E5044F0101}"/>
                </a:ext>
              </a:extLst>
            </p:cNvPr>
            <p:cNvSpPr/>
            <p:nvPr/>
          </p:nvSpPr>
          <p:spPr>
            <a:xfrm>
              <a:off x="1837764" y="3855194"/>
              <a:ext cx="414420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사각형: 둥근 모서리 43">
              <a:extLst>
                <a:ext uri="{FF2B5EF4-FFF2-40B4-BE49-F238E27FC236}">
                  <a16:creationId xmlns:a16="http://schemas.microsoft.com/office/drawing/2014/main" id="{32D01E91-A58B-6093-4F2A-C9A365DFE676}"/>
                </a:ext>
              </a:extLst>
            </p:cNvPr>
            <p:cNvSpPr/>
            <p:nvPr/>
          </p:nvSpPr>
          <p:spPr>
            <a:xfrm>
              <a:off x="2520176" y="3855194"/>
              <a:ext cx="414420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FF33BB6-8D63-FD39-EFA1-2AC1D802E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7221" y="4222298"/>
              <a:ext cx="235218" cy="254979"/>
            </a:xfrm>
            <a:prstGeom prst="rect">
              <a:avLst/>
            </a:prstGeom>
          </p:spPr>
        </p:pic>
        <p:cxnSp>
          <p:nvCxnSpPr>
            <p:cNvPr id="90" name="연결선: 꺾임 184">
              <a:extLst>
                <a:ext uri="{FF2B5EF4-FFF2-40B4-BE49-F238E27FC236}">
                  <a16:creationId xmlns:a16="http://schemas.microsoft.com/office/drawing/2014/main" id="{CEE34ABF-2BC5-750C-2337-86D516E1B470}"/>
                </a:ext>
              </a:extLst>
            </p:cNvPr>
            <p:cNvCxnSpPr>
              <a:stCxn id="87" idx="2"/>
              <a:endCxn id="89" idx="0"/>
            </p:cNvCxnSpPr>
            <p:nvPr/>
          </p:nvCxnSpPr>
          <p:spPr>
            <a:xfrm rot="16200000" flipH="1">
              <a:off x="2125882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꺾임 185">
              <a:extLst>
                <a:ext uri="{FF2B5EF4-FFF2-40B4-BE49-F238E27FC236}">
                  <a16:creationId xmlns:a16="http://schemas.microsoft.com/office/drawing/2014/main" id="{6EC6C181-B8BB-51A9-BFCB-0AB69E743850}"/>
                </a:ext>
              </a:extLst>
            </p:cNvPr>
            <p:cNvCxnSpPr>
              <a:cxnSpLocks/>
              <a:stCxn id="88" idx="2"/>
              <a:endCxn id="89" idx="0"/>
            </p:cNvCxnSpPr>
            <p:nvPr/>
          </p:nvCxnSpPr>
          <p:spPr>
            <a:xfrm rot="5400000">
              <a:off x="2467089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151C36-EBDB-976D-97CB-D5483D1062B0}"/>
                </a:ext>
              </a:extLst>
            </p:cNvPr>
            <p:cNvSpPr txBox="1"/>
            <p:nvPr/>
          </p:nvSpPr>
          <p:spPr>
            <a:xfrm>
              <a:off x="1771361" y="4253783"/>
              <a:ext cx="460406" cy="1927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3" name="연결선: 꺾임 399">
              <a:extLst>
                <a:ext uri="{FF2B5EF4-FFF2-40B4-BE49-F238E27FC236}">
                  <a16:creationId xmlns:a16="http://schemas.microsoft.com/office/drawing/2014/main" id="{2F41996B-78CF-562F-8210-898025CD25A1}"/>
                </a:ext>
              </a:extLst>
            </p:cNvPr>
            <p:cNvCxnSpPr>
              <a:cxnSpLocks/>
              <a:stCxn id="125" idx="2"/>
              <a:endCxn id="87" idx="0"/>
            </p:cNvCxnSpPr>
            <p:nvPr/>
          </p:nvCxnSpPr>
          <p:spPr>
            <a:xfrm rot="5400000">
              <a:off x="2148680" y="3640876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연결선: 꺾임 400">
              <a:extLst>
                <a:ext uri="{FF2B5EF4-FFF2-40B4-BE49-F238E27FC236}">
                  <a16:creationId xmlns:a16="http://schemas.microsoft.com/office/drawing/2014/main" id="{23C09FEA-7A46-7140-7637-501ED539CFF5}"/>
                </a:ext>
              </a:extLst>
            </p:cNvPr>
            <p:cNvCxnSpPr>
              <a:cxnSpLocks/>
              <a:stCxn id="126" idx="2"/>
              <a:endCxn id="88" idx="0"/>
            </p:cNvCxnSpPr>
            <p:nvPr/>
          </p:nvCxnSpPr>
          <p:spPr>
            <a:xfrm rot="16200000" flipH="1">
              <a:off x="2513690" y="3641498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D03A2BA-2D4A-1F8C-E956-B5606EC591E4}"/>
                </a:ext>
              </a:extLst>
            </p:cNvPr>
            <p:cNvGrpSpPr/>
            <p:nvPr/>
          </p:nvGrpSpPr>
          <p:grpSpPr>
            <a:xfrm>
              <a:off x="2341511" y="3586687"/>
              <a:ext cx="90582" cy="157895"/>
              <a:chOff x="4408940" y="3256599"/>
              <a:chExt cx="132898" cy="45719"/>
            </a:xfrm>
            <a:noFill/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A490002C-1773-1ACB-86EB-E213FE686A74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D4C0A14C-4BE0-DDE1-DBDC-A5A41DD35B6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1" name="자유형: 도형 426">
              <a:extLst>
                <a:ext uri="{FF2B5EF4-FFF2-40B4-BE49-F238E27FC236}">
                  <a16:creationId xmlns:a16="http://schemas.microsoft.com/office/drawing/2014/main" id="{15BFB8A8-FB91-7176-7EEA-70F447D626DB}"/>
                </a:ext>
              </a:extLst>
            </p:cNvPr>
            <p:cNvSpPr/>
            <p:nvPr/>
          </p:nvSpPr>
          <p:spPr>
            <a:xfrm>
              <a:off x="2034246" y="3238574"/>
              <a:ext cx="327396" cy="988392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2" name="사각형: 둥근 모서리 132">
              <a:extLst>
                <a:ext uri="{FF2B5EF4-FFF2-40B4-BE49-F238E27FC236}">
                  <a16:creationId xmlns:a16="http://schemas.microsoft.com/office/drawing/2014/main" id="{4748F451-94BF-B944-C1F2-9488EDA1F2BD}"/>
                </a:ext>
              </a:extLst>
            </p:cNvPr>
            <p:cNvSpPr/>
            <p:nvPr/>
          </p:nvSpPr>
          <p:spPr>
            <a:xfrm>
              <a:off x="2082272" y="3089897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사각형: 둥근 모서리 429">
              <a:extLst>
                <a:ext uri="{FF2B5EF4-FFF2-40B4-BE49-F238E27FC236}">
                  <a16:creationId xmlns:a16="http://schemas.microsoft.com/office/drawing/2014/main" id="{FD3DCEDD-ECB5-D9A8-A871-1DF7F38B4CFC}"/>
                </a:ext>
              </a:extLst>
            </p:cNvPr>
            <p:cNvSpPr/>
            <p:nvPr/>
          </p:nvSpPr>
          <p:spPr>
            <a:xfrm>
              <a:off x="3455268" y="3334840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사각형: 둥근 모서리 430">
              <a:extLst>
                <a:ext uri="{FF2B5EF4-FFF2-40B4-BE49-F238E27FC236}">
                  <a16:creationId xmlns:a16="http://schemas.microsoft.com/office/drawing/2014/main" id="{DCADCE95-CDEB-F125-D705-D25CC147A809}"/>
                </a:ext>
              </a:extLst>
            </p:cNvPr>
            <p:cNvSpPr/>
            <p:nvPr/>
          </p:nvSpPr>
          <p:spPr>
            <a:xfrm>
              <a:off x="3455268" y="3567869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581D73-7C83-00A7-5251-49ED81838F18}"/>
                </a:ext>
              </a:extLst>
            </p:cNvPr>
            <p:cNvCxnSpPr>
              <a:cxnSpLocks/>
              <a:stCxn id="115" idx="2"/>
              <a:endCxn id="103" idx="0"/>
            </p:cNvCxnSpPr>
            <p:nvPr/>
          </p:nvCxnSpPr>
          <p:spPr>
            <a:xfrm>
              <a:off x="3759176" y="3268964"/>
              <a:ext cx="0" cy="6587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061418DC-D864-397B-C13C-10C27AAED8EC}"/>
                </a:ext>
              </a:extLst>
            </p:cNvPr>
            <p:cNvCxnSpPr>
              <a:cxnSpLocks/>
              <a:stCxn id="103" idx="2"/>
              <a:endCxn id="104" idx="0"/>
            </p:cNvCxnSpPr>
            <p:nvPr/>
          </p:nvCxnSpPr>
          <p:spPr>
            <a:xfrm>
              <a:off x="3759176" y="3513902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사각형: 둥근 모서리 433">
              <a:extLst>
                <a:ext uri="{FF2B5EF4-FFF2-40B4-BE49-F238E27FC236}">
                  <a16:creationId xmlns:a16="http://schemas.microsoft.com/office/drawing/2014/main" id="{F0C2262C-3E76-FE62-BC05-47B92F12659C}"/>
                </a:ext>
              </a:extLst>
            </p:cNvPr>
            <p:cNvSpPr/>
            <p:nvPr/>
          </p:nvSpPr>
          <p:spPr>
            <a:xfrm>
              <a:off x="3210760" y="3855202"/>
              <a:ext cx="414421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434">
              <a:extLst>
                <a:ext uri="{FF2B5EF4-FFF2-40B4-BE49-F238E27FC236}">
                  <a16:creationId xmlns:a16="http://schemas.microsoft.com/office/drawing/2014/main" id="{31A5AF4C-83F3-2561-5929-A273211E4D18}"/>
                </a:ext>
              </a:extLst>
            </p:cNvPr>
            <p:cNvSpPr/>
            <p:nvPr/>
          </p:nvSpPr>
          <p:spPr>
            <a:xfrm>
              <a:off x="3893171" y="3855202"/>
              <a:ext cx="414421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9" name="연결선: 꺾임 436">
              <a:extLst>
                <a:ext uri="{FF2B5EF4-FFF2-40B4-BE49-F238E27FC236}">
                  <a16:creationId xmlns:a16="http://schemas.microsoft.com/office/drawing/2014/main" id="{06BB2F70-B35D-8B92-269F-99E637600137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rot="16200000" flipH="1">
              <a:off x="3498877" y="3953355"/>
              <a:ext cx="188043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연결선: 꺾임 437">
              <a:extLst>
                <a:ext uri="{FF2B5EF4-FFF2-40B4-BE49-F238E27FC236}">
                  <a16:creationId xmlns:a16="http://schemas.microsoft.com/office/drawing/2014/main" id="{7F648C0D-FE6F-60D9-EEE9-5ED0EDE196E9}"/>
                </a:ext>
              </a:extLst>
            </p:cNvPr>
            <p:cNvCxnSpPr>
              <a:cxnSpLocks/>
              <a:stCxn id="108" idx="2"/>
            </p:cNvCxnSpPr>
            <p:nvPr/>
          </p:nvCxnSpPr>
          <p:spPr>
            <a:xfrm rot="5400000">
              <a:off x="3840084" y="3962006"/>
              <a:ext cx="188043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BD0D97C-EDCB-A253-C661-6B9B3E7D0CC1}"/>
                </a:ext>
              </a:extLst>
            </p:cNvPr>
            <p:cNvSpPr txBox="1"/>
            <p:nvPr/>
          </p:nvSpPr>
          <p:spPr>
            <a:xfrm>
              <a:off x="3922753" y="4253787"/>
              <a:ext cx="349067" cy="1927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2" name="연결선: 꺾임 439">
              <a:extLst>
                <a:ext uri="{FF2B5EF4-FFF2-40B4-BE49-F238E27FC236}">
                  <a16:creationId xmlns:a16="http://schemas.microsoft.com/office/drawing/2014/main" id="{CA1B28E6-F77C-F9A9-23E8-27640A07E4E0}"/>
                </a:ext>
              </a:extLst>
            </p:cNvPr>
            <p:cNvCxnSpPr>
              <a:cxnSpLocks/>
              <a:stCxn id="123" idx="2"/>
              <a:endCxn id="107" idx="0"/>
            </p:cNvCxnSpPr>
            <p:nvPr/>
          </p:nvCxnSpPr>
          <p:spPr>
            <a:xfrm rot="5400000">
              <a:off x="3521674" y="3640882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연결선: 꺾임 440">
              <a:extLst>
                <a:ext uri="{FF2B5EF4-FFF2-40B4-BE49-F238E27FC236}">
                  <a16:creationId xmlns:a16="http://schemas.microsoft.com/office/drawing/2014/main" id="{3056C78B-355F-847E-7A30-F3B560F280FD}"/>
                </a:ext>
              </a:extLst>
            </p:cNvPr>
            <p:cNvCxnSpPr>
              <a:cxnSpLocks/>
              <a:stCxn id="124" idx="2"/>
              <a:endCxn id="108" idx="0"/>
            </p:cNvCxnSpPr>
            <p:nvPr/>
          </p:nvCxnSpPr>
          <p:spPr>
            <a:xfrm rot="16200000" flipH="1">
              <a:off x="3886686" y="3641505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0B0BACF8-B48A-98B5-ABD1-31FE5A1A5444}"/>
                </a:ext>
              </a:extLst>
            </p:cNvPr>
            <p:cNvGrpSpPr/>
            <p:nvPr/>
          </p:nvGrpSpPr>
          <p:grpSpPr>
            <a:xfrm>
              <a:off x="3714466" y="3586693"/>
              <a:ext cx="90581" cy="157894"/>
              <a:chOff x="4408940" y="3256599"/>
              <a:chExt cx="132898" cy="45719"/>
            </a:xfrm>
            <a:noFill/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CF8D4D4-598A-B778-C6F0-5E5BA9790E66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EBD8C1F0-DB1B-8049-5A4C-737F3CB47B9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5" name="사각형: 둥근 모서리 443">
              <a:extLst>
                <a:ext uri="{FF2B5EF4-FFF2-40B4-BE49-F238E27FC236}">
                  <a16:creationId xmlns:a16="http://schemas.microsoft.com/office/drawing/2014/main" id="{7D02CA94-925D-C7B4-7DC1-7F0CA409F7C3}"/>
                </a:ext>
              </a:extLst>
            </p:cNvPr>
            <p:cNvSpPr/>
            <p:nvPr/>
          </p:nvSpPr>
          <p:spPr>
            <a:xfrm>
              <a:off x="3455268" y="3089903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자유형: 도형 446" hidden="1">
              <a:extLst>
                <a:ext uri="{FF2B5EF4-FFF2-40B4-BE49-F238E27FC236}">
                  <a16:creationId xmlns:a16="http://schemas.microsoft.com/office/drawing/2014/main" id="{A86B28FE-8C25-4ADA-E008-55F12CCEFDB5}"/>
                </a:ext>
              </a:extLst>
            </p:cNvPr>
            <p:cNvSpPr/>
            <p:nvPr/>
          </p:nvSpPr>
          <p:spPr>
            <a:xfrm>
              <a:off x="2424500" y="3266207"/>
              <a:ext cx="1674259" cy="962836"/>
            </a:xfrm>
            <a:custGeom>
              <a:avLst/>
              <a:gdLst>
                <a:gd name="connsiteX0" fmla="*/ 1041400 w 1282700"/>
                <a:gd name="connsiteY0" fmla="*/ 0 h 713316"/>
                <a:gd name="connsiteX1" fmla="*/ 1041400 w 1282700"/>
                <a:gd name="connsiteY1" fmla="*/ 406400 h 713316"/>
                <a:gd name="connsiteX2" fmla="*/ 1282700 w 1282700"/>
                <a:gd name="connsiteY2" fmla="*/ 406400 h 713316"/>
                <a:gd name="connsiteX3" fmla="*/ 1282700 w 1282700"/>
                <a:gd name="connsiteY3" fmla="*/ 543983 h 713316"/>
                <a:gd name="connsiteX4" fmla="*/ 986366 w 1282700"/>
                <a:gd name="connsiteY4" fmla="*/ 543983 h 713316"/>
                <a:gd name="connsiteX5" fmla="*/ 986366 w 1282700"/>
                <a:gd name="connsiteY5" fmla="*/ 91016 h 713316"/>
                <a:gd name="connsiteX6" fmla="*/ 0 w 1282700"/>
                <a:gd name="connsiteY6" fmla="*/ 91016 h 713316"/>
                <a:gd name="connsiteX7" fmla="*/ 0 w 1282700"/>
                <a:gd name="connsiteY7" fmla="*/ 713316 h 71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82700" h="713316">
                  <a:moveTo>
                    <a:pt x="1041400" y="0"/>
                  </a:moveTo>
                  <a:lnTo>
                    <a:pt x="1041400" y="406400"/>
                  </a:lnTo>
                  <a:lnTo>
                    <a:pt x="1282700" y="406400"/>
                  </a:lnTo>
                  <a:lnTo>
                    <a:pt x="1282700" y="543983"/>
                  </a:lnTo>
                  <a:lnTo>
                    <a:pt x="986366" y="543983"/>
                  </a:lnTo>
                  <a:lnTo>
                    <a:pt x="986366" y="91016"/>
                  </a:lnTo>
                  <a:lnTo>
                    <a:pt x="0" y="91016"/>
                  </a:lnTo>
                  <a:lnTo>
                    <a:pt x="0" y="713316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03419D35-6F79-5820-81F3-772CCEBC4F10}"/>
                </a:ext>
              </a:extLst>
            </p:cNvPr>
            <p:cNvCxnSpPr/>
            <p:nvPr/>
          </p:nvCxnSpPr>
          <p:spPr>
            <a:xfrm>
              <a:off x="2512444" y="4313065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none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58AF51C0-1BD4-217B-B85B-84EFB2875C17}"/>
                </a:ext>
              </a:extLst>
            </p:cNvPr>
            <p:cNvCxnSpPr/>
            <p:nvPr/>
          </p:nvCxnSpPr>
          <p:spPr>
            <a:xfrm>
              <a:off x="2512444" y="4387660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none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949BD50-5A5E-044E-BDE6-EF285F9F3888}"/>
                </a:ext>
              </a:extLst>
            </p:cNvPr>
            <p:cNvGrpSpPr/>
            <p:nvPr/>
          </p:nvGrpSpPr>
          <p:grpSpPr>
            <a:xfrm>
              <a:off x="2440224" y="4534299"/>
              <a:ext cx="1264912" cy="324025"/>
              <a:chOff x="4559764" y="3825875"/>
              <a:chExt cx="882186" cy="225985"/>
            </a:xfrm>
          </p:grpSpPr>
          <p:sp>
            <p:nvSpPr>
              <p:cNvPr id="120" name="사각형: 둥근 모서리 514">
                <a:extLst>
                  <a:ext uri="{FF2B5EF4-FFF2-40B4-BE49-F238E27FC236}">
                    <a16:creationId xmlns:a16="http://schemas.microsoft.com/office/drawing/2014/main" id="{14541189-1882-74D3-FBC9-E51DB45E126B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Freeform 10">
                <a:extLst>
                  <a:ext uri="{FF2B5EF4-FFF2-40B4-BE49-F238E27FC236}">
                    <a16:creationId xmlns:a16="http://schemas.microsoft.com/office/drawing/2014/main" id="{2F926C37-9E71-3680-B75F-B90928D4BDF1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F98FD04-737D-0991-38B7-CBFFAD63E67D}"/>
                  </a:ext>
                </a:extLst>
              </p:cNvPr>
              <p:cNvSpPr txBox="1"/>
              <p:nvPr/>
            </p:nvSpPr>
            <p:spPr>
              <a:xfrm>
                <a:off x="4800101" y="3883823"/>
                <a:ext cx="401518" cy="1680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 기동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DC11149-BF87-05FE-4631-70F175A82001}"/>
              </a:ext>
            </a:extLst>
          </p:cNvPr>
          <p:cNvGrpSpPr/>
          <p:nvPr/>
        </p:nvGrpSpPr>
        <p:grpSpPr>
          <a:xfrm>
            <a:off x="2108200" y="2456892"/>
            <a:ext cx="4681004" cy="1512626"/>
            <a:chOff x="5529165" y="2516882"/>
            <a:chExt cx="4830930" cy="234002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98E2157-4A83-A129-864B-82728CEC938D}"/>
                </a:ext>
              </a:extLst>
            </p:cNvPr>
            <p:cNvSpPr/>
            <p:nvPr/>
          </p:nvSpPr>
          <p:spPr>
            <a:xfrm>
              <a:off x="772990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EC14B5A-F561-B232-4E21-087C6E8A6005}"/>
                </a:ext>
              </a:extLst>
            </p:cNvPr>
            <p:cNvSpPr/>
            <p:nvPr/>
          </p:nvSpPr>
          <p:spPr>
            <a:xfrm>
              <a:off x="910289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사각형: 둥근 모서리 14">
              <a:extLst>
                <a:ext uri="{FF2B5EF4-FFF2-40B4-BE49-F238E27FC236}">
                  <a16:creationId xmlns:a16="http://schemas.microsoft.com/office/drawing/2014/main" id="{15E43B11-25B8-E9A4-894B-418468C3DD2E}"/>
                </a:ext>
              </a:extLst>
            </p:cNvPr>
            <p:cNvSpPr/>
            <p:nvPr/>
          </p:nvSpPr>
          <p:spPr>
            <a:xfrm flipH="1">
              <a:off x="9484416" y="2628549"/>
              <a:ext cx="496305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사각형: 둥근 모서리 21">
              <a:extLst>
                <a:ext uri="{FF2B5EF4-FFF2-40B4-BE49-F238E27FC236}">
                  <a16:creationId xmlns:a16="http://schemas.microsoft.com/office/drawing/2014/main" id="{1D572704-8292-7CA0-822D-1486A721DB6D}"/>
                </a:ext>
              </a:extLst>
            </p:cNvPr>
            <p:cNvSpPr/>
            <p:nvPr/>
          </p:nvSpPr>
          <p:spPr>
            <a:xfrm>
              <a:off x="8149291" y="2628549"/>
              <a:ext cx="436747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491AE256-74E1-81F6-F7B8-2D06031D7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23362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50EC40F-1706-8B3F-660B-CD849D7B9589}"/>
                </a:ext>
              </a:extLst>
            </p:cNvPr>
            <p:cNvCxnSpPr>
              <a:cxnSpLocks/>
            </p:cNvCxnSpPr>
            <p:nvPr/>
          </p:nvCxnSpPr>
          <p:spPr>
            <a:xfrm>
              <a:off x="9196353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C86892A-5173-1352-0805-3EB8FA97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537" y="4222298"/>
              <a:ext cx="235218" cy="254979"/>
            </a:xfrm>
            <a:prstGeom prst="rect">
              <a:avLst/>
            </a:prstGeom>
          </p:spPr>
        </p:pic>
        <p:sp>
          <p:nvSpPr>
            <p:cNvPr id="135" name="사각형: 둥근 모서리 619">
              <a:extLst>
                <a:ext uri="{FF2B5EF4-FFF2-40B4-BE49-F238E27FC236}">
                  <a16:creationId xmlns:a16="http://schemas.microsoft.com/office/drawing/2014/main" id="{9FDA1A83-224B-9AC1-38B2-034E5AC95CF0}"/>
                </a:ext>
              </a:extLst>
            </p:cNvPr>
            <p:cNvSpPr/>
            <p:nvPr/>
          </p:nvSpPr>
          <p:spPr>
            <a:xfrm>
              <a:off x="8054596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사각형: 둥근 모서리 620">
              <a:extLst>
                <a:ext uri="{FF2B5EF4-FFF2-40B4-BE49-F238E27FC236}">
                  <a16:creationId xmlns:a16="http://schemas.microsoft.com/office/drawing/2014/main" id="{6E7D067F-5099-54EF-7F54-95BE0537D056}"/>
                </a:ext>
              </a:extLst>
            </p:cNvPr>
            <p:cNvSpPr/>
            <p:nvPr/>
          </p:nvSpPr>
          <p:spPr>
            <a:xfrm>
              <a:off x="8054596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CE482D1-E4DF-A9F8-9A76-D9B954287D22}"/>
                </a:ext>
              </a:extLst>
            </p:cNvPr>
            <p:cNvCxnSpPr>
              <a:cxnSpLocks/>
              <a:stCxn id="167" idx="2"/>
              <a:endCxn id="135" idx="0"/>
            </p:cNvCxnSpPr>
            <p:nvPr/>
          </p:nvCxnSpPr>
          <p:spPr>
            <a:xfrm>
              <a:off x="8358503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42FC3EF-E593-D87B-D238-D8B3A58416FF}"/>
                </a:ext>
              </a:extLst>
            </p:cNvPr>
            <p:cNvCxnSpPr>
              <a:cxnSpLocks/>
              <a:stCxn id="135" idx="2"/>
              <a:endCxn id="136" idx="0"/>
            </p:cNvCxnSpPr>
            <p:nvPr/>
          </p:nvCxnSpPr>
          <p:spPr>
            <a:xfrm>
              <a:off x="8358503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사각형: 둥근 모서리 623">
              <a:extLst>
                <a:ext uri="{FF2B5EF4-FFF2-40B4-BE49-F238E27FC236}">
                  <a16:creationId xmlns:a16="http://schemas.microsoft.com/office/drawing/2014/main" id="{4FE86E61-397F-3ABA-3DFC-15F29FD4A4B6}"/>
                </a:ext>
              </a:extLst>
            </p:cNvPr>
            <p:cNvSpPr/>
            <p:nvPr/>
          </p:nvSpPr>
          <p:spPr>
            <a:xfrm>
              <a:off x="781008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0" name="사각형: 둥근 모서리 624">
              <a:extLst>
                <a:ext uri="{FF2B5EF4-FFF2-40B4-BE49-F238E27FC236}">
                  <a16:creationId xmlns:a16="http://schemas.microsoft.com/office/drawing/2014/main" id="{D3C51334-14A2-2B3B-7A52-516E23AB9FD7}"/>
                </a:ext>
              </a:extLst>
            </p:cNvPr>
            <p:cNvSpPr/>
            <p:nvPr/>
          </p:nvSpPr>
          <p:spPr>
            <a:xfrm>
              <a:off x="8492500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6E1A52B0-F4C0-85C6-ECB4-6B04136B2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9545" y="4222298"/>
              <a:ext cx="235218" cy="254979"/>
            </a:xfrm>
            <a:prstGeom prst="rect">
              <a:avLst/>
            </a:prstGeom>
          </p:spPr>
        </p:pic>
        <p:cxnSp>
          <p:nvCxnSpPr>
            <p:cNvPr id="142" name="연결선: 꺾임 626">
              <a:extLst>
                <a:ext uri="{FF2B5EF4-FFF2-40B4-BE49-F238E27FC236}">
                  <a16:creationId xmlns:a16="http://schemas.microsoft.com/office/drawing/2014/main" id="{361A7A0A-B424-1C73-F62C-A3DCB86B38A1}"/>
                </a:ext>
              </a:extLst>
            </p:cNvPr>
            <p:cNvCxnSpPr>
              <a:stCxn id="139" idx="2"/>
              <a:endCxn id="141" idx="0"/>
            </p:cNvCxnSpPr>
            <p:nvPr/>
          </p:nvCxnSpPr>
          <p:spPr>
            <a:xfrm rot="16200000" flipH="1">
              <a:off x="8098206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연결선: 꺾임 627">
              <a:extLst>
                <a:ext uri="{FF2B5EF4-FFF2-40B4-BE49-F238E27FC236}">
                  <a16:creationId xmlns:a16="http://schemas.microsoft.com/office/drawing/2014/main" id="{484FA32D-5046-E2EF-84B1-478E5551CD50}"/>
                </a:ext>
              </a:extLst>
            </p:cNvPr>
            <p:cNvCxnSpPr>
              <a:cxnSpLocks/>
              <a:stCxn id="140" idx="2"/>
              <a:endCxn id="141" idx="0"/>
            </p:cNvCxnSpPr>
            <p:nvPr/>
          </p:nvCxnSpPr>
          <p:spPr>
            <a:xfrm rot="5400000">
              <a:off x="843941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D528D6A-AE96-39F8-290C-32F1A5BBA686}"/>
                </a:ext>
              </a:extLst>
            </p:cNvPr>
            <p:cNvSpPr txBox="1"/>
            <p:nvPr/>
          </p:nvSpPr>
          <p:spPr>
            <a:xfrm>
              <a:off x="7870565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45" name="연결선: 꺾임 629">
              <a:extLst>
                <a:ext uri="{FF2B5EF4-FFF2-40B4-BE49-F238E27FC236}">
                  <a16:creationId xmlns:a16="http://schemas.microsoft.com/office/drawing/2014/main" id="{B7A0C597-2EF4-6E5E-B391-A25D1F0B0098}"/>
                </a:ext>
              </a:extLst>
            </p:cNvPr>
            <p:cNvCxnSpPr>
              <a:cxnSpLocks/>
              <a:stCxn id="174" idx="2"/>
              <a:endCxn id="139" idx="0"/>
            </p:cNvCxnSpPr>
            <p:nvPr/>
          </p:nvCxnSpPr>
          <p:spPr>
            <a:xfrm rot="5400000">
              <a:off x="8121004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연결선: 꺾임 630">
              <a:extLst>
                <a:ext uri="{FF2B5EF4-FFF2-40B4-BE49-F238E27FC236}">
                  <a16:creationId xmlns:a16="http://schemas.microsoft.com/office/drawing/2014/main" id="{62A4617F-FF4C-016A-F7DF-706EE82C4BC3}"/>
                </a:ext>
              </a:extLst>
            </p:cNvPr>
            <p:cNvCxnSpPr>
              <a:cxnSpLocks/>
              <a:stCxn id="175" idx="2"/>
              <a:endCxn id="140" idx="0"/>
            </p:cNvCxnSpPr>
            <p:nvPr/>
          </p:nvCxnSpPr>
          <p:spPr>
            <a:xfrm rot="16200000" flipH="1">
              <a:off x="848601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E6B1CCA-C446-A6C7-29F7-1687A2477A56}"/>
                </a:ext>
              </a:extLst>
            </p:cNvPr>
            <p:cNvGrpSpPr/>
            <p:nvPr/>
          </p:nvGrpSpPr>
          <p:grpSpPr>
            <a:xfrm>
              <a:off x="831383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1224493B-086A-8BC4-9266-7B0C845E69CD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019721CF-7E58-FC15-300C-2B1F896AC94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48" name="자유형: 도형 632">
              <a:extLst>
                <a:ext uri="{FF2B5EF4-FFF2-40B4-BE49-F238E27FC236}">
                  <a16:creationId xmlns:a16="http://schemas.microsoft.com/office/drawing/2014/main" id="{8C7A114F-24E3-DEE7-710E-721F9B87AF61}"/>
                </a:ext>
              </a:extLst>
            </p:cNvPr>
            <p:cNvSpPr/>
            <p:nvPr/>
          </p:nvSpPr>
          <p:spPr>
            <a:xfrm>
              <a:off x="8006571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9" name="사각형: 둥근 모서리 634">
              <a:extLst>
                <a:ext uri="{FF2B5EF4-FFF2-40B4-BE49-F238E27FC236}">
                  <a16:creationId xmlns:a16="http://schemas.microsoft.com/office/drawing/2014/main" id="{55AEEE30-16BE-D71D-550D-E314630C9D30}"/>
                </a:ext>
              </a:extLst>
            </p:cNvPr>
            <p:cNvSpPr/>
            <p:nvPr/>
          </p:nvSpPr>
          <p:spPr>
            <a:xfrm>
              <a:off x="9427587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0" name="사각형: 둥근 모서리 635">
              <a:extLst>
                <a:ext uri="{FF2B5EF4-FFF2-40B4-BE49-F238E27FC236}">
                  <a16:creationId xmlns:a16="http://schemas.microsoft.com/office/drawing/2014/main" id="{42907800-9B15-A818-5D2E-1F132550D314}"/>
                </a:ext>
              </a:extLst>
            </p:cNvPr>
            <p:cNvSpPr/>
            <p:nvPr/>
          </p:nvSpPr>
          <p:spPr>
            <a:xfrm>
              <a:off x="9427587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89FB29FB-77C1-A453-1C67-0E63C667D524}"/>
                </a:ext>
              </a:extLst>
            </p:cNvPr>
            <p:cNvCxnSpPr>
              <a:cxnSpLocks/>
              <a:stCxn id="168" idx="2"/>
              <a:endCxn id="149" idx="0"/>
            </p:cNvCxnSpPr>
            <p:nvPr/>
          </p:nvCxnSpPr>
          <p:spPr>
            <a:xfrm>
              <a:off x="9731495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CB62160-267F-544A-9A93-0763786AC906}"/>
                </a:ext>
              </a:extLst>
            </p:cNvPr>
            <p:cNvCxnSpPr>
              <a:cxnSpLocks/>
              <a:stCxn id="149" idx="2"/>
              <a:endCxn id="150" idx="0"/>
            </p:cNvCxnSpPr>
            <p:nvPr/>
          </p:nvCxnSpPr>
          <p:spPr>
            <a:xfrm>
              <a:off x="9731495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사각형: 둥근 모서리 638">
              <a:extLst>
                <a:ext uri="{FF2B5EF4-FFF2-40B4-BE49-F238E27FC236}">
                  <a16:creationId xmlns:a16="http://schemas.microsoft.com/office/drawing/2014/main" id="{49EA24B3-219A-F7E2-2027-B24A5AD179E7}"/>
                </a:ext>
              </a:extLst>
            </p:cNvPr>
            <p:cNvSpPr/>
            <p:nvPr/>
          </p:nvSpPr>
          <p:spPr>
            <a:xfrm>
              <a:off x="9183078" y="3855194"/>
              <a:ext cx="414421" cy="179061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사각형: 둥근 모서리 639">
              <a:extLst>
                <a:ext uri="{FF2B5EF4-FFF2-40B4-BE49-F238E27FC236}">
                  <a16:creationId xmlns:a16="http://schemas.microsoft.com/office/drawing/2014/main" id="{0D606227-C1CE-8E17-9CEB-29BB9E6AF162}"/>
                </a:ext>
              </a:extLst>
            </p:cNvPr>
            <p:cNvSpPr/>
            <p:nvPr/>
          </p:nvSpPr>
          <p:spPr>
            <a:xfrm>
              <a:off x="9865491" y="3855194"/>
              <a:ext cx="414421" cy="179061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5" name="연결선: 꺾임 640">
              <a:extLst>
                <a:ext uri="{FF2B5EF4-FFF2-40B4-BE49-F238E27FC236}">
                  <a16:creationId xmlns:a16="http://schemas.microsoft.com/office/drawing/2014/main" id="{1D8F5F03-93D5-102D-ED7B-17B318911DBB}"/>
                </a:ext>
              </a:extLst>
            </p:cNvPr>
            <p:cNvCxnSpPr>
              <a:cxnSpLocks/>
              <a:stCxn id="153" idx="2"/>
            </p:cNvCxnSpPr>
            <p:nvPr/>
          </p:nvCxnSpPr>
          <p:spPr>
            <a:xfrm rot="16200000" flipH="1">
              <a:off x="9471197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연결선: 꺾임 641">
              <a:extLst>
                <a:ext uri="{FF2B5EF4-FFF2-40B4-BE49-F238E27FC236}">
                  <a16:creationId xmlns:a16="http://schemas.microsoft.com/office/drawing/2014/main" id="{BB8924AA-A395-742D-D080-B0D7809D29C3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 rot="5400000">
              <a:off x="981240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18DFF22-9D74-4B7E-5DCE-A01670FD90BC}"/>
                </a:ext>
              </a:extLst>
            </p:cNvPr>
            <p:cNvSpPr txBox="1"/>
            <p:nvPr/>
          </p:nvSpPr>
          <p:spPr>
            <a:xfrm>
              <a:off x="9899557" y="4275861"/>
              <a:ext cx="349066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 defTabSz="457200" latinLnBrk="0"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8" name="연결선: 꺾임 643">
              <a:extLst>
                <a:ext uri="{FF2B5EF4-FFF2-40B4-BE49-F238E27FC236}">
                  <a16:creationId xmlns:a16="http://schemas.microsoft.com/office/drawing/2014/main" id="{31665EF3-7700-0517-2270-C5950B12A8BB}"/>
                </a:ext>
              </a:extLst>
            </p:cNvPr>
            <p:cNvCxnSpPr>
              <a:cxnSpLocks/>
              <a:stCxn id="172" idx="2"/>
              <a:endCxn id="153" idx="0"/>
            </p:cNvCxnSpPr>
            <p:nvPr/>
          </p:nvCxnSpPr>
          <p:spPr>
            <a:xfrm rot="5400000">
              <a:off x="9493995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연결선: 꺾임 644">
              <a:extLst>
                <a:ext uri="{FF2B5EF4-FFF2-40B4-BE49-F238E27FC236}">
                  <a16:creationId xmlns:a16="http://schemas.microsoft.com/office/drawing/2014/main" id="{161F1B24-B68C-91CE-72C3-DEF9D3DF77DD}"/>
                </a:ext>
              </a:extLst>
            </p:cNvPr>
            <p:cNvCxnSpPr>
              <a:cxnSpLocks/>
              <a:stCxn id="173" idx="2"/>
              <a:endCxn id="154" idx="0"/>
            </p:cNvCxnSpPr>
            <p:nvPr/>
          </p:nvCxnSpPr>
          <p:spPr>
            <a:xfrm rot="16200000" flipH="1">
              <a:off x="985900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FCB6B7B-D011-4CD3-ED6E-05D1665625CD}"/>
                </a:ext>
              </a:extLst>
            </p:cNvPr>
            <p:cNvGrpSpPr/>
            <p:nvPr/>
          </p:nvGrpSpPr>
          <p:grpSpPr>
            <a:xfrm>
              <a:off x="968682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F02A30C-E12F-CD08-8923-E8B01D0E6EA2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F9FD87-86BB-2F6E-0318-F93DC747486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15EF8F83-0F4D-1C83-DDB2-62517ABF3950}"/>
                </a:ext>
              </a:extLst>
            </p:cNvPr>
            <p:cNvCxnSpPr/>
            <p:nvPr/>
          </p:nvCxnSpPr>
          <p:spPr>
            <a:xfrm>
              <a:off x="8484764" y="4313057"/>
              <a:ext cx="1150483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3FDD66AC-6351-D802-ACA7-00C2ACB56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4766" y="4387652"/>
              <a:ext cx="1140362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triangle" w="sm" len="sm"/>
              <a:tailEnd type="non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A8D82B1-210A-531C-180D-3F0D885B4F85}"/>
                </a:ext>
              </a:extLst>
            </p:cNvPr>
            <p:cNvGrpSpPr/>
            <p:nvPr/>
          </p:nvGrpSpPr>
          <p:grpSpPr>
            <a:xfrm>
              <a:off x="8418289" y="4534316"/>
              <a:ext cx="1264912" cy="322592"/>
              <a:chOff x="4559764" y="3825875"/>
              <a:chExt cx="882186" cy="224984"/>
            </a:xfrm>
          </p:grpSpPr>
          <p:sp>
            <p:nvSpPr>
              <p:cNvPr id="169" name="사각형: 둥근 모서리 651">
                <a:extLst>
                  <a:ext uri="{FF2B5EF4-FFF2-40B4-BE49-F238E27FC236}">
                    <a16:creationId xmlns:a16="http://schemas.microsoft.com/office/drawing/2014/main" id="{8C4A9B7F-BF0C-9845-7383-D2284D0EE78F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0" name="Freeform 10">
                <a:extLst>
                  <a:ext uri="{FF2B5EF4-FFF2-40B4-BE49-F238E27FC236}">
                    <a16:creationId xmlns:a16="http://schemas.microsoft.com/office/drawing/2014/main" id="{4E4F7ECD-44D2-18AE-4D74-491194E9BCD5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C897EF1-0100-79EB-ECE8-4B5A9505A50E}"/>
                  </a:ext>
                </a:extLst>
              </p:cNvPr>
              <p:cNvSpPr txBox="1"/>
              <p:nvPr/>
            </p:nvSpPr>
            <p:spPr>
              <a:xfrm>
                <a:off x="4737796" y="3884827"/>
                <a:ext cx="526127" cy="16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전환 시 기동</a:t>
                </a:r>
              </a:p>
            </p:txBody>
          </p:sp>
        </p:grpSp>
        <p:sp>
          <p:nvSpPr>
            <p:cNvPr id="164" name="자유형: 도형 709">
              <a:extLst>
                <a:ext uri="{FF2B5EF4-FFF2-40B4-BE49-F238E27FC236}">
                  <a16:creationId xmlns:a16="http://schemas.microsoft.com/office/drawing/2014/main" id="{99867812-7299-3953-7B06-1DB628093886}"/>
                </a:ext>
              </a:extLst>
            </p:cNvPr>
            <p:cNvSpPr/>
            <p:nvPr/>
          </p:nvSpPr>
          <p:spPr>
            <a:xfrm flipH="1">
              <a:off x="8391980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5" name="자유형: 도형 710">
              <a:extLst>
                <a:ext uri="{FF2B5EF4-FFF2-40B4-BE49-F238E27FC236}">
                  <a16:creationId xmlns:a16="http://schemas.microsoft.com/office/drawing/2014/main" id="{0208AEEE-C30B-678E-9144-3086627A7C62}"/>
                </a:ext>
              </a:extLst>
            </p:cNvPr>
            <p:cNvSpPr/>
            <p:nvPr/>
          </p:nvSpPr>
          <p:spPr>
            <a:xfrm>
              <a:off x="9380373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자유형: 도형 711">
              <a:extLst>
                <a:ext uri="{FF2B5EF4-FFF2-40B4-BE49-F238E27FC236}">
                  <a16:creationId xmlns:a16="http://schemas.microsoft.com/office/drawing/2014/main" id="{99D3378D-B261-1E9A-7083-F2944F94BC23}"/>
                </a:ext>
              </a:extLst>
            </p:cNvPr>
            <p:cNvSpPr/>
            <p:nvPr/>
          </p:nvSpPr>
          <p:spPr>
            <a:xfrm flipH="1">
              <a:off x="9765784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7" name="사각형: 둥근 모서리 633">
              <a:extLst>
                <a:ext uri="{FF2B5EF4-FFF2-40B4-BE49-F238E27FC236}">
                  <a16:creationId xmlns:a16="http://schemas.microsoft.com/office/drawing/2014/main" id="{5733E982-4912-8A86-A915-22B24A05A670}"/>
                </a:ext>
              </a:extLst>
            </p:cNvPr>
            <p:cNvSpPr/>
            <p:nvPr/>
          </p:nvSpPr>
          <p:spPr>
            <a:xfrm>
              <a:off x="8054596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사각형: 둥근 모서리 650">
              <a:extLst>
                <a:ext uri="{FF2B5EF4-FFF2-40B4-BE49-F238E27FC236}">
                  <a16:creationId xmlns:a16="http://schemas.microsoft.com/office/drawing/2014/main" id="{AB5B85F8-AFC1-12AC-C39E-28C474095325}"/>
                </a:ext>
              </a:extLst>
            </p:cNvPr>
            <p:cNvSpPr/>
            <p:nvPr/>
          </p:nvSpPr>
          <p:spPr>
            <a:xfrm>
              <a:off x="9427587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" name="AS_p_m1_m_r">
              <a:extLst>
                <a:ext uri="{FF2B5EF4-FFF2-40B4-BE49-F238E27FC236}">
                  <a16:creationId xmlns:a16="http://schemas.microsoft.com/office/drawing/2014/main" id="{6D9A6533-FCA9-A3D2-B25E-258F8286D09E}"/>
                </a:ext>
              </a:extLst>
            </p:cNvPr>
            <p:cNvSpPr/>
            <p:nvPr/>
          </p:nvSpPr>
          <p:spPr>
            <a:xfrm flipH="1">
              <a:off x="5529165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soli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AS_p_m1_d_l">
              <a:extLst>
                <a:ext uri="{FF2B5EF4-FFF2-40B4-BE49-F238E27FC236}">
                  <a16:creationId xmlns:a16="http://schemas.microsoft.com/office/drawing/2014/main" id="{0C50568D-F242-0BD9-7A42-535BFAB1BDD9}"/>
                </a:ext>
              </a:extLst>
            </p:cNvPr>
            <p:cNvSpPr/>
            <p:nvPr/>
          </p:nvSpPr>
          <p:spPr>
            <a:xfrm>
              <a:off x="6525279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AS_p_m1_d_r">
              <a:extLst>
                <a:ext uri="{FF2B5EF4-FFF2-40B4-BE49-F238E27FC236}">
                  <a16:creationId xmlns:a16="http://schemas.microsoft.com/office/drawing/2014/main" id="{39A1D193-1BDF-2288-CCCF-76A6F5A89C39}"/>
                </a:ext>
              </a:extLst>
            </p:cNvPr>
            <p:cNvSpPr/>
            <p:nvPr/>
          </p:nvSpPr>
          <p:spPr>
            <a:xfrm flipH="1">
              <a:off x="6905375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1DECB0F-E5D8-189A-EAD8-FC525106F44F}"/>
              </a:ext>
            </a:extLst>
          </p:cNvPr>
          <p:cNvSpPr/>
          <p:nvPr/>
        </p:nvSpPr>
        <p:spPr>
          <a:xfrm>
            <a:off x="1372400" y="2095986"/>
            <a:ext cx="2780106" cy="4330700"/>
          </a:xfrm>
          <a:prstGeom prst="rect">
            <a:avLst/>
          </a:prstGeom>
          <a:noFill/>
          <a:ln w="381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38100" cap="flat" cmpd="sng" algn="ctr">
                <a:solidFill>
                  <a:srgbClr val="1F459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6A212C-02EA-6E82-6FDA-2DEBCC723ED2}"/>
              </a:ext>
            </a:extLst>
          </p:cNvPr>
          <p:cNvSpPr/>
          <p:nvPr/>
        </p:nvSpPr>
        <p:spPr>
          <a:xfrm>
            <a:off x="1344850" y="2067410"/>
            <a:ext cx="5587762" cy="435260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08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3.3.4.1 </a:t>
            </a:r>
            <a:r>
              <a:rPr lang="ko-KR" altLang="en-US" dirty="0">
                <a:solidFill>
                  <a:srgbClr val="000000"/>
                </a:solidFill>
              </a:rPr>
              <a:t>응용서비스 유형별 </a:t>
            </a:r>
            <a:r>
              <a:rPr lang="en-US" altLang="ko-KR" dirty="0">
                <a:solidFill>
                  <a:srgbClr val="000000"/>
                </a:solidFill>
              </a:rPr>
              <a:t>A-A/A-S </a:t>
            </a:r>
            <a:r>
              <a:rPr lang="ko-KR" altLang="en-US" dirty="0">
                <a:solidFill>
                  <a:srgbClr val="000000"/>
                </a:solidFill>
              </a:rPr>
              <a:t>방안 설계 </a:t>
            </a:r>
            <a:r>
              <a:rPr lang="en-US" altLang="ko-KR" dirty="0">
                <a:solidFill>
                  <a:srgbClr val="000000"/>
                </a:solidFill>
              </a:rPr>
              <a:t>(7/7)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주센터와 동일한 </a:t>
            </a:r>
            <a:r>
              <a:rPr lang="en-US" altLang="ko-KR" dirty="0"/>
              <a:t>3-Tier </a:t>
            </a:r>
            <a:r>
              <a:rPr lang="ko-KR" altLang="en-US" dirty="0"/>
              <a:t>응용 구조를 </a:t>
            </a:r>
            <a:r>
              <a:rPr lang="en-US" altLang="ko-KR" dirty="0"/>
              <a:t>DR</a:t>
            </a:r>
            <a:r>
              <a:rPr lang="ko-KR" altLang="en-US" dirty="0"/>
              <a:t>센터에 구성하고</a:t>
            </a:r>
            <a:r>
              <a:rPr lang="en-US" altLang="ko-KR" dirty="0"/>
              <a:t>, </a:t>
            </a:r>
            <a:r>
              <a:rPr lang="ko-KR" altLang="en-US" dirty="0"/>
              <a:t>서비스 등급별</a:t>
            </a:r>
            <a:r>
              <a:rPr lang="en-US" altLang="ko-KR" dirty="0"/>
              <a:t>(A1 Hot Standby · A2 Warm · A4 </a:t>
            </a:r>
            <a:r>
              <a:rPr lang="ko-KR" altLang="en-US" dirty="0"/>
              <a:t>원격 소산</a:t>
            </a:r>
            <a:r>
              <a:rPr lang="en-US" altLang="ko-KR" dirty="0"/>
              <a:t>) </a:t>
            </a:r>
            <a:r>
              <a:rPr lang="ko-KR" altLang="en-US" dirty="0"/>
              <a:t>기동 상태를 차등 적용하여 </a:t>
            </a:r>
            <a:r>
              <a:rPr lang="en-US" altLang="ko-KR" dirty="0"/>
              <a:t>GSLB </a:t>
            </a:r>
            <a:r>
              <a:rPr lang="ko-KR" altLang="en-US" dirty="0"/>
              <a:t>기반으로 센터를 전환함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아키텍처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(A-S)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주센터와 동일한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3-Tier(WEB · WAS · DB)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구조를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구성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A1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응용 상시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(Hot Standby), A2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WEB·WAS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만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(Warm,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 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상용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), A4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백업 소산 후 복구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기반 센터 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 산출물로 센터 간 동일 버전 유지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정책 센터 간 동일 적용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불일치 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복호화 불가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6" name="AR_u0">
            <a:extLst>
              <a:ext uri="{FF2B5EF4-FFF2-40B4-BE49-F238E27FC236}">
                <a16:creationId xmlns:a16="http://schemas.microsoft.com/office/drawing/2014/main" id="{ABAF4587-512F-E9BF-3450-1EBE0E32F074}"/>
              </a:ext>
            </a:extLst>
          </p:cNvPr>
          <p:cNvSpPr/>
          <p:nvPr/>
        </p:nvSpPr>
        <p:spPr>
          <a:xfrm>
            <a:off x="3683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인터넷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무인민원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AR_u1">
            <a:extLst>
              <a:ext uri="{FF2B5EF4-FFF2-40B4-BE49-F238E27FC236}">
                <a16:creationId xmlns:a16="http://schemas.microsoft.com/office/drawing/2014/main" id="{D2800ED5-774D-5F3A-46AD-B3CBA0BFBCC9}"/>
              </a:ext>
            </a:extLst>
          </p:cNvPr>
          <p:cNvSpPr/>
          <p:nvPr/>
        </p:nvSpPr>
        <p:spPr>
          <a:xfrm>
            <a:off x="26416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지자체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AR_u2">
            <a:extLst>
              <a:ext uri="{FF2B5EF4-FFF2-40B4-BE49-F238E27FC236}">
                <a16:creationId xmlns:a16="http://schemas.microsoft.com/office/drawing/2014/main" id="{49C2289A-D636-52C7-BC8E-4C3383D26EAE}"/>
              </a:ext>
            </a:extLst>
          </p:cNvPr>
          <p:cNvSpPr/>
          <p:nvPr/>
        </p:nvSpPr>
        <p:spPr>
          <a:xfrm>
            <a:off x="49149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(624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438400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</a:t>
            </a:r>
            <a:r>
              <a:rPr lang="ko-KR" altLang="en-US" sz="800" b="1" dirty="0" err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100% · 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12" name="AR_ua0">
            <a:extLst>
              <a:ext uri="{FF2B5EF4-FFF2-40B4-BE49-F238E27FC236}">
                <a16:creationId xmlns:a16="http://schemas.microsoft.com/office/drawing/2014/main" id="{2C771898-4B6D-3584-4E87-A5B9666C6CB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20800" y="2298700"/>
            <a:ext cx="1003300" cy="254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R_ua1">
            <a:extLst>
              <a:ext uri="{FF2B5EF4-FFF2-40B4-BE49-F238E27FC236}">
                <a16:creationId xmlns:a16="http://schemas.microsoft.com/office/drawing/2014/main" id="{A6286845-6E9F-1128-AE58-538F1F0BD099}"/>
              </a:ext>
            </a:extLst>
          </p:cNvPr>
          <p:cNvCxnSpPr/>
          <p:nvPr/>
        </p:nvCxnSpPr>
        <p:spPr>
          <a:xfrm>
            <a:off x="3594100" y="2298700"/>
            <a:ext cx="0" cy="1397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R_ua2">
            <a:extLst>
              <a:ext uri="{FF2B5EF4-FFF2-40B4-BE49-F238E27FC236}">
                <a16:creationId xmlns:a16="http://schemas.microsoft.com/office/drawing/2014/main" id="{5EA34AF5-288D-F460-94C4-FC2406FB741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864100" y="2298700"/>
            <a:ext cx="1003300" cy="254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 2.4)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 7.4)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2" name="AR_m_c0">
            <a:extLst>
              <a:ext uri="{FF2B5EF4-FFF2-40B4-BE49-F238E27FC236}">
                <a16:creationId xmlns:a16="http://schemas.microsoft.com/office/drawing/2014/main" id="{6DE3E6F7-B7DC-0CF5-4B60-EE4476E35BC0}"/>
              </a:ext>
            </a:extLst>
          </p:cNvPr>
          <p:cNvSpPr/>
          <p:nvPr/>
        </p:nvSpPr>
        <p:spPr>
          <a:xfrm>
            <a:off x="444500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 7.4)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3" name="AR_m_c1">
            <a:extLst>
              <a:ext uri="{FF2B5EF4-FFF2-40B4-BE49-F238E27FC236}">
                <a16:creationId xmlns:a16="http://schemas.microsoft.com/office/drawing/2014/main" id="{C672F000-3A29-0D39-AA29-3F05E5A5863E}"/>
              </a:ext>
            </a:extLst>
          </p:cNvPr>
          <p:cNvSpPr/>
          <p:nvPr/>
        </p:nvSpPr>
        <p:spPr>
          <a:xfrm>
            <a:off x="1380067" y="4648200"/>
            <a:ext cx="897466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(MapPrime)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4" name="AR_m_c2">
            <a:extLst>
              <a:ext uri="{FF2B5EF4-FFF2-40B4-BE49-F238E27FC236}">
                <a16:creationId xmlns:a16="http://schemas.microsoft.com/office/drawing/2014/main" id="{305E6740-32E5-FBA1-573E-5F866DEF7EF4}"/>
              </a:ext>
            </a:extLst>
          </p:cNvPr>
          <p:cNvSpPr/>
          <p:nvPr/>
        </p:nvSpPr>
        <p:spPr>
          <a:xfrm>
            <a:off x="2315633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CubeOne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44500" y="4978400"/>
            <a:ext cx="2768600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819400"/>
            <a:ext cx="2921000" cy="203200"/>
          </a:xfrm>
          <a:prstGeom prst="rect">
            <a:avLst/>
          </a:prstGeom>
          <a:solidFill>
            <a:srgbClr val="7F7F7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(A1 Hot Standby)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 2.4)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 7.4)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Hot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Warm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4000500"/>
            <a:ext cx="1168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4000500"/>
            <a:ext cx="1168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소산</a:t>
            </a: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4305300"/>
            <a:ext cx="2374900" cy="254000"/>
          </a:xfrm>
          <a:prstGeom prst="rect">
            <a:avLst/>
          </a:prstGeom>
          <a:solidFill>
            <a:srgbClr val="E6E6E7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 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백업 소산 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후 기동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>
              <a:solidFill>
                <a:srgbClr val="8C8C8C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2" name="AR_d_c0">
            <a:extLst>
              <a:ext uri="{FF2B5EF4-FFF2-40B4-BE49-F238E27FC236}">
                <a16:creationId xmlns:a16="http://schemas.microsoft.com/office/drawing/2014/main" id="{E35C1459-8A30-49B1-40F7-EE682A60DF23}"/>
              </a:ext>
            </a:extLst>
          </p:cNvPr>
          <p:cNvSpPr/>
          <p:nvPr/>
        </p:nvSpPr>
        <p:spPr>
          <a:xfrm>
            <a:off x="3975100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 7.4)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AR_d_c1">
            <a:extLst>
              <a:ext uri="{FF2B5EF4-FFF2-40B4-BE49-F238E27FC236}">
                <a16:creationId xmlns:a16="http://schemas.microsoft.com/office/drawing/2014/main" id="{8D3FE3A3-8530-5558-C842-501C1D14C494}"/>
              </a:ext>
            </a:extLst>
          </p:cNvPr>
          <p:cNvSpPr/>
          <p:nvPr/>
        </p:nvSpPr>
        <p:spPr>
          <a:xfrm>
            <a:off x="4910667" y="4648200"/>
            <a:ext cx="897466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4" name="AR_d_c2">
            <a:extLst>
              <a:ext uri="{FF2B5EF4-FFF2-40B4-BE49-F238E27FC236}">
                <a16:creationId xmlns:a16="http://schemas.microsoft.com/office/drawing/2014/main" id="{AFCA2F3B-18A9-703D-8E3A-E597E11C2DC0}"/>
              </a:ext>
            </a:extLst>
          </p:cNvPr>
          <p:cNvSpPr/>
          <p:nvPr/>
        </p:nvSpPr>
        <p:spPr>
          <a:xfrm>
            <a:off x="5846233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CubeOne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3975100" y="4978400"/>
            <a:ext cx="2768600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667000"/>
            <a:ext cx="1003300" cy="152400"/>
          </a:xfrm>
          <a:prstGeom prst="straightConnector1">
            <a:avLst/>
          </a:prstGeom>
          <a:ln w="158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R_rs">
            <a:extLst>
              <a:ext uri="{FF2B5EF4-FFF2-40B4-BE49-F238E27FC236}">
                <a16:creationId xmlns:a16="http://schemas.microsoft.com/office/drawing/2014/main" id="{5515E07B-A808-3466-D237-8C3027CF57FE}"/>
              </a:ext>
            </a:extLst>
          </p:cNvPr>
          <p:cNvCxnSpPr/>
          <p:nvPr/>
        </p:nvCxnSpPr>
        <p:spPr>
          <a:xfrm>
            <a:off x="3289300" y="4762500"/>
            <a:ext cx="609600" cy="0"/>
          </a:xfrm>
          <a:prstGeom prst="straightConnector1">
            <a:avLst/>
          </a:prstGeom>
          <a:ln w="12700">
            <a:solidFill>
              <a:srgbClr val="2E7A9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_rsl">
            <a:extLst>
              <a:ext uri="{FF2B5EF4-FFF2-40B4-BE49-F238E27FC236}">
                <a16:creationId xmlns:a16="http://schemas.microsoft.com/office/drawing/2014/main" id="{764D52DA-317E-F00C-75D9-21F867D42267}"/>
              </a:ext>
            </a:extLst>
          </p:cNvPr>
          <p:cNvSpPr txBox="1"/>
          <p:nvPr/>
        </p:nvSpPr>
        <p:spPr>
          <a:xfrm>
            <a:off x="3302000" y="4488562"/>
            <a:ext cx="584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</a:t>
            </a:r>
          </a:p>
          <a:p>
            <a:pPr algn="ctr"/>
            <a:r>
              <a:rPr lang="ko-KR" altLang="en-US" sz="800" b="1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</a:t>
            </a:r>
          </a:p>
        </p:txBody>
      </p: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289300" y="5168900"/>
            <a:ext cx="609600" cy="0"/>
          </a:xfrm>
          <a:prstGeom prst="straightConnector1">
            <a:avLst/>
          </a:prstGeom>
          <a:ln w="12700">
            <a:solidFill>
              <a:srgbClr val="2E7A9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302000" y="4962073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</a:t>
            </a:r>
          </a:p>
        </p:txBody>
      </p:sp>
      <p:sp>
        <p:nvSpPr>
          <p:cNvPr id="63" name="AR_deploy">
            <a:extLst>
              <a:ext uri="{FF2B5EF4-FFF2-40B4-BE49-F238E27FC236}">
                <a16:creationId xmlns:a16="http://schemas.microsoft.com/office/drawing/2014/main" id="{5E6D242F-297F-B31E-16B7-9AC074DA1C27}"/>
              </a:ext>
            </a:extLst>
          </p:cNvPr>
          <p:cNvSpPr/>
          <p:nvPr/>
        </p:nvSpPr>
        <p:spPr>
          <a:xfrm>
            <a:off x="368300" y="563880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Nexus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 빌드 산출물 → 센터 간 동일 버전 배포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일치 점검</a:t>
            </a:r>
          </a:p>
        </p:txBody>
      </p:sp>
      <p:sp>
        <p:nvSpPr>
          <p:cNvPr id="64" name="AR_legend">
            <a:extLst>
              <a:ext uri="{FF2B5EF4-FFF2-40B4-BE49-F238E27FC236}">
                <a16:creationId xmlns:a16="http://schemas.microsoft.com/office/drawing/2014/main" id="{FEB07F40-18D7-2F34-A995-8FAD585BDFE5}"/>
              </a:ext>
            </a:extLst>
          </p:cNvPr>
          <p:cNvSpPr txBox="1"/>
          <p:nvPr/>
        </p:nvSpPr>
        <p:spPr>
          <a:xfrm>
            <a:off x="368300" y="5970944"/>
            <a:ext cx="645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상태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채움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상시 기동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(Hot Standby) /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점선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WEB·WAS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만 기동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(Warm) /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회색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미기동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후 기동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원격 소산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  <a:endParaRPr lang="ko-KR" altLang="en-US" sz="4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3" name="AR_flow_m">
            <a:extLst>
              <a:ext uri="{FF2B5EF4-FFF2-40B4-BE49-F238E27FC236}">
                <a16:creationId xmlns:a16="http://schemas.microsoft.com/office/drawing/2014/main" id="{2D2DB6B4-3076-948F-D1D6-7E4DCD82CABF}"/>
              </a:ext>
            </a:extLst>
          </p:cNvPr>
          <p:cNvCxnSpPr>
            <a:cxnSpLocks/>
          </p:cNvCxnSpPr>
          <p:nvPr/>
        </p:nvCxnSpPr>
        <p:spPr>
          <a:xfrm>
            <a:off x="406400" y="3136900"/>
            <a:ext cx="0" cy="1912280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AR_flow_d">
            <a:extLst>
              <a:ext uri="{FF2B5EF4-FFF2-40B4-BE49-F238E27FC236}">
                <a16:creationId xmlns:a16="http://schemas.microsoft.com/office/drawing/2014/main" id="{78B7AC85-8BE2-4009-7FF7-AA53F6B336AE}"/>
              </a:ext>
            </a:extLst>
          </p:cNvPr>
          <p:cNvCxnSpPr>
            <a:cxnSpLocks/>
          </p:cNvCxnSpPr>
          <p:nvPr/>
        </p:nvCxnSpPr>
        <p:spPr>
          <a:xfrm>
            <a:off x="3937000" y="3176972"/>
            <a:ext cx="0" cy="1872208"/>
          </a:xfrm>
          <a:prstGeom prst="straightConnector1">
            <a:avLst/>
          </a:prstGeom>
          <a:ln w="38100">
            <a:solidFill>
              <a:srgbClr val="FF8000"/>
            </a:solidFill>
            <a:prstDash val="dash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AR_g2m">
            <a:extLst>
              <a:ext uri="{FF2B5EF4-FFF2-40B4-BE49-F238E27FC236}">
                <a16:creationId xmlns:a16="http://schemas.microsoft.com/office/drawing/2014/main" id="{B7971817-B2AA-372C-AC71-1519765F4A0E}"/>
              </a:ext>
            </a:extLst>
          </p:cNvPr>
          <p:cNvCxnSpPr/>
          <p:nvPr/>
        </p:nvCxnSpPr>
        <p:spPr>
          <a:xfrm flipH="1">
            <a:off x="1828800" y="2667000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R_rdl">
            <a:extLst>
              <a:ext uri="{FF2B5EF4-FFF2-40B4-BE49-F238E27FC236}">
                <a16:creationId xmlns:a16="http://schemas.microsoft.com/office/drawing/2014/main" id="{7303E59A-202D-600D-3E6A-AB876473610A}"/>
              </a:ext>
            </a:extLst>
          </p:cNvPr>
          <p:cNvSpPr txBox="1"/>
          <p:nvPr/>
        </p:nvSpPr>
        <p:spPr>
          <a:xfrm>
            <a:off x="3296816" y="5286109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키 동기화</a:t>
            </a:r>
          </a:p>
        </p:txBody>
      </p:sp>
    </p:spTree>
    <p:extLst>
      <p:ext uri="{BB962C8B-B14F-4D97-AF65-F5344CB8AC3E}">
        <p14:creationId xmlns:p14="http://schemas.microsoft.com/office/powerpoint/2010/main" val="407967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3.3.4.2 </a:t>
            </a:r>
            <a:r>
              <a:rPr lang="ko-KR" altLang="en-US" dirty="0"/>
              <a:t>응용서비스 유형별 </a:t>
            </a:r>
            <a:r>
              <a:rPr lang="en-US" altLang="ko-KR" dirty="0"/>
              <a:t>A-A/A-S </a:t>
            </a:r>
            <a:r>
              <a:rPr lang="ko-KR" altLang="en-US" dirty="0"/>
              <a:t>방안 설계 </a:t>
            </a:r>
            <a:r>
              <a:rPr lang="en-US" altLang="ko-KR" dirty="0"/>
              <a:t>&gt; </a:t>
            </a:r>
            <a:r>
              <a:rPr lang="ko-KR" altLang="en-US" dirty="0"/>
              <a:t>상용</a:t>
            </a:r>
            <a:r>
              <a:rPr lang="en-US" altLang="ko-KR" dirty="0"/>
              <a:t>SW </a:t>
            </a:r>
            <a:r>
              <a:rPr lang="ko-KR" altLang="en-US" dirty="0"/>
              <a:t>라이선스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CF43A3-814F-253A-489D-2073056FE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DR </a:t>
            </a:r>
            <a:r>
              <a:rPr lang="ko-KR" altLang="en-US" dirty="0"/>
              <a:t>구성을 제약하거나 비용을 결정하는 지점을 식별하고</a:t>
            </a:r>
            <a:r>
              <a:rPr lang="en-US" altLang="ko-KR" dirty="0"/>
              <a:t>, </a:t>
            </a:r>
            <a:r>
              <a:rPr lang="ko-KR" altLang="en-US" dirty="0"/>
              <a:t>서비스별 </a:t>
            </a:r>
            <a:r>
              <a:rPr lang="en-US" altLang="ko-KR" dirty="0"/>
              <a:t>DR </a:t>
            </a:r>
            <a:r>
              <a:rPr lang="ko-KR" altLang="en-US" dirty="0"/>
              <a:t>구성안과 라이선스 소요 산정에 반영함</a:t>
            </a:r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EE7BCBAA-3F4E-1FAB-CACF-5F64CF9967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대상 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en-US" altLang="ko-KR" sz="10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· </a:t>
            </a:r>
            <a:r>
              <a:rPr lang="en-US" altLang="ko-KR" sz="10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OZReport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· </a:t>
            </a:r>
            <a:r>
              <a:rPr lang="en-US" altLang="ko-KR" sz="10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· </a:t>
            </a:r>
            <a:r>
              <a:rPr lang="en-US" altLang="ko-KR" sz="10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TrustCertificate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· </a:t>
            </a:r>
            <a:r>
              <a:rPr lang="ko-KR" altLang="en-US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보이스코드 </a:t>
            </a: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en-US" altLang="ko-KR" sz="10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Crosscert</a:t>
            </a:r>
            <a:r>
              <a:rPr lang="en-US" altLang="ko-KR" sz="1000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·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Jennifer · </a:t>
            </a:r>
            <a:r>
              <a:rPr lang="en-US" altLang="ko-KR" sz="100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MaxGauge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· Scouter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 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DR</a:t>
            </a: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기동 제약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양쪽 모서리가 둥근 사각형 101">
            <a:extLst>
              <a:ext uri="{FF2B5EF4-FFF2-40B4-BE49-F238E27FC236}">
                <a16:creationId xmlns:a16="http://schemas.microsoft.com/office/drawing/2014/main" id="{369F17BF-AB2B-F3C6-5B99-D6338A444F4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상용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라이선스 및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구성 고려사항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1A66B9F-FF9F-880F-22FA-96EADF5354B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 키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정책서버 센터 간 일치 최우선 확인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벤더 질의로 기동 제약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 모드별 라이선스 확인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SW DR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 고려사항표 작성 → 서비스별 구성안 제약 조건 반영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라이선스 소요 목록 정의 → 이행계획 예산 산정 입력</a:t>
            </a:r>
          </a:p>
        </p:txBody>
      </p:sp>
      <p:sp>
        <p:nvSpPr>
          <p:cNvPr id="10" name="양쪽 모서리가 둥근 사각형 101">
            <a:extLst>
              <a:ext uri="{FF2B5EF4-FFF2-40B4-BE49-F238E27FC236}">
                <a16:creationId xmlns:a16="http://schemas.microsoft.com/office/drawing/2014/main" id="{722025B7-5E96-8296-C837-59D59BA99DF3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1" name="기동제약_하단텍스트">
            <a:extLst>
              <a:ext uri="{FF2B5EF4-FFF2-40B4-BE49-F238E27FC236}">
                <a16:creationId xmlns:a16="http://schemas.microsoft.com/office/drawing/2014/main" id="{0F31A207-1613-ACD5-13D1-7B369D81140F}"/>
              </a:ext>
            </a:extLst>
          </p:cNvPr>
          <p:cNvSpPr/>
          <p:nvPr/>
        </p:nvSpPr>
        <p:spPr bwMode="auto">
          <a:xfrm>
            <a:off x="272999" y="4126598"/>
            <a:ext cx="6659617" cy="1803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7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운영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모드별 라이선스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2" name="기동제약_표">
            <a:extLst>
              <a:ext uri="{FF2B5EF4-FFF2-40B4-BE49-F238E27FC236}">
                <a16:creationId xmlns:a16="http://schemas.microsoft.com/office/drawing/2014/main" id="{A67DFE11-28DA-E221-4228-33F0BBEE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257310"/>
              </p:ext>
            </p:extLst>
          </p:nvPr>
        </p:nvGraphicFramePr>
        <p:xfrm>
          <a:off x="374599" y="2810878"/>
          <a:ext cx="6451600" cy="126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6053">
                  <a:extLst>
                    <a:ext uri="{9D8B030D-6E8A-4147-A177-3AD203B41FA5}">
                      <a16:colId xmlns:a16="http://schemas.microsoft.com/office/drawing/2014/main" val="1051475715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695411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889446219"/>
                    </a:ext>
                  </a:extLst>
                </a:gridCol>
                <a:gridCol w="469043">
                  <a:extLst>
                    <a:ext uri="{9D8B030D-6E8A-4147-A177-3AD203B41FA5}">
                      <a16:colId xmlns:a16="http://schemas.microsoft.com/office/drawing/2014/main" val="40687559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제약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증상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대상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영향도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008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불일치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복호화 불가 → 조회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전면 중단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069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고정 라이선스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MAC·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호스트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ID·IP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다른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서버에서 기동 거부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VM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시 무효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67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서버 의존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서버가 주센터에만 있으면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센터도 기동 불가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2801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바인딩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도메인은 복사 설치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IP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바인딩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센터용 재발급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TrustCertificate · Crosscert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4643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동시 기동 제한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기동 불가 → 해당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사용 서비스는 조회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불가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68942"/>
                  </a:ext>
                </a:extLst>
              </a:tr>
            </a:tbl>
          </a:graphicData>
        </a:graphic>
      </p:graphicFrame>
      <p:sp>
        <p:nvSpPr>
          <p:cNvPr id="13" name="라이선스_하단텍스트">
            <a:extLst>
              <a:ext uri="{FF2B5EF4-FFF2-40B4-BE49-F238E27FC236}">
                <a16:creationId xmlns:a16="http://schemas.microsoft.com/office/drawing/2014/main" id="{89254E04-0C89-6A1E-96E0-67139FD019CC}"/>
              </a:ext>
            </a:extLst>
          </p:cNvPr>
          <p:cNvSpPr/>
          <p:nvPr/>
        </p:nvSpPr>
        <p:spPr bwMode="auto">
          <a:xfrm>
            <a:off x="272999" y="5183238"/>
            <a:ext cx="6659617" cy="11413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센터 간 결과 일치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설정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지도 데이터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 모듈 정책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인증서 체계 동일 배포</a:t>
            </a:r>
            <a:endParaRPr lang="en-US" altLang="ko-KR" sz="9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69850" fontAlgn="base" latinLnBrk="0">
              <a:buClr>
                <a:srgbClr val="000000"/>
              </a:buClr>
              <a:defRPr/>
            </a:pPr>
            <a:endParaRPr lang="ko-KR" altLang="en-US" sz="3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계약 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범위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ko-KR" altLang="en-US" sz="9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설치분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기술지원 포함 여부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DR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용 추가 구매 가능 여부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종료 버전 확인</a:t>
            </a:r>
          </a:p>
          <a:p>
            <a:pPr marL="298450" indent="-22860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+mj-lt"/>
              <a:buChar char="•"/>
              <a:defRPr/>
            </a:pP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APM · DPM(Jennifer · </a:t>
            </a:r>
            <a:r>
              <a:rPr lang="en-US" altLang="ko-KR" sz="9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MaxGauge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DR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에이전트 추가 소요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오픈소스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(Scouter)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는 기술지원 주체 확인</a:t>
            </a:r>
          </a:p>
        </p:txBody>
      </p:sp>
      <p:graphicFrame>
        <p:nvGraphicFramePr>
          <p:cNvPr id="14" name="운영모드_표">
            <a:extLst>
              <a:ext uri="{FF2B5EF4-FFF2-40B4-BE49-F238E27FC236}">
                <a16:creationId xmlns:a16="http://schemas.microsoft.com/office/drawing/2014/main" id="{D10B474A-0AD3-5E5C-9DCD-DDE586CE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971035"/>
              </p:ext>
            </p:extLst>
          </p:nvPr>
        </p:nvGraphicFramePr>
        <p:xfrm>
          <a:off x="374599" y="4319638"/>
          <a:ext cx="6451600" cy="81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42597402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416809583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2826422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모드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경향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6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트래픽 분산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요청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354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· Hot Standby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요청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대부분 정식 라이선스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655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Warm Standby (A2)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WEB·WAS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만 기동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협의 여지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174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Cold 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원격 소산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(A4)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무상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할인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09208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EA91322-C546-1426-9618-F1839571D64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861F7-C0BE-FFE3-1B39-B05578CA299B}"/>
              </a:ext>
            </a:extLst>
          </p:cNvPr>
          <p:cNvSpPr txBox="1"/>
          <p:nvPr/>
        </p:nvSpPr>
        <p:spPr>
          <a:xfrm>
            <a:off x="10067664" y="3232878"/>
            <a:ext cx="1255948" cy="4744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</p:txBody>
      </p:sp>
    </p:spTree>
    <p:extLst>
      <p:ext uri="{BB962C8B-B14F-4D97-AF65-F5344CB8AC3E}">
        <p14:creationId xmlns:p14="http://schemas.microsoft.com/office/powerpoint/2010/main" val="3484851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3.3.4.3 DR 전환 시</a:t>
            </a:r>
            <a:r>
              <a:rPr lang="ko-KR" altLang="en-US">
                <a:solidFill>
                  <a:srgbClr val="000000"/>
                </a:solidFill>
              </a:rPr>
              <a:t> 고려사항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이해관계자별 점검사항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A278FED3-94C8-D92B-E274-B68938BEF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 </a:t>
            </a:r>
            <a:r>
              <a:rPr lang="en-US" altLang="ko-KR" dirty="0"/>
              <a:t>DR</a:t>
            </a:r>
            <a:r>
              <a:rPr lang="ko-KR" altLang="en-US" dirty="0"/>
              <a:t>센터 전환 시 대국민</a:t>
            </a:r>
            <a:r>
              <a:rPr lang="en-US" altLang="ko-KR" dirty="0"/>
              <a:t>·</a:t>
            </a:r>
            <a:r>
              <a:rPr lang="ko-KR" altLang="en-US" dirty="0"/>
              <a:t>행정 사용자</a:t>
            </a:r>
            <a:r>
              <a:rPr lang="en-US" altLang="ko-KR" dirty="0"/>
              <a:t>, </a:t>
            </a:r>
            <a:r>
              <a:rPr lang="ko-KR" altLang="en-US" dirty="0"/>
              <a:t>연계기관</a:t>
            </a:r>
            <a:r>
              <a:rPr lang="en-US" altLang="ko-KR" dirty="0"/>
              <a:t>, </a:t>
            </a:r>
            <a:r>
              <a:rPr lang="ko-KR" altLang="en-US" dirty="0"/>
              <a:t>인증기관별로 사전에 점검</a:t>
            </a:r>
            <a:r>
              <a:rPr lang="en-US" altLang="ko-KR" dirty="0"/>
              <a:t>·</a:t>
            </a:r>
            <a:r>
              <a:rPr lang="ko-KR" altLang="en-US" dirty="0"/>
              <a:t>조치가 필요한 고려사항을 정의함</a:t>
            </a:r>
          </a:p>
        </p:txBody>
      </p:sp>
      <p:sp>
        <p:nvSpPr>
          <p:cNvPr id="16" name="양쪽 모서리가 둥근 사각형 200">
            <a:extLst>
              <a:ext uri="{FF2B5EF4-FFF2-40B4-BE49-F238E27FC236}">
                <a16:creationId xmlns:a16="http://schemas.microsoft.com/office/drawing/2014/main" id="{101D1F6E-3387-C8F9-FEAA-A4C66F16CAA8}"/>
              </a:ext>
            </a:extLst>
          </p:cNvPr>
          <p:cNvSpPr/>
          <p:nvPr/>
        </p:nvSpPr>
        <p:spPr>
          <a:xfrm>
            <a:off x="273050" y="1664804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대국민 사용자</a:t>
            </a:r>
          </a:p>
        </p:txBody>
      </p:sp>
      <p:sp>
        <p:nvSpPr>
          <p:cNvPr id="18" name="모서리가 둥근 직사각형 201">
            <a:extLst>
              <a:ext uri="{FF2B5EF4-FFF2-40B4-BE49-F238E27FC236}">
                <a16:creationId xmlns:a16="http://schemas.microsoft.com/office/drawing/2014/main" id="{3D09183E-D05D-5374-68F3-3A313A5FD206}"/>
              </a:ext>
            </a:extLst>
          </p:cNvPr>
          <p:cNvSpPr/>
          <p:nvPr/>
        </p:nvSpPr>
        <p:spPr bwMode="auto">
          <a:xfrm>
            <a:off x="273050" y="1989111"/>
            <a:ext cx="4588510" cy="208758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중 서비스 일시 점검 안내 및 재개 예정 시각 공지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 시 열람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조회만 가능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증명서 발급 일시 중단 안내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 범위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승격 완료 전까지 발급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편집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연계 수신 중단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발급 중 전환된 건은 발급 결과 확인 후 재시도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중복 발급 방지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세션 복제로 재로그인 없이 이용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복제 지연분은 재로그인 안내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증명서 출력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(OZ Report)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간 동일 버전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출력 형식 일치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상황별 안내 화면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완료 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재시도 폭증 방지</a:t>
            </a:r>
          </a:p>
        </p:txBody>
      </p:sp>
      <p:sp>
        <p:nvSpPr>
          <p:cNvPr id="19" name="양쪽 모서리가 둥근 사각형 202">
            <a:extLst>
              <a:ext uri="{FF2B5EF4-FFF2-40B4-BE49-F238E27FC236}">
                <a16:creationId xmlns:a16="http://schemas.microsoft.com/office/drawing/2014/main" id="{53E2F19B-8075-20E2-E6ED-4AD6EB5FA437}"/>
              </a:ext>
            </a:extLst>
          </p:cNvPr>
          <p:cNvSpPr/>
          <p:nvPr/>
        </p:nvSpPr>
        <p:spPr>
          <a:xfrm>
            <a:off x="5044440" y="1664804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행정 사용자</a:t>
            </a: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</a:t>
            </a: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지자체</a:t>
            </a: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</a:t>
            </a: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0" name="모서리가 둥근 직사각형 203">
            <a:extLst>
              <a:ext uri="{FF2B5EF4-FFF2-40B4-BE49-F238E27FC236}">
                <a16:creationId xmlns:a16="http://schemas.microsoft.com/office/drawing/2014/main" id="{09FA5E67-56D5-5706-E4EB-018230E7E248}"/>
              </a:ext>
            </a:extLst>
          </p:cNvPr>
          <p:cNvSpPr/>
          <p:nvPr/>
        </p:nvSpPr>
        <p:spPr bwMode="auto">
          <a:xfrm>
            <a:off x="5044440" y="1989139"/>
            <a:ext cx="4588510" cy="208638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GPKI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인증서 로그인의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검증 경로 사전 확보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창구민원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지적행정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(C/S)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프로그램의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접속 주소 반영 여부 점검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토지이동 등 처리 중 전환된 건은 처리 결과 확인 후 재처리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축소 운영 중 지적공부 편집 중단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조회만 가능 사전 공지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지자체 업무시간 외 전환 원칙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업무시간 중 전환 시 승인 절차 적용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시군구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동기화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(5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분 주기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중단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재개 기준 및 </a:t>
            </a: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누락분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재동기화 절차 수립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지자체 담당자 전환 통보 및 비상연락체계 수립</a:t>
            </a:r>
          </a:p>
        </p:txBody>
      </p:sp>
      <p:sp>
        <p:nvSpPr>
          <p:cNvPr id="21" name="양쪽 모서리가 둥근 사각형 204">
            <a:extLst>
              <a:ext uri="{FF2B5EF4-FFF2-40B4-BE49-F238E27FC236}">
                <a16:creationId xmlns:a16="http://schemas.microsoft.com/office/drawing/2014/main" id="{B0A3712E-72D8-B453-2B1D-29F77D352FBC}"/>
              </a:ext>
            </a:extLst>
          </p:cNvPr>
          <p:cNvSpPr/>
          <p:nvPr/>
        </p:nvSpPr>
        <p:spPr>
          <a:xfrm>
            <a:off x="273050" y="4279130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연계기관</a:t>
            </a:r>
          </a:p>
        </p:txBody>
      </p:sp>
      <p:sp>
        <p:nvSpPr>
          <p:cNvPr id="22" name="모서리가 둥근 직사각형 205">
            <a:extLst>
              <a:ext uri="{FF2B5EF4-FFF2-40B4-BE49-F238E27FC236}">
                <a16:creationId xmlns:a16="http://schemas.microsoft.com/office/drawing/2014/main" id="{8BE18C45-1CCD-4E90-468B-D8F15C91626F}"/>
              </a:ext>
            </a:extLst>
          </p:cNvPr>
          <p:cNvSpPr/>
          <p:nvPr/>
        </p:nvSpPr>
        <p:spPr bwMode="auto">
          <a:xfrm>
            <a:off x="273050" y="4603437"/>
            <a:ext cx="4588510" cy="16703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rmAutofit/>
          </a:bodyPr>
          <a:lstStyle/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접속주소 참조 방식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IP)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및 도메인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(api.kras.go.kr)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전환 요청</a:t>
            </a:r>
          </a:p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 방화벽 허용 정책에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등록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DNS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캐시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(TTL)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확인</a:t>
            </a:r>
          </a:p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통보 절차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비상연락체계 수립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미처리 건 재전송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중복 제거 기준 공유</a:t>
            </a:r>
          </a:p>
          <a:p>
            <a:pPr marR="0" lvl="0" defTabSz="914400" rtl="0" fontAlgn="auto" latinLnBrk="0" hangingPunct="1">
              <a:lnSpc>
                <a:spcPct val="115000"/>
              </a:lnSpc>
              <a:spcBef>
                <a:spcPts val="800"/>
              </a:spcBef>
              <a:buClrTx/>
              <a:buSzTx/>
              <a:tabLst/>
              <a:defRPr/>
            </a:pPr>
            <a:endParaRPr kumimoji="0" lang="ko-KR" altLang="en-US" sz="95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23" name="양쪽 모서리가 둥근 사각형 206">
            <a:extLst>
              <a:ext uri="{FF2B5EF4-FFF2-40B4-BE49-F238E27FC236}">
                <a16:creationId xmlns:a16="http://schemas.microsoft.com/office/drawing/2014/main" id="{2EC75A74-4CFA-6DF5-8958-3A94AB9EAB45}"/>
              </a:ext>
            </a:extLst>
          </p:cNvPr>
          <p:cNvSpPr/>
          <p:nvPr/>
        </p:nvSpPr>
        <p:spPr>
          <a:xfrm>
            <a:off x="5044440" y="4275497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인증기관</a:t>
            </a:r>
          </a:p>
        </p:txBody>
      </p:sp>
      <p:sp>
        <p:nvSpPr>
          <p:cNvPr id="24" name="모서리가 둥근 직사각형 207">
            <a:extLst>
              <a:ext uri="{FF2B5EF4-FFF2-40B4-BE49-F238E27FC236}">
                <a16:creationId xmlns:a16="http://schemas.microsoft.com/office/drawing/2014/main" id="{C4E7E7EB-08D7-2298-ABEA-DAE3313C74EB}"/>
              </a:ext>
            </a:extLst>
          </p:cNvPr>
          <p:cNvSpPr/>
          <p:nvPr/>
        </p:nvSpPr>
        <p:spPr bwMode="auto">
          <a:xfrm>
            <a:off x="5044440" y="4599805"/>
            <a:ext cx="4588510" cy="16739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GPKI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인증서 유효성 검증 서버의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접근 경로 확보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본인확인 기관 허용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에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출발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추가 등록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SSL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서버 인증서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동일 설치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갱신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('26.12)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 센터 간 동시 반영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인증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SW(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TrustCertificate·Crosscert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라이선스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설정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사전 반영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시점 미완료 인증 요청은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재인증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원칙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232878"/>
            <a:ext cx="1255948" cy="4744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7466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3.3.4.3 DR 전환 시</a:t>
            </a:r>
            <a:r>
              <a:rPr lang="ko-KR" altLang="en-US" dirty="0">
                <a:solidFill>
                  <a:srgbClr val="000000"/>
                </a:solidFill>
              </a:rPr>
              <a:t> 고려사항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시스템 추가 및 변경사항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전환 시 부동산종합공부시스템에서 추가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변경해야 할 사항을 방화벽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논리주소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인증서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연계 등록정보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데이터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세션 동기화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운영 절차 </a:t>
            </a:r>
            <a:r>
              <a:rPr lang="en-US" altLang="ko-KR">
                <a:solidFill>
                  <a:srgbClr val="000000"/>
                </a:solidFill>
              </a:rPr>
              <a:t>5</a:t>
            </a:r>
            <a:r>
              <a:rPr lang="ko-KR" altLang="en-US">
                <a:solidFill>
                  <a:srgbClr val="000000"/>
                </a:solidFill>
              </a:rPr>
              <a:t>개 영역으로 목록화하고 </a:t>
            </a:r>
            <a:r>
              <a:rPr lang="en-US" altLang="ko-KR">
                <a:solidFill>
                  <a:srgbClr val="000000"/>
                </a:solidFill>
              </a:rPr>
              <a:t>A-A · A-S </a:t>
            </a:r>
            <a:r>
              <a:rPr lang="ko-KR" altLang="en-US">
                <a:solidFill>
                  <a:srgbClr val="000000"/>
                </a:solidFill>
              </a:rPr>
              <a:t>관점별 적용 방식을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부동산종합공부시스템 추가 및 변경사항 목록 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(A-A · A-S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적용 관점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5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영역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추가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변경사항 목록화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방화벽은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단일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현행 정책을 주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기준으로 전환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(A-A · A-S)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확정 시 적용 열을 기준으로 조치 범위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동기화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역동기화 가능 여부 벤더 확인 선행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개발 → 운영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단계 방화벽 신청 체계 및 관리대장 운영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5D222B82-0E04-04AA-AF13-9FF5068F7E0C}"/>
              </a:ext>
            </a:extLst>
          </p:cNvPr>
          <p:cNvSpPr txBox="1"/>
          <p:nvPr/>
        </p:nvSpPr>
        <p:spPr>
          <a:xfrm>
            <a:off x="368300" y="2145431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추가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변경 항목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(5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영역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12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항목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EA29DFF9-5A51-CCE9-8F5E-7AB50A4E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16880"/>
              </p:ext>
            </p:extLst>
          </p:nvPr>
        </p:nvGraphicFramePr>
        <p:xfrm>
          <a:off x="368300" y="2350366"/>
          <a:ext cx="6451600" cy="3814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316">
                  <a:extLst>
                    <a:ext uri="{9D8B030D-6E8A-4147-A177-3AD203B41FA5}">
                      <a16:colId xmlns:a16="http://schemas.microsoft.com/office/drawing/2014/main" val="2552400445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177355717"/>
                    </a:ext>
                  </a:extLst>
                </a:gridCol>
                <a:gridCol w="398388">
                  <a:extLst>
                    <a:ext uri="{9D8B030D-6E8A-4147-A177-3AD203B41FA5}">
                      <a16:colId xmlns:a16="http://schemas.microsoft.com/office/drawing/2014/main" val="2531353106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395872086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1951930562"/>
                    </a:ext>
                  </a:extLst>
                </a:gridCol>
              </a:tblGrid>
              <a:tr h="207033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11386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→ 부동산종합공부시스템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포트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연계서버 → 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목적지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사전 개방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평시 미사용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55274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→ 부동산종합공부시스템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미지원 장비 대비 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2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 등록 원칙 수립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유효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하드코딩 사전 제거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68699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→ 연계기관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→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수신 서버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인바운드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51375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대내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 방화벽에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목적지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0706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논리주소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api.kras.go.kr A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레코드에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DNS TTL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이중 등록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Failover · TTL = RTO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144926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논리주소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 기준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임계치 정의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SSL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도메인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VIP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포함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 기반 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임계치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=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선언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7651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등록정보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신청서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중계기관 등록정보에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 이중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도메인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재시도 흡수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0254"/>
                  </a:ext>
                </a:extLst>
              </a:tr>
              <a:tr h="207033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복제 경로 정의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전용 복제본 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비동기 복제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71600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 7.4)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공유 정책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복제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로그인 유지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복제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재로그인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469964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 동기화 및 복귀 시 역동기화 경로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 제약 확인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동기화로 해소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412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사전 신청 수요조사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 → 운영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단계 신청 체계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35705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통보 절차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비상연락체계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검증 시나리오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Runbook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통보 중심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선언 기준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95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815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3.3.4.3 DR 전환 시 </a:t>
            </a:r>
            <a:r>
              <a:rPr lang="en-US" altLang="ko-KR" dirty="0" err="1"/>
              <a:t>고려사항</a:t>
            </a:r>
            <a:r>
              <a:rPr lang="en-US" altLang="ko-KR" dirty="0"/>
              <a:t> </a:t>
            </a:r>
            <a:r>
              <a:rPr lang="en-US" altLang="ko-KR"/>
              <a:t>&gt; </a:t>
            </a:r>
            <a:r>
              <a:rPr lang="ko-KR" altLang="en-US"/>
              <a:t>연계기관</a:t>
            </a:r>
            <a:r>
              <a:rPr lang="en-US" altLang="ko-KR"/>
              <a:t> </a:t>
            </a:r>
            <a:r>
              <a:rPr lang="en-US" altLang="ko-KR" dirty="0" err="1"/>
              <a:t>추가</a:t>
            </a:r>
            <a:r>
              <a:rPr lang="en-US" altLang="ko-KR" dirty="0"/>
              <a:t> 및 </a:t>
            </a:r>
            <a:r>
              <a:rPr lang="en-US" altLang="ko-KR" dirty="0" err="1"/>
              <a:t>변경사항</a:t>
            </a:r>
            <a:r>
              <a:rPr lang="en-US" altLang="ko-KR" dirty="0"/>
              <a:t>(1/2)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4DF3F66-7B0C-0635-C615-3145732759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부동산종합공부시스템과 연계 중인 기관이 </a:t>
            </a:r>
            <a:r>
              <a:rPr lang="en-US" altLang="ko-KR" dirty="0"/>
              <a:t>DR</a:t>
            </a:r>
            <a:r>
              <a:rPr lang="ko-KR" altLang="en-US" dirty="0"/>
              <a:t>센터 반영을 위해 추가</a:t>
            </a:r>
            <a:r>
              <a:rPr lang="en-US" altLang="ko-KR" dirty="0"/>
              <a:t>·</a:t>
            </a:r>
            <a:r>
              <a:rPr lang="ko-KR" altLang="en-US" dirty="0"/>
              <a:t>반영해야 할 사항을 연계 방향별 추가 대상과 신청</a:t>
            </a:r>
            <a:r>
              <a:rPr lang="en-US" altLang="ko-KR" dirty="0"/>
              <a:t>·</a:t>
            </a:r>
            <a:r>
              <a:rPr lang="ko-KR" altLang="en-US" dirty="0"/>
              <a:t>검증 조치 절차로 구분하여 정의함</a:t>
            </a:r>
          </a:p>
        </p:txBody>
      </p:sp>
      <p:sp>
        <p:nvSpPr>
          <p:cNvPr id="10" name="모서리가 둥근 직사각형 12">
            <a:extLst>
              <a:ext uri="{FF2B5EF4-FFF2-40B4-BE49-F238E27FC236}">
                <a16:creationId xmlns:a16="http://schemas.microsoft.com/office/drawing/2014/main" id="{279D198D-F8BF-65B3-6B49-0AF98D8AC42F}"/>
              </a:ext>
            </a:extLst>
          </p:cNvPr>
          <p:cNvSpPr/>
          <p:nvPr/>
        </p:nvSpPr>
        <p:spPr bwMode="auto">
          <a:xfrm>
            <a:off x="273600" y="19800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1" name="Round Same Side Corner Rectangle 15">
            <a:extLst>
              <a:ext uri="{FF2B5EF4-FFF2-40B4-BE49-F238E27FC236}">
                <a16:creationId xmlns:a16="http://schemas.microsoft.com/office/drawing/2014/main" id="{1461BB62-4C7B-E651-B7CC-54551AA2A7C8}"/>
              </a:ext>
            </a:extLst>
          </p:cNvPr>
          <p:cNvSpPr/>
          <p:nvPr/>
        </p:nvSpPr>
        <p:spPr>
          <a:xfrm>
            <a:off x="273600" y="1663200"/>
            <a:ext cx="9360000" cy="324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7F7F7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rgbClr val="FFFFFF"/>
                </a:solidFill>
                <a:latin typeface="나눔고딕 ExtraBold"/>
                <a:ea typeface="나눔고딕 ExtraBold"/>
              </a:rPr>
              <a:t>DR </a:t>
            </a:r>
            <a:r>
              <a:rPr lang="ko-KR" altLang="en-US" sz="1400" b="1" dirty="0">
                <a:solidFill>
                  <a:srgbClr val="FFFFFF"/>
                </a:solidFill>
                <a:latin typeface="나눔고딕 ExtraBold"/>
                <a:ea typeface="나눔고딕 ExtraBold"/>
              </a:rPr>
              <a:t>전환 시 부동산종합공부시스템 연계기관 추가 및 반영 사항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B21EF5B7-FBAC-2C58-BABE-FEA4359C3D1C}"/>
              </a:ext>
            </a:extLst>
          </p:cNvPr>
          <p:cNvSpPr/>
          <p:nvPr/>
        </p:nvSpPr>
        <p:spPr>
          <a:xfrm>
            <a:off x="381600" y="2070000"/>
            <a:ext cx="9144000" cy="223200"/>
          </a:xfrm>
          <a:prstGeom prst="roundRect">
            <a:avLst>
              <a:gd name="adj" fmla="val 8000"/>
            </a:avLst>
          </a:prstGeom>
          <a:solidFill>
            <a:srgbClr val="243B7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① 연계 구간별 추가 · 반영 대상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2563DFC2-A6E3-86D0-013E-57AAA0D25EEC}"/>
              </a:ext>
            </a:extLst>
          </p:cNvPr>
          <p:cNvSpPr/>
          <p:nvPr/>
        </p:nvSpPr>
        <p:spPr>
          <a:xfrm>
            <a:off x="381600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AD155E33-3F1E-5678-C3C8-E9E03F2A6BF5}"/>
              </a:ext>
            </a:extLst>
          </p:cNvPr>
          <p:cNvSpPr/>
          <p:nvPr/>
        </p:nvSpPr>
        <p:spPr>
          <a:xfrm>
            <a:off x="381600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chemeClr val="bg1">
              <a:lumMod val="50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연계기관 → 부동산종합공부시스템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제공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25" name="Table 76">
            <a:extLst>
              <a:ext uri="{FF2B5EF4-FFF2-40B4-BE49-F238E27FC236}">
                <a16:creationId xmlns:a16="http://schemas.microsoft.com/office/drawing/2014/main" id="{5963955D-78F6-C9B8-4B31-6314909FA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534"/>
              </p:ext>
            </p:extLst>
          </p:nvPr>
        </p:nvGraphicFramePr>
        <p:xfrm>
          <a:off x="446400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연계기관 연계 서버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중앙부처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공공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금융기관 등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표준연계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API (api.kras.go.kr) </a:t>
                      </a:r>
                      <a:r>
                        <a:rPr lang="en-US" altLang="ko-KR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VIP (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신규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HTTPS · HTTP 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운영 포트 확인 필요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도메인 접속 기관은 조치 없음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, 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직접 등록 기관은 도메인 전환 또는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VIP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C23A0349-F59E-BE32-F588-5270E107D989}"/>
              </a:ext>
            </a:extLst>
          </p:cNvPr>
          <p:cNvSpPr/>
          <p:nvPr/>
        </p:nvSpPr>
        <p:spPr>
          <a:xfrm>
            <a:off x="3477600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C9DECB51-8E42-F0A5-377F-912C0D5F2F50}"/>
              </a:ext>
            </a:extLst>
          </p:cNvPr>
          <p:cNvSpPr/>
          <p:nvPr/>
        </p:nvSpPr>
        <p:spPr>
          <a:xfrm>
            <a:off x="3477600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chemeClr val="bg1">
              <a:lumMod val="6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부동산종합공부시스템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→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연계기관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28" name="Table 77">
            <a:extLst>
              <a:ext uri="{FF2B5EF4-FFF2-40B4-BE49-F238E27FC236}">
                <a16:creationId xmlns:a16="http://schemas.microsoft.com/office/drawing/2014/main" id="{90B8B436-7C40-18CB-6F2F-21A800AE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39935"/>
              </p:ext>
            </p:extLst>
          </p:nvPr>
        </p:nvGraphicFramePr>
        <p:xfrm>
          <a:off x="3542400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+mn-lt"/>
                        </a:rPr>
                        <a:t>부동산종합공부시스템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연계 WAS (</a:t>
                      </a: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연계기관 수신 서버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행정정보공동이용 등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기관별 연계 </a:t>
                      </a:r>
                      <a:r>
                        <a:rPr 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TCP Port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연계기관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인바운드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정책에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출발지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E9219518-A31A-41A4-47F5-0D68A30FA222}"/>
              </a:ext>
            </a:extLst>
          </p:cNvPr>
          <p:cNvSpPr/>
          <p:nvPr/>
        </p:nvSpPr>
        <p:spPr>
          <a:xfrm>
            <a:off x="6573599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06B1EB4D-5495-C1C0-395D-63B64AF34A9B}"/>
              </a:ext>
            </a:extLst>
          </p:cNvPr>
          <p:cNvSpPr/>
          <p:nvPr/>
        </p:nvSpPr>
        <p:spPr>
          <a:xfrm>
            <a:off x="6573599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rgbClr val="6F6F6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대내 연계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시군구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·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1" name="Table 78">
            <a:extLst>
              <a:ext uri="{FF2B5EF4-FFF2-40B4-BE49-F238E27FC236}">
                <a16:creationId xmlns:a16="http://schemas.microsoft.com/office/drawing/2014/main" id="{FD9462AF-7812-F23D-81AB-AD0A3897B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81257"/>
              </p:ext>
            </p:extLst>
          </p:nvPr>
        </p:nvGraphicFramePr>
        <p:xfrm>
          <a:off x="6638399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시군구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시도 행정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PC 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연계 서버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+mn-lt"/>
                        </a:rPr>
                        <a:t>부동산종합공부시스템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행정업무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내부연계 (</a:t>
                      </a: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업무별 </a:t>
                      </a:r>
                      <a:r>
                        <a:rPr 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TCP Port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행정망 방화벽에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목적지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도메인 우선 적용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Right Arrow 64">
            <a:extLst>
              <a:ext uri="{FF2B5EF4-FFF2-40B4-BE49-F238E27FC236}">
                <a16:creationId xmlns:a16="http://schemas.microsoft.com/office/drawing/2014/main" id="{ED367B5F-5021-B314-F3EB-8E9D645D569A}"/>
              </a:ext>
            </a:extLst>
          </p:cNvPr>
          <p:cNvSpPr/>
          <p:nvPr/>
        </p:nvSpPr>
        <p:spPr>
          <a:xfrm>
            <a:off x="3321626" y="3048347"/>
            <a:ext cx="185530" cy="45114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B1F9B2B8-5062-1771-9D49-1241E3F0DEE9}"/>
              </a:ext>
            </a:extLst>
          </p:cNvPr>
          <p:cNvSpPr/>
          <p:nvPr/>
        </p:nvSpPr>
        <p:spPr>
          <a:xfrm>
            <a:off x="381600" y="4241040"/>
            <a:ext cx="9144000" cy="223200"/>
          </a:xfrm>
          <a:prstGeom prst="roundRect">
            <a:avLst>
              <a:gd name="adj" fmla="val 8000"/>
            </a:avLst>
          </a:prstGeom>
          <a:solidFill>
            <a:srgbClr val="243B7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② 연계기관 조치 절차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7DA714DC-5AAF-0F62-049D-F8BBD4E38783}"/>
              </a:ext>
            </a:extLst>
          </p:cNvPr>
          <p:cNvSpPr/>
          <p:nvPr/>
        </p:nvSpPr>
        <p:spPr>
          <a:xfrm>
            <a:off x="381600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DA1CA114-A17B-D29B-361A-B01003334B3F}"/>
              </a:ext>
            </a:extLst>
          </p:cNvPr>
          <p:cNvSpPr/>
          <p:nvPr/>
        </p:nvSpPr>
        <p:spPr>
          <a:xfrm>
            <a:off x="381600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연계 현황 정리</a:t>
            </a:r>
          </a:p>
        </p:txBody>
      </p:sp>
      <p:sp>
        <p:nvSpPr>
          <p:cNvPr id="36" name="Rounded Rectangle 30">
            <a:extLst>
              <a:ext uri="{FF2B5EF4-FFF2-40B4-BE49-F238E27FC236}">
                <a16:creationId xmlns:a16="http://schemas.microsoft.com/office/drawing/2014/main" id="{25F7BBFE-AA39-4F1A-8F91-C3362825E917}"/>
              </a:ext>
            </a:extLst>
          </p:cNvPr>
          <p:cNvSpPr/>
          <p:nvPr/>
        </p:nvSpPr>
        <p:spPr>
          <a:xfrm>
            <a:off x="435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목록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현행화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접속주소 참조 방식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·IP)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7" name="Right Arrow 64">
            <a:extLst>
              <a:ext uri="{FF2B5EF4-FFF2-40B4-BE49-F238E27FC236}">
                <a16:creationId xmlns:a16="http://schemas.microsoft.com/office/drawing/2014/main" id="{A9671FCB-BDB0-1CAC-3900-804220BFA7F8}"/>
              </a:ext>
            </a:extLst>
          </p:cNvPr>
          <p:cNvSpPr/>
          <p:nvPr/>
        </p:nvSpPr>
        <p:spPr>
          <a:xfrm>
            <a:off x="2116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422548BB-A034-C2F4-71F0-8B8CD6540E65}"/>
              </a:ext>
            </a:extLst>
          </p:cNvPr>
          <p:cNvSpPr/>
          <p:nvPr/>
        </p:nvSpPr>
        <p:spPr>
          <a:xfrm>
            <a:off x="2235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B781BD1A-AE6B-A067-BFA0-2A70D50EA2F1}"/>
              </a:ext>
            </a:extLst>
          </p:cNvPr>
          <p:cNvSpPr/>
          <p:nvPr/>
        </p:nvSpPr>
        <p:spPr>
          <a:xfrm>
            <a:off x="2235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개발 방화벽 신청</a:t>
            </a:r>
          </a:p>
        </p:txBody>
      </p:sp>
      <p:sp>
        <p:nvSpPr>
          <p:cNvPr id="40" name="Rounded Rectangle 30">
            <a:extLst>
              <a:ext uri="{FF2B5EF4-FFF2-40B4-BE49-F238E27FC236}">
                <a16:creationId xmlns:a16="http://schemas.microsoft.com/office/drawing/2014/main" id="{9DCD6DD9-C41E-0B01-EF5A-40A107517FEA}"/>
              </a:ext>
            </a:extLst>
          </p:cNvPr>
          <p:cNvSpPr/>
          <p:nvPr/>
        </p:nvSpPr>
        <p:spPr>
          <a:xfrm>
            <a:off x="2289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 허용 신청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신청서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반영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1" name="Right Arrow 64">
            <a:extLst>
              <a:ext uri="{FF2B5EF4-FFF2-40B4-BE49-F238E27FC236}">
                <a16:creationId xmlns:a16="http://schemas.microsoft.com/office/drawing/2014/main" id="{844713BB-7C53-B54F-2EFB-67B3B00605BE}"/>
              </a:ext>
            </a:extLst>
          </p:cNvPr>
          <p:cNvSpPr/>
          <p:nvPr/>
        </p:nvSpPr>
        <p:spPr>
          <a:xfrm>
            <a:off x="3970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55D07B04-18C8-38B3-4FD9-6232FC122E9E}"/>
              </a:ext>
            </a:extLst>
          </p:cNvPr>
          <p:cNvSpPr/>
          <p:nvPr/>
        </p:nvSpPr>
        <p:spPr>
          <a:xfrm>
            <a:off x="4089600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219BD885-F2F2-35B6-CF92-87FF4BBBA09D}"/>
              </a:ext>
            </a:extLst>
          </p:cNvPr>
          <p:cNvSpPr/>
          <p:nvPr/>
        </p:nvSpPr>
        <p:spPr>
          <a:xfrm>
            <a:off x="4089600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개발 연동 검증</a:t>
            </a:r>
          </a:p>
        </p:txBody>
      </p:sp>
      <p:sp>
        <p:nvSpPr>
          <p:cNvPr id="44" name="Rounded Rectangle 30">
            <a:extLst>
              <a:ext uri="{FF2B5EF4-FFF2-40B4-BE49-F238E27FC236}">
                <a16:creationId xmlns:a16="http://schemas.microsoft.com/office/drawing/2014/main" id="{B02F678F-928F-D83C-05F0-535CD0F9EF9B}"/>
              </a:ext>
            </a:extLst>
          </p:cNvPr>
          <p:cNvSpPr/>
          <p:nvPr/>
        </p:nvSpPr>
        <p:spPr>
          <a:xfrm>
            <a:off x="4143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기반 호출 전환 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타임아웃 값 점검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5" name="Right Arrow 64">
            <a:extLst>
              <a:ext uri="{FF2B5EF4-FFF2-40B4-BE49-F238E27FC236}">
                <a16:creationId xmlns:a16="http://schemas.microsoft.com/office/drawing/2014/main" id="{712EBEE3-E0DB-764D-1F1B-B46A05EE345C}"/>
              </a:ext>
            </a:extLst>
          </p:cNvPr>
          <p:cNvSpPr/>
          <p:nvPr/>
        </p:nvSpPr>
        <p:spPr>
          <a:xfrm>
            <a:off x="5824800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63A30E80-31CF-9B18-601E-2102F483A479}"/>
              </a:ext>
            </a:extLst>
          </p:cNvPr>
          <p:cNvSpPr/>
          <p:nvPr/>
        </p:nvSpPr>
        <p:spPr>
          <a:xfrm>
            <a:off x="5943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7" name="Rounded Rectangle 17">
            <a:extLst>
              <a:ext uri="{FF2B5EF4-FFF2-40B4-BE49-F238E27FC236}">
                <a16:creationId xmlns:a16="http://schemas.microsoft.com/office/drawing/2014/main" id="{314567B7-E9A8-072A-2323-2D87CAF3356D}"/>
              </a:ext>
            </a:extLst>
          </p:cNvPr>
          <p:cNvSpPr/>
          <p:nvPr/>
        </p:nvSpPr>
        <p:spPr>
          <a:xfrm>
            <a:off x="5943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운영 방화벽 신청</a:t>
            </a:r>
          </a:p>
        </p:txBody>
      </p:sp>
      <p:sp>
        <p:nvSpPr>
          <p:cNvPr id="48" name="Rounded Rectangle 30">
            <a:extLst>
              <a:ext uri="{FF2B5EF4-FFF2-40B4-BE49-F238E27FC236}">
                <a16:creationId xmlns:a16="http://schemas.microsoft.com/office/drawing/2014/main" id="{5DE50023-881E-3F87-4B23-D4EB937B513A}"/>
              </a:ext>
            </a:extLst>
          </p:cNvPr>
          <p:cNvSpPr/>
          <p:nvPr/>
        </p:nvSpPr>
        <p:spPr>
          <a:xfrm>
            <a:off x="5997599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오픈 일정 역산 리드타임 관리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개발 → 운영 2단계 수행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9" name="Right Arrow 64">
            <a:extLst>
              <a:ext uri="{FF2B5EF4-FFF2-40B4-BE49-F238E27FC236}">
                <a16:creationId xmlns:a16="http://schemas.microsoft.com/office/drawing/2014/main" id="{B5B7ACAA-71B8-729C-94EF-16BDF32C9B8E}"/>
              </a:ext>
            </a:extLst>
          </p:cNvPr>
          <p:cNvSpPr/>
          <p:nvPr/>
        </p:nvSpPr>
        <p:spPr>
          <a:xfrm>
            <a:off x="7678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0" name="Rounded Rectangle 16">
            <a:extLst>
              <a:ext uri="{FF2B5EF4-FFF2-40B4-BE49-F238E27FC236}">
                <a16:creationId xmlns:a16="http://schemas.microsoft.com/office/drawing/2014/main" id="{9290F533-8CDE-72D8-2E32-BC3FC5155635}"/>
              </a:ext>
            </a:extLst>
          </p:cNvPr>
          <p:cNvSpPr/>
          <p:nvPr/>
        </p:nvSpPr>
        <p:spPr>
          <a:xfrm>
            <a:off x="7797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367CC369-B893-BB97-D84E-B71CFAA9A1B0}"/>
              </a:ext>
            </a:extLst>
          </p:cNvPr>
          <p:cNvSpPr/>
          <p:nvPr/>
        </p:nvSpPr>
        <p:spPr>
          <a:xfrm>
            <a:off x="7797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전환 훈련 검증</a:t>
            </a:r>
          </a:p>
        </p:txBody>
      </p:sp>
      <p:sp>
        <p:nvSpPr>
          <p:cNvPr id="52" name="Rounded Rectangle 30">
            <a:extLst>
              <a:ext uri="{FF2B5EF4-FFF2-40B4-BE49-F238E27FC236}">
                <a16:creationId xmlns:a16="http://schemas.microsoft.com/office/drawing/2014/main" id="{49288750-3A47-1F66-AAAB-54AB44B1C6F5}"/>
              </a:ext>
            </a:extLst>
          </p:cNvPr>
          <p:cNvSpPr/>
          <p:nvPr/>
        </p:nvSpPr>
        <p:spPr>
          <a:xfrm>
            <a:off x="7851599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 기반 연계 정상 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· 복귀 체크리스트 운영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0E42BAAB-E04B-570F-9829-723BED085567}"/>
              </a:ext>
            </a:extLst>
          </p:cNvPr>
          <p:cNvSpPr/>
          <p:nvPr/>
        </p:nvSpPr>
        <p:spPr>
          <a:xfrm>
            <a:off x="381600" y="5341800"/>
            <a:ext cx="9144000" cy="73134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4" name="Rounded Rectangle 17">
            <a:extLst>
              <a:ext uri="{FF2B5EF4-FFF2-40B4-BE49-F238E27FC236}">
                <a16:creationId xmlns:a16="http://schemas.microsoft.com/office/drawing/2014/main" id="{B4945808-CAE3-B1E4-C3C3-AD35DCDFB426}"/>
              </a:ext>
            </a:extLst>
          </p:cNvPr>
          <p:cNvSpPr/>
          <p:nvPr/>
        </p:nvSpPr>
        <p:spPr>
          <a:xfrm>
            <a:off x="381600" y="5341800"/>
            <a:ext cx="9144000" cy="208800"/>
          </a:xfrm>
          <a:prstGeom prst="roundRect">
            <a:avLst>
              <a:gd name="adj" fmla="val 8000"/>
            </a:avLst>
          </a:prstGeom>
          <a:solidFill>
            <a:srgbClr val="6F6F6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유의사항</a:t>
            </a:r>
          </a:p>
        </p:txBody>
      </p:sp>
      <p:sp>
        <p:nvSpPr>
          <p:cNvPr id="55" name="Rounded Rectangle 30">
            <a:extLst>
              <a:ext uri="{FF2B5EF4-FFF2-40B4-BE49-F238E27FC236}">
                <a16:creationId xmlns:a16="http://schemas.microsoft.com/office/drawing/2014/main" id="{AF759E65-E1DB-A29B-BF07-F6C9B5355C6D}"/>
              </a:ext>
            </a:extLst>
          </p:cNvPr>
          <p:cNvSpPr/>
          <p:nvPr/>
        </p:nvSpPr>
        <p:spPr>
          <a:xfrm>
            <a:off x="468000" y="5582999"/>
            <a:ext cx="8964000" cy="45127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t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기반 정책을 지원하지 않는 장비는 주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이중 등록 원칙을 적용하고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모듈의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하드코딩 구간을 사전 제거함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구간은 평시 트래픽이 없거나 조회 트래픽만 유입되어 쓰기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수신 경로의 정책 오류가 드러나지 않으므로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사전 개방 후 전환 훈련 시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실트래픽으로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검증함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방화벽 정책 주체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기관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망 관리 주체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에 따라 협의 범위 상이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6" name="Rounded Rectangle 74">
            <a:extLst>
              <a:ext uri="{FF2B5EF4-FFF2-40B4-BE49-F238E27FC236}">
                <a16:creationId xmlns:a16="http://schemas.microsoft.com/office/drawing/2014/main" id="{62FE2CF6-60E2-92B0-B277-6339D02819D3}"/>
              </a:ext>
            </a:extLst>
          </p:cNvPr>
          <p:cNvSpPr/>
          <p:nvPr/>
        </p:nvSpPr>
        <p:spPr>
          <a:xfrm>
            <a:off x="381600" y="6152579"/>
            <a:ext cx="9144000" cy="198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※ </a:t>
            </a:r>
            <a:r>
              <a:rPr 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DR </a:t>
            </a:r>
            <a:r>
              <a:rPr lang="en-US" sz="8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전환</a:t>
            </a:r>
            <a:r>
              <a:rPr 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 시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 운영환경 각 업무별 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TCP Port 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번호 확인 필요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(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보안상 포트 번호 </a:t>
            </a:r>
            <a:r>
              <a:rPr lang="ko-KR" altLang="en-US" sz="8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비노출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)</a:t>
            </a:r>
            <a:endParaRPr kumimoji="0" sz="75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7" name="Right Arrow 64">
            <a:extLst>
              <a:ext uri="{FF2B5EF4-FFF2-40B4-BE49-F238E27FC236}">
                <a16:creationId xmlns:a16="http://schemas.microsoft.com/office/drawing/2014/main" id="{FDE0D2C2-0E1B-9BEE-4954-59D51573E50E}"/>
              </a:ext>
            </a:extLst>
          </p:cNvPr>
          <p:cNvSpPr/>
          <p:nvPr/>
        </p:nvSpPr>
        <p:spPr>
          <a:xfrm>
            <a:off x="6419448" y="3042486"/>
            <a:ext cx="185530" cy="45114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5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3.3.4.3 DR 전환 시 </a:t>
            </a:r>
            <a:r>
              <a:rPr lang="en-US" altLang="ko-KR" dirty="0" err="1"/>
              <a:t>고려사항</a:t>
            </a:r>
            <a:r>
              <a:rPr lang="en-US" altLang="ko-KR" dirty="0"/>
              <a:t> </a:t>
            </a:r>
            <a:r>
              <a:rPr lang="en-US" altLang="ko-KR"/>
              <a:t>&gt; </a:t>
            </a:r>
            <a:r>
              <a:rPr lang="ko-KR" altLang="en-US"/>
              <a:t>연계기관</a:t>
            </a:r>
            <a:r>
              <a:rPr lang="en-US" altLang="ko-KR"/>
              <a:t> </a:t>
            </a:r>
            <a:r>
              <a:rPr lang="en-US" altLang="ko-KR" dirty="0" err="1"/>
              <a:t>추가</a:t>
            </a:r>
            <a:r>
              <a:rPr lang="en-US" altLang="ko-KR" dirty="0"/>
              <a:t> 및 </a:t>
            </a:r>
            <a:r>
              <a:rPr lang="en-US" altLang="ko-KR" dirty="0" err="1"/>
              <a:t>변경사항</a:t>
            </a:r>
            <a:r>
              <a:rPr lang="en-US" altLang="ko-KR" dirty="0"/>
              <a:t>(2/2)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E14E9981-955B-1806-47C6-5B67A5B1C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연계기관이 </a:t>
            </a:r>
            <a:r>
              <a:rPr lang="en-US" altLang="ko-KR" dirty="0"/>
              <a:t>DR</a:t>
            </a:r>
            <a:r>
              <a:rPr lang="ko-KR" altLang="en-US" dirty="0"/>
              <a:t>센터 반영을 위해 조치해야 할 사항을 방화벽 정책</a:t>
            </a:r>
            <a:r>
              <a:rPr lang="en-US" altLang="ko-KR" dirty="0"/>
              <a:t>, </a:t>
            </a:r>
            <a:r>
              <a:rPr lang="ko-KR" altLang="en-US" dirty="0"/>
              <a:t>연계 등록정보</a:t>
            </a:r>
            <a:r>
              <a:rPr lang="en-US" altLang="ko-KR" dirty="0"/>
              <a:t>, </a:t>
            </a:r>
            <a:r>
              <a:rPr lang="ko-KR" altLang="en-US" dirty="0"/>
              <a:t>연계 모듈</a:t>
            </a:r>
            <a:r>
              <a:rPr lang="en-US" altLang="ko-KR" dirty="0"/>
              <a:t>·</a:t>
            </a:r>
            <a:r>
              <a:rPr lang="ko-KR" altLang="en-US" dirty="0"/>
              <a:t>설정</a:t>
            </a:r>
            <a:r>
              <a:rPr lang="en-US" altLang="ko-KR" dirty="0"/>
              <a:t>,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검증 절차의 </a:t>
            </a:r>
            <a:r>
              <a:rPr lang="en-US" altLang="ko-KR" dirty="0"/>
              <a:t>4</a:t>
            </a:r>
            <a:r>
              <a:rPr lang="ko-KR" altLang="en-US" dirty="0"/>
              <a:t>개 영역으로 구분하여 정의하고 구성방안을 제시함</a:t>
            </a:r>
          </a:p>
        </p:txBody>
      </p:sp>
      <p:sp>
        <p:nvSpPr>
          <p:cNvPr id="16" name="모서리가 둥근 직사각형 12">
            <a:extLst>
              <a:ext uri="{FF2B5EF4-FFF2-40B4-BE49-F238E27FC236}">
                <a16:creationId xmlns:a16="http://schemas.microsoft.com/office/drawing/2014/main" id="{3019DBDF-5BD4-DE43-70BF-4DF5BB79CC1A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" name="양쪽 모서리가 둥근 사각형 101">
            <a:extLst>
              <a:ext uri="{FF2B5EF4-FFF2-40B4-BE49-F238E27FC236}">
                <a16:creationId xmlns:a16="http://schemas.microsoft.com/office/drawing/2014/main" id="{64403EAA-C8AE-5963-0A18-DF248C9F11E6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연계기관 추가 및 변경사항</a:t>
            </a:r>
            <a:endParaRPr kumimoji="0" lang="ko-KR" altLang="en-US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9" name="모서리가 둥근 직사각형 12">
            <a:extLst>
              <a:ext uri="{FF2B5EF4-FFF2-40B4-BE49-F238E27FC236}">
                <a16:creationId xmlns:a16="http://schemas.microsoft.com/office/drawing/2014/main" id="{593BDF44-6320-6BF7-DD19-DA957A88CB9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square"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연계기관 조치 사항을 방화벽 정책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등록정보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설정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운영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검증의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영역으로 정의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핵심은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주센터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단일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 방화벽 정책에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를 추가하는 것이며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개발 검증 후 운영 방화벽을 별도 신청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구간은 평시 트래픽이 없거나 조회 트래픽만 유입되므로 방화벽은 사전 개방을 원칙으로 하고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훈련 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실트래픽으로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검증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모듈은 도메인 호출로 통일하고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DNS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캐시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값을 함께 점검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시 연계 유예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재개와 재전송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중복 제거 기준을 기관과 사전 공유</a:t>
            </a:r>
          </a:p>
        </p:txBody>
      </p:sp>
      <p:sp>
        <p:nvSpPr>
          <p:cNvPr id="20" name="양쪽 모서리가 둥근 사각형 101">
            <a:extLst>
              <a:ext uri="{FF2B5EF4-FFF2-40B4-BE49-F238E27FC236}">
                <a16:creationId xmlns:a16="http://schemas.microsoft.com/office/drawing/2014/main" id="{7D16BBA3-73AC-18B7-6239-4A2E7E000D8B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구성방안</a:t>
            </a:r>
            <a:endParaRPr kumimoji="0" lang="ko-KR" altLang="en-US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1" name="Round Same Side Corner Rectangle 15">
            <a:extLst>
              <a:ext uri="{FF2B5EF4-FFF2-40B4-BE49-F238E27FC236}">
                <a16:creationId xmlns:a16="http://schemas.microsoft.com/office/drawing/2014/main" id="{491D707A-0574-2EDD-3E36-2002AA211FA0}"/>
              </a:ext>
            </a:extLst>
          </p:cNvPr>
          <p:cNvSpPr/>
          <p:nvPr/>
        </p:nvSpPr>
        <p:spPr>
          <a:xfrm>
            <a:off x="381600" y="214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① 방화벽(FW) 정책 추가 · 변경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6DA10180-ECC9-E112-7462-E3F51C8F7088}"/>
              </a:ext>
            </a:extLst>
          </p:cNvPr>
          <p:cNvSpPr/>
          <p:nvPr/>
        </p:nvSpPr>
        <p:spPr>
          <a:xfrm>
            <a:off x="381600" y="2394000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신청 주체 구분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측 정책은 해당 기관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행정망 정책은 망 관리 주체가 신청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현행 신청서는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단일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동일 포트 세트에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추가 허용으로 신청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개발 방화벽 선행 신청 → 연동 검증 완료 후 운영 방화벽 별도 신청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단계 수행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기반 정책 미지원 장비는 주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DR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이중 등록으로 신청</a:t>
            </a:r>
          </a:p>
        </p:txBody>
      </p:sp>
      <p:sp>
        <p:nvSpPr>
          <p:cNvPr id="23" name="Round Same Side Corner Rectangle 15">
            <a:extLst>
              <a:ext uri="{FF2B5EF4-FFF2-40B4-BE49-F238E27FC236}">
                <a16:creationId xmlns:a16="http://schemas.microsoft.com/office/drawing/2014/main" id="{53D8D3E2-463F-F96B-05E3-47BE6EE6A6E7}"/>
              </a:ext>
            </a:extLst>
          </p:cNvPr>
          <p:cNvSpPr/>
          <p:nvPr/>
        </p:nvSpPr>
        <p:spPr>
          <a:xfrm>
            <a:off x="3600000" y="214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② 연계 등록정보 · 신청 문서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0240018A-85D3-A8D7-CBEA-0C91F801F879}"/>
              </a:ext>
            </a:extLst>
          </p:cNvPr>
          <p:cNvSpPr/>
          <p:nvPr/>
        </p:nvSpPr>
        <p:spPr>
          <a:xfrm>
            <a:off x="3600000" y="2394000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신청서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확인서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갱신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DR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도메인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IP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반영 여부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행정정보공동이용 등 연계 중계기관 등록정보에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반영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협의 대상 기관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영향 등급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'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')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우선 신청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기관별 신청 리드타임을 반영한 사전 신청 일정 수립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오픈 일정 역산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대상 연계 목록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현행화 후 부동산종합공부시스템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운영사에 제출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8" name="Round Same Side Corner Rectangle 15">
            <a:extLst>
              <a:ext uri="{FF2B5EF4-FFF2-40B4-BE49-F238E27FC236}">
                <a16:creationId xmlns:a16="http://schemas.microsoft.com/office/drawing/2014/main" id="{AD7AB2D8-6CB4-7002-BABB-FE624CA3D082}"/>
              </a:ext>
            </a:extLst>
          </p:cNvPr>
          <p:cNvSpPr/>
          <p:nvPr/>
        </p:nvSpPr>
        <p:spPr>
          <a:xfrm>
            <a:off x="381600" y="421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③ 연계 모듈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·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9" name="Rounded Rectangle 16">
            <a:extLst>
              <a:ext uri="{FF2B5EF4-FFF2-40B4-BE49-F238E27FC236}">
                <a16:creationId xmlns:a16="http://schemas.microsoft.com/office/drawing/2014/main" id="{118971AF-F43D-A515-F87B-159C0D199AF2}"/>
              </a:ext>
            </a:extLst>
          </p:cNvPr>
          <p:cNvSpPr/>
          <p:nvPr/>
        </p:nvSpPr>
        <p:spPr>
          <a:xfrm>
            <a:off x="381600" y="4463999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표준연계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API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호출 주소를 도메인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(api.kras.go.kr)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기준으로 유지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직접 지정 제거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호출로 전환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DNS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캐시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(TTL) 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프록시 경유 여부 사전 확인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미갱신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시 전환 후 연결 실패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타임아웃 파라미터 조정으로 전환 구간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(RTO)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흡수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재전송 시 중복 방지를 위해 연계 건 고유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식별값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유지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SSL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인증서는 동일 도메인 유지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신뢰 체인 변경 없음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0" name="Round Same Side Corner Rectangle 15">
            <a:extLst>
              <a:ext uri="{FF2B5EF4-FFF2-40B4-BE49-F238E27FC236}">
                <a16:creationId xmlns:a16="http://schemas.microsoft.com/office/drawing/2014/main" id="{4FB8ED65-0F2B-0B21-47BB-9962F234595F}"/>
              </a:ext>
            </a:extLst>
          </p:cNvPr>
          <p:cNvSpPr/>
          <p:nvPr/>
        </p:nvSpPr>
        <p:spPr>
          <a:xfrm>
            <a:off x="3600000" y="421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④ 운영 · 검증 절차</a:t>
            </a:r>
          </a:p>
        </p:txBody>
      </p:sp>
      <p:sp>
        <p:nvSpPr>
          <p:cNvPr id="61" name="Rounded Rectangle 16">
            <a:extLst>
              <a:ext uri="{FF2B5EF4-FFF2-40B4-BE49-F238E27FC236}">
                <a16:creationId xmlns:a16="http://schemas.microsoft.com/office/drawing/2014/main" id="{7281233D-6DC3-877F-9B82-365B0DB93DC8}"/>
              </a:ext>
            </a:extLst>
          </p:cNvPr>
          <p:cNvSpPr/>
          <p:nvPr/>
        </p:nvSpPr>
        <p:spPr>
          <a:xfrm>
            <a:off x="3600000" y="4463999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시 신규 연계 수신 유예 → 재개 안내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미처리 건 재전송 기준 공유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배치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연계는 부동산종합공부시스템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활성 센터 단일 실행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중복 수신 여부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통보 수신 채널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지정 및 비상연락체계 등록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쓰기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수신 경로는 평시 검증이 어려우므로 전환 훈련 시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기반 연계 검증 참여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복귀 후 연계 정상 여부 확인 체크리스트 운영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2" name="Rounded Rectangle 74">
            <a:extLst>
              <a:ext uri="{FF2B5EF4-FFF2-40B4-BE49-F238E27FC236}">
                <a16:creationId xmlns:a16="http://schemas.microsoft.com/office/drawing/2014/main" id="{9BCC4B44-4A46-2C2D-E5DA-550DF804B4A9}"/>
              </a:ext>
            </a:extLst>
          </p:cNvPr>
          <p:cNvSpPr/>
          <p:nvPr/>
        </p:nvSpPr>
        <p:spPr>
          <a:xfrm>
            <a:off x="381600" y="6228000"/>
            <a:ext cx="6443999" cy="1728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※ 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DR </a:t>
            </a:r>
            <a:r>
              <a:rPr lang="en-US" altLang="ko-KR" sz="9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전환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 시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 운영환경 각 업무별 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TCP Port 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번호 확인 필요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(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보안상 포트 번호 </a:t>
            </a:r>
            <a:r>
              <a:rPr lang="ko-KR" altLang="en-US" sz="9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비노출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22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3.3.4.4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세션 및 인증 연속성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51" name="텍스트 개체 틀 1">
            <a:extLst>
              <a:ext uri="{FF2B5EF4-FFF2-40B4-BE49-F238E27FC236}">
                <a16:creationId xmlns:a16="http://schemas.microsoft.com/office/drawing/2014/main" id="{5B41390A-F016-9712-7701-B9CF8E7E2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세션 외부화 구조를 전제로 센터 전환 시 세션 유지</a:t>
            </a:r>
            <a:r>
              <a:rPr lang="en-US" altLang="ko-KR" dirty="0"/>
              <a:t>·</a:t>
            </a:r>
            <a:r>
              <a:rPr lang="ko-KR" altLang="en-US" dirty="0"/>
              <a:t>인증 연속성 요건을 정의하고</a:t>
            </a:r>
            <a:r>
              <a:rPr lang="en-US" altLang="ko-KR" dirty="0"/>
              <a:t>, </a:t>
            </a:r>
            <a:r>
              <a:rPr lang="ko-KR" altLang="en-US" dirty="0"/>
              <a:t>센터 간 버전 일치를 통해 </a:t>
            </a:r>
            <a:r>
              <a:rPr lang="en-US" altLang="ko-KR" dirty="0"/>
              <a:t>DR</a:t>
            </a:r>
            <a:r>
              <a:rPr lang="ko-KR" altLang="en-US" dirty="0"/>
              <a:t>센터에서도 로그인</a:t>
            </a:r>
            <a:r>
              <a:rPr lang="en-US" altLang="ko-KR" dirty="0"/>
              <a:t>·</a:t>
            </a:r>
            <a:r>
              <a:rPr lang="ko-KR" altLang="en-US" dirty="0"/>
              <a:t>발급이 끊기지 않도록 함</a:t>
            </a:r>
          </a:p>
        </p:txBody>
      </p:sp>
      <p:sp>
        <p:nvSpPr>
          <p:cNvPr id="352" name="모서리가 둥근 직사각형 12">
            <a:extLst>
              <a:ext uri="{FF2B5EF4-FFF2-40B4-BE49-F238E27FC236}">
                <a16:creationId xmlns:a16="http://schemas.microsoft.com/office/drawing/2014/main" id="{49925EDD-D16F-F1C4-E0F7-86F852B8083B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R="0" lvl="0" defTabSz="910351" rtl="0" eaLnBrk="0" fontAlgn="auto" latinLnBrk="0" hangingPunct="0">
              <a:lnSpc>
                <a:spcPct val="100000"/>
              </a:lnSpc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대상 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: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(Redis 7.4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외부화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(GPKI ·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SW)</a:t>
            </a:r>
          </a:p>
          <a:p>
            <a:pPr marR="0" lvl="0" defTabSz="910351" rtl="0" eaLnBrk="0" fontAlgn="auto" latinLnBrk="0" hangingPunct="0">
              <a:lnSpc>
                <a:spcPct val="100000"/>
              </a:lnSpc>
              <a:buClr>
                <a:prstClr val="black"/>
              </a:buClr>
              <a:buSzTx/>
              <a:tabLst/>
              <a:defRPr/>
            </a:pPr>
            <a:endParaRPr kumimoji="0" lang="en-US" altLang="ko-KR" sz="4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595959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①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세션 클러스터 구성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353" name="양쪽 모서리가 둥근 사각형 101">
            <a:extLst>
              <a:ext uri="{FF2B5EF4-FFF2-40B4-BE49-F238E27FC236}">
                <a16:creationId xmlns:a16="http://schemas.microsoft.com/office/drawing/2014/main" id="{7F1FF699-51DB-51E8-17A4-812A1DD3162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세션 외부화 적용 범위 및 인증 연속성 확보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54" name="그림 138" descr="그림1.png">
            <a:extLst>
              <a:ext uri="{FF2B5EF4-FFF2-40B4-BE49-F238E27FC236}">
                <a16:creationId xmlns:a16="http://schemas.microsoft.com/office/drawing/2014/main" id="{E0F84554-5DCF-5589-D7AF-738C4803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5" name="모서리가 둥근 직사각형 12">
            <a:extLst>
              <a:ext uri="{FF2B5EF4-FFF2-40B4-BE49-F238E27FC236}">
                <a16:creationId xmlns:a16="http://schemas.microsoft.com/office/drawing/2014/main" id="{BD354B62-13AF-5C7F-3181-196EAF08DA3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세션 클러스터 별도 구축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Redis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단방향 복제 적용 및 복제 지연 허용 기준 정의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인증 경로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(GPKI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검증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본인확인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확보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동일 버전 배포로 세션 호환 확보</a:t>
            </a:r>
          </a:p>
        </p:txBody>
      </p:sp>
      <p:sp>
        <p:nvSpPr>
          <p:cNvPr id="356" name="양쪽 모서리가 둥근 사각형 101">
            <a:extLst>
              <a:ext uri="{FF2B5EF4-FFF2-40B4-BE49-F238E27FC236}">
                <a16:creationId xmlns:a16="http://schemas.microsoft.com/office/drawing/2014/main" id="{EC71E424-1286-F553-C6D2-69DBE157724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세션_하단텍스트">
            <a:extLst>
              <a:ext uri="{FF2B5EF4-FFF2-40B4-BE49-F238E27FC236}">
                <a16:creationId xmlns:a16="http://schemas.microsoft.com/office/drawing/2014/main" id="{4C9C40EB-D513-8A43-D8F7-97E02DAEF649}"/>
              </a:ext>
            </a:extLst>
          </p:cNvPr>
          <p:cNvSpPr/>
          <p:nvPr/>
        </p:nvSpPr>
        <p:spPr bwMode="auto">
          <a:xfrm>
            <a:off x="272999" y="3758292"/>
            <a:ext cx="6659617" cy="1930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>
            <a:noAutofit/>
          </a:bodyPr>
          <a:lstStyle/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② 전환 시 세션 유지 요건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graphicFrame>
        <p:nvGraphicFramePr>
          <p:cNvPr id="5" name="세션요건_표">
            <a:extLst>
              <a:ext uri="{FF2B5EF4-FFF2-40B4-BE49-F238E27FC236}">
                <a16:creationId xmlns:a16="http://schemas.microsoft.com/office/drawing/2014/main" id="{2694E345-B9DC-A855-76C8-C41200782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407921"/>
              </p:ext>
            </p:extLst>
          </p:nvPr>
        </p:nvGraphicFramePr>
        <p:xfrm>
          <a:off x="374600" y="3964032"/>
          <a:ext cx="6456417" cy="8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86224645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744590846"/>
                    </a:ext>
                  </a:extLst>
                </a:gridCol>
                <a:gridCol w="2201917">
                  <a:extLst>
                    <a:ext uri="{9D8B030D-6E8A-4147-A177-3AD203B41FA5}">
                      <a16:colId xmlns:a16="http://schemas.microsoft.com/office/drawing/2014/main" val="140792972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경우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요건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84362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· A-A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공유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동기화 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평상시에도 요청이 센터를 오갈 수 있음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768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· Hot Standby · </a:t>
                      </a:r>
                      <a:r>
                        <a:rPr lang="ko-KR" altLang="en-US" sz="90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복제본으로 세션 유지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지연분은 재로그인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 함께 소실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53142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A2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재로그인 허용 가능성 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3~12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31729"/>
                  </a:ext>
                </a:extLst>
              </a:tr>
            </a:tbl>
          </a:graphicData>
        </a:graphic>
      </p:graphicFrame>
      <p:sp>
        <p:nvSpPr>
          <p:cNvPr id="6" name="Redis_하단텍스트">
            <a:extLst>
              <a:ext uri="{FF2B5EF4-FFF2-40B4-BE49-F238E27FC236}">
                <a16:creationId xmlns:a16="http://schemas.microsoft.com/office/drawing/2014/main" id="{E6E19A1F-FE29-7C38-6B7A-23FEDCCC6767}"/>
              </a:ext>
            </a:extLst>
          </p:cNvPr>
          <p:cNvSpPr/>
          <p:nvPr/>
        </p:nvSpPr>
        <p:spPr bwMode="auto">
          <a:xfrm>
            <a:off x="272999" y="5124818"/>
            <a:ext cx="6659617" cy="1930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>
            <a:noAutofit/>
          </a:bodyPr>
          <a:lstStyle/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③ 인증 연속성 요건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graphicFrame>
        <p:nvGraphicFramePr>
          <p:cNvPr id="8" name="인증요건_표">
            <a:extLst>
              <a:ext uri="{FF2B5EF4-FFF2-40B4-BE49-F238E27FC236}">
                <a16:creationId xmlns:a16="http://schemas.microsoft.com/office/drawing/2014/main" id="{57C865EA-7F76-8509-2198-BE00F8042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899757"/>
              </p:ext>
            </p:extLst>
          </p:nvPr>
        </p:nvGraphicFramePr>
        <p:xfrm>
          <a:off x="374601" y="5330558"/>
          <a:ext cx="6456417" cy="71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0371388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19929945"/>
                    </a:ext>
                  </a:extLst>
                </a:gridCol>
                <a:gridCol w="1249417">
                  <a:extLst>
                    <a:ext uri="{9D8B030D-6E8A-4147-A177-3AD203B41FA5}">
                      <a16:colId xmlns:a16="http://schemas.microsoft.com/office/drawing/2014/main" val="98987616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 요소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요건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9564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GPKI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로그인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유효성 검증 서버에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접근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보안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9871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(TrustCertificate · Crosscert)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사전 설치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197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대민 본인확인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본인확인 기관 방화벽에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허용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논리주소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33085"/>
                  </a:ext>
                </a:extLst>
              </a:tr>
            </a:tbl>
          </a:graphicData>
        </a:graphic>
      </p:graphicFrame>
      <p:graphicFrame>
        <p:nvGraphicFramePr>
          <p:cNvPr id="10" name="세션클러스터_표">
            <a:extLst>
              <a:ext uri="{FF2B5EF4-FFF2-40B4-BE49-F238E27FC236}">
                <a16:creationId xmlns:a16="http://schemas.microsoft.com/office/drawing/2014/main" id="{BDA7E002-4600-F9CA-DB58-1948E5871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599224"/>
              </p:ext>
            </p:extLst>
          </p:nvPr>
        </p:nvGraphicFramePr>
        <p:xfrm>
          <a:off x="374602" y="2643238"/>
          <a:ext cx="6456417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217316124"/>
                    </a:ext>
                  </a:extLst>
                </a:gridCol>
                <a:gridCol w="5313417">
                  <a:extLst>
                    <a:ext uri="{9D8B030D-6E8A-4147-A177-3AD203B41FA5}">
                      <a16:colId xmlns:a16="http://schemas.microsoft.com/office/drawing/2014/main" val="1887323088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705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동기화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단방향 복제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전환 시 재로그인 없이 세션 유지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—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양방향 복제 검토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9736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주센터와 동일 구성의 세션서버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별도 구축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84757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평상시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전체 장애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를 주 역할로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6419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→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역방향 복제 후 원복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8092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C81411B-FC6E-C002-1DDF-EEA551C9509D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4A389-4754-7AF6-F605-D75139780D8B}"/>
              </a:ext>
            </a:extLst>
          </p:cNvPr>
          <p:cNvSpPr txBox="1"/>
          <p:nvPr/>
        </p:nvSpPr>
        <p:spPr>
          <a:xfrm>
            <a:off x="10067664" y="3232878"/>
            <a:ext cx="1255948" cy="4744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143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3.3.4.4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쓰기 단일화 및 정합성 보장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조회는 센터 간 분산 처리하더라도 쓰기는 한 센터에서만 수행되도록 통제하고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전환 시 기존 주센터의 쓰기를 차단하여 데이터 충돌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중복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누락을 구조적으로 방지함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쓰기 단일화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(Single Writer)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및 데이터 정합성 확보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트랜잭션 목록 정의 및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라우팅 규칙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화면 내 이력 기록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열람이력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접속로그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식별 후 비동기 처리 또는 분리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기존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쓰기 차단 절차 정의 및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반영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표준연계 중복 방지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식별값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보유 여부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운영사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확인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복귀 후 건수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해시 대사 기준 정의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F5F4E1F2-E6CB-7506-257F-11CB5AAF094B}"/>
              </a:ext>
            </a:extLst>
          </p:cNvPr>
          <p:cNvSpPr txBox="1"/>
          <p:nvPr/>
        </p:nvSpPr>
        <p:spPr>
          <a:xfrm>
            <a:off x="368300" y="2146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쓰기 단일화 원칙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52873968-BE11-DA9F-DDF1-37B12D081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696730"/>
              </p:ext>
            </p:extLst>
          </p:nvPr>
        </p:nvGraphicFramePr>
        <p:xfrm>
          <a:off x="368300" y="2351236"/>
          <a:ext cx="6451600" cy="114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71630573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0480087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0821336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통제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5426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라우팅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편집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수신 트랜잭션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라우팅으로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고정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유입분만 예외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37056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예외 쓰기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라우팅 누락 등으로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발생한 쓰기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DML Redirect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처리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응답 지연으로 보조 수단 한정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703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애플리케이션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커넥션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조회용 접속 분리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센터는 조회 전용 계정 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967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승격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완료 후에만 쓰기 개방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전 쓰기 업무 중단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32080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08856151-12E7-7277-3E78-A4C5CC884F9F}"/>
              </a:ext>
            </a:extLst>
          </p:cNvPr>
          <p:cNvSpPr txBox="1"/>
          <p:nvPr/>
        </p:nvSpPr>
        <p:spPr>
          <a:xfrm>
            <a:off x="368300" y="35755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센터 간 동시 쓰기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(Split-brain)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방지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B901636C-230F-87C6-D57E-873D741B7C19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3780452"/>
          <a:ext cx="6451600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408318569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734581231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246441667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위험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발생 상황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통제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4271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쓰기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통신 단절로 양쪽이 자신을 활성으로 인식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없는 자동 승격 금지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 절차 단일화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454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복구 후 기존 쓰기 세션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차단 후 역동기화 완료까지 조회만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75014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역전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역방향 복제 미완료 상태에서 원복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정합성 확인 완료 후 복귀 승인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절차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단계 연계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270236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900882F0-6BEA-E47F-738F-ADFD223FD29F}"/>
              </a:ext>
            </a:extLst>
          </p:cNvPr>
          <p:cNvSpPr txBox="1"/>
          <p:nvPr/>
        </p:nvSpPr>
        <p:spPr>
          <a:xfrm>
            <a:off x="368300" y="4788832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재처리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정합성 확보 패턴</a:t>
            </a: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72CE477E-1CA7-6E4B-226C-E8F75875F5E2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4993768"/>
          <a:ext cx="6451600" cy="107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41551067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0593742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72881995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효과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90566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멱등 처리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멱등키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수신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재전송 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식별값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회만 반영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발급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반영 방지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078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건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회차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재전송 수신 시 기 처리 여부 판정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7961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건수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해시 대사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후 데이터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불일치 탐지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64909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 건 분리 보관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Timeout 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일시 오류 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자동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수동 재처리 대상 분리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61142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20CB9C5C-B138-99F9-A2D4-EFCF46487B21}"/>
              </a:ext>
            </a:extLst>
          </p:cNvPr>
          <p:cNvSpPr txBox="1"/>
          <p:nvPr/>
        </p:nvSpPr>
        <p:spPr>
          <a:xfrm>
            <a:off x="368300" y="6124068"/>
            <a:ext cx="6451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단일화는 조회 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A-A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구조의 전제 조건으로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미확보 시 데이터 충돌로 복구가 불가능할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69336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(1/6)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장애 발생 시 서버 단위 장애 여부가 아니라 서비스 영향도와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 준비상태를 종합하여 전환 여부를 판단하도록</a:t>
            </a:r>
            <a:r>
              <a:rPr lang="en-US" altLang="ko-KR" dirty="0">
                <a:solidFill>
                  <a:srgbClr val="000000"/>
                </a:solidFill>
              </a:rPr>
              <a:t>, DR Ready </a:t>
            </a:r>
            <a:r>
              <a:rPr lang="ko-KR" altLang="en-US" dirty="0">
                <a:solidFill>
                  <a:srgbClr val="000000"/>
                </a:solidFill>
              </a:rPr>
              <a:t>조건과 전환 승인 기준을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판단 기준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(DR Ready ·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승인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Ready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항목별 점검 방법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주체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복제 지연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(Apply Lag)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임계값을 서비스 등급별로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장애 유형 분류 기준 정의로 불필요한 전환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오전환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방지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승인 체크리스트를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점검 단계로 편입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모의훈련 시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Ready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판정 소요시간 실측 후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RTO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에 반영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232060"/>
            <a:ext cx="1255948" cy="47608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7BBD7C2F-73B5-D0EA-0C9E-EDBDF546413B}"/>
              </a:ext>
            </a:extLst>
          </p:cNvPr>
          <p:cNvSpPr txBox="1"/>
          <p:nvPr/>
        </p:nvSpPr>
        <p:spPr>
          <a:xfrm>
            <a:off x="368300" y="2146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Ready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판정 조건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데이터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D86AD696-93FB-41F4-AECD-1A4C8282B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06994"/>
              </p:ext>
            </p:extLst>
          </p:nvPr>
        </p:nvGraphicFramePr>
        <p:xfrm>
          <a:off x="368300" y="2351236"/>
          <a:ext cx="6451600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1139878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4389518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7828367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판정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23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기술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· VIP · L4, WEB · WAS,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구성요소 정상 기동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978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상태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(Apply Lag)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 ≤ 등급별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(A1 ≒ 0)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1835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표준연계 조회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표본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실제 응답 성공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(18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 공부 표본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04267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C099228D-22A4-BFCB-8893-8128AEBAA556}"/>
              </a:ext>
            </a:extLst>
          </p:cNvPr>
          <p:cNvSpPr txBox="1"/>
          <p:nvPr/>
        </p:nvSpPr>
        <p:spPr>
          <a:xfrm>
            <a:off x="368300" y="33596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장애 유형별 대응 분기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불필요한 전환 방지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BDF280D4-A7B9-E024-558F-B5DCF8A95DD0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3564552"/>
          <a:ext cx="6451600" cy="114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406276234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6494677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6118311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장애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판단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7996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서버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내 정상 서버 존재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내 정상 서버로 자동 우회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미실시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41088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외부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내부 정상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상대 기관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재시도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 건 분리 후 재처리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미실시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633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계층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응답 실패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DB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정상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전환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여부 별도 판단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11316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단위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Ready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후 승인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44145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33DCB3D7-68EE-245D-C481-276C9C443B82}"/>
              </a:ext>
            </a:extLst>
          </p:cNvPr>
          <p:cNvSpPr txBox="1"/>
          <p:nvPr/>
        </p:nvSpPr>
        <p:spPr>
          <a:xfrm>
            <a:off x="368300" y="4720252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전환 승인 확인 항목</a:t>
            </a: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0678FFE8-5B4E-8826-16BC-D9CBA9EBC1C8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4925188"/>
          <a:ext cx="6451600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941815203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112446803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77097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기술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조건 모두 충족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08763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손실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 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미반영 건 범위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8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단일성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차단 가능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쓰기 위험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5774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달성 가능성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등급별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RTO(A1 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A2 3~12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 전환 완료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59541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운영기관 전환 승인 획득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58869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3ACF5BEA-F4CC-8A18-A06A-85181853F002}"/>
              </a:ext>
            </a:extLst>
          </p:cNvPr>
          <p:cNvSpPr txBox="1"/>
          <p:nvPr/>
        </p:nvSpPr>
        <p:spPr>
          <a:xfrm>
            <a:off x="368300" y="6224875"/>
            <a:ext cx="6451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부동산종합공부시스템은 승인 기반 수동 전환 체계로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DR Ready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자동 전환 조건이 아니라 전환 승인 판단의 확인 기준으로 적용</a:t>
            </a:r>
            <a:endParaRPr lang="ko-KR" altLang="en-US" sz="8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955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(2/6)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1" name="텍스트 개체 틀 1">
            <a:extLst>
              <a:ext uri="{FF2B5EF4-FFF2-40B4-BE49-F238E27FC236}">
                <a16:creationId xmlns:a16="http://schemas.microsoft.com/office/drawing/2014/main" id="{5B41390A-F016-9712-7701-B9CF8E7E2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센터 전환이 결정된 뒤 응용 서비스를 넘기고 </a:t>
            </a:r>
            <a:r>
              <a:rPr lang="ko-KR" altLang="en-US" dirty="0" err="1"/>
              <a:t>주센터</a:t>
            </a:r>
            <a:r>
              <a:rPr lang="ko-KR" altLang="en-US" dirty="0"/>
              <a:t> 복구 후 되돌리는 순서와 업무 정상 판정 기준을 정의하여</a:t>
            </a:r>
            <a:r>
              <a:rPr lang="en-US" altLang="ko-KR" dirty="0"/>
              <a:t>, DB </a:t>
            </a:r>
            <a:r>
              <a:rPr lang="ko-KR" altLang="en-US" dirty="0"/>
              <a:t>승격 전 </a:t>
            </a:r>
            <a:r>
              <a:rPr lang="ko-KR" altLang="en-US" dirty="0" err="1"/>
              <a:t>오전환</a:t>
            </a:r>
            <a:r>
              <a:rPr lang="ko-KR" altLang="en-US" dirty="0"/>
              <a:t> 없이 서비스를 전환</a:t>
            </a:r>
            <a:r>
              <a:rPr lang="en-US" altLang="ko-KR" dirty="0"/>
              <a:t>·</a:t>
            </a:r>
            <a:r>
              <a:rPr lang="ko-KR" altLang="en-US" dirty="0"/>
              <a:t>복귀함</a:t>
            </a:r>
          </a:p>
        </p:txBody>
      </p:sp>
      <p:sp>
        <p:nvSpPr>
          <p:cNvPr id="352" name="모서리가 둥근 직사각형 12">
            <a:extLst>
              <a:ext uri="{FF2B5EF4-FFF2-40B4-BE49-F238E27FC236}">
                <a16:creationId xmlns:a16="http://schemas.microsoft.com/office/drawing/2014/main" id="{49925EDD-D16F-F1C4-E0F7-86F852B8083B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53" name="양쪽 모서리가 둥근 사각형 101">
            <a:extLst>
              <a:ext uri="{FF2B5EF4-FFF2-40B4-BE49-F238E27FC236}">
                <a16:creationId xmlns:a16="http://schemas.microsoft.com/office/drawing/2014/main" id="{7F1FF699-51DB-51E8-17A4-812A1DD3162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응용 서비스 전환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복귀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(Failover·Failback)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절차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54" name="그림 138" descr="그림1.png">
            <a:extLst>
              <a:ext uri="{FF2B5EF4-FFF2-40B4-BE49-F238E27FC236}">
                <a16:creationId xmlns:a16="http://schemas.microsoft.com/office/drawing/2014/main" id="{E0F84554-5DCF-5589-D7AF-738C4803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5" name="모서리가 둥근 직사각형 12">
            <a:extLst>
              <a:ext uri="{FF2B5EF4-FFF2-40B4-BE49-F238E27FC236}">
                <a16:creationId xmlns:a16="http://schemas.microsoft.com/office/drawing/2014/main" id="{BD354B62-13AF-5C7F-3181-196EAF08DA3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56" name="양쪽 모서리가 둥근 사각형 101">
            <a:extLst>
              <a:ext uri="{FF2B5EF4-FFF2-40B4-BE49-F238E27FC236}">
                <a16:creationId xmlns:a16="http://schemas.microsoft.com/office/drawing/2014/main" id="{EC71E424-1286-F553-C6D2-69DBE157724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357" name="Text 42">
            <a:extLst>
              <a:ext uri="{FF2B5EF4-FFF2-40B4-BE49-F238E27FC236}">
                <a16:creationId xmlns:a16="http://schemas.microsoft.com/office/drawing/2014/main" id="{4C0D747B-E2BE-5FAB-0FF1-088284094A67}"/>
              </a:ext>
            </a:extLst>
          </p:cNvPr>
          <p:cNvSpPr/>
          <p:nvPr/>
        </p:nvSpPr>
        <p:spPr>
          <a:xfrm>
            <a:off x="7504299" y="2971839"/>
            <a:ext cx="2027619" cy="2000933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spAutoFit/>
          </a:bodyPr>
          <a:lstStyle/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복귀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7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단계 절차를 통합 재해복구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Runbook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의 응용 파트로 편입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승격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역동기화 방식과 소요시간 확정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실측 기반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업무 정상 확인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5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개 항목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대민 발급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표준연계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창구 발급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·C/S·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로그인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판정 기준 확정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전환 중 사용자 안내 화면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점검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축소 운영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재시도 안내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준비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386" name="Shape 31">
            <a:extLst>
              <a:ext uri="{FF2B5EF4-FFF2-40B4-BE49-F238E27FC236}">
                <a16:creationId xmlns:a16="http://schemas.microsoft.com/office/drawing/2014/main" id="{33FAD785-3DB6-3523-918A-19C185E790C7}"/>
              </a:ext>
            </a:extLst>
          </p:cNvPr>
          <p:cNvSpPr/>
          <p:nvPr/>
        </p:nvSpPr>
        <p:spPr>
          <a:xfrm>
            <a:off x="360698" y="2178609"/>
            <a:ext cx="885769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87" name="Text 32">
            <a:extLst>
              <a:ext uri="{FF2B5EF4-FFF2-40B4-BE49-F238E27FC236}">
                <a16:creationId xmlns:a16="http://schemas.microsoft.com/office/drawing/2014/main" id="{B97816BC-130C-2E45-A96A-AC59A76D49A3}"/>
              </a:ext>
            </a:extLst>
          </p:cNvPr>
          <p:cNvSpPr/>
          <p:nvPr/>
        </p:nvSpPr>
        <p:spPr>
          <a:xfrm>
            <a:off x="360698" y="2178609"/>
            <a:ext cx="885769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① 전환 절차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88" name="Text 33">
            <a:extLst>
              <a:ext uri="{FF2B5EF4-FFF2-40B4-BE49-F238E27FC236}">
                <a16:creationId xmlns:a16="http://schemas.microsoft.com/office/drawing/2014/main" id="{F834D21B-4C40-304F-7456-486B062B102E}"/>
              </a:ext>
            </a:extLst>
          </p:cNvPr>
          <p:cNvSpPr/>
          <p:nvPr/>
        </p:nvSpPr>
        <p:spPr>
          <a:xfrm>
            <a:off x="1335044" y="2168860"/>
            <a:ext cx="5314613" cy="292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센터 전환 결정 후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DB 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승격 완료를 확인하고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, 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응용 기동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·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업무 정상 확인을 거쳐 사용자 트래픽을 전환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9755658-B950-5F71-4E50-A11553444DC2}"/>
              </a:ext>
            </a:extLst>
          </p:cNvPr>
          <p:cNvGrpSpPr/>
          <p:nvPr/>
        </p:nvGrpSpPr>
        <p:grpSpPr>
          <a:xfrm>
            <a:off x="371119" y="2558803"/>
            <a:ext cx="6476533" cy="798190"/>
            <a:chOff x="371119" y="2558802"/>
            <a:chExt cx="6476533" cy="1247814"/>
          </a:xfrm>
        </p:grpSpPr>
        <p:sp>
          <p:nvSpPr>
            <p:cNvPr id="389" name="Shape 34">
              <a:extLst>
                <a:ext uri="{FF2B5EF4-FFF2-40B4-BE49-F238E27FC236}">
                  <a16:creationId xmlns:a16="http://schemas.microsoft.com/office/drawing/2014/main" id="{529F6EFA-F9B1-C657-947D-C3BD06D92161}"/>
                </a:ext>
              </a:extLst>
            </p:cNvPr>
            <p:cNvSpPr/>
            <p:nvPr/>
          </p:nvSpPr>
          <p:spPr>
            <a:xfrm>
              <a:off x="371119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0" name="Shape 35">
              <a:extLst>
                <a:ext uri="{FF2B5EF4-FFF2-40B4-BE49-F238E27FC236}">
                  <a16:creationId xmlns:a16="http://schemas.microsoft.com/office/drawing/2014/main" id="{FC82C3B1-FCDA-A0B6-4D15-FAFB8237B6BD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Text 36">
              <a:extLst>
                <a:ext uri="{FF2B5EF4-FFF2-40B4-BE49-F238E27FC236}">
                  <a16:creationId xmlns:a16="http://schemas.microsoft.com/office/drawing/2014/main" id="{F8BE6C38-EF06-E4D5-7229-810347B55517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1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2" name="Text 37">
              <a:extLst>
                <a:ext uri="{FF2B5EF4-FFF2-40B4-BE49-F238E27FC236}">
                  <a16:creationId xmlns:a16="http://schemas.microsoft.com/office/drawing/2014/main" id="{8F4AA9C6-4113-C00D-1D51-6D18B51D79E9}"/>
                </a:ext>
              </a:extLst>
            </p:cNvPr>
            <p:cNvSpPr/>
            <p:nvPr/>
          </p:nvSpPr>
          <p:spPr>
            <a:xfrm>
              <a:off x="433644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전환 결정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3" name="Text 38">
              <a:extLst>
                <a:ext uri="{FF2B5EF4-FFF2-40B4-BE49-F238E27FC236}">
                  <a16:creationId xmlns:a16="http://schemas.microsoft.com/office/drawing/2014/main" id="{CAFC033F-4436-2417-13A1-7C9B7354D2D7}"/>
                </a:ext>
              </a:extLst>
            </p:cNvPr>
            <p:cNvSpPr/>
            <p:nvPr/>
          </p:nvSpPr>
          <p:spPr>
            <a:xfrm>
              <a:off x="423223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전환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결정 수신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4" name="Shape 39">
              <a:extLst>
                <a:ext uri="{FF2B5EF4-FFF2-40B4-BE49-F238E27FC236}">
                  <a16:creationId xmlns:a16="http://schemas.microsoft.com/office/drawing/2014/main" id="{0DB12039-2FCB-EAF3-5231-516DBD0A00F9}"/>
                </a:ext>
              </a:extLst>
            </p:cNvPr>
            <p:cNvSpPr/>
            <p:nvPr/>
          </p:nvSpPr>
          <p:spPr>
            <a:xfrm>
              <a:off x="1230836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5" name="Shape 40">
              <a:extLst>
                <a:ext uri="{FF2B5EF4-FFF2-40B4-BE49-F238E27FC236}">
                  <a16:creationId xmlns:a16="http://schemas.microsoft.com/office/drawing/2014/main" id="{DE461E32-FD08-A0B2-43AF-CBC0DDE8FE80}"/>
                </a:ext>
              </a:extLst>
            </p:cNvPr>
            <p:cNvSpPr/>
            <p:nvPr/>
          </p:nvSpPr>
          <p:spPr>
            <a:xfrm>
              <a:off x="1308992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6" name="Shape 41">
              <a:extLst>
                <a:ext uri="{FF2B5EF4-FFF2-40B4-BE49-F238E27FC236}">
                  <a16:creationId xmlns:a16="http://schemas.microsoft.com/office/drawing/2014/main" id="{5829864C-8BE3-9E46-974A-707534279929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7" name="Text 42">
              <a:extLst>
                <a:ext uri="{FF2B5EF4-FFF2-40B4-BE49-F238E27FC236}">
                  <a16:creationId xmlns:a16="http://schemas.microsoft.com/office/drawing/2014/main" id="{ADB8049E-3165-9721-15C6-0D64C9082E0D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2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8" name="Text 43">
              <a:extLst>
                <a:ext uri="{FF2B5EF4-FFF2-40B4-BE49-F238E27FC236}">
                  <a16:creationId xmlns:a16="http://schemas.microsoft.com/office/drawing/2014/main" id="{FEF46F44-F579-5DA7-B7F3-2A52D7F8A406}"/>
                </a:ext>
              </a:extLst>
            </p:cNvPr>
            <p:cNvSpPr/>
            <p:nvPr/>
          </p:nvSpPr>
          <p:spPr>
            <a:xfrm>
              <a:off x="1371517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연계 유예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9" name="Text 44">
              <a:extLst>
                <a:ext uri="{FF2B5EF4-FFF2-40B4-BE49-F238E27FC236}">
                  <a16:creationId xmlns:a16="http://schemas.microsoft.com/office/drawing/2014/main" id="{6BA5F4C2-3043-CE65-0DB0-0B159C435517}"/>
                </a:ext>
              </a:extLst>
            </p:cNvPr>
            <p:cNvSpPr/>
            <p:nvPr/>
          </p:nvSpPr>
          <p:spPr>
            <a:xfrm>
              <a:off x="1361096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신규 연계 수신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배치 유예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0" name="Shape 45">
              <a:extLst>
                <a:ext uri="{FF2B5EF4-FFF2-40B4-BE49-F238E27FC236}">
                  <a16:creationId xmlns:a16="http://schemas.microsoft.com/office/drawing/2014/main" id="{061720A5-83E9-2D31-156B-4014027728B6}"/>
                </a:ext>
              </a:extLst>
            </p:cNvPr>
            <p:cNvSpPr/>
            <p:nvPr/>
          </p:nvSpPr>
          <p:spPr>
            <a:xfrm>
              <a:off x="2168708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1" name="Shape 46">
              <a:extLst>
                <a:ext uri="{FF2B5EF4-FFF2-40B4-BE49-F238E27FC236}">
                  <a16:creationId xmlns:a16="http://schemas.microsoft.com/office/drawing/2014/main" id="{9C901012-30D5-997D-59A9-F49090B4D854}"/>
                </a:ext>
              </a:extLst>
            </p:cNvPr>
            <p:cNvSpPr/>
            <p:nvPr/>
          </p:nvSpPr>
          <p:spPr>
            <a:xfrm>
              <a:off x="2246865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2F2F2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2" name="Shape 47">
              <a:extLst>
                <a:ext uri="{FF2B5EF4-FFF2-40B4-BE49-F238E27FC236}">
                  <a16:creationId xmlns:a16="http://schemas.microsoft.com/office/drawing/2014/main" id="{2731DCEA-C7D2-FC90-A98D-37CB6CAA4E85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ellipse">
              <a:avLst/>
            </a:prstGeom>
            <a:solidFill>
              <a:srgbClr val="595959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3" name="Text 48">
              <a:extLst>
                <a:ext uri="{FF2B5EF4-FFF2-40B4-BE49-F238E27FC236}">
                  <a16:creationId xmlns:a16="http://schemas.microsoft.com/office/drawing/2014/main" id="{E4803F44-AC20-34C6-61B7-848AEDE06A17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3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4" name="Text 49">
              <a:extLst>
                <a:ext uri="{FF2B5EF4-FFF2-40B4-BE49-F238E27FC236}">
                  <a16:creationId xmlns:a16="http://schemas.microsoft.com/office/drawing/2014/main" id="{134460B0-0424-3001-8888-868CD911D348}"/>
                </a:ext>
              </a:extLst>
            </p:cNvPr>
            <p:cNvSpPr/>
            <p:nvPr/>
          </p:nvSpPr>
          <p:spPr>
            <a:xfrm>
              <a:off x="2309389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DB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승격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5" name="Text 50">
              <a:extLst>
                <a:ext uri="{FF2B5EF4-FFF2-40B4-BE49-F238E27FC236}">
                  <a16:creationId xmlns:a16="http://schemas.microsoft.com/office/drawing/2014/main" id="{AD5AAF1C-0927-4D99-D910-3F5FC09B1777}"/>
                </a:ext>
              </a:extLst>
            </p:cNvPr>
            <p:cNvSpPr/>
            <p:nvPr/>
          </p:nvSpPr>
          <p:spPr>
            <a:xfrm>
              <a:off x="2298969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DB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승격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완료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6" name="Shape 51">
              <a:extLst>
                <a:ext uri="{FF2B5EF4-FFF2-40B4-BE49-F238E27FC236}">
                  <a16:creationId xmlns:a16="http://schemas.microsoft.com/office/drawing/2014/main" id="{0D24E2D7-729B-9C7C-1270-FC5F165DBEB2}"/>
                </a:ext>
              </a:extLst>
            </p:cNvPr>
            <p:cNvSpPr/>
            <p:nvPr/>
          </p:nvSpPr>
          <p:spPr>
            <a:xfrm>
              <a:off x="3106581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7" name="Shape 52">
              <a:extLst>
                <a:ext uri="{FF2B5EF4-FFF2-40B4-BE49-F238E27FC236}">
                  <a16:creationId xmlns:a16="http://schemas.microsoft.com/office/drawing/2014/main" id="{28D13756-C807-E180-73C8-D77968F4CDF0}"/>
                </a:ext>
              </a:extLst>
            </p:cNvPr>
            <p:cNvSpPr/>
            <p:nvPr/>
          </p:nvSpPr>
          <p:spPr>
            <a:xfrm>
              <a:off x="3184737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8" name="Shape 53">
              <a:extLst>
                <a:ext uri="{FF2B5EF4-FFF2-40B4-BE49-F238E27FC236}">
                  <a16:creationId xmlns:a16="http://schemas.microsoft.com/office/drawing/2014/main" id="{7EBCA891-FAA4-6D56-FAF7-E584F333310A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9" name="Text 54">
              <a:extLst>
                <a:ext uri="{FF2B5EF4-FFF2-40B4-BE49-F238E27FC236}">
                  <a16:creationId xmlns:a16="http://schemas.microsoft.com/office/drawing/2014/main" id="{1020F6BE-B4FA-F555-FF60-C5134F5F6A8D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4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0" name="Text 55">
              <a:extLst>
                <a:ext uri="{FF2B5EF4-FFF2-40B4-BE49-F238E27FC236}">
                  <a16:creationId xmlns:a16="http://schemas.microsoft.com/office/drawing/2014/main" id="{AE41B4AF-2AB8-2E01-D9BF-2113F4593A5E}"/>
                </a:ext>
              </a:extLst>
            </p:cNvPr>
            <p:cNvSpPr/>
            <p:nvPr/>
          </p:nvSpPr>
          <p:spPr>
            <a:xfrm>
              <a:off x="3247262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응용 기동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1" name="Text 56">
              <a:extLst>
                <a:ext uri="{FF2B5EF4-FFF2-40B4-BE49-F238E27FC236}">
                  <a16:creationId xmlns:a16="http://schemas.microsoft.com/office/drawing/2014/main" id="{98350374-C1FD-0F53-516A-4548B2D301BA}"/>
                </a:ext>
              </a:extLst>
            </p:cNvPr>
            <p:cNvSpPr/>
            <p:nvPr/>
          </p:nvSpPr>
          <p:spPr>
            <a:xfrm>
              <a:off x="3236841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응용 기동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접속정보 전환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2" name="Shape 57">
              <a:extLst>
                <a:ext uri="{FF2B5EF4-FFF2-40B4-BE49-F238E27FC236}">
                  <a16:creationId xmlns:a16="http://schemas.microsoft.com/office/drawing/2014/main" id="{4781EC82-6361-93E3-C31A-155AF2B25918}"/>
                </a:ext>
              </a:extLst>
            </p:cNvPr>
            <p:cNvSpPr/>
            <p:nvPr/>
          </p:nvSpPr>
          <p:spPr>
            <a:xfrm>
              <a:off x="4044454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3" name="Shape 58">
              <a:extLst>
                <a:ext uri="{FF2B5EF4-FFF2-40B4-BE49-F238E27FC236}">
                  <a16:creationId xmlns:a16="http://schemas.microsoft.com/office/drawing/2014/main" id="{5B1C699F-53C5-DCAF-153F-BAA124D63F38}"/>
                </a:ext>
              </a:extLst>
            </p:cNvPr>
            <p:cNvSpPr/>
            <p:nvPr/>
          </p:nvSpPr>
          <p:spPr>
            <a:xfrm>
              <a:off x="4122610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4" name="Shape 59">
              <a:extLst>
                <a:ext uri="{FF2B5EF4-FFF2-40B4-BE49-F238E27FC236}">
                  <a16:creationId xmlns:a16="http://schemas.microsoft.com/office/drawing/2014/main" id="{155B4774-E2DF-69DA-88D8-CDD2BBB15C47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5" name="Text 60">
              <a:extLst>
                <a:ext uri="{FF2B5EF4-FFF2-40B4-BE49-F238E27FC236}">
                  <a16:creationId xmlns:a16="http://schemas.microsoft.com/office/drawing/2014/main" id="{728FB9B2-2D55-43AF-8001-7B8A7ECEA141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5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6" name="Text 61">
              <a:extLst>
                <a:ext uri="{FF2B5EF4-FFF2-40B4-BE49-F238E27FC236}">
                  <a16:creationId xmlns:a16="http://schemas.microsoft.com/office/drawing/2014/main" id="{E9A295CE-080A-9B16-4416-C49D6EBF5E3A}"/>
                </a:ext>
              </a:extLst>
            </p:cNvPr>
            <p:cNvSpPr/>
            <p:nvPr/>
          </p:nvSpPr>
          <p:spPr>
            <a:xfrm>
              <a:off x="4185135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세션 확인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7" name="Text 62">
              <a:extLst>
                <a:ext uri="{FF2B5EF4-FFF2-40B4-BE49-F238E27FC236}">
                  <a16:creationId xmlns:a16="http://schemas.microsoft.com/office/drawing/2014/main" id="{A6546D83-B555-3736-2FDC-3CFEC3C8ACB1}"/>
                </a:ext>
              </a:extLst>
            </p:cNvPr>
            <p:cNvSpPr/>
            <p:nvPr/>
          </p:nvSpPr>
          <p:spPr>
            <a:xfrm>
              <a:off x="4174714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세션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인증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유지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8" name="Shape 63">
              <a:extLst>
                <a:ext uri="{FF2B5EF4-FFF2-40B4-BE49-F238E27FC236}">
                  <a16:creationId xmlns:a16="http://schemas.microsoft.com/office/drawing/2014/main" id="{68620F1A-853F-798C-7146-D0E65F57E5D0}"/>
                </a:ext>
              </a:extLst>
            </p:cNvPr>
            <p:cNvSpPr/>
            <p:nvPr/>
          </p:nvSpPr>
          <p:spPr>
            <a:xfrm>
              <a:off x="4982327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9" name="Shape 64">
              <a:extLst>
                <a:ext uri="{FF2B5EF4-FFF2-40B4-BE49-F238E27FC236}">
                  <a16:creationId xmlns:a16="http://schemas.microsoft.com/office/drawing/2014/main" id="{3685D411-959D-ECE0-C2EE-356B6EB5CAA9}"/>
                </a:ext>
              </a:extLst>
            </p:cNvPr>
            <p:cNvSpPr/>
            <p:nvPr/>
          </p:nvSpPr>
          <p:spPr>
            <a:xfrm>
              <a:off x="5060483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0" name="Shape 65">
              <a:extLst>
                <a:ext uri="{FF2B5EF4-FFF2-40B4-BE49-F238E27FC236}">
                  <a16:creationId xmlns:a16="http://schemas.microsoft.com/office/drawing/2014/main" id="{35403135-9945-C65A-0E61-3B2644580FB9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1" name="Text 66">
              <a:extLst>
                <a:ext uri="{FF2B5EF4-FFF2-40B4-BE49-F238E27FC236}">
                  <a16:creationId xmlns:a16="http://schemas.microsoft.com/office/drawing/2014/main" id="{FEE0F071-D26B-20D6-9B7A-5B4FEF1DE9BE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6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2" name="Text 67">
              <a:extLst>
                <a:ext uri="{FF2B5EF4-FFF2-40B4-BE49-F238E27FC236}">
                  <a16:creationId xmlns:a16="http://schemas.microsoft.com/office/drawing/2014/main" id="{E80A6754-5091-C28D-B8D5-6A1FD47D9967}"/>
                </a:ext>
              </a:extLst>
            </p:cNvPr>
            <p:cNvSpPr/>
            <p:nvPr/>
          </p:nvSpPr>
          <p:spPr>
            <a:xfrm>
              <a:off x="5123008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업무 확인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3" name="Text 68">
              <a:extLst>
                <a:ext uri="{FF2B5EF4-FFF2-40B4-BE49-F238E27FC236}">
                  <a16:creationId xmlns:a16="http://schemas.microsoft.com/office/drawing/2014/main" id="{CDFB82C1-F7A0-4F82-EA1A-9AC41B431557}"/>
                </a:ext>
              </a:extLst>
            </p:cNvPr>
            <p:cNvSpPr/>
            <p:nvPr/>
          </p:nvSpPr>
          <p:spPr>
            <a:xfrm>
              <a:off x="5112587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발급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연계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·C/S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로그인 정상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4" name="Shape 69">
              <a:extLst>
                <a:ext uri="{FF2B5EF4-FFF2-40B4-BE49-F238E27FC236}">
                  <a16:creationId xmlns:a16="http://schemas.microsoft.com/office/drawing/2014/main" id="{F24A395D-9364-A1B5-A9DC-D0AD60F4F65B}"/>
                </a:ext>
              </a:extLst>
            </p:cNvPr>
            <p:cNvSpPr/>
            <p:nvPr/>
          </p:nvSpPr>
          <p:spPr>
            <a:xfrm>
              <a:off x="5920200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5" name="Shape 70">
              <a:extLst>
                <a:ext uri="{FF2B5EF4-FFF2-40B4-BE49-F238E27FC236}">
                  <a16:creationId xmlns:a16="http://schemas.microsoft.com/office/drawing/2014/main" id="{6E80E48B-CDE6-83BB-606D-0AFD44A70BA8}"/>
                </a:ext>
              </a:extLst>
            </p:cNvPr>
            <p:cNvSpPr/>
            <p:nvPr/>
          </p:nvSpPr>
          <p:spPr>
            <a:xfrm>
              <a:off x="5998356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6" name="Shape 71">
              <a:extLst>
                <a:ext uri="{FF2B5EF4-FFF2-40B4-BE49-F238E27FC236}">
                  <a16:creationId xmlns:a16="http://schemas.microsoft.com/office/drawing/2014/main" id="{CAEE0693-C258-2A85-7CF9-DEEFF0DAD2B7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7" name="Text 72">
              <a:extLst>
                <a:ext uri="{FF2B5EF4-FFF2-40B4-BE49-F238E27FC236}">
                  <a16:creationId xmlns:a16="http://schemas.microsoft.com/office/drawing/2014/main" id="{D681A8FF-902B-8D3C-AC85-9F33543A0359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7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8" name="Text 73">
              <a:extLst>
                <a:ext uri="{FF2B5EF4-FFF2-40B4-BE49-F238E27FC236}">
                  <a16:creationId xmlns:a16="http://schemas.microsoft.com/office/drawing/2014/main" id="{F2E022B8-A8B7-4FE9-4284-D67E5EC2523D}"/>
                </a:ext>
              </a:extLst>
            </p:cNvPr>
            <p:cNvSpPr/>
            <p:nvPr/>
          </p:nvSpPr>
          <p:spPr>
            <a:xfrm>
              <a:off x="6060881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전환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9" name="Text 74">
              <a:extLst>
                <a:ext uri="{FF2B5EF4-FFF2-40B4-BE49-F238E27FC236}">
                  <a16:creationId xmlns:a16="http://schemas.microsoft.com/office/drawing/2014/main" id="{74E6E9C4-C19C-FF1D-1E8C-813A5E2ACF01}"/>
                </a:ext>
              </a:extLst>
            </p:cNvPr>
            <p:cNvSpPr/>
            <p:nvPr/>
          </p:nvSpPr>
          <p:spPr>
            <a:xfrm>
              <a:off x="6050460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GSLB 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사용자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전환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sp>
        <p:nvSpPr>
          <p:cNvPr id="458" name="Shape 103">
            <a:extLst>
              <a:ext uri="{FF2B5EF4-FFF2-40B4-BE49-F238E27FC236}">
                <a16:creationId xmlns:a16="http://schemas.microsoft.com/office/drawing/2014/main" id="{6D876D40-6AC3-6F03-B7E4-E5A0DF052C74}"/>
              </a:ext>
            </a:extLst>
          </p:cNvPr>
          <p:cNvSpPr/>
          <p:nvPr/>
        </p:nvSpPr>
        <p:spPr>
          <a:xfrm>
            <a:off x="360698" y="5954633"/>
            <a:ext cx="6481593" cy="294894"/>
          </a:xfrm>
          <a:prstGeom prst="roundRect">
            <a:avLst>
              <a:gd name="adj" fmla="val 27907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Text 104">
            <a:extLst>
              <a:ext uri="{FF2B5EF4-FFF2-40B4-BE49-F238E27FC236}">
                <a16:creationId xmlns:a16="http://schemas.microsoft.com/office/drawing/2014/main" id="{F0E19312-D8CB-852D-7FD7-5F92DAEA267C}"/>
              </a:ext>
            </a:extLst>
          </p:cNvPr>
          <p:cNvSpPr/>
          <p:nvPr/>
        </p:nvSpPr>
        <p:spPr>
          <a:xfrm>
            <a:off x="380492" y="6029858"/>
            <a:ext cx="6481594" cy="1714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원칙  </a:t>
            </a:r>
            <a:r>
              <a:rPr kumimoji="0" lang="en-US" altLang="ko-KR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|  DB </a:t>
            </a: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승격 완료 전 쓰기 업무 중단 → 업무 정상 확인 후 트래픽 전환 → 절차는 통합 재해복구 </a:t>
            </a:r>
            <a:r>
              <a:rPr kumimoji="0" lang="en-US" altLang="ko-KR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Runbook</a:t>
            </a: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 응용 파트로 편입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나눔고딕"/>
              <a:cs typeface="+mn-cs"/>
            </a:endParaRPr>
          </a:p>
        </p:txBody>
      </p:sp>
      <p:sp>
        <p:nvSpPr>
          <p:cNvPr id="2" name="SR_p2_bg">
            <a:extLst>
              <a:ext uri="{FF2B5EF4-FFF2-40B4-BE49-F238E27FC236}">
                <a16:creationId xmlns:a16="http://schemas.microsoft.com/office/drawing/2014/main" id="{0469A202-7130-AB13-D74F-EDD76CE12EF5}"/>
              </a:ext>
            </a:extLst>
          </p:cNvPr>
          <p:cNvSpPr/>
          <p:nvPr/>
        </p:nvSpPr>
        <p:spPr>
          <a:xfrm>
            <a:off x="360697" y="4664173"/>
            <a:ext cx="889000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SR_p2_tx">
            <a:extLst>
              <a:ext uri="{FF2B5EF4-FFF2-40B4-BE49-F238E27FC236}">
                <a16:creationId xmlns:a16="http://schemas.microsoft.com/office/drawing/2014/main" id="{D8B977B2-93C8-38D8-4187-5C9C7C66FA20}"/>
              </a:ext>
            </a:extLst>
          </p:cNvPr>
          <p:cNvSpPr/>
          <p:nvPr/>
        </p:nvSpPr>
        <p:spPr>
          <a:xfrm>
            <a:off x="360697" y="4664173"/>
            <a:ext cx="889000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③ 복귀 절차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" name="SR_d2">
            <a:extLst>
              <a:ext uri="{FF2B5EF4-FFF2-40B4-BE49-F238E27FC236}">
                <a16:creationId xmlns:a16="http://schemas.microsoft.com/office/drawing/2014/main" id="{1D3235B5-4868-FE40-05CC-916C3AA91EA0}"/>
              </a:ext>
            </a:extLst>
          </p:cNvPr>
          <p:cNvSpPr/>
          <p:nvPr/>
        </p:nvSpPr>
        <p:spPr>
          <a:xfrm>
            <a:off x="1335045" y="4651473"/>
            <a:ext cx="5314613" cy="292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defTabSz="457200" latinLnBrk="0"/>
            <a:r>
              <a:rPr lang="ko-KR" altLang="en-US" sz="900" b="1" kern="0">
                <a:solidFill>
                  <a:srgbClr val="404040"/>
                </a:solidFill>
                <a:latin typeface="나눔고딕"/>
                <a:ea typeface="나눔고딕"/>
              </a:rPr>
              <a:t>주센터 복구 후 역동기화</a:t>
            </a:r>
            <a:r>
              <a:rPr lang="en-US" altLang="ko-KR" sz="900" b="1" kern="0">
                <a:solidFill>
                  <a:srgbClr val="404040"/>
                </a:solidFill>
                <a:latin typeface="나눔고딕"/>
                <a:ea typeface="나눔고딕"/>
              </a:rPr>
              <a:t>·</a:t>
            </a:r>
            <a:r>
              <a:rPr lang="ko-KR" altLang="en-US" sz="900" b="1" kern="0">
                <a:solidFill>
                  <a:srgbClr val="404040"/>
                </a:solidFill>
                <a:latin typeface="나눔고딕"/>
                <a:ea typeface="나눔고딕"/>
              </a:rPr>
              <a:t>정합성 확인과 복귀 승인을 거쳐 주센터로 단계적 원복</a:t>
            </a:r>
            <a:endParaRPr lang="en-US" sz="900" b="1" kern="0" dirty="0">
              <a:solidFill>
                <a:srgbClr val="404040"/>
              </a:solidFill>
              <a:latin typeface="나눔고딕"/>
              <a:ea typeface="나눔고딕"/>
            </a:endParaRPr>
          </a:p>
        </p:txBody>
      </p:sp>
      <p:sp>
        <p:nvSpPr>
          <p:cNvPr id="5" name="SR_p3_bg">
            <a:extLst>
              <a:ext uri="{FF2B5EF4-FFF2-40B4-BE49-F238E27FC236}">
                <a16:creationId xmlns:a16="http://schemas.microsoft.com/office/drawing/2014/main" id="{BBA373FE-82C2-9B42-98DB-6DFB06415E2A}"/>
              </a:ext>
            </a:extLst>
          </p:cNvPr>
          <p:cNvSpPr/>
          <p:nvPr/>
        </p:nvSpPr>
        <p:spPr>
          <a:xfrm>
            <a:off x="360697" y="3580138"/>
            <a:ext cx="885769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SR_p3_tx">
            <a:extLst>
              <a:ext uri="{FF2B5EF4-FFF2-40B4-BE49-F238E27FC236}">
                <a16:creationId xmlns:a16="http://schemas.microsoft.com/office/drawing/2014/main" id="{CEE738BF-8A47-5229-71FD-605BEE0DD972}"/>
              </a:ext>
            </a:extLst>
          </p:cNvPr>
          <p:cNvSpPr/>
          <p:nvPr/>
        </p:nvSpPr>
        <p:spPr>
          <a:xfrm>
            <a:off x="360697" y="3580138"/>
            <a:ext cx="885769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② 업무 정상 확인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graphicFrame>
        <p:nvGraphicFramePr>
          <p:cNvPr id="8" name="SR_check_tbl">
            <a:extLst>
              <a:ext uri="{FF2B5EF4-FFF2-40B4-BE49-F238E27FC236}">
                <a16:creationId xmlns:a16="http://schemas.microsoft.com/office/drawing/2014/main" id="{39942E1C-B299-2198-47C8-00CFFA136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17709"/>
              </p:ext>
            </p:extLst>
          </p:nvPr>
        </p:nvGraphicFramePr>
        <p:xfrm>
          <a:off x="368300" y="3933642"/>
          <a:ext cx="6477000" cy="462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0878587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9935233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7360689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9369985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955120638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대민 발급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창구 발급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지적행정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(C/S)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로그인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898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18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 공부 표본 발급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서비스 응답 정상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창구민원 발급 처리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토지이동 등 처리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·GIS Server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GPKI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 로그인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101177"/>
                  </a:ext>
                </a:extLst>
              </a:tr>
            </a:tbl>
          </a:graphicData>
        </a:graphic>
      </p:graphicFrame>
      <p:grpSp>
        <p:nvGrpSpPr>
          <p:cNvPr id="55" name="SR_back_grp">
            <a:extLst>
              <a:ext uri="{FF2B5EF4-FFF2-40B4-BE49-F238E27FC236}">
                <a16:creationId xmlns:a16="http://schemas.microsoft.com/office/drawing/2014/main" id="{2E6B1F59-C51D-1107-4287-20AAE90D8A2F}"/>
              </a:ext>
            </a:extLst>
          </p:cNvPr>
          <p:cNvGrpSpPr/>
          <p:nvPr/>
        </p:nvGrpSpPr>
        <p:grpSpPr>
          <a:xfrm>
            <a:off x="371119" y="5007073"/>
            <a:ext cx="6476533" cy="798191"/>
            <a:chOff x="371119" y="2558802"/>
            <a:chExt cx="6476533" cy="1247814"/>
          </a:xfrm>
        </p:grpSpPr>
        <p:sp>
          <p:nvSpPr>
            <p:cNvPr id="56" name="Shape 34">
              <a:extLst>
                <a:ext uri="{FF2B5EF4-FFF2-40B4-BE49-F238E27FC236}">
                  <a16:creationId xmlns:a16="http://schemas.microsoft.com/office/drawing/2014/main" id="{1730ECD2-DF7F-BBB4-CAB1-FE4E545630FA}"/>
                </a:ext>
              </a:extLst>
            </p:cNvPr>
            <p:cNvSpPr/>
            <p:nvPr/>
          </p:nvSpPr>
          <p:spPr>
            <a:xfrm>
              <a:off x="371119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35">
              <a:extLst>
                <a:ext uri="{FF2B5EF4-FFF2-40B4-BE49-F238E27FC236}">
                  <a16:creationId xmlns:a16="http://schemas.microsoft.com/office/drawing/2014/main" id="{13DF8AAF-F743-66BC-66B5-DB91C2F6B5FF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36">
              <a:extLst>
                <a:ext uri="{FF2B5EF4-FFF2-40B4-BE49-F238E27FC236}">
                  <a16:creationId xmlns:a16="http://schemas.microsoft.com/office/drawing/2014/main" id="{B6F31140-3422-A7AA-48F0-A2EA56000B9B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1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59" name="Text 37">
              <a:extLst>
                <a:ext uri="{FF2B5EF4-FFF2-40B4-BE49-F238E27FC236}">
                  <a16:creationId xmlns:a16="http://schemas.microsoft.com/office/drawing/2014/main" id="{8FBDD4F6-9DEC-49BC-BDE0-ADAC31611327}"/>
                </a:ext>
              </a:extLst>
            </p:cNvPr>
            <p:cNvSpPr/>
            <p:nvPr/>
          </p:nvSpPr>
          <p:spPr>
            <a:xfrm>
              <a:off x="433644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복구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60" name="Text 38">
              <a:extLst>
                <a:ext uri="{FF2B5EF4-FFF2-40B4-BE49-F238E27FC236}">
                  <a16:creationId xmlns:a16="http://schemas.microsoft.com/office/drawing/2014/main" id="{6E3B5F0F-0216-9AED-2775-C0D9297FB501}"/>
                </a:ext>
              </a:extLst>
            </p:cNvPr>
            <p:cNvSpPr/>
            <p:nvPr/>
          </p:nvSpPr>
          <p:spPr>
            <a:xfrm>
              <a:off x="423223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 인프라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·DB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복구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61" name="Shape 39">
              <a:extLst>
                <a:ext uri="{FF2B5EF4-FFF2-40B4-BE49-F238E27FC236}">
                  <a16:creationId xmlns:a16="http://schemas.microsoft.com/office/drawing/2014/main" id="{65DD4227-EA3E-F4A9-A5B3-9CA96B03F3A8}"/>
                </a:ext>
              </a:extLst>
            </p:cNvPr>
            <p:cNvSpPr/>
            <p:nvPr/>
          </p:nvSpPr>
          <p:spPr>
            <a:xfrm>
              <a:off x="1230836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40">
              <a:extLst>
                <a:ext uri="{FF2B5EF4-FFF2-40B4-BE49-F238E27FC236}">
                  <a16:creationId xmlns:a16="http://schemas.microsoft.com/office/drawing/2014/main" id="{0C8B4060-7D38-CF00-9ADD-D0FC197D9785}"/>
                </a:ext>
              </a:extLst>
            </p:cNvPr>
            <p:cNvSpPr/>
            <p:nvPr/>
          </p:nvSpPr>
          <p:spPr>
            <a:xfrm>
              <a:off x="1308992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2F2F2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41">
              <a:extLst>
                <a:ext uri="{FF2B5EF4-FFF2-40B4-BE49-F238E27FC236}">
                  <a16:creationId xmlns:a16="http://schemas.microsoft.com/office/drawing/2014/main" id="{9C03E2AF-CF91-248E-0B80-692B1B2106A6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ellipse">
              <a:avLst/>
            </a:prstGeom>
            <a:solidFill>
              <a:srgbClr val="595959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8" name="Text 42">
              <a:extLst>
                <a:ext uri="{FF2B5EF4-FFF2-40B4-BE49-F238E27FC236}">
                  <a16:creationId xmlns:a16="http://schemas.microsoft.com/office/drawing/2014/main" id="{ABB43DED-2188-D9E6-9F05-6F7C8229BE69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en-US" sz="750" b="1" kern="0">
                  <a:solidFill>
                    <a:srgbClr val="FFFFFF"/>
                  </a:solidFill>
                  <a:latin typeface="나눔고딕"/>
                  <a:ea typeface="나눔고딕"/>
                </a:rPr>
                <a:t>2</a:t>
              </a:r>
              <a:endParaRPr lang="en-US" sz="750" b="1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9" name="Text 43">
              <a:extLst>
                <a:ext uri="{FF2B5EF4-FFF2-40B4-BE49-F238E27FC236}">
                  <a16:creationId xmlns:a16="http://schemas.microsoft.com/office/drawing/2014/main" id="{45B1A183-7384-D463-6D09-0B306CA10393}"/>
                </a:ext>
              </a:extLst>
            </p:cNvPr>
            <p:cNvSpPr/>
            <p:nvPr/>
          </p:nvSpPr>
          <p:spPr>
            <a:xfrm>
              <a:off x="1371517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ko-KR" altLang="en-US" sz="900" b="1" kern="0">
                  <a:solidFill>
                    <a:srgbClr val="404040"/>
                  </a:solidFill>
                  <a:latin typeface="나눔고딕"/>
                  <a:ea typeface="나눔고딕"/>
                </a:rPr>
                <a:t>역동기화</a:t>
              </a:r>
              <a:endParaRPr lang="en-US" sz="900" b="1" kern="0" dirty="0">
                <a:solidFill>
                  <a:srgbClr val="40404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0" name="Text 44">
              <a:extLst>
                <a:ext uri="{FF2B5EF4-FFF2-40B4-BE49-F238E27FC236}">
                  <a16:creationId xmlns:a16="http://schemas.microsoft.com/office/drawing/2014/main" id="{442026D9-2D0B-82C5-82EB-FC27D6F1450F}"/>
                </a:ext>
              </a:extLst>
            </p:cNvPr>
            <p:cNvSpPr/>
            <p:nvPr/>
          </p:nvSpPr>
          <p:spPr>
            <a:xfrm>
              <a:off x="1361096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algn="ctr" defTabSz="457200" latinLnBrk="0"/>
              <a:r>
                <a:rPr lang="en-US" altLang="ko-KR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DR</a:t>
              </a:r>
              <a:r>
                <a:rPr lang="ko-KR" altLang="en-US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센터 → </a:t>
              </a:r>
              <a:r>
                <a:rPr lang="ko-KR" altLang="en-US" sz="700" kern="0" dirty="0" err="1">
                  <a:solidFill>
                    <a:srgbClr val="808080"/>
                  </a:solidFill>
                  <a:latin typeface="나눔고딕"/>
                  <a:ea typeface="나눔고딕"/>
                </a:rPr>
                <a:t>주센터</a:t>
              </a:r>
              <a:endParaRPr lang="ko-KR" alt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  <a:p>
              <a:pPr algn="ctr" defTabSz="457200" latinLnBrk="0"/>
              <a:r>
                <a:rPr lang="ko-KR" altLang="en-US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역동기화</a:t>
              </a:r>
              <a:endParaRPr 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1" name="Shape 45">
              <a:extLst>
                <a:ext uri="{FF2B5EF4-FFF2-40B4-BE49-F238E27FC236}">
                  <a16:creationId xmlns:a16="http://schemas.microsoft.com/office/drawing/2014/main" id="{AD01A505-FABD-B29E-57E6-D6F3EC406921}"/>
                </a:ext>
              </a:extLst>
            </p:cNvPr>
            <p:cNvSpPr/>
            <p:nvPr/>
          </p:nvSpPr>
          <p:spPr>
            <a:xfrm>
              <a:off x="2168708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2" name="Shape 46">
              <a:extLst>
                <a:ext uri="{FF2B5EF4-FFF2-40B4-BE49-F238E27FC236}">
                  <a16:creationId xmlns:a16="http://schemas.microsoft.com/office/drawing/2014/main" id="{5EDF1E25-E5AB-5025-F702-719C0C461551}"/>
                </a:ext>
              </a:extLst>
            </p:cNvPr>
            <p:cNvSpPr/>
            <p:nvPr/>
          </p:nvSpPr>
          <p:spPr>
            <a:xfrm>
              <a:off x="2246865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3" name="Shape 47">
              <a:extLst>
                <a:ext uri="{FF2B5EF4-FFF2-40B4-BE49-F238E27FC236}">
                  <a16:creationId xmlns:a16="http://schemas.microsoft.com/office/drawing/2014/main" id="{34B93225-32CC-D23D-23C7-4508771FFD8C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4" name="Text 48">
              <a:extLst>
                <a:ext uri="{FF2B5EF4-FFF2-40B4-BE49-F238E27FC236}">
                  <a16:creationId xmlns:a16="http://schemas.microsoft.com/office/drawing/2014/main" id="{2E317C94-8C02-2E7E-DBAC-3012109FE3B0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en-US" sz="750" b="1" kern="0">
                  <a:solidFill>
                    <a:srgbClr val="FFFFFF"/>
                  </a:solidFill>
                  <a:latin typeface="나눔고딕"/>
                  <a:ea typeface="나눔고딕"/>
                </a:rPr>
                <a:t>3</a:t>
              </a:r>
              <a:endParaRPr lang="en-US" sz="750" b="1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5" name="Text 49">
              <a:extLst>
                <a:ext uri="{FF2B5EF4-FFF2-40B4-BE49-F238E27FC236}">
                  <a16:creationId xmlns:a16="http://schemas.microsoft.com/office/drawing/2014/main" id="{25D62B8A-5524-B8E1-D114-F32AAB01B10A}"/>
                </a:ext>
              </a:extLst>
            </p:cNvPr>
            <p:cNvSpPr/>
            <p:nvPr/>
          </p:nvSpPr>
          <p:spPr>
            <a:xfrm>
              <a:off x="2309389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ko-KR" altLang="en-US" sz="900" b="1" kern="0">
                  <a:solidFill>
                    <a:srgbClr val="404040"/>
                  </a:solidFill>
                  <a:latin typeface="나눔고딕"/>
                  <a:ea typeface="나눔고딕"/>
                </a:rPr>
                <a:t>정합성 확인</a:t>
              </a:r>
              <a:endParaRPr lang="en-US" sz="900" b="1" kern="0" dirty="0">
                <a:solidFill>
                  <a:srgbClr val="40404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6" name="Text 50">
              <a:extLst>
                <a:ext uri="{FF2B5EF4-FFF2-40B4-BE49-F238E27FC236}">
                  <a16:creationId xmlns:a16="http://schemas.microsoft.com/office/drawing/2014/main" id="{91034BB3-722B-CBDA-2B79-FD940030F0B3}"/>
                </a:ext>
              </a:extLst>
            </p:cNvPr>
            <p:cNvSpPr/>
            <p:nvPr/>
          </p:nvSpPr>
          <p:spPr>
            <a:xfrm>
              <a:off x="2298969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algn="ctr" defTabSz="457200" latinLnBrk="0"/>
              <a:r>
                <a:rPr lang="ko-KR" altLang="en-US" sz="700" kern="0">
                  <a:solidFill>
                    <a:srgbClr val="808080"/>
                  </a:solidFill>
                  <a:latin typeface="나눔고딕"/>
                  <a:ea typeface="나눔고딕"/>
                </a:rPr>
                <a:t>센터 간 데이터</a:t>
              </a:r>
            </a:p>
            <a:p>
              <a:pPr algn="ctr" defTabSz="457200" latinLnBrk="0"/>
              <a:r>
                <a:rPr lang="ko-KR" altLang="en-US" sz="700" kern="0">
                  <a:solidFill>
                    <a:srgbClr val="808080"/>
                  </a:solidFill>
                  <a:latin typeface="나눔고딕"/>
                  <a:ea typeface="나눔고딕"/>
                </a:rPr>
                <a:t>정합성 확인</a:t>
              </a:r>
              <a:endParaRPr 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7" name="Shape 51">
              <a:extLst>
                <a:ext uri="{FF2B5EF4-FFF2-40B4-BE49-F238E27FC236}">
                  <a16:creationId xmlns:a16="http://schemas.microsoft.com/office/drawing/2014/main" id="{8D7C1C80-0306-2792-E21D-F8690C65362F}"/>
                </a:ext>
              </a:extLst>
            </p:cNvPr>
            <p:cNvSpPr/>
            <p:nvPr/>
          </p:nvSpPr>
          <p:spPr>
            <a:xfrm>
              <a:off x="3106581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0" name="Shape 52">
              <a:extLst>
                <a:ext uri="{FF2B5EF4-FFF2-40B4-BE49-F238E27FC236}">
                  <a16:creationId xmlns:a16="http://schemas.microsoft.com/office/drawing/2014/main" id="{C2A1FD85-E198-0430-1586-7749A1E3B059}"/>
                </a:ext>
              </a:extLst>
            </p:cNvPr>
            <p:cNvSpPr/>
            <p:nvPr/>
          </p:nvSpPr>
          <p:spPr>
            <a:xfrm>
              <a:off x="3184737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1" name="Shape 53">
              <a:extLst>
                <a:ext uri="{FF2B5EF4-FFF2-40B4-BE49-F238E27FC236}">
                  <a16:creationId xmlns:a16="http://schemas.microsoft.com/office/drawing/2014/main" id="{7F1CCEDD-81AA-3AA9-3B84-B196D1030B95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2" name="Text 54">
              <a:extLst>
                <a:ext uri="{FF2B5EF4-FFF2-40B4-BE49-F238E27FC236}">
                  <a16:creationId xmlns:a16="http://schemas.microsoft.com/office/drawing/2014/main" id="{B539F83A-61E7-1ECA-34D1-57F7B58F0E62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4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3" name="Text 55">
              <a:extLst>
                <a:ext uri="{FF2B5EF4-FFF2-40B4-BE49-F238E27FC236}">
                  <a16:creationId xmlns:a16="http://schemas.microsoft.com/office/drawing/2014/main" id="{2B17B546-17AC-9399-CABD-EF0E420E6048}"/>
                </a:ext>
              </a:extLst>
            </p:cNvPr>
            <p:cNvSpPr/>
            <p:nvPr/>
          </p:nvSpPr>
          <p:spPr>
            <a:xfrm>
              <a:off x="3247262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응용 기동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4" name="Text 56">
              <a:extLst>
                <a:ext uri="{FF2B5EF4-FFF2-40B4-BE49-F238E27FC236}">
                  <a16:creationId xmlns:a16="http://schemas.microsoft.com/office/drawing/2014/main" id="{B8309084-89B7-AF98-45CD-F8F061CD435B}"/>
                </a:ext>
              </a:extLst>
            </p:cNvPr>
            <p:cNvSpPr/>
            <p:nvPr/>
          </p:nvSpPr>
          <p:spPr>
            <a:xfrm>
              <a:off x="3236841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응용 기동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배포 버전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5" name="Shape 57">
              <a:extLst>
                <a:ext uri="{FF2B5EF4-FFF2-40B4-BE49-F238E27FC236}">
                  <a16:creationId xmlns:a16="http://schemas.microsoft.com/office/drawing/2014/main" id="{156753AB-B6DB-D0F5-FF32-03096110DD4F}"/>
                </a:ext>
              </a:extLst>
            </p:cNvPr>
            <p:cNvSpPr/>
            <p:nvPr/>
          </p:nvSpPr>
          <p:spPr>
            <a:xfrm>
              <a:off x="4044454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6" name="Shape 58">
              <a:extLst>
                <a:ext uri="{FF2B5EF4-FFF2-40B4-BE49-F238E27FC236}">
                  <a16:creationId xmlns:a16="http://schemas.microsoft.com/office/drawing/2014/main" id="{EC80206E-3572-71A9-0E6E-3023047FEE4B}"/>
                </a:ext>
              </a:extLst>
            </p:cNvPr>
            <p:cNvSpPr/>
            <p:nvPr/>
          </p:nvSpPr>
          <p:spPr>
            <a:xfrm>
              <a:off x="4122610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7" name="Shape 59">
              <a:extLst>
                <a:ext uri="{FF2B5EF4-FFF2-40B4-BE49-F238E27FC236}">
                  <a16:creationId xmlns:a16="http://schemas.microsoft.com/office/drawing/2014/main" id="{18F8C2D6-F5E9-CCBF-BBC3-45D112C6791B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8" name="Text 60">
              <a:extLst>
                <a:ext uri="{FF2B5EF4-FFF2-40B4-BE49-F238E27FC236}">
                  <a16:creationId xmlns:a16="http://schemas.microsoft.com/office/drawing/2014/main" id="{4CB4E513-CF57-1767-06DA-D777FF39E5B2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5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9" name="Text 61">
              <a:extLst>
                <a:ext uri="{FF2B5EF4-FFF2-40B4-BE49-F238E27FC236}">
                  <a16:creationId xmlns:a16="http://schemas.microsoft.com/office/drawing/2014/main" id="{BC0AB75F-3203-C8FB-E7DD-4C8D68412CC1}"/>
                </a:ext>
              </a:extLst>
            </p:cNvPr>
            <p:cNvSpPr/>
            <p:nvPr/>
          </p:nvSpPr>
          <p:spPr>
            <a:xfrm>
              <a:off x="4185135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복귀 승인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0" name="Text 62">
              <a:extLst>
                <a:ext uri="{FF2B5EF4-FFF2-40B4-BE49-F238E27FC236}">
                  <a16:creationId xmlns:a16="http://schemas.microsoft.com/office/drawing/2014/main" id="{3F0E4988-9169-6E12-CBE5-12DA8CE0D683}"/>
                </a:ext>
              </a:extLst>
            </p:cNvPr>
            <p:cNvSpPr/>
            <p:nvPr/>
          </p:nvSpPr>
          <p:spPr>
            <a:xfrm>
              <a:off x="4174714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복귀 시점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승인 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(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운영기관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)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1" name="Shape 63">
              <a:extLst>
                <a:ext uri="{FF2B5EF4-FFF2-40B4-BE49-F238E27FC236}">
                  <a16:creationId xmlns:a16="http://schemas.microsoft.com/office/drawing/2014/main" id="{40F70C50-C9A9-590E-012D-507649D0BF3D}"/>
                </a:ext>
              </a:extLst>
            </p:cNvPr>
            <p:cNvSpPr/>
            <p:nvPr/>
          </p:nvSpPr>
          <p:spPr>
            <a:xfrm>
              <a:off x="4982327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2" name="Shape 64">
              <a:extLst>
                <a:ext uri="{FF2B5EF4-FFF2-40B4-BE49-F238E27FC236}">
                  <a16:creationId xmlns:a16="http://schemas.microsoft.com/office/drawing/2014/main" id="{28328005-BACE-2E49-2486-EA9ABE2F0747}"/>
                </a:ext>
              </a:extLst>
            </p:cNvPr>
            <p:cNvSpPr/>
            <p:nvPr/>
          </p:nvSpPr>
          <p:spPr>
            <a:xfrm>
              <a:off x="5060483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3" name="Shape 65">
              <a:extLst>
                <a:ext uri="{FF2B5EF4-FFF2-40B4-BE49-F238E27FC236}">
                  <a16:creationId xmlns:a16="http://schemas.microsoft.com/office/drawing/2014/main" id="{6B3F0FC8-E094-05C6-7D1F-E941238A295D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4" name="Text 66">
              <a:extLst>
                <a:ext uri="{FF2B5EF4-FFF2-40B4-BE49-F238E27FC236}">
                  <a16:creationId xmlns:a16="http://schemas.microsoft.com/office/drawing/2014/main" id="{34EC4F5E-E9C5-29DE-67E4-89A12740A67B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6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5" name="Text 67">
              <a:extLst>
                <a:ext uri="{FF2B5EF4-FFF2-40B4-BE49-F238E27FC236}">
                  <a16:creationId xmlns:a16="http://schemas.microsoft.com/office/drawing/2014/main" id="{5A46237F-3672-73D0-5E87-F4B2B081A4D1}"/>
                </a:ext>
              </a:extLst>
            </p:cNvPr>
            <p:cNvSpPr/>
            <p:nvPr/>
          </p:nvSpPr>
          <p:spPr>
            <a:xfrm>
              <a:off x="5123008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복귀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6" name="Text 68">
              <a:extLst>
                <a:ext uri="{FF2B5EF4-FFF2-40B4-BE49-F238E27FC236}">
                  <a16:creationId xmlns:a16="http://schemas.microsoft.com/office/drawing/2014/main" id="{64139A76-C302-9765-6D97-1A0DF663174E}"/>
                </a:ext>
              </a:extLst>
            </p:cNvPr>
            <p:cNvSpPr/>
            <p:nvPr/>
          </p:nvSpPr>
          <p:spPr>
            <a:xfrm>
              <a:off x="5112587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GSLB 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복귀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7" name="Shape 69">
              <a:extLst>
                <a:ext uri="{FF2B5EF4-FFF2-40B4-BE49-F238E27FC236}">
                  <a16:creationId xmlns:a16="http://schemas.microsoft.com/office/drawing/2014/main" id="{F1973B76-EF31-7E0C-5916-F9F8537542AC}"/>
                </a:ext>
              </a:extLst>
            </p:cNvPr>
            <p:cNvSpPr/>
            <p:nvPr/>
          </p:nvSpPr>
          <p:spPr>
            <a:xfrm>
              <a:off x="5920200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8" name="Shape 70">
              <a:extLst>
                <a:ext uri="{FF2B5EF4-FFF2-40B4-BE49-F238E27FC236}">
                  <a16:creationId xmlns:a16="http://schemas.microsoft.com/office/drawing/2014/main" id="{2F0445C0-54F8-D5A4-0F03-0E9C70CE189F}"/>
                </a:ext>
              </a:extLst>
            </p:cNvPr>
            <p:cNvSpPr/>
            <p:nvPr/>
          </p:nvSpPr>
          <p:spPr>
            <a:xfrm>
              <a:off x="5998356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9" name="Shape 71">
              <a:extLst>
                <a:ext uri="{FF2B5EF4-FFF2-40B4-BE49-F238E27FC236}">
                  <a16:creationId xmlns:a16="http://schemas.microsoft.com/office/drawing/2014/main" id="{7C8EC8C4-FFB3-A0DB-2467-EEDD871B3A3C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0" name="Text 72">
              <a:extLst>
                <a:ext uri="{FF2B5EF4-FFF2-40B4-BE49-F238E27FC236}">
                  <a16:creationId xmlns:a16="http://schemas.microsoft.com/office/drawing/2014/main" id="{CBF64733-69F4-8200-53EA-1C060B56ED9A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7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81" name="Text 73">
              <a:extLst>
                <a:ext uri="{FF2B5EF4-FFF2-40B4-BE49-F238E27FC236}">
                  <a16:creationId xmlns:a16="http://schemas.microsoft.com/office/drawing/2014/main" id="{F6B10B13-EB1D-93E9-7147-156D7EFC869C}"/>
                </a:ext>
              </a:extLst>
            </p:cNvPr>
            <p:cNvSpPr/>
            <p:nvPr/>
          </p:nvSpPr>
          <p:spPr>
            <a:xfrm>
              <a:off x="6060881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대기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82" name="Text 74">
              <a:extLst>
                <a:ext uri="{FF2B5EF4-FFF2-40B4-BE49-F238E27FC236}">
                  <a16:creationId xmlns:a16="http://schemas.microsoft.com/office/drawing/2014/main" id="{A7A7CCA2-BF3D-1F0A-C987-1B592E380AC2}"/>
                </a:ext>
              </a:extLst>
            </p:cNvPr>
            <p:cNvSpPr/>
            <p:nvPr/>
          </p:nvSpPr>
          <p:spPr>
            <a:xfrm>
              <a:off x="6050460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DR</a:t>
              </a: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센터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평시 대기 상태 복귀</a:t>
              </a:r>
              <a:endParaRPr kumimoji="0" lang="en-US" sz="70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F33FA9-9EF2-5DA4-ED62-497361BE7AC2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4FDB5-769B-25C6-20F6-C11335A82E3F}"/>
              </a:ext>
            </a:extLst>
          </p:cNvPr>
          <p:cNvSpPr txBox="1"/>
          <p:nvPr/>
        </p:nvSpPr>
        <p:spPr>
          <a:xfrm>
            <a:off x="10067664" y="3232059"/>
            <a:ext cx="1255948" cy="47608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6842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3.3.4.5 </a:t>
            </a:r>
            <a:r>
              <a:rPr lang="ko-KR" altLang="en-US" dirty="0">
                <a:solidFill>
                  <a:srgbClr val="000000"/>
                </a:solidFill>
              </a:rPr>
              <a:t>응용 </a:t>
            </a:r>
            <a:r>
              <a:rPr lang="ko-KR" altLang="en-US" dirty="0" err="1">
                <a:solidFill>
                  <a:srgbClr val="000000"/>
                </a:solidFill>
              </a:rPr>
              <a:t>무상태</a:t>
            </a:r>
            <a:r>
              <a:rPr lang="ko-KR" altLang="en-US" dirty="0">
                <a:solidFill>
                  <a:srgbClr val="000000"/>
                </a:solidFill>
              </a:rPr>
              <a:t> 기반 서비스 연속성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서비스 전환</a:t>
            </a:r>
            <a:r>
              <a:rPr lang="en-US" altLang="ko-KR" dirty="0">
                <a:solidFill>
                  <a:srgbClr val="000000"/>
                </a:solidFill>
              </a:rPr>
              <a:t>·</a:t>
            </a:r>
            <a:r>
              <a:rPr lang="ko-KR" altLang="en-US" dirty="0">
                <a:solidFill>
                  <a:srgbClr val="000000"/>
                </a:solidFill>
              </a:rPr>
              <a:t>복귀 </a:t>
            </a:r>
            <a:r>
              <a:rPr lang="en-US" altLang="ko-KR" dirty="0">
                <a:solidFill>
                  <a:srgbClr val="000000"/>
                </a:solidFill>
              </a:rPr>
              <a:t>(3/6)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64AFAC41-C1E1-821B-984F-F301B1467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 lIns="36000" tIns="36000" rIns="36000" bIns="36000"/>
          <a:lstStyle/>
          <a:p>
            <a:r>
              <a:rPr lang="ko-KR" altLang="en-US" dirty="0"/>
              <a:t>서비스 등급별</a:t>
            </a:r>
            <a:r>
              <a:rPr lang="en-US" altLang="ko-KR" dirty="0"/>
              <a:t>(A1 </a:t>
            </a:r>
            <a:r>
              <a:rPr lang="ko-KR" altLang="en-US" dirty="0"/>
              <a:t>기동 확인 </a:t>
            </a:r>
            <a:r>
              <a:rPr lang="en-US" altLang="ko-KR" dirty="0"/>
              <a:t>· A2 </a:t>
            </a:r>
            <a:r>
              <a:rPr lang="ko-KR" altLang="en-US" dirty="0"/>
              <a:t>기동 </a:t>
            </a:r>
            <a:r>
              <a:rPr lang="en-US" altLang="ko-KR" dirty="0"/>
              <a:t>· A4 </a:t>
            </a:r>
            <a:r>
              <a:rPr lang="ko-KR" altLang="en-US" dirty="0"/>
              <a:t>복구 후 기동</a:t>
            </a:r>
            <a:r>
              <a:rPr lang="en-US" altLang="ko-KR" dirty="0"/>
              <a:t>) </a:t>
            </a:r>
            <a:r>
              <a:rPr lang="ko-KR" altLang="en-US" dirty="0"/>
              <a:t>기동</a:t>
            </a:r>
            <a:r>
              <a:rPr lang="en-US" altLang="ko-KR" dirty="0"/>
              <a:t>·</a:t>
            </a:r>
            <a:r>
              <a:rPr lang="ko-KR" altLang="en-US" dirty="0"/>
              <a:t>확인 절차를 표준 </a:t>
            </a:r>
            <a:r>
              <a:rPr lang="en-US" altLang="ko-KR" dirty="0"/>
              <a:t>Runbook</a:t>
            </a:r>
            <a:r>
              <a:rPr lang="ko-KR" altLang="en-US" dirty="0"/>
              <a:t>으로 정의하여</a:t>
            </a:r>
            <a:r>
              <a:rPr lang="en-US" altLang="ko-KR" dirty="0"/>
              <a:t>, </a:t>
            </a:r>
            <a:r>
              <a:rPr lang="ko-KR" altLang="en-US" dirty="0"/>
              <a:t>재해복구 상황 발생 시 담당자가 절차에 따라 수행하도록 과제 수행 범위를 정의함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F40BCF-15C4-A5BE-4493-056ABD8AF570}"/>
              </a:ext>
            </a:extLst>
          </p:cNvPr>
          <p:cNvSpPr/>
          <p:nvPr/>
        </p:nvSpPr>
        <p:spPr>
          <a:xfrm>
            <a:off x="8121352" y="1495872"/>
            <a:ext cx="404820" cy="124847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41EA8-D930-FAB3-6CD7-1EB549ECD442}"/>
              </a:ext>
            </a:extLst>
          </p:cNvPr>
          <p:cNvSpPr txBox="1"/>
          <p:nvPr/>
        </p:nvSpPr>
        <p:spPr>
          <a:xfrm>
            <a:off x="8554742" y="1458773"/>
            <a:ext cx="1108243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절차 수행범위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8" name="사각형: 둥근 모서리 243">
            <a:extLst>
              <a:ext uri="{FF2B5EF4-FFF2-40B4-BE49-F238E27FC236}">
                <a16:creationId xmlns:a16="http://schemas.microsoft.com/office/drawing/2014/main" id="{40278576-17CE-B580-F7C9-57D0F359C0B1}"/>
              </a:ext>
            </a:extLst>
          </p:cNvPr>
          <p:cNvSpPr/>
          <p:nvPr/>
        </p:nvSpPr>
        <p:spPr>
          <a:xfrm>
            <a:off x="599041" y="5241033"/>
            <a:ext cx="8771635" cy="486522"/>
          </a:xfrm>
          <a:prstGeom prst="roundRect">
            <a:avLst>
              <a:gd name="adj" fmla="val 5653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6337F697-5D8A-EBBD-D7D1-988AA639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64" y="5266755"/>
            <a:ext cx="342282" cy="217824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F8CA46F3-0153-8744-A0BA-2A0244F4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30" y="5264164"/>
            <a:ext cx="342282" cy="2578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4F69526-345F-0489-8DEA-0D819ADA9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98" y="5283250"/>
            <a:ext cx="333134" cy="236043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DBF384F-9352-2528-CB8C-13AC16034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303" y="5294876"/>
            <a:ext cx="353679" cy="23604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F2D3DB9-05D2-A7DF-B7D3-6E85C2901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126" y="5267979"/>
            <a:ext cx="377558" cy="253987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33CCFD-2320-8AFC-3075-268788582626}"/>
              </a:ext>
            </a:extLst>
          </p:cNvPr>
          <p:cNvSpPr/>
          <p:nvPr/>
        </p:nvSpPr>
        <p:spPr>
          <a:xfrm>
            <a:off x="975116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Rest API </a:t>
            </a: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통신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51079A-D759-8867-8CA0-E1F31CF0B484}"/>
              </a:ext>
            </a:extLst>
          </p:cNvPr>
          <p:cNvSpPr/>
          <p:nvPr/>
        </p:nvSpPr>
        <p:spPr>
          <a:xfrm>
            <a:off x="2570745" y="5514331"/>
            <a:ext cx="155432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RTO/RPO </a:t>
            </a: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관리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ABBBDCD-0F31-E7CF-CB7A-DEDA7435E263}"/>
              </a:ext>
            </a:extLst>
          </p:cNvPr>
          <p:cNvSpPr/>
          <p:nvPr/>
        </p:nvSpPr>
        <p:spPr>
          <a:xfrm>
            <a:off x="4166374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리포트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2B9F8AE-C320-7396-7645-CE32676DADD4}"/>
              </a:ext>
            </a:extLst>
          </p:cNvPr>
          <p:cNvSpPr/>
          <p:nvPr/>
        </p:nvSpPr>
        <p:spPr>
          <a:xfrm>
            <a:off x="5649461" y="5514331"/>
            <a:ext cx="155432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시스템 모니터링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3BB659-13D2-506E-7B07-0D92B394B34C}"/>
              </a:ext>
            </a:extLst>
          </p:cNvPr>
          <p:cNvSpPr/>
          <p:nvPr/>
        </p:nvSpPr>
        <p:spPr>
          <a:xfrm>
            <a:off x="7357629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통합 대시보드</a:t>
            </a:r>
          </a:p>
        </p:txBody>
      </p:sp>
      <p:sp>
        <p:nvSpPr>
          <p:cNvPr id="59" name="자유형 726">
            <a:extLst>
              <a:ext uri="{FF2B5EF4-FFF2-40B4-BE49-F238E27FC236}">
                <a16:creationId xmlns:a16="http://schemas.microsoft.com/office/drawing/2014/main" id="{E942DEF9-7162-D350-CDCE-19A0971B404A}"/>
              </a:ext>
            </a:extLst>
          </p:cNvPr>
          <p:cNvSpPr/>
          <p:nvPr/>
        </p:nvSpPr>
        <p:spPr>
          <a:xfrm rot="10800000">
            <a:off x="870083" y="4914678"/>
            <a:ext cx="7935635" cy="315573"/>
          </a:xfrm>
          <a:custGeom>
            <a:avLst/>
            <a:gdLst>
              <a:gd name="connsiteX0" fmla="*/ 0 w 1346200"/>
              <a:gd name="connsiteY0" fmla="*/ 228600 h 234950"/>
              <a:gd name="connsiteX1" fmla="*/ 447675 w 1346200"/>
              <a:gd name="connsiteY1" fmla="*/ 0 h 234950"/>
              <a:gd name="connsiteX2" fmla="*/ 787400 w 1346200"/>
              <a:gd name="connsiteY2" fmla="*/ 0 h 234950"/>
              <a:gd name="connsiteX3" fmla="*/ 1346200 w 1346200"/>
              <a:gd name="connsiteY3" fmla="*/ 234950 h 234950"/>
              <a:gd name="connsiteX4" fmla="*/ 0 w 1346200"/>
              <a:gd name="connsiteY4" fmla="*/ 228600 h 234950"/>
              <a:gd name="connsiteX0" fmla="*/ 0 w 1346200"/>
              <a:gd name="connsiteY0" fmla="*/ 234950 h 234950"/>
              <a:gd name="connsiteX1" fmla="*/ 447675 w 1346200"/>
              <a:gd name="connsiteY1" fmla="*/ 0 h 234950"/>
              <a:gd name="connsiteX2" fmla="*/ 787400 w 1346200"/>
              <a:gd name="connsiteY2" fmla="*/ 0 h 234950"/>
              <a:gd name="connsiteX3" fmla="*/ 1346200 w 1346200"/>
              <a:gd name="connsiteY3" fmla="*/ 234950 h 234950"/>
              <a:gd name="connsiteX4" fmla="*/ 0 w 1346200"/>
              <a:gd name="connsiteY4" fmla="*/ 234950 h 234950"/>
              <a:gd name="connsiteX0" fmla="*/ 0 w 3190713"/>
              <a:gd name="connsiteY0" fmla="*/ 265735 h 265735"/>
              <a:gd name="connsiteX1" fmla="*/ 2292188 w 3190713"/>
              <a:gd name="connsiteY1" fmla="*/ 0 h 265735"/>
              <a:gd name="connsiteX2" fmla="*/ 2631913 w 3190713"/>
              <a:gd name="connsiteY2" fmla="*/ 0 h 265735"/>
              <a:gd name="connsiteX3" fmla="*/ 3190713 w 3190713"/>
              <a:gd name="connsiteY3" fmla="*/ 234950 h 265735"/>
              <a:gd name="connsiteX4" fmla="*/ 0 w 3190713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454505 w 4961445"/>
              <a:gd name="connsiteY1" fmla="*/ 73884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191851 h 191851"/>
              <a:gd name="connsiteX1" fmla="*/ 2454505 w 4961445"/>
              <a:gd name="connsiteY1" fmla="*/ 0 h 191851"/>
              <a:gd name="connsiteX2" fmla="*/ 2484352 w 4961445"/>
              <a:gd name="connsiteY2" fmla="*/ 0 h 191851"/>
              <a:gd name="connsiteX3" fmla="*/ 4961445 w 4961445"/>
              <a:gd name="connsiteY3" fmla="*/ 167223 h 191851"/>
              <a:gd name="connsiteX4" fmla="*/ 0 w 4961445"/>
              <a:gd name="connsiteY4" fmla="*/ 191851 h 19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1445" h="191851">
                <a:moveTo>
                  <a:pt x="0" y="191851"/>
                </a:moveTo>
                <a:lnTo>
                  <a:pt x="2454505" y="0"/>
                </a:lnTo>
                <a:lnTo>
                  <a:pt x="2484352" y="0"/>
                </a:lnTo>
                <a:lnTo>
                  <a:pt x="4961445" y="167223"/>
                </a:lnTo>
                <a:lnTo>
                  <a:pt x="0" y="19185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4959A5F-E7AD-AE4A-98D9-933435B906E2}"/>
              </a:ext>
            </a:extLst>
          </p:cNvPr>
          <p:cNvSpPr/>
          <p:nvPr/>
        </p:nvSpPr>
        <p:spPr>
          <a:xfrm>
            <a:off x="600756" y="5787461"/>
            <a:ext cx="4378420" cy="21073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A6816D3-9D3C-9D25-2B3D-3ACE29376B62}"/>
              </a:ext>
            </a:extLst>
          </p:cNvPr>
          <p:cNvSpPr/>
          <p:nvPr/>
        </p:nvSpPr>
        <p:spPr>
          <a:xfrm>
            <a:off x="1583395" y="5772265"/>
            <a:ext cx="2336453" cy="261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IaaS (가상화)</a:t>
            </a:r>
            <a:endParaRPr kumimoji="1" lang="ko-KR" altLang="en-US" sz="1100" b="1" i="0" u="none" strike="noStrike" kern="0" cap="none" spc="-56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3A24CB9-4D3C-D22F-A8CB-1638A24DBEC1}"/>
              </a:ext>
            </a:extLst>
          </p:cNvPr>
          <p:cNvSpPr/>
          <p:nvPr/>
        </p:nvSpPr>
        <p:spPr>
          <a:xfrm>
            <a:off x="5072843" y="5787461"/>
            <a:ext cx="4297833" cy="21073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B2205C1-6C6D-77BE-EAFE-EF792E1C37D5}"/>
              </a:ext>
            </a:extLst>
          </p:cNvPr>
          <p:cNvSpPr/>
          <p:nvPr/>
        </p:nvSpPr>
        <p:spPr>
          <a:xfrm>
            <a:off x="5958788" y="5772265"/>
            <a:ext cx="233645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SDDC</a:t>
            </a:r>
            <a:endParaRPr kumimoji="1" lang="ko-KR" altLang="en-US" sz="900" b="1" i="0" u="none" strike="noStrike" kern="0" cap="none" spc="-56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4" name="사각형: 둥근 모서리 193">
            <a:extLst>
              <a:ext uri="{FF2B5EF4-FFF2-40B4-BE49-F238E27FC236}">
                <a16:creationId xmlns:a16="http://schemas.microsoft.com/office/drawing/2014/main" id="{9A9EBF4F-2745-5FFD-AAA3-174BCAAC70E6}"/>
              </a:ext>
            </a:extLst>
          </p:cNvPr>
          <p:cNvSpPr/>
          <p:nvPr/>
        </p:nvSpPr>
        <p:spPr>
          <a:xfrm>
            <a:off x="597007" y="6070947"/>
            <a:ext cx="1107972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서버</a:t>
            </a:r>
          </a:p>
        </p:txBody>
      </p:sp>
      <p:sp>
        <p:nvSpPr>
          <p:cNvPr id="65" name="사각형: 둥근 모서리 195">
            <a:extLst>
              <a:ext uri="{FF2B5EF4-FFF2-40B4-BE49-F238E27FC236}">
                <a16:creationId xmlns:a16="http://schemas.microsoft.com/office/drawing/2014/main" id="{E2A41C96-277B-6BA4-D1E1-FF6C1D124A62}"/>
              </a:ext>
            </a:extLst>
          </p:cNvPr>
          <p:cNvSpPr/>
          <p:nvPr/>
        </p:nvSpPr>
        <p:spPr>
          <a:xfrm>
            <a:off x="1890720" y="6069391"/>
            <a:ext cx="1309693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가상화</a:t>
            </a:r>
          </a:p>
        </p:txBody>
      </p:sp>
      <p:sp>
        <p:nvSpPr>
          <p:cNvPr id="66" name="사각형: 둥근 모서리 196">
            <a:extLst>
              <a:ext uri="{FF2B5EF4-FFF2-40B4-BE49-F238E27FC236}">
                <a16:creationId xmlns:a16="http://schemas.microsoft.com/office/drawing/2014/main" id="{45B61BD3-0E92-3420-7419-035467D8131F}"/>
              </a:ext>
            </a:extLst>
          </p:cNvPr>
          <p:cNvSpPr/>
          <p:nvPr/>
        </p:nvSpPr>
        <p:spPr>
          <a:xfrm>
            <a:off x="3320537" y="6084087"/>
            <a:ext cx="1656925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애플리케이션</a:t>
            </a:r>
          </a:p>
        </p:txBody>
      </p:sp>
      <p:sp>
        <p:nvSpPr>
          <p:cNvPr id="67" name="사각형: 둥근 모서리 197">
            <a:extLst>
              <a:ext uri="{FF2B5EF4-FFF2-40B4-BE49-F238E27FC236}">
                <a16:creationId xmlns:a16="http://schemas.microsoft.com/office/drawing/2014/main" id="{B4F69855-1E37-8475-0B69-C67B4E9D648D}"/>
              </a:ext>
            </a:extLst>
          </p:cNvPr>
          <p:cNvSpPr/>
          <p:nvPr/>
        </p:nvSpPr>
        <p:spPr>
          <a:xfrm>
            <a:off x="5072843" y="6084088"/>
            <a:ext cx="1479104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DBMS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8" name="사각형: 둥근 모서리 198">
            <a:extLst>
              <a:ext uri="{FF2B5EF4-FFF2-40B4-BE49-F238E27FC236}">
                <a16:creationId xmlns:a16="http://schemas.microsoft.com/office/drawing/2014/main" id="{A3D99096-EBA7-CE1B-DE97-2C097B6114DB}"/>
              </a:ext>
            </a:extLst>
          </p:cNvPr>
          <p:cNvSpPr/>
          <p:nvPr/>
        </p:nvSpPr>
        <p:spPr>
          <a:xfrm>
            <a:off x="6711705" y="6091339"/>
            <a:ext cx="1291846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스토리지</a:t>
            </a:r>
          </a:p>
        </p:txBody>
      </p:sp>
      <p:sp>
        <p:nvSpPr>
          <p:cNvPr id="69" name="사각형: 둥근 모서리 199">
            <a:extLst>
              <a:ext uri="{FF2B5EF4-FFF2-40B4-BE49-F238E27FC236}">
                <a16:creationId xmlns:a16="http://schemas.microsoft.com/office/drawing/2014/main" id="{BA474847-3F70-99D0-11D5-29E57A7A5EDF}"/>
              </a:ext>
            </a:extLst>
          </p:cNvPr>
          <p:cNvSpPr/>
          <p:nvPr/>
        </p:nvSpPr>
        <p:spPr>
          <a:xfrm>
            <a:off x="8142552" y="6091760"/>
            <a:ext cx="1228124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네트워크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2B07B6-9CD1-CDDD-B8EF-8324CD6C11D8}"/>
              </a:ext>
            </a:extLst>
          </p:cNvPr>
          <p:cNvSpPr/>
          <p:nvPr/>
        </p:nvSpPr>
        <p:spPr>
          <a:xfrm>
            <a:off x="400899" y="2069785"/>
            <a:ext cx="1368430" cy="554756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324000" tIns="0" rIns="0" bIns="0" anchor="ctr"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endParaRPr kumimoji="1" lang="ko-KR" altLang="en-US" sz="900" b="0" i="0" u="none" strike="noStrike" kern="0" cap="none" spc="-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1" name="모서리가 둥근 직사각형 34">
            <a:extLst>
              <a:ext uri="{FF2B5EF4-FFF2-40B4-BE49-F238E27FC236}">
                <a16:creationId xmlns:a16="http://schemas.microsoft.com/office/drawing/2014/main" id="{C9EC2750-CAF6-DB98-52FC-5D9ED53EB0D2}"/>
              </a:ext>
            </a:extLst>
          </p:cNvPr>
          <p:cNvSpPr/>
          <p:nvPr/>
        </p:nvSpPr>
        <p:spPr>
          <a:xfrm>
            <a:off x="1933838" y="2062885"/>
            <a:ext cx="7591669" cy="592203"/>
          </a:xfrm>
          <a:prstGeom prst="roundRect">
            <a:avLst>
              <a:gd name="adj" fmla="val 1879"/>
            </a:avLst>
          </a:prstGeom>
          <a:solidFill>
            <a:sysClr val="window" lastClr="FFFFFF">
              <a:lumMod val="65000"/>
            </a:sysClr>
          </a:solidFill>
          <a:ln w="317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5023C8-7FBB-F8B2-DA3D-E09A470BC5A0}"/>
              </a:ext>
            </a:extLst>
          </p:cNvPr>
          <p:cNvCxnSpPr/>
          <p:nvPr/>
        </p:nvCxnSpPr>
        <p:spPr>
          <a:xfrm>
            <a:off x="1769329" y="2359060"/>
            <a:ext cx="287801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002045-DDD1-D4D0-0716-9ABADEE420FF}"/>
              </a:ext>
            </a:extLst>
          </p:cNvPr>
          <p:cNvSpPr/>
          <p:nvPr/>
        </p:nvSpPr>
        <p:spPr>
          <a:xfrm>
            <a:off x="473178" y="2187016"/>
            <a:ext cx="1169955" cy="291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방안</a:t>
            </a:r>
          </a:p>
        </p:txBody>
      </p:sp>
      <p:sp>
        <p:nvSpPr>
          <p:cNvPr id="14" name="모서리가 둥근 직사각형 379">
            <a:extLst>
              <a:ext uri="{FF2B5EF4-FFF2-40B4-BE49-F238E27FC236}">
                <a16:creationId xmlns:a16="http://schemas.microsoft.com/office/drawing/2014/main" id="{DBA0CCF1-3BA1-52DD-A144-234B2B16DF5E}"/>
              </a:ext>
            </a:extLst>
          </p:cNvPr>
          <p:cNvSpPr/>
          <p:nvPr/>
        </p:nvSpPr>
        <p:spPr>
          <a:xfrm flipH="1">
            <a:off x="2109509" y="2136622"/>
            <a:ext cx="1758140" cy="4445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B368E7-C5E7-4DDD-5BCA-6D3C0B2A9139}"/>
              </a:ext>
            </a:extLst>
          </p:cNvPr>
          <p:cNvSpPr/>
          <p:nvPr/>
        </p:nvSpPr>
        <p:spPr>
          <a:xfrm>
            <a:off x="2114676" y="2132929"/>
            <a:ext cx="1758142" cy="41434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재해복구 대상 시스템 목록</a:t>
            </a:r>
            <a:endParaRPr kumimoji="1" lang="en-US" altLang="ko-KR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(VM</a:t>
            </a: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8" name="모서리가 둥근 직사각형 379">
            <a:extLst>
              <a:ext uri="{FF2B5EF4-FFF2-40B4-BE49-F238E27FC236}">
                <a16:creationId xmlns:a16="http://schemas.microsoft.com/office/drawing/2014/main" id="{B0C27934-4965-7C3C-EC55-307FF4DD6A4F}"/>
              </a:ext>
            </a:extLst>
          </p:cNvPr>
          <p:cNvSpPr/>
          <p:nvPr/>
        </p:nvSpPr>
        <p:spPr>
          <a:xfrm flipH="1">
            <a:off x="3960678" y="2140124"/>
            <a:ext cx="1758140" cy="4410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73F8DA-E9A0-A83A-3D2F-7835B27754EE}"/>
              </a:ext>
            </a:extLst>
          </p:cNvPr>
          <p:cNvSpPr/>
          <p:nvPr/>
        </p:nvSpPr>
        <p:spPr>
          <a:xfrm>
            <a:off x="3925894" y="2124947"/>
            <a:ext cx="1758141" cy="4501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대상 시스템 일상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점검</a:t>
            </a:r>
            <a:endParaRPr kumimoji="1" lang="en-US" altLang="ko-KR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서비스 기동 설정 확인 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0" name="모서리가 둥근 직사각형 379">
            <a:extLst>
              <a:ext uri="{FF2B5EF4-FFF2-40B4-BE49-F238E27FC236}">
                <a16:creationId xmlns:a16="http://schemas.microsoft.com/office/drawing/2014/main" id="{524D604F-E2B2-4D27-AB5D-A7B3F5591234}"/>
              </a:ext>
            </a:extLst>
          </p:cNvPr>
          <p:cNvSpPr/>
          <p:nvPr/>
        </p:nvSpPr>
        <p:spPr>
          <a:xfrm flipH="1">
            <a:off x="5737109" y="2137882"/>
            <a:ext cx="1871435" cy="457969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3F8D3D-6222-62EF-3E6F-E23BFC56B3DF}"/>
              </a:ext>
            </a:extLst>
          </p:cNvPr>
          <p:cNvSpPr/>
          <p:nvPr/>
        </p:nvSpPr>
        <p:spPr>
          <a:xfrm>
            <a:off x="5611584" y="2141966"/>
            <a:ext cx="2161469" cy="43319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대상 서비스 상태 점검</a:t>
            </a:r>
            <a:endParaRPr kumimoji="1" lang="en-US" altLang="ko-KR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설정 값 적용 여부 및 서비스 상태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2" name="모서리가 둥근 직사각형 379">
            <a:extLst>
              <a:ext uri="{FF2B5EF4-FFF2-40B4-BE49-F238E27FC236}">
                <a16:creationId xmlns:a16="http://schemas.microsoft.com/office/drawing/2014/main" id="{8F517FF7-C6B5-C51B-C1B8-3293AE323AAD}"/>
              </a:ext>
            </a:extLst>
          </p:cNvPr>
          <p:cNvSpPr/>
          <p:nvPr/>
        </p:nvSpPr>
        <p:spPr>
          <a:xfrm flipH="1">
            <a:off x="7678115" y="2144227"/>
            <a:ext cx="1758140" cy="451624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1F747A-6ACC-5C06-F1E8-2144BA2C33BF}"/>
              </a:ext>
            </a:extLst>
          </p:cNvPr>
          <p:cNvSpPr/>
          <p:nvPr/>
        </p:nvSpPr>
        <p:spPr>
          <a:xfrm>
            <a:off x="7643330" y="2129175"/>
            <a:ext cx="1758142" cy="43319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복구 절차 점검 및 검증</a:t>
            </a:r>
            <a:endParaRPr kumimoji="1" lang="en-US" altLang="ko-KR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모의훈련 수행</a:t>
            </a: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BDA308-5C8B-8F89-32A0-CF9748119276}"/>
              </a:ext>
            </a:extLst>
          </p:cNvPr>
          <p:cNvSpPr/>
          <p:nvPr/>
        </p:nvSpPr>
        <p:spPr>
          <a:xfrm>
            <a:off x="400902" y="2704366"/>
            <a:ext cx="1361946" cy="2140443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324000" tIns="0" rIns="0" bIns="0" anchor="ctr"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endParaRPr kumimoji="1" lang="ko-KR" altLang="en-US" sz="900" b="0" i="0" u="none" strike="noStrike" kern="0" cap="none" spc="-56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9EAAE9-F0E2-9892-3C51-BF88AF639CF0}"/>
              </a:ext>
            </a:extLst>
          </p:cNvPr>
          <p:cNvSpPr/>
          <p:nvPr/>
        </p:nvSpPr>
        <p:spPr>
          <a:xfrm>
            <a:off x="7244787" y="2797422"/>
            <a:ext cx="2174154" cy="890792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29250" rIns="2925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0605AD-CA6F-FBA8-0C34-B54FB3136C2B}"/>
              </a:ext>
            </a:extLst>
          </p:cNvPr>
          <p:cNvSpPr/>
          <p:nvPr/>
        </p:nvSpPr>
        <p:spPr>
          <a:xfrm>
            <a:off x="7138458" y="2800569"/>
            <a:ext cx="21741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복구현황 관리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7AD49D-0C59-7A75-DBB4-3CF09A6C2184}"/>
              </a:ext>
            </a:extLst>
          </p:cNvPr>
          <p:cNvSpPr/>
          <p:nvPr/>
        </p:nvSpPr>
        <p:spPr>
          <a:xfrm>
            <a:off x="7360325" y="3014390"/>
            <a:ext cx="2026303" cy="59076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29250" rIns="29250" rtlCol="0" anchor="ctr" anchorCtr="0"/>
          <a:lstStyle/>
          <a:p>
            <a:pPr marL="92075" marR="0" lvl="0" indent="-92075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2BAE4C-C574-765C-EF80-F9685ED620F2}"/>
              </a:ext>
            </a:extLst>
          </p:cNvPr>
          <p:cNvSpPr/>
          <p:nvPr/>
        </p:nvSpPr>
        <p:spPr>
          <a:xfrm>
            <a:off x="2196008" y="2782437"/>
            <a:ext cx="2322302" cy="10623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29250" rIns="2925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2769F17-C90F-2178-6B2E-B7B9E84F52BA}"/>
              </a:ext>
            </a:extLst>
          </p:cNvPr>
          <p:cNvSpPr/>
          <p:nvPr/>
        </p:nvSpPr>
        <p:spPr>
          <a:xfrm>
            <a:off x="2965177" y="2803397"/>
            <a:ext cx="8707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시나리오 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C239E2-B3A0-E083-0E6B-45ADDE562B88}"/>
              </a:ext>
            </a:extLst>
          </p:cNvPr>
          <p:cNvSpPr/>
          <p:nvPr/>
        </p:nvSpPr>
        <p:spPr>
          <a:xfrm>
            <a:off x="2329185" y="3046119"/>
            <a:ext cx="2049117" cy="760708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29250" rIns="29250" rtlCol="0" anchor="ctr" anchorCtr="0"/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DD44E1-312F-A154-4CD9-40A11A5B5A0D}"/>
              </a:ext>
            </a:extLst>
          </p:cNvPr>
          <p:cNvSpPr/>
          <p:nvPr/>
        </p:nvSpPr>
        <p:spPr>
          <a:xfrm>
            <a:off x="380492" y="3424657"/>
            <a:ext cx="1348974" cy="525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재해복구</a:t>
            </a:r>
            <a:endParaRPr kumimoji="1" lang="en-US" altLang="ko-KR" sz="1200" b="1" i="0" u="none" strike="noStrike" kern="1200" cap="none" spc="-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절차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BEA781-DEE4-C127-AEA0-AD3A93631AE6}"/>
              </a:ext>
            </a:extLst>
          </p:cNvPr>
          <p:cNvSpPr/>
          <p:nvPr/>
        </p:nvSpPr>
        <p:spPr>
          <a:xfrm>
            <a:off x="2221257" y="3959321"/>
            <a:ext cx="3327211" cy="90512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29250" rIns="2925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7C0153-F48C-9C9D-908B-01C2EB9E125C}"/>
              </a:ext>
            </a:extLst>
          </p:cNvPr>
          <p:cNvSpPr/>
          <p:nvPr/>
        </p:nvSpPr>
        <p:spPr>
          <a:xfrm>
            <a:off x="2319447" y="3934300"/>
            <a:ext cx="291031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수행 현황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6C94623-3B63-1ADB-F5F8-496FD5793367}"/>
              </a:ext>
            </a:extLst>
          </p:cNvPr>
          <p:cNvSpPr/>
          <p:nvPr/>
        </p:nvSpPr>
        <p:spPr>
          <a:xfrm>
            <a:off x="2373057" y="4182124"/>
            <a:ext cx="3033725" cy="64301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29250" rIns="29250" rtlCol="0" anchor="ctr" anchorCtr="0"/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37B7DD-05D4-BA56-B083-E1DCD76FFBB0}"/>
              </a:ext>
            </a:extLst>
          </p:cNvPr>
          <p:cNvSpPr/>
          <p:nvPr/>
        </p:nvSpPr>
        <p:spPr>
          <a:xfrm>
            <a:off x="6335525" y="3936539"/>
            <a:ext cx="3056677" cy="89337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29250" rIns="2925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FD0A6CB-DF08-1BB5-C58A-C7999F5F8689}"/>
              </a:ext>
            </a:extLst>
          </p:cNvPr>
          <p:cNvSpPr/>
          <p:nvPr/>
        </p:nvSpPr>
        <p:spPr>
          <a:xfrm>
            <a:off x="6261105" y="3944529"/>
            <a:ext cx="311398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리포트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7FDDBA-ED66-C7C4-621C-200841250D3E}"/>
              </a:ext>
            </a:extLst>
          </p:cNvPr>
          <p:cNvSpPr/>
          <p:nvPr/>
        </p:nvSpPr>
        <p:spPr>
          <a:xfrm>
            <a:off x="6494266" y="4147285"/>
            <a:ext cx="2768568" cy="64692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29250" rIns="29250" rtlCol="0" anchor="ctr" anchorCtr="0"/>
          <a:lstStyle/>
          <a:p>
            <a:pPr marL="92075" marR="0" lvl="0" indent="-92075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A90CAFB-EF7C-C4D1-D853-5A9B0740915F}"/>
              </a:ext>
            </a:extLst>
          </p:cNvPr>
          <p:cNvSpPr/>
          <p:nvPr/>
        </p:nvSpPr>
        <p:spPr>
          <a:xfrm>
            <a:off x="2284437" y="3030173"/>
            <a:ext cx="226530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 환경에 적합한 Config 구성</a:t>
            </a: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서비스별 기동 순서·절차서(Runbook) 정의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절차서 형상관리 서버 보관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D1F15D5-B47F-64F2-75D4-1D6C4842CE83}"/>
              </a:ext>
            </a:extLst>
          </p:cNvPr>
          <p:cNvSpPr/>
          <p:nvPr/>
        </p:nvSpPr>
        <p:spPr>
          <a:xfrm>
            <a:off x="7352414" y="2985518"/>
            <a:ext cx="214695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복구 수행 및 서비스 상태 확인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완료 예상시간, 진행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중 수량 등</a:t>
            </a:r>
            <a:br>
              <a:rPr kumimoji="1" lang="en-US" altLang="ko-KR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</a:b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실시간 파악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B23918-2F8B-0F0D-09BD-132D40213483}"/>
              </a:ext>
            </a:extLst>
          </p:cNvPr>
          <p:cNvSpPr/>
          <p:nvPr/>
        </p:nvSpPr>
        <p:spPr>
          <a:xfrm>
            <a:off x="2424564" y="4274728"/>
            <a:ext cx="279616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타임라인 기반 재해복구 프로세스 모니터링 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그룹 복구 상태 확인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DC47E3-EBA9-ACBE-B56A-6129F32B93A2}"/>
              </a:ext>
            </a:extLst>
          </p:cNvPr>
          <p:cNvSpPr/>
          <p:nvPr/>
        </p:nvSpPr>
        <p:spPr>
          <a:xfrm>
            <a:off x="6547320" y="4153296"/>
            <a:ext cx="2652230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재해복구 진행 결과 리포트 생성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이전 복구 결과 확인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오류 내용 분석 기능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D1C1BF6-4265-5A09-FB86-B9608F9CD255}"/>
              </a:ext>
            </a:extLst>
          </p:cNvPr>
          <p:cNvCxnSpPr>
            <a:cxnSpLocks/>
          </p:cNvCxnSpPr>
          <p:nvPr/>
        </p:nvCxnSpPr>
        <p:spPr>
          <a:xfrm flipV="1">
            <a:off x="4533736" y="3237750"/>
            <a:ext cx="2720410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0BC13BC-B21E-1D8C-4285-ABA5A72BC9FF}"/>
              </a:ext>
            </a:extLst>
          </p:cNvPr>
          <p:cNvSpPr/>
          <p:nvPr/>
        </p:nvSpPr>
        <p:spPr>
          <a:xfrm>
            <a:off x="4681800" y="2782466"/>
            <a:ext cx="2448599" cy="890792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29250" rIns="2925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FA639A4-B19B-F601-CC2F-10F3364F890B}"/>
              </a:ext>
            </a:extLst>
          </p:cNvPr>
          <p:cNvSpPr/>
          <p:nvPr/>
        </p:nvSpPr>
        <p:spPr>
          <a:xfrm>
            <a:off x="4633360" y="2803712"/>
            <a:ext cx="242434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서비스 모니터링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A6FF10D-3208-D6EA-F49D-8238DFE59828}"/>
              </a:ext>
            </a:extLst>
          </p:cNvPr>
          <p:cNvSpPr/>
          <p:nvPr/>
        </p:nvSpPr>
        <p:spPr>
          <a:xfrm>
            <a:off x="4787978" y="3048819"/>
            <a:ext cx="2269730" cy="58940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29250" rIns="29250" rtlCol="0" anchor="ctr" anchorCtr="0"/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3D1F47E-AF97-09C0-071C-82FE051C9ED6}"/>
              </a:ext>
            </a:extLst>
          </p:cNvPr>
          <p:cNvSpPr/>
          <p:nvPr/>
        </p:nvSpPr>
        <p:spPr>
          <a:xfrm>
            <a:off x="4758695" y="3059203"/>
            <a:ext cx="248739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주센터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센터의 서비스 상태 관리</a:t>
            </a:r>
            <a:endParaRPr kumimoji="1" lang="en-US" altLang="ko-KR" sz="900" b="0" i="0" u="none" strike="noStrike" kern="1200" cap="none" spc="0" normalizeH="0" baseline="0" noProof="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배포 시 센터 간 동시 반영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나눔고딕"/>
                <a:ea typeface="나눔고딕"/>
                <a:cs typeface="+mn-cs"/>
              </a:rPr>
              <a:t>형상 일치 점검으로 확인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2B2334F-FE61-4413-5874-72CAB8323526}"/>
              </a:ext>
            </a:extLst>
          </p:cNvPr>
          <p:cNvCxnSpPr>
            <a:cxnSpLocks/>
          </p:cNvCxnSpPr>
          <p:nvPr/>
        </p:nvCxnSpPr>
        <p:spPr>
          <a:xfrm>
            <a:off x="5611973" y="4440292"/>
            <a:ext cx="621739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  <a:tailEnd type="triangle"/>
          </a:ln>
          <a:effectLst/>
        </p:spPr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2FC3C8C-0C6A-596C-E1A9-726AC91546A5}"/>
              </a:ext>
            </a:extLst>
          </p:cNvPr>
          <p:cNvSpPr/>
          <p:nvPr/>
        </p:nvSpPr>
        <p:spPr>
          <a:xfrm>
            <a:off x="1933838" y="2704366"/>
            <a:ext cx="7591669" cy="214044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B6E55CB-6C59-E6DA-04CB-DD2F0B0B9FCA}"/>
              </a:ext>
            </a:extLst>
          </p:cNvPr>
          <p:cNvCxnSpPr>
            <a:cxnSpLocks/>
            <a:stCxn id="24" idx="3"/>
            <a:endCxn id="32" idx="1"/>
          </p:cNvCxnSpPr>
          <p:nvPr/>
        </p:nvCxnSpPr>
        <p:spPr>
          <a:xfrm>
            <a:off x="1762847" y="3774587"/>
            <a:ext cx="458410" cy="637294"/>
          </a:xfrm>
          <a:prstGeom prst="bentConnector3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CE3187C-D4F4-FFCE-EAEC-068D3470B913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 flipV="1">
            <a:off x="1762847" y="3313587"/>
            <a:ext cx="433160" cy="461001"/>
          </a:xfrm>
          <a:prstGeom prst="bentConnector3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6ABE530-65CF-6EC4-AC4E-BA91E810E159}"/>
              </a:ext>
            </a:extLst>
          </p:cNvPr>
          <p:cNvSpPr/>
          <p:nvPr/>
        </p:nvSpPr>
        <p:spPr>
          <a:xfrm>
            <a:off x="1895525" y="2047451"/>
            <a:ext cx="5747805" cy="62302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B24CAF3-1F82-9976-3C71-D03E2A906C70}"/>
              </a:ext>
            </a:extLst>
          </p:cNvPr>
          <p:cNvSpPr/>
          <p:nvPr/>
        </p:nvSpPr>
        <p:spPr>
          <a:xfrm>
            <a:off x="2158733" y="2750546"/>
            <a:ext cx="2397363" cy="112289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 b="1" dirty="0"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75" name="모서리가 둥근 직사각형 12">
            <a:extLst>
              <a:ext uri="{FF2B5EF4-FFF2-40B4-BE49-F238E27FC236}">
                <a16:creationId xmlns:a16="http://schemas.microsoft.com/office/drawing/2014/main" id="{013C8169-6010-5BA1-92DB-CE5E6CF2762C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76" name="양쪽 모서리가 둥근 사각형 101">
            <a:extLst>
              <a:ext uri="{FF2B5EF4-FFF2-40B4-BE49-F238E27FC236}">
                <a16:creationId xmlns:a16="http://schemas.microsoft.com/office/drawing/2014/main" id="{376DCFE3-3F95-EDFB-140D-7E5243EDE02F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전환 시 서비스 기동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9A4797-F124-9042-C660-48B1B495EC5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7" name="TextBox 4">
            <a:extLst>
              <a:ext uri="{FF2B5EF4-FFF2-40B4-BE49-F238E27FC236}">
                <a16:creationId xmlns:a16="http://schemas.microsoft.com/office/drawing/2014/main" id="{0C93C85D-7116-9107-F353-66FE13ED713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CNR-014-60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30674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3.3.4.5 </a:t>
            </a:r>
            <a:r>
              <a:rPr lang="ko-KR" altLang="en-US" dirty="0">
                <a:solidFill>
                  <a:srgbClr val="000000"/>
                </a:solidFill>
              </a:rPr>
              <a:t>응용 </a:t>
            </a:r>
            <a:r>
              <a:rPr lang="ko-KR" altLang="en-US" dirty="0" err="1">
                <a:solidFill>
                  <a:srgbClr val="000000"/>
                </a:solidFill>
              </a:rPr>
              <a:t>무상태</a:t>
            </a:r>
            <a:r>
              <a:rPr lang="ko-KR" altLang="en-US" dirty="0">
                <a:solidFill>
                  <a:srgbClr val="000000"/>
                </a:solidFill>
              </a:rPr>
              <a:t> 기반 서비스 연속성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서비스 전환</a:t>
            </a:r>
            <a:r>
              <a:rPr lang="en-US" altLang="ko-KR" dirty="0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 dirty="0">
                <a:solidFill>
                  <a:srgbClr val="000000"/>
                </a:solidFill>
              </a:rPr>
              <a:t>(4/6)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전환 시 기동해야 할 대상을 </a:t>
            </a:r>
            <a:r>
              <a:rPr lang="en-US" altLang="ko-KR" dirty="0"/>
              <a:t>DB · </a:t>
            </a:r>
            <a:r>
              <a:rPr lang="ko-KR" altLang="en-US" dirty="0"/>
              <a:t>세션 </a:t>
            </a:r>
            <a:r>
              <a:rPr lang="en-US" altLang="ko-KR" dirty="0"/>
              <a:t>· </a:t>
            </a:r>
            <a:r>
              <a:rPr lang="ko-KR" altLang="en-US" dirty="0"/>
              <a:t>미들웨어 </a:t>
            </a:r>
            <a:r>
              <a:rPr lang="en-US" altLang="ko-KR" dirty="0"/>
              <a:t>· </a:t>
            </a:r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로 구분하고</a:t>
            </a:r>
            <a:r>
              <a:rPr lang="en-US" altLang="ko-KR" dirty="0"/>
              <a:t>, </a:t>
            </a:r>
            <a:r>
              <a:rPr lang="ko-KR" altLang="en-US" dirty="0"/>
              <a:t>기동 순서와 기동 방식 </a:t>
            </a:r>
            <a:r>
              <a:rPr lang="en-US" altLang="ko-KR" dirty="0"/>
              <a:t>· </a:t>
            </a:r>
            <a:r>
              <a:rPr lang="ko-KR" altLang="en-US" dirty="0"/>
              <a:t>선행 조건을 정의하여 </a:t>
            </a:r>
            <a:r>
              <a:rPr lang="en-US" altLang="ko-KR" dirty="0"/>
              <a:t>Runbook </a:t>
            </a:r>
            <a:r>
              <a:rPr lang="ko-KR" altLang="en-US" dirty="0"/>
              <a:t>작성의 기준으로 활용함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시 서비스 기동 대상 및 기동 방식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기동 대상 목록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순서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방식을 서비스별 절차서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(Runbook)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기준으로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상용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별 기동 명령어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 필요 여부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선행 조건 운영사 확인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서비스 등록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자동 기동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가능 대상 식별로 수동 조작 최소화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연계는 자동 기동에서 제외하고 승인 후 수동 재개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모의훈련 시 대상별 기동 소요시간 실측 후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RTO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반영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5D3FB59D-1584-AC43-9CE5-B6056C0B4EFC}"/>
              </a:ext>
            </a:extLst>
          </p:cNvPr>
          <p:cNvSpPr txBox="1"/>
          <p:nvPr/>
        </p:nvSpPr>
        <p:spPr>
          <a:xfrm>
            <a:off x="368300" y="2133600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기동 대상별 기동 순서 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방식 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운영사 확인 대상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95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CE48DD04-ADF5-D8C1-2554-055C7946D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375245"/>
              </p:ext>
            </p:extLst>
          </p:nvPr>
        </p:nvGraphicFramePr>
        <p:xfrm>
          <a:off x="368300" y="2330842"/>
          <a:ext cx="6451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6403113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66840628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86073789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73505041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30015985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순서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방식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선행 조건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특이사항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01624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Oracle 19c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→ 읽기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개방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Standby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인스턴스 기동 상태에서 복제 적용 완료 확인 후 승격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467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7.4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전 선행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9521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ActiveMQ 5.17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보존 상태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737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 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4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키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연결 및 인증 필요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6807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JBoss EAP 7.4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스크립트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CubeOne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확인 후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5647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Apache 2.4 (WEB)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6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완료 후 연결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6608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MapPrime (GIS)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지도 데이터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7560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OZ Report (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출력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C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rgbClr val="C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양식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폰트 리소스 동일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826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(TrustCert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C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rgbClr val="C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유효성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91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보이스코드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C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rgbClr val="C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순차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33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스케줄러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모듈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C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8</a:t>
                      </a:r>
                      <a:endParaRPr lang="ko-KR" altLang="en-US" sz="800" b="0">
                        <a:solidFill>
                          <a:srgbClr val="C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수동 기동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단일 실행 확인 후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931745"/>
                  </a:ext>
                </a:extLst>
              </a:tr>
            </a:tbl>
          </a:graphicData>
        </a:graphic>
      </p:graphicFrame>
      <p:sp>
        <p:nvSpPr>
          <p:cNvPr id="6" name="NB_note">
            <a:extLst>
              <a:ext uri="{FF2B5EF4-FFF2-40B4-BE49-F238E27FC236}">
                <a16:creationId xmlns:a16="http://schemas.microsoft.com/office/drawing/2014/main" id="{FF45FFF0-1EAD-853C-C1C9-05FDE6C6B5FB}"/>
              </a:ext>
            </a:extLst>
          </p:cNvPr>
          <p:cNvSpPr txBox="1"/>
          <p:nvPr/>
        </p:nvSpPr>
        <p:spPr>
          <a:xfrm>
            <a:off x="368300" y="6071384"/>
            <a:ext cx="6451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기동 방식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선행 조건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 필요 여부는 운영사 확인 후 확정하며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확정 결과를 서비스별 기동 절차서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(Runbook)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에 반영함</a:t>
            </a:r>
          </a:p>
        </p:txBody>
      </p:sp>
      <p:sp>
        <p:nvSpPr>
          <p:cNvPr id="8" name="NB_h2">
            <a:extLst>
              <a:ext uri="{FF2B5EF4-FFF2-40B4-BE49-F238E27FC236}">
                <a16:creationId xmlns:a16="http://schemas.microsoft.com/office/drawing/2014/main" id="{90E404AE-31AB-3489-70F4-72495681F79F}"/>
              </a:ext>
            </a:extLst>
          </p:cNvPr>
          <p:cNvSpPr txBox="1"/>
          <p:nvPr/>
        </p:nvSpPr>
        <p:spPr>
          <a:xfrm>
            <a:off x="368300" y="4566042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기동 시 환경 설정 적용 기준</a:t>
            </a:r>
          </a:p>
        </p:txBody>
      </p:sp>
      <p:graphicFrame>
        <p:nvGraphicFramePr>
          <p:cNvPr id="10" name="NB_t2">
            <a:extLst>
              <a:ext uri="{FF2B5EF4-FFF2-40B4-BE49-F238E27FC236}">
                <a16:creationId xmlns:a16="http://schemas.microsoft.com/office/drawing/2014/main" id="{AF534B51-FA4F-EF4E-9B54-3BC845DC8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507161"/>
              </p:ext>
            </p:extLst>
          </p:nvPr>
        </p:nvGraphicFramePr>
        <p:xfrm>
          <a:off x="368300" y="4763284"/>
          <a:ext cx="6451600" cy="124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74826430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47239496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7770085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주의 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8032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일반 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설정파일로 분리하여 산출물 외부에서 주입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 내 주소 하드코딩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221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자격증명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계정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토큰은 암호화된 저장소에서 참조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평문 저장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9892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Endpoint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기준으로 센터별 설정값 주입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주소를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그대로 복제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1319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관리체계를 통해 배포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저장소에 직접 저장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613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활성화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스케줄러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 후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즉시 배치 자동 실행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116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분리 저장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로그 혼재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65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219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(5/6)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64AFAC41-C1E1-821B-984F-F301B1467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 lIns="36000" tIns="36000" rIns="36000" bIns="36000"/>
          <a:lstStyle/>
          <a:p>
            <a:r>
              <a:rPr lang="ko-KR" altLang="en-US" dirty="0"/>
              <a:t>응용 서비스 전환</a:t>
            </a:r>
            <a:r>
              <a:rPr lang="en-US" altLang="ko-KR" dirty="0"/>
              <a:t>·</a:t>
            </a:r>
            <a:r>
              <a:rPr lang="ko-KR" altLang="en-US" dirty="0"/>
              <a:t>복귀에 필요한 점검</a:t>
            </a:r>
            <a:r>
              <a:rPr lang="en-US" altLang="ko-KR" dirty="0"/>
              <a:t>·</a:t>
            </a:r>
            <a:r>
              <a:rPr lang="ko-KR" altLang="en-US" dirty="0"/>
              <a:t>기동</a:t>
            </a:r>
            <a:r>
              <a:rPr lang="en-US" altLang="ko-KR" dirty="0"/>
              <a:t>·</a:t>
            </a:r>
            <a:r>
              <a:rPr lang="ko-KR" altLang="en-US" dirty="0"/>
              <a:t>확인</a:t>
            </a:r>
            <a:r>
              <a:rPr lang="en-US" altLang="ko-KR" dirty="0"/>
              <a:t>·</a:t>
            </a:r>
            <a:r>
              <a:rPr lang="ko-KR" altLang="en-US" dirty="0"/>
              <a:t>연계 처리 절차를 응용 </a:t>
            </a:r>
            <a:r>
              <a:rPr lang="en-US" altLang="ko-KR" dirty="0"/>
              <a:t>Runbook </a:t>
            </a:r>
            <a:r>
              <a:rPr lang="ko-KR" altLang="en-US" dirty="0"/>
              <a:t>항목으로 정의하여</a:t>
            </a:r>
            <a:r>
              <a:rPr lang="en-US" altLang="ko-KR" dirty="0"/>
              <a:t>, </a:t>
            </a:r>
            <a:r>
              <a:rPr lang="ko-KR" altLang="en-US" dirty="0"/>
              <a:t>전체 재해복구 </a:t>
            </a:r>
            <a:r>
              <a:rPr lang="en-US" altLang="ko-KR" dirty="0"/>
              <a:t>Runbook</a:t>
            </a:r>
            <a:r>
              <a:rPr lang="ko-KR" altLang="en-US" dirty="0"/>
              <a:t>의 응용 파트로 편입함</a:t>
            </a:r>
          </a:p>
        </p:txBody>
      </p:sp>
      <p:sp>
        <p:nvSpPr>
          <p:cNvPr id="3" name="양쪽 모서리가 둥근 사각형 7">
            <a:extLst>
              <a:ext uri="{FF2B5EF4-FFF2-40B4-BE49-F238E27FC236}">
                <a16:creationId xmlns:a16="http://schemas.microsoft.com/office/drawing/2014/main" id="{627CA24E-62D9-BA26-33E5-E6F343F774BE}"/>
              </a:ext>
            </a:extLst>
          </p:cNvPr>
          <p:cNvSpPr/>
          <p:nvPr/>
        </p:nvSpPr>
        <p:spPr bwMode="auto">
          <a:xfrm>
            <a:off x="343906" y="2078190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① 일상</a:t>
            </a:r>
            <a:r>
              <a:rPr lang="en-US" altLang="ko-KR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사전 점검</a:t>
            </a:r>
            <a:endParaRPr lang="en-US" altLang="ko-KR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BD1376-839D-66B5-57DC-3D9BB951E439}"/>
              </a:ext>
            </a:extLst>
          </p:cNvPr>
          <p:cNvSpPr/>
          <p:nvPr/>
        </p:nvSpPr>
        <p:spPr>
          <a:xfrm>
            <a:off x="343906" y="2347663"/>
            <a:ext cx="3060340" cy="954207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간 형상 일치 점검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앱 버전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설정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실행환경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A1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서비스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응용 기동 상태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Redis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세션 복제 상태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SSL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인증서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상용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SW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라이선스 유효기간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8790DE-20CB-D780-354C-3913D7EFC67E}"/>
              </a:ext>
            </a:extLst>
          </p:cNvPr>
          <p:cNvSpPr/>
          <p:nvPr/>
        </p:nvSpPr>
        <p:spPr>
          <a:xfrm>
            <a:off x="3546964" y="2347664"/>
            <a:ext cx="2851882" cy="95420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marR="0" lvl="0" indent="-10800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결정 → 연계 유예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승격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응용 기동 → 세션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인증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업무 정상 확인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GSLB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트래픽 전환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indent="-10800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단계별 주관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담당 명시</a:t>
            </a:r>
          </a:p>
        </p:txBody>
      </p:sp>
      <p:sp>
        <p:nvSpPr>
          <p:cNvPr id="77" name="양쪽 모서리가 둥근 사각형 12">
            <a:extLst>
              <a:ext uri="{FF2B5EF4-FFF2-40B4-BE49-F238E27FC236}">
                <a16:creationId xmlns:a16="http://schemas.microsoft.com/office/drawing/2014/main" id="{3E16B92B-89E4-F58F-6745-5AA74612AEA3}"/>
              </a:ext>
            </a:extLst>
          </p:cNvPr>
          <p:cNvSpPr/>
          <p:nvPr/>
        </p:nvSpPr>
        <p:spPr bwMode="auto">
          <a:xfrm>
            <a:off x="3543320" y="2085810"/>
            <a:ext cx="2855525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② 전환 절차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D7F62D3-40D0-8CB3-BE5D-D0EBB028C609}"/>
              </a:ext>
            </a:extLst>
          </p:cNvPr>
          <p:cNvSpPr/>
          <p:nvPr/>
        </p:nvSpPr>
        <p:spPr>
          <a:xfrm>
            <a:off x="6543102" y="2347664"/>
            <a:ext cx="3058098" cy="954206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주센터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복구 확인 → 역동기화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→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정합성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주센터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응용 기동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배포 버전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복귀 승인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→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트래픽 복귀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대기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복귀 후 업무 정상 확인 동일 기준 적용</a:t>
            </a:r>
          </a:p>
        </p:txBody>
      </p:sp>
      <p:sp>
        <p:nvSpPr>
          <p:cNvPr id="79" name="양쪽 모서리가 둥근 사각형 13">
            <a:extLst>
              <a:ext uri="{FF2B5EF4-FFF2-40B4-BE49-F238E27FC236}">
                <a16:creationId xmlns:a16="http://schemas.microsoft.com/office/drawing/2014/main" id="{7D8EFF5C-44C9-67C7-DFFB-55FB9590DB04}"/>
              </a:ext>
            </a:extLst>
          </p:cNvPr>
          <p:cNvSpPr/>
          <p:nvPr/>
        </p:nvSpPr>
        <p:spPr bwMode="auto">
          <a:xfrm>
            <a:off x="6543102" y="2078190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③ 복귀 절차</a:t>
            </a:r>
            <a:endParaRPr lang="ko-KR" altLang="en-US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0" name="양쪽 모서리가 둥근 사각형 18">
            <a:extLst>
              <a:ext uri="{FF2B5EF4-FFF2-40B4-BE49-F238E27FC236}">
                <a16:creationId xmlns:a16="http://schemas.microsoft.com/office/drawing/2014/main" id="{CA547812-1C4D-0A10-7CE1-175E0257FB2E}"/>
              </a:ext>
            </a:extLst>
          </p:cNvPr>
          <p:cNvSpPr/>
          <p:nvPr/>
        </p:nvSpPr>
        <p:spPr bwMode="auto">
          <a:xfrm>
            <a:off x="343906" y="3509123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④ 등급별 기동 순서</a:t>
            </a:r>
            <a:endParaRPr lang="ko-KR" altLang="en-US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A11C463-51AC-CAB2-81FD-744369F9D9F1}"/>
              </a:ext>
            </a:extLst>
          </p:cNvPr>
          <p:cNvSpPr/>
          <p:nvPr/>
        </p:nvSpPr>
        <p:spPr>
          <a:xfrm>
            <a:off x="343906" y="3778595"/>
            <a:ext cx="3060340" cy="954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A1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기동 확인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/ A2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응용 기동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/ A4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복구 후 기동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승격 확인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Redis → JBoss EAP → Apache</a:t>
            </a: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상용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SW(OZ Report · </a:t>
            </a:r>
            <a:r>
              <a:rPr lang="en-US" altLang="ko-KR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MapPrime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· </a:t>
            </a:r>
            <a:r>
              <a:rPr lang="en-US" altLang="ko-KR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CubeOne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연계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배치 재개</a:t>
            </a:r>
          </a:p>
        </p:txBody>
      </p:sp>
      <p:sp>
        <p:nvSpPr>
          <p:cNvPr id="82" name="양쪽 모서리가 둥근 사각형 29">
            <a:extLst>
              <a:ext uri="{FF2B5EF4-FFF2-40B4-BE49-F238E27FC236}">
                <a16:creationId xmlns:a16="http://schemas.microsoft.com/office/drawing/2014/main" id="{16ABD243-BEAA-3A8B-002D-5A58C5A6EB59}"/>
              </a:ext>
            </a:extLst>
          </p:cNvPr>
          <p:cNvSpPr/>
          <p:nvPr/>
        </p:nvSpPr>
        <p:spPr bwMode="auto">
          <a:xfrm>
            <a:off x="343906" y="4939847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⑥ 연계 </a:t>
            </a:r>
            <a:r>
              <a:rPr lang="en-US" altLang="ko-KR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· </a:t>
            </a: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배치 처리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178FC56-946C-9D24-CB8D-3285098341D0}"/>
              </a:ext>
            </a:extLst>
          </p:cNvPr>
          <p:cNvSpPr/>
          <p:nvPr/>
        </p:nvSpPr>
        <p:spPr>
          <a:xfrm>
            <a:off x="343906" y="5209319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전 신규 연계 수신 유예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후 재개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재전송 허용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수신측 중복 제거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배치는 활성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단일 실행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마지막 성공 시점 이후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회차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재수행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연계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업무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복구 후 대사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보정</a:t>
            </a:r>
          </a:p>
        </p:txBody>
      </p:sp>
      <p:sp>
        <p:nvSpPr>
          <p:cNvPr id="84" name="양쪽 모서리가 둥근 사각형 32">
            <a:extLst>
              <a:ext uri="{FF2B5EF4-FFF2-40B4-BE49-F238E27FC236}">
                <a16:creationId xmlns:a16="http://schemas.microsoft.com/office/drawing/2014/main" id="{16F7C84B-C4DA-A07C-943A-0A8A4D737CC0}"/>
              </a:ext>
            </a:extLst>
          </p:cNvPr>
          <p:cNvSpPr/>
          <p:nvPr/>
        </p:nvSpPr>
        <p:spPr bwMode="auto">
          <a:xfrm>
            <a:off x="6543102" y="3509123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⑤ 업무 정상 확인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4A064E2-664A-65D6-7C49-0339EFA41A76}"/>
              </a:ext>
            </a:extLst>
          </p:cNvPr>
          <p:cNvSpPr/>
          <p:nvPr/>
        </p:nvSpPr>
        <p:spPr>
          <a:xfrm>
            <a:off x="6543102" y="3778595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대민 발급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표준연계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 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창구 발급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지적행정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(C/S)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처리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GPKI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로그인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확인 실패 시 조치 절차 및 전환 보류 기준</a:t>
            </a:r>
            <a:endParaRPr lang="ko-KR" altLang="en-US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86" name="양쪽 모서리가 둥근 사각형 25">
            <a:extLst>
              <a:ext uri="{FF2B5EF4-FFF2-40B4-BE49-F238E27FC236}">
                <a16:creationId xmlns:a16="http://schemas.microsoft.com/office/drawing/2014/main" id="{8D4A9C7E-212C-626D-67E1-EBC2EACB32BF}"/>
              </a:ext>
            </a:extLst>
          </p:cNvPr>
          <p:cNvSpPr/>
          <p:nvPr/>
        </p:nvSpPr>
        <p:spPr bwMode="auto">
          <a:xfrm>
            <a:off x="6543102" y="4923109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⑦ 승인 </a:t>
            </a:r>
            <a:r>
              <a:rPr lang="en-US" altLang="ko-KR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· </a:t>
            </a: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기록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8E4F10B-FF4F-C968-72C2-84071EED89B2}"/>
              </a:ext>
            </a:extLst>
          </p:cNvPr>
          <p:cNvSpPr/>
          <p:nvPr/>
        </p:nvSpPr>
        <p:spPr>
          <a:xfrm>
            <a:off x="6543102" y="5192581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복귀 승인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운영기관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단계별 수행 이력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소요시간 기록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RTO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달성 여부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모의훈련 결과로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Runbook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갱신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Runbook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형상관리 서버 보관</a:t>
            </a:r>
          </a:p>
        </p:txBody>
      </p:sp>
      <p:sp>
        <p:nvSpPr>
          <p:cNvPr id="88" name="Oval 138">
            <a:extLst>
              <a:ext uri="{FF2B5EF4-FFF2-40B4-BE49-F238E27FC236}">
                <a16:creationId xmlns:a16="http://schemas.microsoft.com/office/drawing/2014/main" id="{9C6DC1DE-9DFD-8019-D773-28CB67C6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111" y="3787825"/>
            <a:ext cx="501327" cy="485793"/>
          </a:xfrm>
          <a:prstGeom prst="ellipse">
            <a:avLst/>
          </a:prstGeom>
          <a:noFill/>
          <a:ln w="635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복귀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9" name="Oval 138">
            <a:extLst>
              <a:ext uri="{FF2B5EF4-FFF2-40B4-BE49-F238E27FC236}">
                <a16:creationId xmlns:a16="http://schemas.microsoft.com/office/drawing/2014/main" id="{64784FD6-6EDD-6831-B04C-2DC8EA142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385" y="5066228"/>
            <a:ext cx="501327" cy="485793"/>
          </a:xfrm>
          <a:prstGeom prst="ellipse">
            <a:avLst/>
          </a:prstGeom>
          <a:noFill/>
          <a:ln w="635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점검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통제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75289FD-91EA-C412-615D-B2AE12425A16}"/>
              </a:ext>
            </a:extLst>
          </p:cNvPr>
          <p:cNvSpPr/>
          <p:nvPr/>
        </p:nvSpPr>
        <p:spPr>
          <a:xfrm>
            <a:off x="3961743" y="4570199"/>
            <a:ext cx="205553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부동산종합공부시스템</a:t>
            </a:r>
            <a:r>
              <a:rPr kumimoji="0" lang="en-US" altLang="ko-KR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응용 </a:t>
            </a:r>
            <a:r>
              <a:rPr kumimoji="0" lang="en-US" altLang="ko-KR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Runbook</a:t>
            </a:r>
          </a:p>
        </p:txBody>
      </p:sp>
      <p:cxnSp>
        <p:nvCxnSpPr>
          <p:cNvPr id="92" name="꺾인 연결선 17">
            <a:extLst>
              <a:ext uri="{FF2B5EF4-FFF2-40B4-BE49-F238E27FC236}">
                <a16:creationId xmlns:a16="http://schemas.microsoft.com/office/drawing/2014/main" id="{F6DE89EF-0BB0-0A24-E1F0-05906AA73CC4}"/>
              </a:ext>
            </a:extLst>
          </p:cNvPr>
          <p:cNvCxnSpPr>
            <a:stCxn id="5" idx="2"/>
            <a:endCxn id="88" idx="1"/>
          </p:cNvCxnSpPr>
          <p:nvPr/>
        </p:nvCxnSpPr>
        <p:spPr>
          <a:xfrm rot="16200000" flipH="1">
            <a:off x="3055255" y="2120692"/>
            <a:ext cx="557097" cy="2919452"/>
          </a:xfrm>
          <a:prstGeom prst="bentConnector3">
            <a:avLst>
              <a:gd name="adj1" fmla="val 234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36">
            <a:extLst>
              <a:ext uri="{FF2B5EF4-FFF2-40B4-BE49-F238E27FC236}">
                <a16:creationId xmlns:a16="http://schemas.microsoft.com/office/drawing/2014/main" id="{18036DA9-7799-8F50-6FF5-12A6AE302E55}"/>
              </a:ext>
            </a:extLst>
          </p:cNvPr>
          <p:cNvCxnSpPr>
            <a:cxnSpLocks/>
            <a:stCxn id="78" idx="2"/>
            <a:endCxn id="88" idx="7"/>
          </p:cNvCxnSpPr>
          <p:nvPr/>
        </p:nvCxnSpPr>
        <p:spPr>
          <a:xfrm rot="5400000">
            <a:off x="6331537" y="2118354"/>
            <a:ext cx="557098" cy="2924131"/>
          </a:xfrm>
          <a:prstGeom prst="bentConnector3">
            <a:avLst>
              <a:gd name="adj1" fmla="val 2159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CC847713-DDAD-8FDB-5733-F37769250409}"/>
              </a:ext>
            </a:extLst>
          </p:cNvPr>
          <p:cNvCxnSpPr>
            <a:cxnSpLocks/>
            <a:stCxn id="6" idx="2"/>
            <a:endCxn id="88" idx="0"/>
          </p:cNvCxnSpPr>
          <p:nvPr/>
        </p:nvCxnSpPr>
        <p:spPr>
          <a:xfrm flipH="1">
            <a:off x="4970775" y="3301870"/>
            <a:ext cx="2130" cy="48595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48">
            <a:extLst>
              <a:ext uri="{FF2B5EF4-FFF2-40B4-BE49-F238E27FC236}">
                <a16:creationId xmlns:a16="http://schemas.microsoft.com/office/drawing/2014/main" id="{9B693AB5-2F54-C81C-FB8B-6972B258F649}"/>
              </a:ext>
            </a:extLst>
          </p:cNvPr>
          <p:cNvCxnSpPr>
            <a:endCxn id="89" idx="2"/>
          </p:cNvCxnSpPr>
          <p:nvPr/>
        </p:nvCxnSpPr>
        <p:spPr>
          <a:xfrm flipV="1">
            <a:off x="3404248" y="5309125"/>
            <a:ext cx="1326136" cy="29762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52">
            <a:extLst>
              <a:ext uri="{FF2B5EF4-FFF2-40B4-BE49-F238E27FC236}">
                <a16:creationId xmlns:a16="http://schemas.microsoft.com/office/drawing/2014/main" id="{FCCCA1C0-9061-6871-5D6F-33405DED7099}"/>
              </a:ext>
            </a:extLst>
          </p:cNvPr>
          <p:cNvCxnSpPr>
            <a:stCxn id="87" idx="1"/>
            <a:endCxn id="89" idx="6"/>
          </p:cNvCxnSpPr>
          <p:nvPr/>
        </p:nvCxnSpPr>
        <p:spPr>
          <a:xfrm rot="10800000">
            <a:off x="5231713" y="5309126"/>
            <a:ext cx="1311391" cy="36045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55">
            <a:extLst>
              <a:ext uri="{FF2B5EF4-FFF2-40B4-BE49-F238E27FC236}">
                <a16:creationId xmlns:a16="http://schemas.microsoft.com/office/drawing/2014/main" id="{2FEF6C05-6650-1835-9140-0183EAF73F89}"/>
              </a:ext>
            </a:extLst>
          </p:cNvPr>
          <p:cNvCxnSpPr>
            <a:stCxn id="81" idx="3"/>
            <a:endCxn id="88" idx="2"/>
          </p:cNvCxnSpPr>
          <p:nvPr/>
        </p:nvCxnSpPr>
        <p:spPr>
          <a:xfrm flipV="1">
            <a:off x="3404246" y="4030721"/>
            <a:ext cx="1315864" cy="22487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59">
            <a:extLst>
              <a:ext uri="{FF2B5EF4-FFF2-40B4-BE49-F238E27FC236}">
                <a16:creationId xmlns:a16="http://schemas.microsoft.com/office/drawing/2014/main" id="{EE465516-A383-A278-CCCD-51D6E99FA860}"/>
              </a:ext>
            </a:extLst>
          </p:cNvPr>
          <p:cNvCxnSpPr>
            <a:stCxn id="85" idx="1"/>
            <a:endCxn id="88" idx="6"/>
          </p:cNvCxnSpPr>
          <p:nvPr/>
        </p:nvCxnSpPr>
        <p:spPr>
          <a:xfrm rot="10800000">
            <a:off x="5221439" y="4030721"/>
            <a:ext cx="1321665" cy="22487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12">
            <a:extLst>
              <a:ext uri="{FF2B5EF4-FFF2-40B4-BE49-F238E27FC236}">
                <a16:creationId xmlns:a16="http://schemas.microsoft.com/office/drawing/2014/main" id="{58E72224-0F95-C38B-A292-01AD88F27897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00" name="양쪽 모서리가 둥근 사각형 101">
            <a:extLst>
              <a:ext uri="{FF2B5EF4-FFF2-40B4-BE49-F238E27FC236}">
                <a16:creationId xmlns:a16="http://schemas.microsoft.com/office/drawing/2014/main" id="{5ACA232C-DAC8-96F1-B370-C19576658F9F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Runbook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 항목 정의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2FCF35-1728-C912-91FB-F33A19D862A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798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(6/6)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3" name="텍스트 개체 틀 6">
            <a:extLst>
              <a:ext uri="{FF2B5EF4-FFF2-40B4-BE49-F238E27FC236}">
                <a16:creationId xmlns:a16="http://schemas.microsoft.com/office/drawing/2014/main" id="{447C7FE9-B82D-E864-9C52-D5800C49C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부동산종합공부시스템 서비스의 기동 적용 수준 현황과 목표를 정의하고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서비스 등급별 기동 순서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절차를 절차서</a:t>
            </a:r>
            <a:r>
              <a:rPr lang="en-US" altLang="ko-KR">
                <a:solidFill>
                  <a:srgbClr val="000000"/>
                </a:solidFill>
              </a:rPr>
              <a:t>(Runbook)</a:t>
            </a:r>
            <a:r>
              <a:rPr lang="ko-KR" altLang="en-US">
                <a:solidFill>
                  <a:srgbClr val="000000"/>
                </a:solidFill>
              </a:rPr>
              <a:t>로 등록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관리하는 기동 방식의 적용 목표를 설정함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5BEAC6B-4549-EE13-1F10-0561C4529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747719"/>
              </p:ext>
            </p:extLst>
          </p:nvPr>
        </p:nvGraphicFramePr>
        <p:xfrm>
          <a:off x="359927" y="2123088"/>
          <a:ext cx="6485761" cy="13504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98165">
                  <a:extLst>
                    <a:ext uri="{9D8B030D-6E8A-4147-A177-3AD203B41FA5}">
                      <a16:colId xmlns:a16="http://schemas.microsoft.com/office/drawing/2014/main" val="1284414206"/>
                    </a:ext>
                  </a:extLst>
                </a:gridCol>
                <a:gridCol w="1142099">
                  <a:extLst>
                    <a:ext uri="{9D8B030D-6E8A-4147-A177-3AD203B41FA5}">
                      <a16:colId xmlns:a16="http://schemas.microsoft.com/office/drawing/2014/main" val="888683013"/>
                    </a:ext>
                  </a:extLst>
                </a:gridCol>
                <a:gridCol w="1446899">
                  <a:extLst>
                    <a:ext uri="{9D8B030D-6E8A-4147-A177-3AD203B41FA5}">
                      <a16:colId xmlns:a16="http://schemas.microsoft.com/office/drawing/2014/main" val="1112309851"/>
                    </a:ext>
                  </a:extLst>
                </a:gridCol>
                <a:gridCol w="1446899">
                  <a:extLst>
                    <a:ext uri="{9D8B030D-6E8A-4147-A177-3AD203B41FA5}">
                      <a16:colId xmlns:a16="http://schemas.microsoft.com/office/drawing/2014/main" val="431702067"/>
                    </a:ext>
                  </a:extLst>
                </a:gridCol>
                <a:gridCol w="1751699">
                  <a:extLst>
                    <a:ext uri="{9D8B030D-6E8A-4147-A177-3AD203B41FA5}">
                      <a16:colId xmlns:a16="http://schemas.microsoft.com/office/drawing/2014/main" val="2407398834"/>
                    </a:ext>
                  </a:extLst>
                </a:gridCol>
              </a:tblGrid>
              <a:tr h="248235">
                <a:tc>
                  <a:txBody>
                    <a:bodyPr/>
                    <a:lstStyle/>
                    <a:p>
                      <a:pPr algn="ctr" rtl="0" fontAlgn="ctr"/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1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2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3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4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0396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수준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수동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절차서 기반 수동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effectLst/>
                        </a:rPr>
                        <a:t>VM 수동 기동 / 재기동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u="none" strike="noStrike" dirty="0">
                          <a:effectLst/>
                          <a:latin typeface="+mn-lt"/>
                        </a:rPr>
                        <a:t>통합 절차 관리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254933"/>
                  </a:ext>
                </a:extLst>
              </a:tr>
              <a:tr h="38704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방식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운영자가 서버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서비스를</a:t>
                      </a:r>
                    </a:p>
                    <a:p>
                      <a:pPr algn="ctr" rtl="0" fontAlgn="ctr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개별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effectLst/>
                        </a:rPr>
                        <a:t>Shell Script가</a:t>
                      </a:r>
                      <a:r>
                        <a:rPr lang="ko-KR" altLang="en-US" sz="900" u="none" strike="noStrike" dirty="0">
                          <a:effectLst/>
                        </a:rPr>
                        <a:t> 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정해진 순서로 서비스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VM 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이미지 기반</a:t>
                      </a:r>
                    </a:p>
                    <a:p>
                      <a:pPr algn="ctr" rtl="0" fontAlgn="ctr"/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DR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센터 </a:t>
                      </a:r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VM 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기동 </a:t>
                      </a:r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· </a:t>
                      </a:r>
                      <a:r>
                        <a:rPr lang="ko-KR" altLang="en-US" sz="90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재기동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u="none" strike="noStrike" dirty="0">
                          <a:effectLst/>
                          <a:latin typeface="+mn-lt"/>
                        </a:rPr>
                        <a:t>전환·기동·검증 절차를 통합 Runbook으로 표준화하고 담당자가 순차 수행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26044"/>
                  </a:ext>
                </a:extLst>
              </a:tr>
              <a:tr h="366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u="none" strike="noStrike" dirty="0">
                          <a:effectLst/>
                        </a:rPr>
                        <a:t>운영</a:t>
                      </a:r>
                      <a:endParaRPr lang="en-US" altLang="ko-KR" sz="9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설계방향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비상 상황 외 지양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VM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기반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시스템 대상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일부 운영 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A2 · A4 </a:t>
                      </a:r>
                      <a:r>
                        <a:rPr lang="ko-KR" alt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서비스 대상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목표 영역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(A1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기동 확인 포함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354250"/>
                  </a:ext>
                </a:extLst>
              </a:tr>
            </a:tbl>
          </a:graphicData>
        </a:graphic>
      </p:graphicFrame>
      <p:sp>
        <p:nvSpPr>
          <p:cNvPr id="49" name="모서리가 둥근 직사각형 12">
            <a:extLst>
              <a:ext uri="{FF2B5EF4-FFF2-40B4-BE49-F238E27FC236}">
                <a16:creationId xmlns:a16="http://schemas.microsoft.com/office/drawing/2014/main" id="{E2DD8495-CA8D-C566-3BA7-814FEDA9839C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0" name="양쪽 모서리가 둥근 사각형 101">
            <a:extLst>
              <a:ext uri="{FF2B5EF4-FFF2-40B4-BE49-F238E27FC236}">
                <a16:creationId xmlns:a16="http://schemas.microsoft.com/office/drawing/2014/main" id="{B94D7D6C-4E88-B639-B9D5-88874DA48B91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서비스 기동 적용 방식 구현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51" name="그림 138" descr="그림1.png">
            <a:extLst>
              <a:ext uri="{FF2B5EF4-FFF2-40B4-BE49-F238E27FC236}">
                <a16:creationId xmlns:a16="http://schemas.microsoft.com/office/drawing/2014/main" id="{E276C3DA-9419-0ADD-0DCF-2551C6B273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모서리가 둥근 직사각형 12">
            <a:extLst>
              <a:ext uri="{FF2B5EF4-FFF2-40B4-BE49-F238E27FC236}">
                <a16:creationId xmlns:a16="http://schemas.microsoft.com/office/drawing/2014/main" id="{C9056DCD-6BC4-4AC4-4733-93DEA8D2711E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부동산종합공부시스템의 서비스 기동 수준은 VM 기반으로 담당자 수동 기동 및 일부 스크립트 보조 기동으로 운영 중임</a:t>
            </a:r>
          </a:p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A1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기동 상태 확인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A2·A4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는 표준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Runbook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순서에 따라 순차 기동 후 통합 검증하도록 기동 절차 체계를 수립함</a:t>
            </a:r>
          </a:p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검증 절차를 통합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Runbook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으로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표준화하는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Level 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를 목표로 함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3" name="양쪽 모서리가 둥근 사각형 101">
            <a:extLst>
              <a:ext uri="{FF2B5EF4-FFF2-40B4-BE49-F238E27FC236}">
                <a16:creationId xmlns:a16="http://schemas.microsoft.com/office/drawing/2014/main" id="{94A860E4-631E-F287-9F2D-113AB9FB1C4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B20EE0A-65D1-86E3-3422-D0F3310C616A}"/>
              </a:ext>
            </a:extLst>
          </p:cNvPr>
          <p:cNvGrpSpPr/>
          <p:nvPr/>
        </p:nvGrpSpPr>
        <p:grpSpPr>
          <a:xfrm>
            <a:off x="351813" y="3544837"/>
            <a:ext cx="6501988" cy="2803502"/>
            <a:chOff x="294628" y="3585138"/>
            <a:chExt cx="6501988" cy="283153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E2CE1FF-0310-5E16-8330-8BF67BB71CD2}"/>
                </a:ext>
              </a:extLst>
            </p:cNvPr>
            <p:cNvSpPr/>
            <p:nvPr/>
          </p:nvSpPr>
          <p:spPr>
            <a:xfrm>
              <a:off x="299242" y="3585138"/>
              <a:ext cx="6497374" cy="283153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182563" marR="0" lvl="0" indent="-182563" defTabSz="914400" eaLnBrk="0" fontAlgn="base" latinLnBrk="0" hangingPunct="0">
                <a:lnSpc>
                  <a:spcPct val="15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48D5E690-954C-5B66-1CF5-4A4D271C4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1792" y="4567453"/>
              <a:ext cx="2909857" cy="172440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</p:pic>
        <p:sp>
          <p:nvSpPr>
            <p:cNvPr id="54" name="설명선: 굽은 선(테두리 및 강조선) 53">
              <a:extLst>
                <a:ext uri="{FF2B5EF4-FFF2-40B4-BE49-F238E27FC236}">
                  <a16:creationId xmlns:a16="http://schemas.microsoft.com/office/drawing/2014/main" id="{83AA6104-A071-846E-4028-EC923D17BDEC}"/>
                </a:ext>
              </a:extLst>
            </p:cNvPr>
            <p:cNvSpPr/>
            <p:nvPr/>
          </p:nvSpPr>
          <p:spPr>
            <a:xfrm>
              <a:off x="5234408" y="5348397"/>
              <a:ext cx="1309489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87262"/>
                <a:gd name="adj6" fmla="val -185783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>
                  <a:solidFill>
                    <a:srgbClr val="000000"/>
                  </a:solidFill>
                </a:rPr>
                <a:t>VM </a:t>
              </a:r>
              <a:r>
                <a:rPr lang="ko-KR" altLang="en-US" sz="900" b="1">
                  <a:solidFill>
                    <a:srgbClr val="000000"/>
                  </a:solidFill>
                </a:rPr>
                <a:t>기반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설명선: 굽은 선(테두리 및 강조선) 54">
              <a:extLst>
                <a:ext uri="{FF2B5EF4-FFF2-40B4-BE49-F238E27FC236}">
                  <a16:creationId xmlns:a16="http://schemas.microsoft.com/office/drawing/2014/main" id="{C79D52A3-08D7-29D4-4486-AB9483CB64E1}"/>
                </a:ext>
              </a:extLst>
            </p:cNvPr>
            <p:cNvSpPr/>
            <p:nvPr/>
          </p:nvSpPr>
          <p:spPr>
            <a:xfrm>
              <a:off x="5247163" y="4053811"/>
              <a:ext cx="1284441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58766"/>
                <a:gd name="adj6" fmla="val -19050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Script </a:t>
              </a:r>
              <a:r>
                <a:rPr lang="ko-KR" altLang="en-US" sz="900" b="1" dirty="0">
                  <a:solidFill>
                    <a:schemeClr val="tx1"/>
                  </a:solidFill>
                </a:rPr>
                <a:t>기반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3BE192B7-13E0-E838-98B6-DD63155CF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1571" y="4300152"/>
              <a:ext cx="1290033" cy="704878"/>
            </a:xfrm>
            <a:prstGeom prst="rect">
              <a:avLst/>
            </a:prstGeom>
          </p:spPr>
        </p:pic>
        <p:sp>
          <p:nvSpPr>
            <p:cNvPr id="57" name="설명선: 굽은 선(테두리 및 강조선) 56">
              <a:extLst>
                <a:ext uri="{FF2B5EF4-FFF2-40B4-BE49-F238E27FC236}">
                  <a16:creationId xmlns:a16="http://schemas.microsoft.com/office/drawing/2014/main" id="{FC2B4FC0-BAEF-EDA6-5F15-7836C64AEB91}"/>
                </a:ext>
              </a:extLst>
            </p:cNvPr>
            <p:cNvSpPr/>
            <p:nvPr/>
          </p:nvSpPr>
          <p:spPr>
            <a:xfrm flipH="1">
              <a:off x="572455" y="4177683"/>
              <a:ext cx="1334191" cy="649383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86006"/>
                <a:gd name="adj6" fmla="val -44218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accent4">
                  <a:lumMod val="7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</a:rPr>
                <a:t>서비스 등록 기반</a:t>
              </a: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25A89E5E-DDA5-AC4C-DE0D-06278F960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332" y="4400339"/>
              <a:ext cx="1340353" cy="704879"/>
            </a:xfrm>
            <a:prstGeom prst="rect">
              <a:avLst/>
            </a:prstGeom>
          </p:spPr>
        </p:pic>
        <p:sp>
          <p:nvSpPr>
            <p:cNvPr id="59" name="설명선: 굽은 선(테두리 및 강조선) 58">
              <a:extLst>
                <a:ext uri="{FF2B5EF4-FFF2-40B4-BE49-F238E27FC236}">
                  <a16:creationId xmlns:a16="http://schemas.microsoft.com/office/drawing/2014/main" id="{485A46F2-A319-E690-AA8A-E5121334EB3B}"/>
                </a:ext>
              </a:extLst>
            </p:cNvPr>
            <p:cNvSpPr/>
            <p:nvPr/>
          </p:nvSpPr>
          <p:spPr>
            <a:xfrm flipH="1">
              <a:off x="579332" y="5347281"/>
              <a:ext cx="1276994" cy="649383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21376"/>
                <a:gd name="adj6" fmla="val -4918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>
                  <a:solidFill>
                    <a:srgbClr val="000000"/>
                  </a:solidFill>
                </a:rPr>
                <a:t>JBoss EAP </a:t>
              </a:r>
              <a:r>
                <a:rPr lang="ko-KR" altLang="en-US" sz="900" b="1">
                  <a:solidFill>
                    <a:srgbClr val="000000"/>
                  </a:solidFill>
                </a:rPr>
                <a:t>연동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6C74FAD0-661E-F399-94BE-70D9C64A9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332" y="5569937"/>
              <a:ext cx="1290033" cy="704879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474A7111-EB28-FC72-6225-433D8C29E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9417" y="5569937"/>
              <a:ext cx="1317198" cy="704878"/>
            </a:xfrm>
            <a:prstGeom prst="rect">
              <a:avLst/>
            </a:prstGeom>
          </p:spPr>
        </p:pic>
        <p:sp>
          <p:nvSpPr>
            <p:cNvPr id="62" name="설명선: 굽은 선(테두리 및 강조선) 61">
              <a:extLst>
                <a:ext uri="{FF2B5EF4-FFF2-40B4-BE49-F238E27FC236}">
                  <a16:creationId xmlns:a16="http://schemas.microsoft.com/office/drawing/2014/main" id="{EDC46579-5C86-770D-84B2-2C2D8378655A}"/>
                </a:ext>
              </a:extLst>
            </p:cNvPr>
            <p:cNvSpPr/>
            <p:nvPr/>
          </p:nvSpPr>
          <p:spPr>
            <a:xfrm>
              <a:off x="2883838" y="3882909"/>
              <a:ext cx="1309489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84884"/>
                <a:gd name="adj6" fmla="val -183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1">
                  <a:lumMod val="7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ko-KR" altLang="en-US" sz="900" b="1" dirty="0">
                  <a:solidFill>
                    <a:srgbClr val="000000"/>
                  </a:solidFill>
                </a:rPr>
                <a:t>배포 </a:t>
              </a:r>
              <a:r>
                <a:rPr lang="en-US" altLang="ko-KR" sz="900" b="1" dirty="0">
                  <a:solidFill>
                    <a:srgbClr val="000000"/>
                  </a:solidFill>
                </a:rPr>
                <a:t>(Nexus </a:t>
              </a:r>
              <a:r>
                <a:rPr lang="ko-KR" altLang="en-US" sz="900" b="1" dirty="0">
                  <a:solidFill>
                    <a:srgbClr val="000000"/>
                  </a:solidFill>
                </a:rPr>
                <a:t>산출물</a:t>
              </a:r>
              <a:r>
                <a:rPr lang="en-US" altLang="ko-KR" sz="900" b="1" dirty="0">
                  <a:solidFill>
                    <a:srgbClr val="000000"/>
                  </a:solidFill>
                </a:rPr>
                <a:t>)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8B1862B-F68E-0386-EADA-1CE638C56604}"/>
                </a:ext>
              </a:extLst>
            </p:cNvPr>
            <p:cNvSpPr/>
            <p:nvPr/>
          </p:nvSpPr>
          <p:spPr>
            <a:xfrm>
              <a:off x="2879591" y="4111764"/>
              <a:ext cx="1322528" cy="6965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이력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산출물 버전</a:t>
              </a:r>
            </a:p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조회 화면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예시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657B2CE-BD63-5C89-B8AD-A4E420A76AC4}"/>
                </a:ext>
              </a:extLst>
            </p:cNvPr>
            <p:cNvSpPr/>
            <p:nvPr/>
          </p:nvSpPr>
          <p:spPr>
            <a:xfrm>
              <a:off x="294628" y="3592553"/>
              <a:ext cx="2438824" cy="2324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kumimoji="0" lang="ko-KR" altLang="en-US" sz="1050" b="1" i="0" u="none" strike="noStrike" kern="1200" cap="none" spc="-70" normalizeH="0" baseline="0" noProof="0" dirty="0">
                  <a:ln>
                    <a:solidFill>
                      <a:srgbClr val="C1DFE1">
                        <a:alpha val="0"/>
                      </a:srgb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시스템 기동 절차 관리 적용 예시</a:t>
              </a:r>
              <a:endParaRPr kumimoji="0" lang="en-US" altLang="ko-KR" sz="800" b="1" i="0" u="none" strike="noStrike" kern="1200" cap="none" spc="-7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42CE73-70AB-9A0F-2A66-A50A668C9C19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483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(1/4)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 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B5A98855-1A39-15DE-3DA5-30360D0C9E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한 번 빌드한 산출물을 </a:t>
            </a:r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en-US" altLang="ko-KR" dirty="0">
                <a:solidFill>
                  <a:srgbClr val="000000"/>
                </a:solidFill>
              </a:rPr>
              <a:t>·DR</a:t>
            </a:r>
            <a:r>
              <a:rPr lang="ko-KR" altLang="en-US" dirty="0">
                <a:solidFill>
                  <a:srgbClr val="000000"/>
                </a:solidFill>
              </a:rPr>
              <a:t>센터에 동일하게 배포하는 체계와 </a:t>
            </a:r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ko-KR" altLang="en-US" dirty="0">
                <a:solidFill>
                  <a:srgbClr val="000000"/>
                </a:solidFill>
              </a:rPr>
              <a:t> 장애 시에도 배포할 수 있는 수단을 정의하여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센터 전환 후에도 같은 버전으로 서비스되도록 함</a:t>
            </a:r>
          </a:p>
        </p:txBody>
      </p:sp>
      <p:sp>
        <p:nvSpPr>
          <p:cNvPr id="97" name="BD_tpl_352">
            <a:extLst>
              <a:ext uri="{FF2B5EF4-FFF2-40B4-BE49-F238E27FC236}">
                <a16:creationId xmlns:a16="http://schemas.microsoft.com/office/drawing/2014/main" id="{42E67743-9746-6D1C-49C1-0B61B0C1ECCE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BD_tpl_353">
            <a:extLst>
              <a:ext uri="{FF2B5EF4-FFF2-40B4-BE49-F238E27FC236}">
                <a16:creationId xmlns:a16="http://schemas.microsoft.com/office/drawing/2014/main" id="{7898AEDA-B711-137D-C0C6-E7B290BE7D1C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단일 빌드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간 배포 목표 체계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BD_tpl_354" descr="그림1.png">
            <a:extLst>
              <a:ext uri="{FF2B5EF4-FFF2-40B4-BE49-F238E27FC236}">
                <a16:creationId xmlns:a16="http://schemas.microsoft.com/office/drawing/2014/main" id="{6D235746-EE5F-ED71-39DF-CEA291257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BD_tpl_355">
            <a:extLst>
              <a:ext uri="{FF2B5EF4-FFF2-40B4-BE49-F238E27FC236}">
                <a16:creationId xmlns:a16="http://schemas.microsoft.com/office/drawing/2014/main" id="{E245ACA1-483C-3D22-E9D4-1E007467452D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대상을 주센터 단일에서 센터 간으로 확대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Nexus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산출물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본 기준 배포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반영을 배포 완료 기준으로 정의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한쪽 실패 시 롤백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도구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SVN·Nexus·Jenkins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확보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Jenkins →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WAS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경로 허용 여부 확인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불가 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배포 서버 구성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버전 기록을 설정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형상 일치 점검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기준값으로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활용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BD_tpl_356">
            <a:extLst>
              <a:ext uri="{FF2B5EF4-FFF2-40B4-BE49-F238E27FC236}">
                <a16:creationId xmlns:a16="http://schemas.microsoft.com/office/drawing/2014/main" id="{B3FC372E-679D-AD46-2E44-33DF4CBABEAF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2" name="BD_h1">
            <a:extLst>
              <a:ext uri="{FF2B5EF4-FFF2-40B4-BE49-F238E27FC236}">
                <a16:creationId xmlns:a16="http://schemas.microsoft.com/office/drawing/2014/main" id="{D48E6246-2BBE-2771-AFBD-CECA8CA6BBE1}"/>
              </a:ext>
            </a:extLst>
          </p:cNvPr>
          <p:cNvSpPr txBox="1"/>
          <p:nvPr/>
        </p:nvSpPr>
        <p:spPr>
          <a:xfrm>
            <a:off x="374599" y="208602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현행 → 목표 배포 체계</a:t>
            </a:r>
          </a:p>
        </p:txBody>
      </p:sp>
      <p:sp>
        <p:nvSpPr>
          <p:cNvPr id="103" name="BD_cur_lbl">
            <a:extLst>
              <a:ext uri="{FF2B5EF4-FFF2-40B4-BE49-F238E27FC236}">
                <a16:creationId xmlns:a16="http://schemas.microsoft.com/office/drawing/2014/main" id="{5D95AB8E-8051-9D1C-19B5-EFA9778A5942}"/>
              </a:ext>
            </a:extLst>
          </p:cNvPr>
          <p:cNvSpPr txBox="1"/>
          <p:nvPr/>
        </p:nvSpPr>
        <p:spPr>
          <a:xfrm>
            <a:off x="374599" y="2365131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현행</a:t>
            </a:r>
          </a:p>
        </p:txBody>
      </p:sp>
      <p:sp>
        <p:nvSpPr>
          <p:cNvPr id="113" name="BD_tgt_lbl">
            <a:extLst>
              <a:ext uri="{FF2B5EF4-FFF2-40B4-BE49-F238E27FC236}">
                <a16:creationId xmlns:a16="http://schemas.microsoft.com/office/drawing/2014/main" id="{78AB2877-F193-0F71-C067-E5EE3B335E2F}"/>
              </a:ext>
            </a:extLst>
          </p:cNvPr>
          <p:cNvSpPr txBox="1"/>
          <p:nvPr/>
        </p:nvSpPr>
        <p:spPr>
          <a:xfrm>
            <a:off x="374599" y="2720731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</a:t>
            </a:r>
          </a:p>
        </p:txBody>
      </p:sp>
      <p:sp>
        <p:nvSpPr>
          <p:cNvPr id="123" name="BD_h2">
            <a:extLst>
              <a:ext uri="{FF2B5EF4-FFF2-40B4-BE49-F238E27FC236}">
                <a16:creationId xmlns:a16="http://schemas.microsoft.com/office/drawing/2014/main" id="{16CE6CD0-2C5B-47B4-EE62-D47878A50CA9}"/>
              </a:ext>
            </a:extLst>
          </p:cNvPr>
          <p:cNvSpPr txBox="1"/>
          <p:nvPr/>
        </p:nvSpPr>
        <p:spPr>
          <a:xfrm>
            <a:off x="374599" y="3106737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배포 원칙</a:t>
            </a:r>
          </a:p>
        </p:txBody>
      </p:sp>
      <p:graphicFrame>
        <p:nvGraphicFramePr>
          <p:cNvPr id="124" name="BD_t2">
            <a:extLst>
              <a:ext uri="{FF2B5EF4-FFF2-40B4-BE49-F238E27FC236}">
                <a16:creationId xmlns:a16="http://schemas.microsoft.com/office/drawing/2014/main" id="{DA7BDDB3-8DBE-83F5-5930-23C304C96CF1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319368"/>
          <a:ext cx="6456417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9091033"/>
                    </a:ext>
                  </a:extLst>
                </a:gridCol>
                <a:gridCol w="5186417">
                  <a:extLst>
                    <a:ext uri="{9D8B030D-6E8A-4147-A177-3AD203B41FA5}">
                      <a16:colId xmlns:a16="http://schemas.microsoft.com/office/drawing/2014/main" val="378262436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513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빌드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산출물을 센터 간에 배포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재빌드 금지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429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값은 산출물 밖에서 주입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설정정보 형상 일치 기준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145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완료 기준은 센터 간 모두 반영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한쪽 실패 시 롤백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732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긴급 패치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반영 원칙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2849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기록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배포마다 산출물 버전 기록 → 형상 점검 기준값으로 활용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443201"/>
                  </a:ext>
                </a:extLst>
              </a:tr>
            </a:tbl>
          </a:graphicData>
        </a:graphic>
      </p:graphicFrame>
      <p:sp>
        <p:nvSpPr>
          <p:cNvPr id="125" name="BD_h3">
            <a:extLst>
              <a:ext uri="{FF2B5EF4-FFF2-40B4-BE49-F238E27FC236}">
                <a16:creationId xmlns:a16="http://schemas.microsoft.com/office/drawing/2014/main" id="{8336C190-DB0C-91D7-255B-39DC6A151D4D}"/>
              </a:ext>
            </a:extLst>
          </p:cNvPr>
          <p:cNvSpPr txBox="1"/>
          <p:nvPr/>
        </p:nvSpPr>
        <p:spPr>
          <a:xfrm>
            <a:off x="374599" y="468625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배포 수단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확보</a:t>
            </a:r>
          </a:p>
        </p:txBody>
      </p:sp>
      <p:graphicFrame>
        <p:nvGraphicFramePr>
          <p:cNvPr id="126" name="BD_t3">
            <a:extLst>
              <a:ext uri="{FF2B5EF4-FFF2-40B4-BE49-F238E27FC236}">
                <a16:creationId xmlns:a16="http://schemas.microsoft.com/office/drawing/2014/main" id="{A5480383-1CB5-5711-11FA-2BC65A4BD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569578"/>
              </p:ext>
            </p:extLst>
          </p:nvPr>
        </p:nvGraphicFramePr>
        <p:xfrm>
          <a:off x="374600" y="4898883"/>
          <a:ext cx="6456417" cy="81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39031335"/>
                    </a:ext>
                  </a:extLst>
                </a:gridCol>
                <a:gridCol w="4678417">
                  <a:extLst>
                    <a:ext uri="{9D8B030D-6E8A-4147-A177-3AD203B41FA5}">
                      <a16:colId xmlns:a16="http://schemas.microsoft.com/office/drawing/2014/main" val="292514454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확보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807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SVN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저장소 복제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103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저장소 복제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378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파이프라인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백업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656193"/>
                  </a:ext>
                </a:extLst>
              </a:tr>
            </a:tbl>
          </a:graphicData>
        </a:graphic>
      </p:graphicFrame>
      <p:sp>
        <p:nvSpPr>
          <p:cNvPr id="127" name="BD_n3">
            <a:extLst>
              <a:ext uri="{FF2B5EF4-FFF2-40B4-BE49-F238E27FC236}">
                <a16:creationId xmlns:a16="http://schemas.microsoft.com/office/drawing/2014/main" id="{891C25EA-14E2-8E22-CD23-E5ECDA46597F}"/>
              </a:ext>
            </a:extLst>
          </p:cNvPr>
          <p:cNvSpPr txBox="1"/>
          <p:nvPr/>
        </p:nvSpPr>
        <p:spPr>
          <a:xfrm>
            <a:off x="374599" y="5756609"/>
            <a:ext cx="6456417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도구는 대민 서비스가 아니므로 </a:t>
            </a:r>
            <a:r>
              <a:rPr lang="en-US" altLang="ko-KR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A-S </a:t>
            </a:r>
            <a:r>
              <a:rPr lang="ko-KR" altLang="en-US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구성으로 충분</a:t>
            </a:r>
          </a:p>
        </p:txBody>
      </p:sp>
      <p:sp>
        <p:nvSpPr>
          <p:cNvPr id="5" name="BD_cur_c0">
            <a:extLst>
              <a:ext uri="{FF2B5EF4-FFF2-40B4-BE49-F238E27FC236}">
                <a16:creationId xmlns:a16="http://schemas.microsoft.com/office/drawing/2014/main" id="{CA03207C-F276-08C1-7076-88D33DF58BD6}"/>
              </a:ext>
            </a:extLst>
          </p:cNvPr>
          <p:cNvSpPr/>
          <p:nvPr/>
        </p:nvSpPr>
        <p:spPr>
          <a:xfrm>
            <a:off x="907999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SVN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BD_cur_a0">
            <a:extLst>
              <a:ext uri="{FF2B5EF4-FFF2-40B4-BE49-F238E27FC236}">
                <a16:creationId xmlns:a16="http://schemas.microsoft.com/office/drawing/2014/main" id="{27C5373D-9CD9-DBF6-0442-6AA06A6CD1FB}"/>
              </a:ext>
            </a:extLst>
          </p:cNvPr>
          <p:cNvSpPr txBox="1"/>
          <p:nvPr/>
        </p:nvSpPr>
        <p:spPr>
          <a:xfrm>
            <a:off x="1768168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8" name="BD_cur_c1">
            <a:extLst>
              <a:ext uri="{FF2B5EF4-FFF2-40B4-BE49-F238E27FC236}">
                <a16:creationId xmlns:a16="http://schemas.microsoft.com/office/drawing/2014/main" id="{A5B53776-B3A0-9F83-22BB-31887B277205}"/>
              </a:ext>
            </a:extLst>
          </p:cNvPr>
          <p:cNvSpPr/>
          <p:nvPr/>
        </p:nvSpPr>
        <p:spPr>
          <a:xfrm>
            <a:off x="192056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Jenkins 2.462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BD_cur_a1">
            <a:extLst>
              <a:ext uri="{FF2B5EF4-FFF2-40B4-BE49-F238E27FC236}">
                <a16:creationId xmlns:a16="http://schemas.microsoft.com/office/drawing/2014/main" id="{3302D850-E609-6E82-196C-1358D5D3DE00}"/>
              </a:ext>
            </a:extLst>
          </p:cNvPr>
          <p:cNvSpPr txBox="1"/>
          <p:nvPr/>
        </p:nvSpPr>
        <p:spPr>
          <a:xfrm>
            <a:off x="2780738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1" name="BD_cur_c2">
            <a:extLst>
              <a:ext uri="{FF2B5EF4-FFF2-40B4-BE49-F238E27FC236}">
                <a16:creationId xmlns:a16="http://schemas.microsoft.com/office/drawing/2014/main" id="{DA86FD7F-71CE-5EFA-FDD0-2946765029B9}"/>
              </a:ext>
            </a:extLst>
          </p:cNvPr>
          <p:cNvSpPr/>
          <p:nvPr/>
        </p:nvSpPr>
        <p:spPr>
          <a:xfrm>
            <a:off x="293313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Maven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빌드</a:t>
            </a:r>
          </a:p>
        </p:txBody>
      </p:sp>
      <p:sp>
        <p:nvSpPr>
          <p:cNvPr id="12" name="BD_cur_a2">
            <a:extLst>
              <a:ext uri="{FF2B5EF4-FFF2-40B4-BE49-F238E27FC236}">
                <a16:creationId xmlns:a16="http://schemas.microsoft.com/office/drawing/2014/main" id="{F4DF4B0C-0F70-1BE9-1627-A75E73028CE2}"/>
              </a:ext>
            </a:extLst>
          </p:cNvPr>
          <p:cNvSpPr txBox="1"/>
          <p:nvPr/>
        </p:nvSpPr>
        <p:spPr>
          <a:xfrm>
            <a:off x="3793308" y="2362153"/>
            <a:ext cx="152401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3" name="BD_cur_c4">
            <a:extLst>
              <a:ext uri="{FF2B5EF4-FFF2-40B4-BE49-F238E27FC236}">
                <a16:creationId xmlns:a16="http://schemas.microsoft.com/office/drawing/2014/main" id="{A40B9948-8107-C905-E4D4-B2AE2BDB16CE}"/>
              </a:ext>
            </a:extLst>
          </p:cNvPr>
          <p:cNvSpPr/>
          <p:nvPr/>
        </p:nvSpPr>
        <p:spPr>
          <a:xfrm>
            <a:off x="4958277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SSH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전송</a:t>
            </a:r>
          </a:p>
        </p:txBody>
      </p:sp>
      <p:sp>
        <p:nvSpPr>
          <p:cNvPr id="14" name="BD_cur_a4">
            <a:extLst>
              <a:ext uri="{FF2B5EF4-FFF2-40B4-BE49-F238E27FC236}">
                <a16:creationId xmlns:a16="http://schemas.microsoft.com/office/drawing/2014/main" id="{2B054FB1-7C91-FB90-568A-42878D61641D}"/>
              </a:ext>
            </a:extLst>
          </p:cNvPr>
          <p:cNvSpPr txBox="1"/>
          <p:nvPr/>
        </p:nvSpPr>
        <p:spPr>
          <a:xfrm>
            <a:off x="5818447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6" name="BD_cur_c5">
            <a:extLst>
              <a:ext uri="{FF2B5EF4-FFF2-40B4-BE49-F238E27FC236}">
                <a16:creationId xmlns:a16="http://schemas.microsoft.com/office/drawing/2014/main" id="{8D0E0E2F-BCCA-7B10-1CC0-1CB1A1C99D66}"/>
              </a:ext>
            </a:extLst>
          </p:cNvPr>
          <p:cNvSpPr/>
          <p:nvPr/>
        </p:nvSpPr>
        <p:spPr>
          <a:xfrm>
            <a:off x="5970847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</a:t>
            </a:r>
          </a:p>
          <a:p>
            <a:pPr algn="ctr">
              <a:lnSpc>
                <a:spcPct val="90000"/>
              </a:lnSpc>
            </a:pP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BD_tgt_c0">
            <a:extLst>
              <a:ext uri="{FF2B5EF4-FFF2-40B4-BE49-F238E27FC236}">
                <a16:creationId xmlns:a16="http://schemas.microsoft.com/office/drawing/2014/main" id="{78DED4DE-C811-7858-D01A-FF293966DF5C}"/>
              </a:ext>
            </a:extLst>
          </p:cNvPr>
          <p:cNvSpPr/>
          <p:nvPr/>
        </p:nvSpPr>
        <p:spPr>
          <a:xfrm>
            <a:off x="907999" y="26796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SVN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BD_tgt_a0">
            <a:extLst>
              <a:ext uri="{FF2B5EF4-FFF2-40B4-BE49-F238E27FC236}">
                <a16:creationId xmlns:a16="http://schemas.microsoft.com/office/drawing/2014/main" id="{B7583F26-C8A1-B2C0-6D3C-AE71CD479AEA}"/>
              </a:ext>
            </a:extLst>
          </p:cNvPr>
          <p:cNvSpPr txBox="1"/>
          <p:nvPr/>
        </p:nvSpPr>
        <p:spPr>
          <a:xfrm>
            <a:off x="176816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0" name="BD_tgt_c1">
            <a:extLst>
              <a:ext uri="{FF2B5EF4-FFF2-40B4-BE49-F238E27FC236}">
                <a16:creationId xmlns:a16="http://schemas.microsoft.com/office/drawing/2014/main" id="{19949A5B-C0CB-FB62-CCFA-66EA108FF502}"/>
              </a:ext>
            </a:extLst>
          </p:cNvPr>
          <p:cNvSpPr/>
          <p:nvPr/>
        </p:nvSpPr>
        <p:spPr>
          <a:xfrm>
            <a:off x="1920568" y="26796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Jenkins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BD_tgt_a1">
            <a:extLst>
              <a:ext uri="{FF2B5EF4-FFF2-40B4-BE49-F238E27FC236}">
                <a16:creationId xmlns:a16="http://schemas.microsoft.com/office/drawing/2014/main" id="{62424484-B566-4B25-B737-84B29CE58924}"/>
              </a:ext>
            </a:extLst>
          </p:cNvPr>
          <p:cNvSpPr txBox="1"/>
          <p:nvPr/>
        </p:nvSpPr>
        <p:spPr>
          <a:xfrm>
            <a:off x="278073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2" name="BD_tgt_c2">
            <a:extLst>
              <a:ext uri="{FF2B5EF4-FFF2-40B4-BE49-F238E27FC236}">
                <a16:creationId xmlns:a16="http://schemas.microsoft.com/office/drawing/2014/main" id="{DEB40FE6-C507-2432-F9C1-288A2DEBDA4F}"/>
              </a:ext>
            </a:extLst>
          </p:cNvPr>
          <p:cNvSpPr/>
          <p:nvPr/>
        </p:nvSpPr>
        <p:spPr>
          <a:xfrm>
            <a:off x="2933138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Maven </a:t>
            </a:r>
            <a:r>
              <a:rPr lang="ko-KR" altLang="en-US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빌드 </a:t>
            </a:r>
          </a:p>
        </p:txBody>
      </p:sp>
      <p:sp>
        <p:nvSpPr>
          <p:cNvPr id="23" name="BD_tgt_a2">
            <a:extLst>
              <a:ext uri="{FF2B5EF4-FFF2-40B4-BE49-F238E27FC236}">
                <a16:creationId xmlns:a16="http://schemas.microsoft.com/office/drawing/2014/main" id="{3049AA63-E15D-1EE4-A472-CF1607D05A2D}"/>
              </a:ext>
            </a:extLst>
          </p:cNvPr>
          <p:cNvSpPr txBox="1"/>
          <p:nvPr/>
        </p:nvSpPr>
        <p:spPr>
          <a:xfrm>
            <a:off x="379330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4" name="BD_tgt_c3">
            <a:extLst>
              <a:ext uri="{FF2B5EF4-FFF2-40B4-BE49-F238E27FC236}">
                <a16:creationId xmlns:a16="http://schemas.microsoft.com/office/drawing/2014/main" id="{815EA6D7-13C2-65AE-9B9E-F9493FD555A5}"/>
              </a:ext>
            </a:extLst>
          </p:cNvPr>
          <p:cNvSpPr/>
          <p:nvPr/>
        </p:nvSpPr>
        <p:spPr>
          <a:xfrm>
            <a:off x="3945708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Nexus</a:t>
            </a:r>
          </a:p>
          <a:p>
            <a:pPr algn="ctr">
              <a:lnSpc>
                <a:spcPct val="90000"/>
              </a:lnSpc>
            </a:pPr>
            <a:r>
              <a:rPr lang="ko-KR" altLang="en-US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 빌드 산출물 </a:t>
            </a:r>
          </a:p>
        </p:txBody>
      </p:sp>
      <p:sp>
        <p:nvSpPr>
          <p:cNvPr id="25" name="BD_tgt_a3">
            <a:extLst>
              <a:ext uri="{FF2B5EF4-FFF2-40B4-BE49-F238E27FC236}">
                <a16:creationId xmlns:a16="http://schemas.microsoft.com/office/drawing/2014/main" id="{6C0688ED-32DC-1FB8-84EB-FE3B577F5565}"/>
              </a:ext>
            </a:extLst>
          </p:cNvPr>
          <p:cNvSpPr txBox="1"/>
          <p:nvPr/>
        </p:nvSpPr>
        <p:spPr>
          <a:xfrm>
            <a:off x="4805877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6" name="BD_tgt_c4">
            <a:extLst>
              <a:ext uri="{FF2B5EF4-FFF2-40B4-BE49-F238E27FC236}">
                <a16:creationId xmlns:a16="http://schemas.microsoft.com/office/drawing/2014/main" id="{54C678A4-97BA-2F33-07B0-82835425C4F0}"/>
              </a:ext>
            </a:extLst>
          </p:cNvPr>
          <p:cNvSpPr/>
          <p:nvPr/>
        </p:nvSpPr>
        <p:spPr>
          <a:xfrm>
            <a:off x="4958277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SSH </a:t>
            </a:r>
            <a:r>
              <a:rPr lang="ko-KR" altLang="en-US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전송</a:t>
            </a:r>
          </a:p>
          <a:p>
            <a:pPr algn="ctr">
              <a:lnSpc>
                <a:spcPct val="90000"/>
              </a:lnSpc>
            </a:pP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간</a:t>
            </a: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chemeClr val="bg1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7" name="BD_tgt_a4">
            <a:extLst>
              <a:ext uri="{FF2B5EF4-FFF2-40B4-BE49-F238E27FC236}">
                <a16:creationId xmlns:a16="http://schemas.microsoft.com/office/drawing/2014/main" id="{F4FACEE4-DB42-9623-8156-4B9D7E7EAAB3}"/>
              </a:ext>
            </a:extLst>
          </p:cNvPr>
          <p:cNvSpPr txBox="1"/>
          <p:nvPr/>
        </p:nvSpPr>
        <p:spPr>
          <a:xfrm>
            <a:off x="5818447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8" name="BD_tgt_c5">
            <a:extLst>
              <a:ext uri="{FF2B5EF4-FFF2-40B4-BE49-F238E27FC236}">
                <a16:creationId xmlns:a16="http://schemas.microsoft.com/office/drawing/2014/main" id="{5386BD36-CD14-9316-8376-B00640B20BCB}"/>
              </a:ext>
            </a:extLst>
          </p:cNvPr>
          <p:cNvSpPr/>
          <p:nvPr/>
        </p:nvSpPr>
        <p:spPr>
          <a:xfrm>
            <a:off x="5970847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 dirty="0" err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</a:p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</a:t>
            </a:r>
            <a:endParaRPr lang="ko-KR" altLang="en-US" sz="850" b="1" dirty="0">
              <a:solidFill>
                <a:schemeClr val="bg1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9" name="BD_cur_a3">
            <a:extLst>
              <a:ext uri="{FF2B5EF4-FFF2-40B4-BE49-F238E27FC236}">
                <a16:creationId xmlns:a16="http://schemas.microsoft.com/office/drawing/2014/main" id="{70A85EED-62FA-E756-1413-CEC16B1E3402}"/>
              </a:ext>
            </a:extLst>
          </p:cNvPr>
          <p:cNvSpPr txBox="1"/>
          <p:nvPr/>
        </p:nvSpPr>
        <p:spPr>
          <a:xfrm>
            <a:off x="4805877" y="2362153"/>
            <a:ext cx="152401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30" name="BD_cur_c3">
            <a:extLst>
              <a:ext uri="{FF2B5EF4-FFF2-40B4-BE49-F238E27FC236}">
                <a16:creationId xmlns:a16="http://schemas.microsoft.com/office/drawing/2014/main" id="{FA2C0B39-71F5-501F-C6B9-B4E796961CFD}"/>
              </a:ext>
            </a:extLst>
          </p:cNvPr>
          <p:cNvSpPr/>
          <p:nvPr/>
        </p:nvSpPr>
        <p:spPr>
          <a:xfrm>
            <a:off x="394570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Nexus</a:t>
            </a:r>
          </a:p>
          <a:p>
            <a:pPr algn="ctr">
              <a:lnSpc>
                <a:spcPct val="90000"/>
              </a:lnSpc>
            </a:pP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라이브러리 저장소</a:t>
            </a: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117165-D646-6A92-A803-4239652B2714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B0CBA-7A5B-94BB-1621-FF64CEBB36A0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61741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ko-KR" altLang="en-US" dirty="0">
                <a:solidFill>
                  <a:srgbClr val="000000"/>
                </a:solidFill>
              </a:rPr>
              <a:t> 장애 시에도 배포 연속성을 확보하기 위해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 배포 수단 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r>
              <a:rPr lang="ko-KR" altLang="en-US" dirty="0">
                <a:solidFill>
                  <a:srgbClr val="000000"/>
                </a:solidFill>
              </a:rPr>
              <a:t>개 안을 구성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특징 관점에서 비교하고 적용 방안을 제시함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(2/4)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 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50BAF244-9627-9C6B-3956-F2733B8B2F29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	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센터 배포체계 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925C417-E043-CD5D-4005-7CA9D9C45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491545"/>
              </p:ext>
            </p:extLst>
          </p:nvPr>
        </p:nvGraphicFramePr>
        <p:xfrm>
          <a:off x="2721027" y="2306741"/>
          <a:ext cx="6922082" cy="4008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897">
                  <a:extLst>
                    <a:ext uri="{9D8B030D-6E8A-4147-A177-3AD203B41FA5}">
                      <a16:colId xmlns:a16="http://schemas.microsoft.com/office/drawing/2014/main" val="642793184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590731161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3039991947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2003865596"/>
                    </a:ext>
                  </a:extLst>
                </a:gridCol>
              </a:tblGrid>
              <a:tr h="3059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· DR</a:t>
                      </a:r>
                      <a:r>
                        <a:rPr lang="ko-KR" altLang="en-US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서버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·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직접 배포</a:t>
                      </a:r>
                      <a:endParaRPr lang="ko-KR" altLang="en-US" sz="1000" b="1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 · Nexus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Pull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endParaRPr lang="ko-KR" altLang="en-US" sz="1000" b="1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91990"/>
                  </a:ext>
                </a:extLst>
              </a:tr>
              <a:tr h="1721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개념도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7393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· Nexus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별도 구성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복제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복제 산출물로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시에도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독립 배포 수행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센터 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직접 전송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(SSH)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추가 구축 불필요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파이프라인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본 유지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경로 방화벽 허용 필요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이력이 </a:t>
                      </a: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 단일 관리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복제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스크립트로 산출물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Pull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후 배포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없이 최소 구성으로 운영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이력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기록은 별도 관리</a:t>
                      </a:r>
                      <a:endParaRPr lang="en-US" altLang="ko-KR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59263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장애 시 배포 연속성 확보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(DR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목적 부합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및 형상 동기화 필요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초기 구축 비용 상대적 증가</a:t>
                      </a:r>
                      <a:endParaRPr lang="en-US" altLang="ko-KR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단순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 비용 최소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불가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배포 경로 허용 정책 협의 필요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중계 요소 없이 최소 구성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자동화 수준 낮음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수작업 오류 가능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긴급 패치 시 센터 간 동시 반영 보장 어려움</a:t>
                      </a:r>
                      <a:endParaRPr lang="ko-KR" altLang="en-US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02815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8A34664-58D8-7611-A1F5-8FD01BBB61E2}"/>
              </a:ext>
            </a:extLst>
          </p:cNvPr>
          <p:cNvSpPr/>
          <p:nvPr/>
        </p:nvSpPr>
        <p:spPr bwMode="auto">
          <a:xfrm>
            <a:off x="2721027" y="2045777"/>
            <a:ext cx="6912306" cy="2713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배포 수단 비교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95B3CB8-C30E-B0FC-ABD5-6851486DEA12}"/>
              </a:ext>
            </a:extLst>
          </p:cNvPr>
          <p:cNvGrpSpPr/>
          <p:nvPr/>
        </p:nvGrpSpPr>
        <p:grpSpPr>
          <a:xfrm>
            <a:off x="331310" y="2117920"/>
            <a:ext cx="2372374" cy="4249049"/>
            <a:chOff x="425374" y="2260744"/>
            <a:chExt cx="2964109" cy="424904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F4FE016-0D69-E361-B290-ABBF052E151B}"/>
                </a:ext>
              </a:extLst>
            </p:cNvPr>
            <p:cNvSpPr/>
            <p:nvPr/>
          </p:nvSpPr>
          <p:spPr bwMode="auto">
            <a:xfrm>
              <a:off x="425374" y="2260744"/>
              <a:ext cx="2376000" cy="2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50" b="1" bmk="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파이프라인 개념도</a:t>
              </a:r>
              <a:endParaRPr lang="ko-KR" altLang="en-US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FD9583B5-B92B-2D10-3ABD-0A80DE3992F2}"/>
                </a:ext>
              </a:extLst>
            </p:cNvPr>
            <p:cNvSpPr/>
            <p:nvPr/>
          </p:nvSpPr>
          <p:spPr bwMode="auto">
            <a:xfrm rot="5400000" flipV="1">
              <a:off x="1140921" y="4261231"/>
              <a:ext cx="3909016" cy="588108"/>
            </a:xfrm>
            <a:prstGeom prst="trapezoid">
              <a:avLst>
                <a:gd name="adj" fmla="val 153522"/>
              </a:avLst>
            </a:prstGeom>
            <a:gradFill>
              <a:gsLst>
                <a:gs pos="93000">
                  <a:schemeClr val="bg1">
                    <a:lumMod val="85000"/>
                  </a:schemeClr>
                </a:gs>
                <a:gs pos="12000">
                  <a:schemeClr val="bg1"/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F893648-9844-037E-0E2E-66B360A2BDD0}"/>
                </a:ext>
              </a:extLst>
            </p:cNvPr>
            <p:cNvSpPr/>
            <p:nvPr/>
          </p:nvSpPr>
          <p:spPr bwMode="auto">
            <a:xfrm>
              <a:off x="425374" y="2548744"/>
              <a:ext cx="2376000" cy="3940600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9E53771-F181-1B17-6E1F-787C70AAFAC6}"/>
                </a:ext>
              </a:extLst>
            </p:cNvPr>
            <p:cNvSpPr/>
            <p:nvPr/>
          </p:nvSpPr>
          <p:spPr bwMode="auto">
            <a:xfrm>
              <a:off x="867935" y="3249024"/>
              <a:ext cx="1332000" cy="396000"/>
            </a:xfrm>
            <a:prstGeom prst="roundRect">
              <a:avLst>
                <a:gd name="adj" fmla="val 500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rPr>
                <a:t>형상관리 </a:t>
              </a:r>
              <a:r>
                <a:rPr kumimoji="1" lang="en-US" altLang="ko-KR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rPr>
                <a:t>(SVN)</a:t>
              </a:r>
              <a:endParaRPr lang="en-US" altLang="ko-KR" sz="10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4" name="사각형: 둥근 모서리 14">
              <a:extLst>
                <a:ext uri="{FF2B5EF4-FFF2-40B4-BE49-F238E27FC236}">
                  <a16:creationId xmlns:a16="http://schemas.microsoft.com/office/drawing/2014/main" id="{1B7F84E8-4B11-285D-8A01-57BCF63524D8}"/>
                </a:ext>
              </a:extLst>
            </p:cNvPr>
            <p:cNvSpPr/>
            <p:nvPr/>
          </p:nvSpPr>
          <p:spPr bwMode="auto">
            <a:xfrm>
              <a:off x="867935" y="5069544"/>
              <a:ext cx="1332000" cy="396000"/>
            </a:xfrm>
            <a:prstGeom prst="roundRect">
              <a:avLst>
                <a:gd name="adj" fmla="val 500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빌드 </a:t>
              </a:r>
              <a:r>
                <a:rPr lang="en-US" altLang="ko-KR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(Jenkins · Nexus)</a:t>
              </a:r>
              <a:endPara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6" name="사각형: 둥근 모서리 7">
              <a:extLst>
                <a:ext uri="{FF2B5EF4-FFF2-40B4-BE49-F238E27FC236}">
                  <a16:creationId xmlns:a16="http://schemas.microsoft.com/office/drawing/2014/main" id="{67D67964-3EC7-CCC4-06F8-2F6E169B8D70}"/>
                </a:ext>
              </a:extLst>
            </p:cNvPr>
            <p:cNvSpPr/>
            <p:nvPr/>
          </p:nvSpPr>
          <p:spPr bwMode="auto">
            <a:xfrm>
              <a:off x="864549" y="4159284"/>
              <a:ext cx="1338773" cy="396000"/>
            </a:xfrm>
            <a:prstGeom prst="roundRect">
              <a:avLst>
                <a:gd name="adj" fmla="val 5279"/>
              </a:avLst>
            </a:prstGeom>
            <a:solidFill>
              <a:schemeClr val="tx1">
                <a:lumMod val="50000"/>
                <a:lumOff val="5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대상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선택</a:t>
              </a:r>
              <a:endParaRPr kumimoji="1" lang="ko-KR" altLang="en-US" sz="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A8F95FE-9253-3FD6-201A-16D4F49CB366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 bwMode="auto">
            <a:xfrm flipH="1">
              <a:off x="1533935" y="4555284"/>
              <a:ext cx="1" cy="5142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7877DA3-1810-3139-6844-289642A56CAB}"/>
                </a:ext>
              </a:extLst>
            </p:cNvPr>
            <p:cNvGrpSpPr/>
            <p:nvPr/>
          </p:nvGrpSpPr>
          <p:grpSpPr>
            <a:xfrm>
              <a:off x="604864" y="6003460"/>
              <a:ext cx="624794" cy="380166"/>
              <a:chOff x="1784524" y="5647568"/>
              <a:chExt cx="756000" cy="529496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BD4DA036-BE0B-6439-5986-950BE92EC468}"/>
                  </a:ext>
                </a:extLst>
              </p:cNvPr>
              <p:cNvSpPr/>
              <p:nvPr/>
            </p:nvSpPr>
            <p:spPr bwMode="auto">
              <a:xfrm>
                <a:off x="1784524" y="5860261"/>
                <a:ext cx="756000" cy="316803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A6A6A6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rgbClr val="A6A6A6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A6A6A6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A7FA2E36-7157-7020-F50F-1ABC38AAD2AC}"/>
                  </a:ext>
                </a:extLst>
              </p:cNvPr>
              <p:cNvSpPr/>
              <p:nvPr/>
            </p:nvSpPr>
            <p:spPr bwMode="auto">
              <a:xfrm>
                <a:off x="1784524" y="5647568"/>
                <a:ext cx="756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7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ea typeface="나눔고딕" panose="020D0604000000000000" pitchFamily="50" charset="-127"/>
                  </a:rPr>
                  <a:t>VM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F4DB1A6-99EA-90C9-4E73-2148B02C9546}"/>
                </a:ext>
              </a:extLst>
            </p:cNvPr>
            <p:cNvGrpSpPr/>
            <p:nvPr/>
          </p:nvGrpSpPr>
          <p:grpSpPr>
            <a:xfrm>
              <a:off x="1698202" y="5916570"/>
              <a:ext cx="923908" cy="533002"/>
              <a:chOff x="2792760" y="5647568"/>
              <a:chExt cx="756000" cy="507047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AA06B64-077E-627F-51D7-7F76AE5277AE}"/>
                  </a:ext>
                </a:extLst>
              </p:cNvPr>
              <p:cNvSpPr/>
              <p:nvPr/>
            </p:nvSpPr>
            <p:spPr bwMode="auto">
              <a:xfrm>
                <a:off x="2792760" y="5866615"/>
                <a:ext cx="756000" cy="2880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99B861-D11B-4EC9-7FE2-AEE7799686E2}"/>
                  </a:ext>
                </a:extLst>
              </p:cNvPr>
              <p:cNvSpPr/>
              <p:nvPr/>
            </p:nvSpPr>
            <p:spPr bwMode="auto">
              <a:xfrm>
                <a:off x="2792760" y="5647568"/>
                <a:ext cx="756000" cy="21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rPr>
                  <a:t>VM</a:t>
                </a:r>
              </a:p>
            </p:txBody>
          </p:sp>
        </p:grpSp>
        <p:sp>
          <p:nvSpPr>
            <p:cNvPr id="21" name="화살표: 아래로 구부러짐 43">
              <a:extLst>
                <a:ext uri="{FF2B5EF4-FFF2-40B4-BE49-F238E27FC236}">
                  <a16:creationId xmlns:a16="http://schemas.microsoft.com/office/drawing/2014/main" id="{E77D1671-2A72-EF44-33DC-502DBD81EBF4}"/>
                </a:ext>
              </a:extLst>
            </p:cNvPr>
            <p:cNvSpPr/>
            <p:nvPr/>
          </p:nvSpPr>
          <p:spPr bwMode="auto">
            <a:xfrm>
              <a:off x="1193465" y="5827896"/>
              <a:ext cx="663191" cy="234920"/>
            </a:xfrm>
            <a:prstGeom prst="curvedDownArrow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grpSp>
          <p:nvGrpSpPr>
            <p:cNvPr id="22" name="Group 192">
              <a:extLst>
                <a:ext uri="{FF2B5EF4-FFF2-40B4-BE49-F238E27FC236}">
                  <a16:creationId xmlns:a16="http://schemas.microsoft.com/office/drawing/2014/main" id="{F0D9CD8F-65DD-EF60-3E6C-05D458B4B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1986" y="2647072"/>
              <a:ext cx="367517" cy="307957"/>
              <a:chOff x="2088" y="3558"/>
              <a:chExt cx="376" cy="357"/>
            </a:xfrm>
          </p:grpSpPr>
          <p:pic>
            <p:nvPicPr>
              <p:cNvPr id="29" name="Picture 153" descr="notebook">
                <a:extLst>
                  <a:ext uri="{FF2B5EF4-FFF2-40B4-BE49-F238E27FC236}">
                    <a16:creationId xmlns:a16="http://schemas.microsoft.com/office/drawing/2014/main" id="{4E838264-4F26-5BAF-7E85-84BA917F31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8" y="3572"/>
                <a:ext cx="326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191" descr="남자옆타이">
                <a:extLst>
                  <a:ext uri="{FF2B5EF4-FFF2-40B4-BE49-F238E27FC236}">
                    <a16:creationId xmlns:a16="http://schemas.microsoft.com/office/drawing/2014/main" id="{E65403C5-781C-34CD-E195-27BEBF71B8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" y="3558"/>
                <a:ext cx="205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094798-2CB4-A623-2B80-6DA283EC0B82}"/>
                </a:ext>
              </a:extLst>
            </p:cNvPr>
            <p:cNvSpPr txBox="1"/>
            <p:nvPr/>
          </p:nvSpPr>
          <p:spPr>
            <a:xfrm>
              <a:off x="1702480" y="2711039"/>
              <a:ext cx="6813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ea typeface="나눔고딕" panose="020D0604000000000000" pitchFamily="50" charset="-127"/>
                </a:rPr>
                <a:t>개발자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4E84415E-E995-CB1E-2320-54AC6338C4DB}"/>
                </a:ext>
              </a:extLst>
            </p:cNvPr>
            <p:cNvCxnSpPr>
              <a:cxnSpLocks/>
              <a:stCxn id="29" idx="2"/>
              <a:endCxn id="13" idx="0"/>
            </p:cNvCxnSpPr>
            <p:nvPr/>
          </p:nvCxnSpPr>
          <p:spPr bwMode="auto">
            <a:xfrm>
              <a:off x="1530181" y="2955029"/>
              <a:ext cx="3754" cy="29399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2B9ABB-0831-60A3-1860-98646B484FA3}"/>
                </a:ext>
              </a:extLst>
            </p:cNvPr>
            <p:cNvSpPr txBox="1"/>
            <p:nvPr/>
          </p:nvSpPr>
          <p:spPr>
            <a:xfrm>
              <a:off x="516690" y="3007112"/>
              <a:ext cx="10879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ea typeface="나눔고딕" panose="020D0604000000000000" pitchFamily="50" charset="-127"/>
                </a:rPr>
                <a:t>개발소스</a:t>
              </a:r>
              <a:r>
                <a:rPr lang="en-US" altLang="ko-KR" sz="900" dirty="0">
                  <a:ea typeface="나눔고딕" panose="020D0604000000000000" pitchFamily="50" charset="-127"/>
                </a:rPr>
                <a:t> </a:t>
              </a:r>
              <a:r>
                <a:rPr lang="ko-KR" altLang="en-US" sz="900" dirty="0">
                  <a:ea typeface="나눔고딕" panose="020D0604000000000000" pitchFamily="50" charset="-127"/>
                </a:rPr>
                <a:t>반영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F3F88E36-8889-AD1D-C4A1-3CDA8B874FE2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 bwMode="auto">
            <a:xfrm>
              <a:off x="1533935" y="3645024"/>
              <a:ext cx="1" cy="5142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" name="화살표: 아래쪽 20">
              <a:extLst>
                <a:ext uri="{FF2B5EF4-FFF2-40B4-BE49-F238E27FC236}">
                  <a16:creationId xmlns:a16="http://schemas.microsoft.com/office/drawing/2014/main" id="{C4B72A33-9E56-C8FD-8FD7-8690A7A93944}"/>
                </a:ext>
              </a:extLst>
            </p:cNvPr>
            <p:cNvSpPr/>
            <p:nvPr/>
          </p:nvSpPr>
          <p:spPr bwMode="auto">
            <a:xfrm>
              <a:off x="1397154" y="5526411"/>
              <a:ext cx="273563" cy="25764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E89A25-06E1-58B1-EAAF-09A55DA9ED34}"/>
                </a:ext>
              </a:extLst>
            </p:cNvPr>
            <p:cNvSpPr txBox="1"/>
            <p:nvPr/>
          </p:nvSpPr>
          <p:spPr>
            <a:xfrm>
              <a:off x="1609889" y="5533718"/>
              <a:ext cx="5191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ea typeface="나눔고딕" panose="020D0604000000000000" pitchFamily="50" charset="-127"/>
                </a:rPr>
                <a:t>배포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3F34910-D332-CFD8-DA4D-C254DF334E50}"/>
              </a:ext>
            </a:extLst>
          </p:cNvPr>
          <p:cNvGrpSpPr/>
          <p:nvPr/>
        </p:nvGrpSpPr>
        <p:grpSpPr>
          <a:xfrm>
            <a:off x="3332820" y="2331418"/>
            <a:ext cx="6184040" cy="4096027"/>
            <a:chOff x="3320704" y="2271233"/>
            <a:chExt cx="6184040" cy="4096027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0CBB961-009F-7C83-9FD3-80940CA71CE3}"/>
                </a:ext>
              </a:extLst>
            </p:cNvPr>
            <p:cNvGrpSpPr/>
            <p:nvPr/>
          </p:nvGrpSpPr>
          <p:grpSpPr>
            <a:xfrm>
              <a:off x="5607863" y="2694254"/>
              <a:ext cx="1782502" cy="1518193"/>
              <a:chOff x="3593726" y="2797578"/>
              <a:chExt cx="1782502" cy="1518193"/>
            </a:xfrm>
          </p:grpSpPr>
          <p:sp>
            <p:nvSpPr>
              <p:cNvPr id="79" name="사각형: 둥근 모서리 57">
                <a:extLst>
                  <a:ext uri="{FF2B5EF4-FFF2-40B4-BE49-F238E27FC236}">
                    <a16:creationId xmlns:a16="http://schemas.microsoft.com/office/drawing/2014/main" id="{EEF5CABA-E10F-7ECE-F268-C950095B8FF7}"/>
                  </a:ext>
                </a:extLst>
              </p:cNvPr>
              <p:cNvSpPr/>
              <p:nvPr/>
            </p:nvSpPr>
            <p:spPr bwMode="auto">
              <a:xfrm>
                <a:off x="3593726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441B4EC-A352-B64C-EB03-716107CF060E}"/>
                  </a:ext>
                </a:extLst>
              </p:cNvPr>
              <p:cNvSpPr txBox="1"/>
              <p:nvPr/>
            </p:nvSpPr>
            <p:spPr>
              <a:xfrm>
                <a:off x="4052962" y="3649737"/>
                <a:ext cx="617877" cy="20005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배포 실행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3B4B2EB3-8476-9AF8-BB6B-62BDCE2A618D}"/>
                  </a:ext>
                </a:extLst>
              </p:cNvPr>
              <p:cNvGrpSpPr/>
              <p:nvPr/>
            </p:nvGrpSpPr>
            <p:grpSpPr>
              <a:xfrm>
                <a:off x="3595192" y="2797578"/>
                <a:ext cx="1781036" cy="683110"/>
                <a:chOff x="3964052" y="2797578"/>
                <a:chExt cx="1781036" cy="683110"/>
              </a:xfrm>
            </p:grpSpPr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3AFC7E44-30EF-0E93-81B9-724AA54248E0}"/>
                    </a:ext>
                  </a:extLst>
                </p:cNvPr>
                <p:cNvSpPr/>
                <p:nvPr/>
              </p:nvSpPr>
              <p:spPr bwMode="auto">
                <a:xfrm>
                  <a:off x="3964052" y="2976688"/>
                  <a:ext cx="1728000" cy="50400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 dirty="0"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" name="두루마리 모양: 세로로 말림 53">
                  <a:extLst>
                    <a:ext uri="{FF2B5EF4-FFF2-40B4-BE49-F238E27FC236}">
                      <a16:creationId xmlns:a16="http://schemas.microsoft.com/office/drawing/2014/main" id="{33440908-E1F8-BF2E-87A4-F62CDF6336E2}"/>
                    </a:ext>
                  </a:extLst>
                </p:cNvPr>
                <p:cNvSpPr/>
                <p:nvPr/>
              </p:nvSpPr>
              <p:spPr bwMode="auto">
                <a:xfrm>
                  <a:off x="5249361" y="3194985"/>
                  <a:ext cx="392555" cy="229703"/>
                </a:xfrm>
                <a:prstGeom prst="verticalScroll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800" dirty="0">
                      <a:ea typeface="나눔고딕" panose="020D0604000000000000" pitchFamily="50" charset="-127"/>
                    </a:rPr>
                    <a:t>.....</a:t>
                  </a:r>
                </a:p>
              </p:txBody>
            </p:sp>
            <p:cxnSp>
              <p:nvCxnSpPr>
                <p:cNvPr id="85" name="직선 화살표 연결선 84">
                  <a:extLst>
                    <a:ext uri="{FF2B5EF4-FFF2-40B4-BE49-F238E27FC236}">
                      <a16:creationId xmlns:a16="http://schemas.microsoft.com/office/drawing/2014/main" id="{62DCAEF5-DCC5-F4F8-983D-D6562E29242F}"/>
                    </a:ext>
                  </a:extLst>
                </p:cNvPr>
                <p:cNvCxnSpPr>
                  <a:cxnSpLocks/>
                  <a:stCxn id="91" idx="3"/>
                  <a:endCxn id="84" idx="1"/>
                </p:cNvCxnSpPr>
                <p:nvPr/>
              </p:nvCxnSpPr>
              <p:spPr bwMode="auto">
                <a:xfrm>
                  <a:off x="4441283" y="3309837"/>
                  <a:ext cx="836791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DD38262-D792-03B4-875D-257D42DDC9CE}"/>
                    </a:ext>
                  </a:extLst>
                </p:cNvPr>
                <p:cNvSpPr txBox="1"/>
                <p:nvPr/>
              </p:nvSpPr>
              <p:spPr>
                <a:xfrm>
                  <a:off x="3973202" y="2975735"/>
                  <a:ext cx="537590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sz="800" b="1">
                      <a:solidFill>
                        <a:srgbClr val="000000"/>
                      </a:solidFill>
                      <a:latin typeface="나눔고딕" panose="020D0804000000000000" pitchFamily="50" charset="-127"/>
                      <a:ea typeface="나눔고딕" panose="020D0804000000000000" pitchFamily="50" charset="-127"/>
                    </a:rPr>
                    <a:t>UI</a:t>
                  </a:r>
                  <a:endParaRPr lang="ko-KR" altLang="en-US" sz="800" b="1" dirty="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37632A8-7768-CD94-6D8D-B58D17645B31}"/>
                    </a:ext>
                  </a:extLst>
                </p:cNvPr>
                <p:cNvSpPr txBox="1"/>
                <p:nvPr/>
              </p:nvSpPr>
              <p:spPr>
                <a:xfrm>
                  <a:off x="5146189" y="2975735"/>
                  <a:ext cx="598899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ko-KR" altLang="en-US" sz="800" b="1" dirty="0">
                      <a:ea typeface="나눔고딕" panose="020D0604000000000000" pitchFamily="50" charset="-127"/>
                    </a:rPr>
                    <a:t>스크립트</a:t>
                  </a:r>
                </a:p>
              </p:txBody>
            </p:sp>
            <p:grpSp>
              <p:nvGrpSpPr>
                <p:cNvPr id="88" name="그룹 87">
                  <a:extLst>
                    <a:ext uri="{FF2B5EF4-FFF2-40B4-BE49-F238E27FC236}">
                      <a16:creationId xmlns:a16="http://schemas.microsoft.com/office/drawing/2014/main" id="{5CFEE1A5-28B7-36E7-FE5A-E3B0D848063E}"/>
                    </a:ext>
                  </a:extLst>
                </p:cNvPr>
                <p:cNvGrpSpPr/>
                <p:nvPr/>
              </p:nvGrpSpPr>
              <p:grpSpPr>
                <a:xfrm>
                  <a:off x="4042712" y="3190673"/>
                  <a:ext cx="398571" cy="238327"/>
                  <a:chOff x="-1493986" y="3869482"/>
                  <a:chExt cx="396000" cy="324000"/>
                </a:xfrm>
              </p:grpSpPr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1779036D-0630-346B-E6C7-CA0983C737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93986" y="3869482"/>
                    <a:ext cx="396000" cy="3240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181ACEC2-022C-4496-E31F-6FDE6DFE8E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375485" y="4008188"/>
                    <a:ext cx="257250" cy="15833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3" name="직사각형 92">
                    <a:extLst>
                      <a:ext uri="{FF2B5EF4-FFF2-40B4-BE49-F238E27FC236}">
                        <a16:creationId xmlns:a16="http://schemas.microsoft.com/office/drawing/2014/main" id="{739EC4E7-5C2B-333B-147C-E29A259C86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76290" y="3897082"/>
                    <a:ext cx="358055" cy="89413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4" name="직사각형 93">
                    <a:extLst>
                      <a:ext uri="{FF2B5EF4-FFF2-40B4-BE49-F238E27FC236}">
                        <a16:creationId xmlns:a16="http://schemas.microsoft.com/office/drawing/2014/main" id="{6F94197F-3B32-70FB-11B6-C141A7C575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76289" y="4008188"/>
                    <a:ext cx="77521" cy="1584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0C31C13-0366-3FB7-C09B-1ADD2F057657}"/>
                    </a:ext>
                  </a:extLst>
                </p:cNvPr>
                <p:cNvSpPr txBox="1"/>
                <p:nvPr/>
              </p:nvSpPr>
              <p:spPr>
                <a:xfrm>
                  <a:off x="4632626" y="3108701"/>
                  <a:ext cx="39238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ea typeface="나눔고딕" panose="020D0604000000000000" pitchFamily="50" charset="-127"/>
                    </a:rPr>
                    <a:t>실행</a:t>
                  </a: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B34FF44-DAE5-D35E-A15D-C5A2F74D18AD}"/>
                    </a:ext>
                  </a:extLst>
                </p:cNvPr>
                <p:cNvSpPr/>
                <p:nvPr/>
              </p:nvSpPr>
              <p:spPr bwMode="auto">
                <a:xfrm>
                  <a:off x="3964052" y="2797578"/>
                  <a:ext cx="1728000" cy="180000"/>
                </a:xfrm>
                <a:prstGeom prst="rect">
                  <a:avLst/>
                </a:prstGeom>
                <a:pattFill prst="lt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127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ko-KR" altLang="en-US" sz="900" b="1">
                      <a:solidFill>
                        <a:srgbClr val="000000"/>
                      </a:solidFill>
                      <a:latin typeface="나눔고딕" panose="020D0804000000000000" pitchFamily="50" charset="-127"/>
                      <a:ea typeface="나눔고딕" panose="020D0804000000000000" pitchFamily="50" charset="-127"/>
                    </a:rPr>
                    <a:t>주센터 배포 서버</a:t>
                  </a:r>
                  <a:endParaRPr lang="ko-KR" altLang="en-US" sz="900" b="1" dirty="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endParaRPr>
                </a:p>
              </p:txBody>
            </p:sp>
          </p:grpSp>
          <p:cxnSp>
            <p:nvCxnSpPr>
              <p:cNvPr id="82" name="연결선: 구부러짐 85">
                <a:extLst>
                  <a:ext uri="{FF2B5EF4-FFF2-40B4-BE49-F238E27FC236}">
                    <a16:creationId xmlns:a16="http://schemas.microsoft.com/office/drawing/2014/main" id="{401B11F4-CA45-DC55-8691-7371E3394B17}"/>
                  </a:ext>
                </a:extLst>
              </p:cNvPr>
              <p:cNvCxnSpPr>
                <a:cxnSpLocks/>
                <a:stCxn id="84" idx="2"/>
                <a:endCxn id="79" idx="0"/>
              </p:cNvCxnSpPr>
              <p:nvPr/>
            </p:nvCxnSpPr>
            <p:spPr bwMode="auto">
              <a:xfrm rot="5400000">
                <a:off x="4428869" y="3453546"/>
                <a:ext cx="676768" cy="619053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33E6F4F-F4D7-3D67-F798-573C1FC29FB8}"/>
                </a:ext>
              </a:extLst>
            </p:cNvPr>
            <p:cNvGrpSpPr/>
            <p:nvPr/>
          </p:nvGrpSpPr>
          <p:grpSpPr>
            <a:xfrm>
              <a:off x="3482918" y="2688583"/>
              <a:ext cx="1837468" cy="1516555"/>
              <a:chOff x="5529064" y="2799216"/>
              <a:chExt cx="1837468" cy="1516555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FB2985A-B618-5DC4-DC08-41EEEF5A8684}"/>
                  </a:ext>
                </a:extLst>
              </p:cNvPr>
              <p:cNvSpPr txBox="1"/>
              <p:nvPr/>
            </p:nvSpPr>
            <p:spPr>
              <a:xfrm>
                <a:off x="5836901" y="3907326"/>
                <a:ext cx="58483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배포 실행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ACEC51E-63AA-B02A-4032-C9304244BA1C}"/>
                  </a:ext>
                </a:extLst>
              </p:cNvPr>
              <p:cNvSpPr/>
              <p:nvPr/>
            </p:nvSpPr>
            <p:spPr bwMode="auto">
              <a:xfrm>
                <a:off x="5577564" y="2978326"/>
                <a:ext cx="1728000" cy="5040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60" name="두루마리 모양: 세로로 말림 115">
                <a:extLst>
                  <a:ext uri="{FF2B5EF4-FFF2-40B4-BE49-F238E27FC236}">
                    <a16:creationId xmlns:a16="http://schemas.microsoft.com/office/drawing/2014/main" id="{C690FE4E-B034-A926-F22A-9F09D7E999A1}"/>
                  </a:ext>
                </a:extLst>
              </p:cNvPr>
              <p:cNvSpPr/>
              <p:nvPr/>
            </p:nvSpPr>
            <p:spPr bwMode="auto">
              <a:xfrm>
                <a:off x="6259947" y="3196623"/>
                <a:ext cx="392555" cy="229703"/>
              </a:xfrm>
              <a:prstGeom prst="verticalScroll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ea typeface="나눔고딕" panose="020D0604000000000000" pitchFamily="50" charset="-127"/>
                  </a:rPr>
                  <a:t>.....</a:t>
                </a:r>
              </a:p>
            </p:txBody>
          </p: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0A31FB5E-50A1-942B-0E17-4C81A1B8B4AB}"/>
                  </a:ext>
                </a:extLst>
              </p:cNvPr>
              <p:cNvCxnSpPr>
                <a:cxnSpLocks/>
                <a:stCxn id="75" idx="3"/>
                <a:endCxn id="60" idx="1"/>
              </p:cNvCxnSpPr>
              <p:nvPr/>
            </p:nvCxnSpPr>
            <p:spPr bwMode="auto">
              <a:xfrm>
                <a:off x="5997145" y="3311475"/>
                <a:ext cx="2915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5058BD-96F7-B628-C2E6-815ABF488128}"/>
                  </a:ext>
                </a:extLst>
              </p:cNvPr>
              <p:cNvSpPr txBox="1"/>
              <p:nvPr/>
            </p:nvSpPr>
            <p:spPr>
              <a:xfrm>
                <a:off x="5529064" y="2977373"/>
                <a:ext cx="53759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UI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15FD114-8B1E-61BD-3E65-FD8F5463CDB2}"/>
                  </a:ext>
                </a:extLst>
              </p:cNvPr>
              <p:cNvSpPr txBox="1"/>
              <p:nvPr/>
            </p:nvSpPr>
            <p:spPr>
              <a:xfrm>
                <a:off x="6154301" y="2977373"/>
                <a:ext cx="598899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800" b="1" dirty="0">
                    <a:ea typeface="나눔고딕" panose="020D0604000000000000" pitchFamily="50" charset="-127"/>
                  </a:rPr>
                  <a:t>스크립트</a:t>
                </a: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6FBADB25-88D3-2E58-1D54-88F9392D8705}"/>
                  </a:ext>
                </a:extLst>
              </p:cNvPr>
              <p:cNvGrpSpPr/>
              <p:nvPr/>
            </p:nvGrpSpPr>
            <p:grpSpPr>
              <a:xfrm>
                <a:off x="5598574" y="3192311"/>
                <a:ext cx="398571" cy="238327"/>
                <a:chOff x="-1493986" y="3869482"/>
                <a:chExt cx="396000" cy="32400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552C4D84-848D-C19B-C5D5-BF170B9AAA82}"/>
                    </a:ext>
                  </a:extLst>
                </p:cNvPr>
                <p:cNvSpPr/>
                <p:nvPr/>
              </p:nvSpPr>
              <p:spPr bwMode="auto">
                <a:xfrm>
                  <a:off x="-1493986" y="3869482"/>
                  <a:ext cx="396000" cy="32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C1A092E5-769A-47A8-E726-D97ED72D9E49}"/>
                    </a:ext>
                  </a:extLst>
                </p:cNvPr>
                <p:cNvSpPr/>
                <p:nvPr/>
              </p:nvSpPr>
              <p:spPr bwMode="auto">
                <a:xfrm>
                  <a:off x="-1375485" y="4008188"/>
                  <a:ext cx="257250" cy="158339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B14FBF18-25D9-D250-6115-6F2E57637760}"/>
                    </a:ext>
                  </a:extLst>
                </p:cNvPr>
                <p:cNvSpPr/>
                <p:nvPr/>
              </p:nvSpPr>
              <p:spPr bwMode="auto">
                <a:xfrm>
                  <a:off x="-1476290" y="3897082"/>
                  <a:ext cx="358055" cy="8941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350911EB-CF3C-6B31-4ACA-46BE33ADF9DD}"/>
                    </a:ext>
                  </a:extLst>
                </p:cNvPr>
                <p:cNvSpPr/>
                <p:nvPr/>
              </p:nvSpPr>
              <p:spPr bwMode="auto">
                <a:xfrm>
                  <a:off x="-1476289" y="4008188"/>
                  <a:ext cx="77521" cy="158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B13CD60-C3CF-18D2-3E91-3874D4C6C7D4}"/>
                  </a:ext>
                </a:extLst>
              </p:cNvPr>
              <p:cNvSpPr txBox="1"/>
              <p:nvPr/>
            </p:nvSpPr>
            <p:spPr>
              <a:xfrm>
                <a:off x="5925680" y="3110339"/>
                <a:ext cx="39238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 dirty="0">
                    <a:ea typeface="나눔고딕" panose="020D0604000000000000" pitchFamily="50" charset="-127"/>
                  </a:rPr>
                  <a:t>실행</a:t>
                </a: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1DF9EBEC-6926-2DC4-A890-46577C6F734C}"/>
                  </a:ext>
                </a:extLst>
              </p:cNvPr>
              <p:cNvSpPr/>
              <p:nvPr/>
            </p:nvSpPr>
            <p:spPr bwMode="auto">
              <a:xfrm>
                <a:off x="5577564" y="2799216"/>
                <a:ext cx="1728000" cy="180000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 배포 서버</a:t>
                </a:r>
                <a:endParaRPr lang="ko-KR" altLang="en-US" sz="9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67" name="원통형 38">
                <a:extLst>
                  <a:ext uri="{FF2B5EF4-FFF2-40B4-BE49-F238E27FC236}">
                    <a16:creationId xmlns:a16="http://schemas.microsoft.com/office/drawing/2014/main" id="{F48002A2-6B49-2391-11E2-0203DD1DCABB}"/>
                  </a:ext>
                </a:extLst>
              </p:cNvPr>
              <p:cNvSpPr/>
              <p:nvPr/>
            </p:nvSpPr>
            <p:spPr bwMode="auto">
              <a:xfrm>
                <a:off x="6878728" y="3190706"/>
                <a:ext cx="320492" cy="240609"/>
              </a:xfrm>
              <a:prstGeom prst="can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976F1DE5-043B-D02A-1325-85905DFA4382}"/>
                  </a:ext>
                </a:extLst>
              </p:cNvPr>
              <p:cNvCxnSpPr>
                <a:cxnSpLocks/>
                <a:stCxn id="60" idx="3"/>
                <a:endCxn id="67" idx="2"/>
              </p:cNvCxnSpPr>
              <p:nvPr/>
            </p:nvCxnSpPr>
            <p:spPr bwMode="auto">
              <a:xfrm flipV="1">
                <a:off x="6623789" y="3311011"/>
                <a:ext cx="254939" cy="464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36B12C5-167F-7F85-0D8E-D3ACE13C362C}"/>
                  </a:ext>
                </a:extLst>
              </p:cNvPr>
              <p:cNvSpPr txBox="1"/>
              <p:nvPr/>
            </p:nvSpPr>
            <p:spPr>
              <a:xfrm>
                <a:off x="6704432" y="2977373"/>
                <a:ext cx="66210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Nexus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BD99DFA7-EF62-4FBE-697B-163E4BC18BC1}"/>
                  </a:ext>
                </a:extLst>
              </p:cNvPr>
              <p:cNvCxnSpPr>
                <a:cxnSpLocks/>
                <a:stCxn id="59" idx="2"/>
                <a:endCxn id="72" idx="0"/>
              </p:cNvCxnSpPr>
              <p:nvPr/>
            </p:nvCxnSpPr>
            <p:spPr bwMode="auto">
              <a:xfrm>
                <a:off x="6441564" y="3482326"/>
                <a:ext cx="0" cy="20537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1" name="사각형: 둥근 모서리 140">
                <a:extLst>
                  <a:ext uri="{FF2B5EF4-FFF2-40B4-BE49-F238E27FC236}">
                    <a16:creationId xmlns:a16="http://schemas.microsoft.com/office/drawing/2014/main" id="{B2B314E9-4882-DBB5-BDA2-EAF490EE4B4F}"/>
                  </a:ext>
                </a:extLst>
              </p:cNvPr>
              <p:cNvSpPr/>
              <p:nvPr/>
            </p:nvSpPr>
            <p:spPr bwMode="auto">
              <a:xfrm>
                <a:off x="5577564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72" name="사각형: 둥근 모서리 141">
                <a:extLst>
                  <a:ext uri="{FF2B5EF4-FFF2-40B4-BE49-F238E27FC236}">
                    <a16:creationId xmlns:a16="http://schemas.microsoft.com/office/drawing/2014/main" id="{02566F17-ED66-7489-B22B-393384C8CA1C}"/>
                  </a:ext>
                </a:extLst>
              </p:cNvPr>
              <p:cNvSpPr/>
              <p:nvPr/>
            </p:nvSpPr>
            <p:spPr bwMode="auto">
              <a:xfrm>
                <a:off x="5577564" y="368769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Jenkins</a:t>
                </a:r>
              </a:p>
            </p:txBody>
          </p:sp>
          <p:cxnSp>
            <p:nvCxnSpPr>
              <p:cNvPr id="73" name="직선 화살표 연결선 72">
                <a:extLst>
                  <a:ext uri="{FF2B5EF4-FFF2-40B4-BE49-F238E27FC236}">
                    <a16:creationId xmlns:a16="http://schemas.microsoft.com/office/drawing/2014/main" id="{21398B42-5485-8536-DDDC-A254DF95357C}"/>
                  </a:ext>
                </a:extLst>
              </p:cNvPr>
              <p:cNvCxnSpPr>
                <a:cxnSpLocks/>
                <a:stCxn id="72" idx="2"/>
                <a:endCxn id="71" idx="0"/>
              </p:cNvCxnSpPr>
              <p:nvPr/>
            </p:nvCxnSpPr>
            <p:spPr bwMode="auto">
              <a:xfrm>
                <a:off x="6441564" y="3902011"/>
                <a:ext cx="0" cy="19944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4D97F23-06E6-A9CF-EC03-0B711FD2D0AA}"/>
                  </a:ext>
                </a:extLst>
              </p:cNvPr>
              <p:cNvSpPr txBox="1"/>
              <p:nvPr/>
            </p:nvSpPr>
            <p:spPr>
              <a:xfrm>
                <a:off x="5753979" y="3488816"/>
                <a:ext cx="68070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 복제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5CEFEE4-54B2-BCB9-DB70-03204E832F94}"/>
                </a:ext>
              </a:extLst>
            </p:cNvPr>
            <p:cNvGrpSpPr/>
            <p:nvPr/>
          </p:nvGrpSpPr>
          <p:grpSpPr>
            <a:xfrm>
              <a:off x="7667276" y="2696203"/>
              <a:ext cx="1837468" cy="1516555"/>
              <a:chOff x="7518654" y="2799216"/>
              <a:chExt cx="1837468" cy="151655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B28CCBF-8882-824C-6E4D-AFCD4667F4D3}"/>
                  </a:ext>
                </a:extLst>
              </p:cNvPr>
              <p:cNvSpPr/>
              <p:nvPr/>
            </p:nvSpPr>
            <p:spPr bwMode="auto">
              <a:xfrm>
                <a:off x="7567154" y="2978326"/>
                <a:ext cx="1728000" cy="5040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41" name="두루마리 모양: 세로로 말림 146">
                <a:extLst>
                  <a:ext uri="{FF2B5EF4-FFF2-40B4-BE49-F238E27FC236}">
                    <a16:creationId xmlns:a16="http://schemas.microsoft.com/office/drawing/2014/main" id="{FEDD8005-3542-9863-F7FD-0B5B82194538}"/>
                  </a:ext>
                </a:extLst>
              </p:cNvPr>
              <p:cNvSpPr/>
              <p:nvPr/>
            </p:nvSpPr>
            <p:spPr bwMode="auto">
              <a:xfrm>
                <a:off x="8249537" y="3196623"/>
                <a:ext cx="392555" cy="229703"/>
              </a:xfrm>
              <a:prstGeom prst="verticalScroll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ea typeface="나눔고딕" panose="020D0604000000000000" pitchFamily="50" charset="-127"/>
                  </a:rPr>
                  <a:t>.....</a:t>
                </a:r>
              </a:p>
            </p:txBody>
          </p: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9C1F7623-3448-D1FB-4D90-77E585376934}"/>
                  </a:ext>
                </a:extLst>
              </p:cNvPr>
              <p:cNvCxnSpPr>
                <a:cxnSpLocks/>
                <a:stCxn id="54" idx="3"/>
                <a:endCxn id="41" idx="1"/>
              </p:cNvCxnSpPr>
              <p:nvPr/>
            </p:nvCxnSpPr>
            <p:spPr bwMode="auto">
              <a:xfrm>
                <a:off x="7986735" y="3311475"/>
                <a:ext cx="2915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0CD79E-BDA6-45E6-023B-C3AE884D1D96}"/>
                  </a:ext>
                </a:extLst>
              </p:cNvPr>
              <p:cNvSpPr txBox="1"/>
              <p:nvPr/>
            </p:nvSpPr>
            <p:spPr>
              <a:xfrm>
                <a:off x="7518654" y="2977373"/>
                <a:ext cx="53759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UI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111500-CA2E-2A18-6FA9-1C1EE2F61B5C}"/>
                  </a:ext>
                </a:extLst>
              </p:cNvPr>
              <p:cNvSpPr txBox="1"/>
              <p:nvPr/>
            </p:nvSpPr>
            <p:spPr>
              <a:xfrm>
                <a:off x="8143891" y="2977373"/>
                <a:ext cx="598899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800" b="1" dirty="0">
                    <a:ea typeface="나눔고딕" panose="020D0604000000000000" pitchFamily="50" charset="-127"/>
                  </a:rPr>
                  <a:t>스크립트</a:t>
                </a: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7B48F0B4-C452-D94A-38C7-32D0BB6AE25F}"/>
                  </a:ext>
                </a:extLst>
              </p:cNvPr>
              <p:cNvGrpSpPr/>
              <p:nvPr/>
            </p:nvGrpSpPr>
            <p:grpSpPr>
              <a:xfrm>
                <a:off x="7588164" y="3192311"/>
                <a:ext cx="398571" cy="238327"/>
                <a:chOff x="-1493986" y="3869482"/>
                <a:chExt cx="396000" cy="324000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05F1E43E-CD95-B994-FD0B-1FE63872E018}"/>
                    </a:ext>
                  </a:extLst>
                </p:cNvPr>
                <p:cNvSpPr/>
                <p:nvPr/>
              </p:nvSpPr>
              <p:spPr bwMode="auto">
                <a:xfrm>
                  <a:off x="-1493986" y="3869482"/>
                  <a:ext cx="396000" cy="32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DFB4B901-BA43-B640-2187-58D365AF7E75}"/>
                    </a:ext>
                  </a:extLst>
                </p:cNvPr>
                <p:cNvSpPr/>
                <p:nvPr/>
              </p:nvSpPr>
              <p:spPr bwMode="auto">
                <a:xfrm>
                  <a:off x="-1375485" y="4008188"/>
                  <a:ext cx="257250" cy="158339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6F487587-B4CC-902B-6D25-871F7598D8C0}"/>
                    </a:ext>
                  </a:extLst>
                </p:cNvPr>
                <p:cNvSpPr/>
                <p:nvPr/>
              </p:nvSpPr>
              <p:spPr bwMode="auto">
                <a:xfrm>
                  <a:off x="-1476290" y="3897082"/>
                  <a:ext cx="358055" cy="8941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FA2D8DB-B934-B3AC-3F63-10FBFF65D098}"/>
                    </a:ext>
                  </a:extLst>
                </p:cNvPr>
                <p:cNvSpPr/>
                <p:nvPr/>
              </p:nvSpPr>
              <p:spPr bwMode="auto">
                <a:xfrm>
                  <a:off x="-1476289" y="4008188"/>
                  <a:ext cx="77521" cy="158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4AFE6CA-4634-8C41-4A53-C4CF87455FE0}"/>
                  </a:ext>
                </a:extLst>
              </p:cNvPr>
              <p:cNvSpPr txBox="1"/>
              <p:nvPr/>
            </p:nvSpPr>
            <p:spPr>
              <a:xfrm>
                <a:off x="7915270" y="3110339"/>
                <a:ext cx="39238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 dirty="0">
                    <a:ea typeface="나눔고딕" panose="020D0604000000000000" pitchFamily="50" charset="-127"/>
                  </a:rPr>
                  <a:t>실행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C8E4DAE2-ABCE-1B59-AB4E-93666E50F4BA}"/>
                  </a:ext>
                </a:extLst>
              </p:cNvPr>
              <p:cNvSpPr/>
              <p:nvPr/>
            </p:nvSpPr>
            <p:spPr bwMode="auto">
              <a:xfrm>
                <a:off x="7567154" y="2799216"/>
                <a:ext cx="1728000" cy="180000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 배포 서버</a:t>
                </a:r>
                <a:endParaRPr lang="ko-KR" altLang="en-US" sz="9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48" name="원통형 157">
                <a:extLst>
                  <a:ext uri="{FF2B5EF4-FFF2-40B4-BE49-F238E27FC236}">
                    <a16:creationId xmlns:a16="http://schemas.microsoft.com/office/drawing/2014/main" id="{6F463B0C-139B-5A17-D9EE-A646E8483DE4}"/>
                  </a:ext>
                </a:extLst>
              </p:cNvPr>
              <p:cNvSpPr/>
              <p:nvPr/>
            </p:nvSpPr>
            <p:spPr bwMode="auto">
              <a:xfrm>
                <a:off x="8868318" y="3190706"/>
                <a:ext cx="320492" cy="240609"/>
              </a:xfrm>
              <a:prstGeom prst="can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49F30A75-D307-C6B9-4E0F-EAB3A0749C0D}"/>
                  </a:ext>
                </a:extLst>
              </p:cNvPr>
              <p:cNvCxnSpPr>
                <a:cxnSpLocks/>
                <a:stCxn id="41" idx="3"/>
                <a:endCxn id="48" idx="2"/>
              </p:cNvCxnSpPr>
              <p:nvPr/>
            </p:nvCxnSpPr>
            <p:spPr bwMode="auto">
              <a:xfrm flipV="1">
                <a:off x="8613379" y="3311011"/>
                <a:ext cx="254939" cy="464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745C20D-D09F-C846-6CA8-F620CBCD8A04}"/>
                  </a:ext>
                </a:extLst>
              </p:cNvPr>
              <p:cNvSpPr txBox="1"/>
              <p:nvPr/>
            </p:nvSpPr>
            <p:spPr>
              <a:xfrm>
                <a:off x="8694022" y="2977373"/>
                <a:ext cx="66210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Nexus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51" name="사각형: 둥근 모서리 161">
                <a:extLst>
                  <a:ext uri="{FF2B5EF4-FFF2-40B4-BE49-F238E27FC236}">
                    <a16:creationId xmlns:a16="http://schemas.microsoft.com/office/drawing/2014/main" id="{7C08054E-CB0C-3BE1-32FF-CE0C6F47E1EA}"/>
                  </a:ext>
                </a:extLst>
              </p:cNvPr>
              <p:cNvSpPr/>
              <p:nvPr/>
            </p:nvSpPr>
            <p:spPr bwMode="auto">
              <a:xfrm>
                <a:off x="7567154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E3FB78A-55C1-5C86-5641-6284045EF9E7}"/>
                  </a:ext>
                </a:extLst>
              </p:cNvPr>
              <p:cNvSpPr txBox="1"/>
              <p:nvPr/>
            </p:nvSpPr>
            <p:spPr>
              <a:xfrm>
                <a:off x="8093253" y="3531488"/>
                <a:ext cx="68070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 </a:t>
                </a:r>
                <a:r>
                  <a:rPr lang="en-US" altLang="ko-KR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Pull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53" name="연결선: 꺾임 62">
                <a:extLst>
                  <a:ext uri="{FF2B5EF4-FFF2-40B4-BE49-F238E27FC236}">
                    <a16:creationId xmlns:a16="http://schemas.microsoft.com/office/drawing/2014/main" id="{CD58686D-693E-7E7E-334D-BB77046A3F50}"/>
                  </a:ext>
                </a:extLst>
              </p:cNvPr>
              <p:cNvCxnSpPr>
                <a:cxnSpLocks/>
                <a:stCxn id="48" idx="3"/>
                <a:endCxn id="51" idx="0"/>
              </p:cNvCxnSpPr>
              <p:nvPr/>
            </p:nvCxnSpPr>
            <p:spPr bwMode="auto">
              <a:xfrm rot="5400000">
                <a:off x="8394789" y="3467680"/>
                <a:ext cx="670141" cy="597410"/>
              </a:xfrm>
              <a:prstGeom prst="bent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A44E2CB-1B9C-E93E-CBEF-4EA2C05718D2}"/>
                </a:ext>
              </a:extLst>
            </p:cNvPr>
            <p:cNvSpPr/>
            <p:nvPr/>
          </p:nvSpPr>
          <p:spPr>
            <a:xfrm>
              <a:off x="3320704" y="2271233"/>
              <a:ext cx="2117079" cy="40960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ko-KR" altLang="en-US" sz="1200">
                <a:ln w="12700">
                  <a:solidFill>
                    <a:srgbClr val="FF0000"/>
                  </a:solidFill>
                  <a:prstDash val="dash"/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95" name="모서리가 둥근 직사각형 12">
            <a:extLst>
              <a:ext uri="{FF2B5EF4-FFF2-40B4-BE49-F238E27FC236}">
                <a16:creationId xmlns:a16="http://schemas.microsoft.com/office/drawing/2014/main" id="{142C1735-7498-2BD9-8EC1-9899B1CD47E8}"/>
              </a:ext>
            </a:extLst>
          </p:cNvPr>
          <p:cNvSpPr/>
          <p:nvPr/>
        </p:nvSpPr>
        <p:spPr bwMode="auto">
          <a:xfrm>
            <a:off x="282005" y="2024844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7EE36CA-BC88-1B16-A63A-7918A74FBAFA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500F9CA-E499-47C0-65F5-FD3985D6D30E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905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(3/4)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센터마다 달라야 하는 설정과 반드시 같아야 하는 형상을 구분하고</a:t>
            </a:r>
            <a:r>
              <a:rPr lang="en-US" altLang="ko-KR"/>
              <a:t>, </a:t>
            </a:r>
            <a:r>
              <a:rPr lang="ko-KR" altLang="en-US"/>
              <a:t>기준 형상 대비 센터 간 일치 여부를 점검</a:t>
            </a:r>
            <a:r>
              <a:rPr lang="en-US" altLang="ko-KR"/>
              <a:t>·</a:t>
            </a:r>
            <a:r>
              <a:rPr lang="ko-KR" altLang="en-US"/>
              <a:t>시정하여 센터 전환 시 형상 불일치로 인한 장애를 예방함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센터별 설정정보 및 형상 일치 점검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센터별 설정을 산출물 밖으로 분리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현행 설정정보 관리 방식 확인 선행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앱 버전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실행환경 기준 형상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(Baseline)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등록 및 형상관리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직후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모의훈련 전 형상 일치 점검 수행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불일치 시 기준 형상 기준 시정 후 재점검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기록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지원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종료 제품의 동결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상향 방향 결정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2" name="CF_h1">
            <a:extLst>
              <a:ext uri="{FF2B5EF4-FFF2-40B4-BE49-F238E27FC236}">
                <a16:creationId xmlns:a16="http://schemas.microsoft.com/office/drawing/2014/main" id="{65794DEF-385D-2031-A41F-0024A777D743}"/>
              </a:ext>
            </a:extLst>
          </p:cNvPr>
          <p:cNvSpPr txBox="1"/>
          <p:nvPr/>
        </p:nvSpPr>
        <p:spPr>
          <a:xfrm>
            <a:off x="374599" y="2141538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설정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항목 분류</a:t>
            </a:r>
          </a:p>
        </p:txBody>
      </p:sp>
      <p:graphicFrame>
        <p:nvGraphicFramePr>
          <p:cNvPr id="103" name="CF_t1">
            <a:extLst>
              <a:ext uri="{FF2B5EF4-FFF2-40B4-BE49-F238E27FC236}">
                <a16:creationId xmlns:a16="http://schemas.microsoft.com/office/drawing/2014/main" id="{7F66EBE2-CE6A-D879-39C8-2C4DFC311BCC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2366869"/>
          <a:ext cx="645641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017389563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71763281"/>
                    </a:ext>
                  </a:extLst>
                </a:gridCol>
                <a:gridCol w="1706617">
                  <a:extLst>
                    <a:ext uri="{9D8B030D-6E8A-4147-A177-3AD203B41FA5}">
                      <a16:colId xmlns:a16="http://schemas.microsoft.com/office/drawing/2014/main" val="271046888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관리 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4490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상이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· URL,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접속정보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키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주소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바인딩 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 밖 센터별 설정으로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152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애플리케이션 버전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WAS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(JVM·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커넥션풀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스케줄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점검으로 일치 유지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54727"/>
                  </a:ext>
                </a:extLst>
              </a:tr>
            </a:tbl>
          </a:graphicData>
        </a:graphic>
      </p:graphicFrame>
      <p:sp>
        <p:nvSpPr>
          <p:cNvPr id="104" name="CF_h2">
            <a:extLst>
              <a:ext uri="{FF2B5EF4-FFF2-40B4-BE49-F238E27FC236}">
                <a16:creationId xmlns:a16="http://schemas.microsoft.com/office/drawing/2014/main" id="{30200EF5-CC6A-3D9E-35E4-9BDF7AE2968B}"/>
              </a:ext>
            </a:extLst>
          </p:cNvPr>
          <p:cNvSpPr txBox="1"/>
          <p:nvPr/>
        </p:nvSpPr>
        <p:spPr>
          <a:xfrm>
            <a:off x="374599" y="3311749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기준 형상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(Baseline)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정의 및 비교 방법</a:t>
            </a:r>
          </a:p>
        </p:txBody>
      </p:sp>
      <p:graphicFrame>
        <p:nvGraphicFramePr>
          <p:cNvPr id="105" name="CF_t2">
            <a:extLst>
              <a:ext uri="{FF2B5EF4-FFF2-40B4-BE49-F238E27FC236}">
                <a16:creationId xmlns:a16="http://schemas.microsoft.com/office/drawing/2014/main" id="{9A4FA330-87D2-7D43-AEAA-24753112049B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537080"/>
          <a:ext cx="6456417" cy="97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54416943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89674137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53942593"/>
                    </a:ext>
                  </a:extLst>
                </a:gridCol>
                <a:gridCol w="1122417">
                  <a:extLst>
                    <a:ext uri="{9D8B030D-6E8A-4147-A177-3AD203B41FA5}">
                      <a16:colId xmlns:a16="http://schemas.microsoft.com/office/drawing/2014/main" val="7232002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 형상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(Baseline)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비교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시점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66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시 기록한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Nexus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배포 산출물 버전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체크섬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553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동일 유지 설정값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설정값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154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RHEL 8.9 · JBCS 2.4 · JBoss EAP 7.4 · Redis 7.4 · ActiveMQ 5.17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OS·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오픈소스 버전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47224"/>
                  </a:ext>
                </a:extLst>
              </a:tr>
            </a:tbl>
          </a:graphicData>
        </a:graphic>
      </p:graphicFrame>
      <p:sp>
        <p:nvSpPr>
          <p:cNvPr id="106" name="CF_h3">
            <a:extLst>
              <a:ext uri="{FF2B5EF4-FFF2-40B4-BE49-F238E27FC236}">
                <a16:creationId xmlns:a16="http://schemas.microsoft.com/office/drawing/2014/main" id="{89F8ACC2-C2E4-36FD-E13A-106E3496115D}"/>
              </a:ext>
            </a:extLst>
          </p:cNvPr>
          <p:cNvSpPr txBox="1"/>
          <p:nvPr/>
        </p:nvSpPr>
        <p:spPr>
          <a:xfrm>
            <a:off x="374599" y="4710560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점검 주기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책임 및 불일치 시 시정 절차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안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5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07" name="CF_t3">
            <a:extLst>
              <a:ext uri="{FF2B5EF4-FFF2-40B4-BE49-F238E27FC236}">
                <a16:creationId xmlns:a16="http://schemas.microsoft.com/office/drawing/2014/main" id="{4B83AB7A-915C-DA9F-869C-3872B826131C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4935891"/>
          <a:ext cx="645641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34894152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076558220"/>
                    </a:ext>
                  </a:extLst>
                </a:gridCol>
                <a:gridCol w="2138417">
                  <a:extLst>
                    <a:ext uri="{9D8B030D-6E8A-4147-A177-3AD203B41FA5}">
                      <a16:colId xmlns:a16="http://schemas.microsoft.com/office/drawing/2014/main" val="3376007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책임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5174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반영 여부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담당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0388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유지 설정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형상관리 담당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5422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모의훈련 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·②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전체 항목 일괄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책임자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운영기관 협의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017841"/>
                  </a:ext>
                </a:extLst>
              </a:tr>
            </a:tbl>
          </a:graphicData>
        </a:graphic>
      </p:graphicFrame>
      <p:sp>
        <p:nvSpPr>
          <p:cNvPr id="108" name="CF_n3">
            <a:extLst>
              <a:ext uri="{FF2B5EF4-FFF2-40B4-BE49-F238E27FC236}">
                <a16:creationId xmlns:a16="http://schemas.microsoft.com/office/drawing/2014/main" id="{BA0A5277-2272-F9E6-0E7B-3AA5CFA43A38}"/>
              </a:ext>
            </a:extLst>
          </p:cNvPr>
          <p:cNvSpPr txBox="1"/>
          <p:nvPr/>
        </p:nvSpPr>
        <p:spPr>
          <a:xfrm>
            <a:off x="374599" y="5926491"/>
            <a:ext cx="6456417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불일치 시 </a:t>
            </a:r>
            <a:r>
              <a:rPr lang="en-US" altLang="ko-KR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탐지 → 원인 확인 → 기준 형상 기준으로 시정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재배포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설정 반영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→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재점검 → 결과 기록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99185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(4/4)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재해 시 전환 절차와 별도로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평상시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센터를 주센터와 동일한 상태로 유지하기 위한 운영 대상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변경 반영 절차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정기 점검 및 훈련 체계를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평상시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운영 및 변경 반영 체계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변경관리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(SR 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패치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절차에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반영 단계 포함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정기 점검 항목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담당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형상관리 서버를 주센터와 연동하여 소스 형상 일원화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훈련 주기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범위 및 훈련 결과의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반영 기준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상용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라이선스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지원 종료 일정 통합 관리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8240"/>
            <a:ext cx="1255948" cy="64372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</a:p>
          <a:p>
            <a:pPr algn="ctr"/>
            <a:r>
              <a:rPr lang="en-US" altLang="ko-KR" sz="11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CNR-001-11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EB76A55A-B682-B282-2866-542D18DFF62B}"/>
              </a:ext>
            </a:extLst>
          </p:cNvPr>
          <p:cNvSpPr txBox="1"/>
          <p:nvPr/>
        </p:nvSpPr>
        <p:spPr>
          <a:xfrm>
            <a:off x="368300" y="2133600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평상시 </a:t>
            </a:r>
            <a:r>
              <a:rPr lang="en-US" altLang="ko-KR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운영 대상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52757DBA-B829-9FE5-69B7-80A841315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146263"/>
              </p:ext>
            </p:extLst>
          </p:nvPr>
        </p:nvGraphicFramePr>
        <p:xfrm>
          <a:off x="368300" y="2318142"/>
          <a:ext cx="64516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24965608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82083416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7019963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65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빌드 산출물 센터 간 동시 배포 및 버전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8897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 분리 유지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 형상 대비 일치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상태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유효기간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995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정책 유효성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목록 현행화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333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유효기간 및 지원 종료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(EOL)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일정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54991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D44D4B9B-6040-B3B2-5A23-6F5800A77583}"/>
              </a:ext>
            </a:extLst>
          </p:cNvPr>
          <p:cNvSpPr txBox="1"/>
          <p:nvPr/>
        </p:nvSpPr>
        <p:spPr>
          <a:xfrm>
            <a:off x="368300" y="3524642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변경 발생 시 </a:t>
            </a:r>
            <a:r>
              <a:rPr lang="en-US" altLang="ko-KR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반영 절차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D20D6650-8EAE-BAB4-263B-5B37E4174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17945"/>
              </p:ext>
            </p:extLst>
          </p:nvPr>
        </p:nvGraphicFramePr>
        <p:xfrm>
          <a:off x="368300" y="3709184"/>
          <a:ext cx="64516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390021158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9545800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15861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반영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061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변경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형상관리 → 단일 빌드 → 센터 간 동시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버전 기록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43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설정값을 산출물 밖에서 각각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설정값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48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상향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적용 후 동일 절차로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 버전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187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목록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정책 센터 간 동시 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확인서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13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인프라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자원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변경관리 절차에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반영 여부 포함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구성정보 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46237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57D2D799-A386-4BB6-B055-19C1ED60B2EC}"/>
              </a:ext>
            </a:extLst>
          </p:cNvPr>
          <p:cNvSpPr txBox="1"/>
          <p:nvPr/>
        </p:nvSpPr>
        <p:spPr>
          <a:xfrm>
            <a:off x="368300" y="4915684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정기 점검 및 전환 훈련 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안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95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7D982ADA-35E4-D9CE-ECA2-C2F5B378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71338"/>
              </p:ext>
            </p:extLst>
          </p:nvPr>
        </p:nvGraphicFramePr>
        <p:xfrm>
          <a:off x="368300" y="5100226"/>
          <a:ext cx="6451600" cy="9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341858792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19897932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3108196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훈련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0096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 일치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68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기동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 · WAS 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30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정책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허용 여부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참조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131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훈련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전체 절차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실트래픽 기반 연계 검증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이상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74345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17CCFA2B-1B73-F2DD-2D21-4717E4405443}"/>
              </a:ext>
            </a:extLst>
          </p:cNvPr>
          <p:cNvSpPr txBox="1"/>
          <p:nvPr/>
        </p:nvSpPr>
        <p:spPr>
          <a:xfrm>
            <a:off x="368300" y="6090826"/>
            <a:ext cx="6451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변경이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센터에 반영되지 않으면 전환 시점에 형상 불일치로 서비스 기동이 실패할 수 있으므로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변경관리 절차에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반영 단계를 포함함</a:t>
            </a:r>
          </a:p>
        </p:txBody>
      </p:sp>
    </p:spTree>
    <p:extLst>
      <p:ext uri="{BB962C8B-B14F-4D97-AF65-F5344CB8AC3E}">
        <p14:creationId xmlns:p14="http://schemas.microsoft.com/office/powerpoint/2010/main" val="4255760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(1/2)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구축으로 응용에 필요한 수정 범위를 </a:t>
            </a:r>
            <a:r>
              <a:rPr lang="en-US" altLang="ko-KR">
                <a:solidFill>
                  <a:srgbClr val="000000"/>
                </a:solidFill>
              </a:rPr>
              <a:t>8</a:t>
            </a:r>
            <a:r>
              <a:rPr lang="ko-KR" altLang="en-US">
                <a:solidFill>
                  <a:srgbClr val="000000"/>
                </a:solidFill>
              </a:rPr>
              <a:t>개 영역으로 정의하고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영역별 대상 식별 방법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산정 단위와 표본 실측 기반 공수 산정 절차를 제시함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구축에 따른 응용 수정 범위 및 투입공수 산정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전환 외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7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영역을 포함한 응용 수정 범위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영역별 대상 식별 방법 확정 및 운영사 협조 요청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소스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 현황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(A-A · A-S)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선택에 따른 수정 공수 차이를 모델 결정 시 반영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표본 실측 기반 개략 규모를 산정하고</a:t>
            </a: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확정 공수는 구축사업 전수 조사 결과로 확정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FF235BBD-F286-AD29-FC79-44A1A43EFDF4}"/>
              </a:ext>
            </a:extLst>
          </p:cNvPr>
          <p:cNvSpPr txBox="1"/>
          <p:nvPr/>
        </p:nvSpPr>
        <p:spPr>
          <a:xfrm>
            <a:off x="368300" y="21209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수정 범위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영역 및 목표모델별 발생 여부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8EB5BAE1-69C6-FD0E-1B2F-58A08C695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398098"/>
              </p:ext>
            </p:extLst>
          </p:nvPr>
        </p:nvGraphicFramePr>
        <p:xfrm>
          <a:off x="368300" y="2313136"/>
          <a:ext cx="6451600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324">
                  <a:extLst>
                    <a:ext uri="{9D8B030D-6E8A-4147-A177-3AD203B41FA5}">
                      <a16:colId xmlns:a16="http://schemas.microsoft.com/office/drawing/2014/main" val="2680869715"/>
                    </a:ext>
                  </a:extLst>
                </a:gridCol>
                <a:gridCol w="3600276">
                  <a:extLst>
                    <a:ext uri="{9D8B030D-6E8A-4147-A177-3AD203B41FA5}">
                      <a16:colId xmlns:a16="http://schemas.microsoft.com/office/drawing/2014/main" val="15871343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021320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5699331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913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 외부화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하드코딩 제거 → 도메인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VIP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참조로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2342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세션 클러스터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구축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복제 구성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43606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 대응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라우팅을 위한 조회 이력 기록 분리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DML Redirect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예외 경로로 제한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해당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9955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 중복 방지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시 부여 및 중복 제거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156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배치 제어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배치 미실행으로 중복 실행 방지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이어받을 시점 기록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846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센터별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값만 분리하여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199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축소 운영 제어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모드 스위치 및 발급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편집 기능 차단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21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헬스체크 제공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상태점검용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엔드포인트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제공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· Redis 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연결 상태 확인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48600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004AAF2F-FF2C-3071-1BC8-8C12F68AB385}"/>
              </a:ext>
            </a:extLst>
          </p:cNvPr>
          <p:cNvSpPr txBox="1"/>
          <p:nvPr/>
        </p:nvSpPr>
        <p:spPr>
          <a:xfrm>
            <a:off x="368300" y="41089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영역별 대상 식별 방법 및 산정 단위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7CB0BC34-71A5-23EC-22FD-52AAACD8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707227"/>
              </p:ext>
            </p:extLst>
          </p:nvPr>
        </p:nvGraphicFramePr>
        <p:xfrm>
          <a:off x="368300" y="4301152"/>
          <a:ext cx="645160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61717602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6808295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6225827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4276503169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식별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단위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8504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패턴 검색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연계 정의서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32851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확인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 검토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973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조회 이력 기록 지점 식별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(URL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분석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7419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목록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×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여부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종수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66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종별 목록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×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이어받을 시점 기록 보유 여부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종수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93162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항목 식별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9337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축소 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운영 모드 적용 지점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798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서비스별 외부 연결 의존성 목록 작성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63263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F70F94FA-1F73-1E49-749F-A44FBC2DD559}"/>
              </a:ext>
            </a:extLst>
          </p:cNvPr>
          <p:cNvSpPr txBox="1"/>
          <p:nvPr/>
        </p:nvSpPr>
        <p:spPr>
          <a:xfrm>
            <a:off x="368300" y="5802292"/>
            <a:ext cx="6451600" cy="41806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절차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범위 정의 → 대상 식별 → 유형별 표본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3~5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 실측 → 개략 규모 산정 → 전수 조사 후 확정</a:t>
            </a: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산식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공수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대상 건수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×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Σ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통합시험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훈련 지원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공수는 표본 실측으로 확정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범위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소스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화면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배치 수정 및 응용 스택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서버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구성에 한정</a:t>
            </a:r>
          </a:p>
        </p:txBody>
      </p:sp>
      <p:pic>
        <p:nvPicPr>
          <p:cNvPr id="11" name="CF_tpl_354" descr="그림1.png">
            <a:extLst>
              <a:ext uri="{FF2B5EF4-FFF2-40B4-BE49-F238E27FC236}">
                <a16:creationId xmlns:a16="http://schemas.microsoft.com/office/drawing/2014/main" id="{1EE27BB6-5D47-5243-5D71-52D9D7FF01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4183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(2/2)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대상 건수와 건당 공수에 현황 확정치와 </a:t>
            </a:r>
            <a:r>
              <a:rPr lang="ko-KR" altLang="en-US" dirty="0" err="1"/>
              <a:t>가정값을</a:t>
            </a:r>
            <a:r>
              <a:rPr lang="ko-KR" altLang="en-US" dirty="0"/>
              <a:t> 적용하여 영역별 </a:t>
            </a:r>
            <a:r>
              <a:rPr lang="ko-KR" altLang="en-US" dirty="0" err="1"/>
              <a:t>소요공수를</a:t>
            </a:r>
            <a:r>
              <a:rPr lang="ko-KR" altLang="en-US" dirty="0"/>
              <a:t> 범위로 산정하고</a:t>
            </a:r>
            <a:r>
              <a:rPr lang="en-US" altLang="ko-KR" dirty="0"/>
              <a:t>, </a:t>
            </a:r>
            <a:r>
              <a:rPr lang="ko-KR" altLang="en-US" dirty="0"/>
              <a:t>목표모델 선택에 따른 개발 공수 차이를 비교함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영역별 소요공수 개략 산정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6884" cy="318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 선택에 따라 개발 공수가 약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1~7 M/M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차이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(③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라우팅 대응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 시스템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11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표준연계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20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종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44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종은 현황 확정치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나머지는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운영사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현황 확인 후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추가 공수는 ③에서만 발생하므로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 시스템별 조회 이력 기록 지점 수를 우선 조사하여 대상 건수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산정 결과를 이행계획 소요예산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입력값으로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활용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064419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  <a:endParaRPr lang="ko-KR" altLang="en-US" sz="110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3E1B6E42-FE28-5179-CF80-34AB6A5705B1}"/>
              </a:ext>
            </a:extLst>
          </p:cNvPr>
          <p:cNvSpPr txBox="1"/>
          <p:nvPr/>
        </p:nvSpPr>
        <p:spPr>
          <a:xfrm>
            <a:off x="368300" y="21209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영역별 소요공수 개략 산정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022CC3A4-5027-D9B1-0B29-E1EB782F0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71725"/>
              </p:ext>
            </p:extLst>
          </p:nvPr>
        </p:nvGraphicFramePr>
        <p:xfrm>
          <a:off x="368300" y="2313136"/>
          <a:ext cx="64516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53253479"/>
                    </a:ext>
                  </a:extLst>
                </a:gridCol>
                <a:gridCol w="1105632">
                  <a:extLst>
                    <a:ext uri="{9D8B030D-6E8A-4147-A177-3AD203B41FA5}">
                      <a16:colId xmlns:a16="http://schemas.microsoft.com/office/drawing/2014/main" val="32982108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0025652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105183681"/>
                    </a:ext>
                  </a:extLst>
                </a:gridCol>
                <a:gridCol w="2947020">
                  <a:extLst>
                    <a:ext uri="{9D8B030D-6E8A-4147-A177-3AD203B41FA5}">
                      <a16:colId xmlns:a16="http://schemas.microsoft.com/office/drawing/2014/main" val="26126471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건수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건당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소요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1067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20~60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0.02~0.05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주소는 대부분 설정파일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등록값으로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관리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개별 수정은 상용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· C/S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 한정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541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2.00~5.00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5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서버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기구축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구성만 신규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945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11~33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7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×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지점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1~3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집중 시 감소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023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0.10~0.30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6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전제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미보유분만 보완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4458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44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0.02~0.05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2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이어받을 시점 기록 보유 전제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실행은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배치 미실행으로 방지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811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센터별 설정 분리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2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설정은 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관리 중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상이 값만 분리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394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축소 운영 제어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0.20~0.40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4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개발 후 시스템별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17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11~15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+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서버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4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42549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7D54D358-702B-9F6C-F759-72FD89CDDF6A}"/>
              </a:ext>
            </a:extLst>
          </p:cNvPr>
          <p:cNvSpPr txBox="1"/>
          <p:nvPr/>
        </p:nvSpPr>
        <p:spPr>
          <a:xfrm>
            <a:off x="368300" y="4506692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목표모델별 합계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(M/M)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0BAE81B2-C3EA-AD9F-0CB9-932FA83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191679"/>
              </p:ext>
            </p:extLst>
          </p:nvPr>
        </p:nvGraphicFramePr>
        <p:xfrm>
          <a:off x="368300" y="4698928"/>
          <a:ext cx="64516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76404773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53255662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61407627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분산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1951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 소계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 ~ 32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10 ~ 25 (③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제외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1542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통합시험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훈련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20~30%)</a:t>
                      </a:r>
                      <a:endParaRPr lang="ko-KR" altLang="en-US" sz="85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10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8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0931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13 ~ 42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12 ~ 33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753410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E6CD85E3-DE79-4349-458F-7BDE0F2B7D84}"/>
              </a:ext>
            </a:extLst>
          </p:cNvPr>
          <p:cNvSpPr txBox="1"/>
          <p:nvPr/>
        </p:nvSpPr>
        <p:spPr>
          <a:xfrm>
            <a:off x="368300" y="5364408"/>
            <a:ext cx="6451600" cy="54886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본 산정은 중복 방지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식별값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처리이력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이어받을 시점 기록 등 기존 기능 보유를 전제한 최소값으로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운영사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현황 확인 결과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미보유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시 증가</a:t>
            </a: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차세대 구축사업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(3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진행에 따라 응용 구조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소스가 변동되므로 본 산정은 현행 기준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개략값이며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구축 완료 시점 형상 기준으로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재산정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③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라우팅은 오라클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EE · ADG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옵션 보유 및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조회 이력 기록의 공통 로깅 모듈 집중을 전제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미보유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분산 시 공수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재산정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필요</a:t>
            </a:r>
          </a:p>
        </p:txBody>
      </p:sp>
    </p:spTree>
    <p:extLst>
      <p:ext uri="{BB962C8B-B14F-4D97-AF65-F5344CB8AC3E}">
        <p14:creationId xmlns:p14="http://schemas.microsoft.com/office/powerpoint/2010/main" val="2983739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53AC704-7426-55D4-1AF8-6524684F0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연계 접속주소를 서버 </a:t>
            </a:r>
            <a:r>
              <a:rPr lang="en-US" altLang="ko-KR"/>
              <a:t>IP</a:t>
            </a:r>
            <a:r>
              <a:rPr lang="ko-KR" altLang="en-US"/>
              <a:t>가 아닌 도메인</a:t>
            </a:r>
            <a:r>
              <a:rPr lang="en-US" altLang="ko-KR"/>
              <a:t>·VIP</a:t>
            </a:r>
            <a:r>
              <a:rPr lang="ko-KR" altLang="en-US"/>
              <a:t>로 통일하는 기준과 방향별 기관 협의 항목</a:t>
            </a:r>
            <a:r>
              <a:rPr lang="en-US" altLang="ko-KR"/>
              <a:t>, </a:t>
            </a:r>
            <a:r>
              <a:rPr lang="ko-KR" altLang="en-US"/>
              <a:t>소스 수정 공수 산정 기준을 정의하여 센터 전환 시에도 대내</a:t>
            </a:r>
            <a:r>
              <a:rPr lang="en-US" altLang="ko-KR"/>
              <a:t>·</a:t>
            </a:r>
            <a:r>
              <a:rPr lang="ko-KR" altLang="en-US"/>
              <a:t>외 연계가 유지되도록 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3.3.5.1 </a:t>
            </a:r>
            <a:r>
              <a:rPr lang="ko-KR" altLang="en-US" dirty="0"/>
              <a:t>센터 전환을 위한 연계 논리주소체계 설계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모서리가 둥근 직사각형 12">
            <a:extLst>
              <a:ext uri="{FF2B5EF4-FFF2-40B4-BE49-F238E27FC236}">
                <a16:creationId xmlns:a16="http://schemas.microsoft.com/office/drawing/2014/main" id="{E037666E-3B7C-851C-F07D-59B0934BF731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" name="양쪽 모서리가 둥근 사각형 101">
            <a:extLst>
              <a:ext uri="{FF2B5EF4-FFF2-40B4-BE49-F238E27FC236}">
                <a16:creationId xmlns:a16="http://schemas.microsoft.com/office/drawing/2014/main" id="{83EC97BE-1803-F76A-EDE1-1F3E3E0FDA0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논리주소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도메인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·VIP)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기반 연계 방안 정의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23" name="그림 138" descr="그림1.png">
            <a:extLst>
              <a:ext uri="{FF2B5EF4-FFF2-40B4-BE49-F238E27FC236}">
                <a16:creationId xmlns:a16="http://schemas.microsoft.com/office/drawing/2014/main" id="{4DF67D1D-CE17-409D-2112-B91CF6DDCF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모서리가 둥근 직사각형 12">
            <a:extLst>
              <a:ext uri="{FF2B5EF4-FFF2-40B4-BE49-F238E27FC236}">
                <a16:creationId xmlns:a16="http://schemas.microsoft.com/office/drawing/2014/main" id="{C9B0504B-96D2-3C57-4944-6C6C49A58359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정책 주체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망 관리 주체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허용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성립의 선결 과제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직접 참조 연계기관 식별 → 도메인 전환 협의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허용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주소 변경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시험 참여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적용 시기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부동산종합공부시스템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 주소는 이미 도메인 기반 → 소스 수정은 타기관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호출 부분에 한정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소스 내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패턴 검색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정의서 대조로 수정 대상 식별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표본 조사 기반 공수 추정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확정은 구축사업 실사로 이관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측 공수 분리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</p:txBody>
      </p:sp>
      <p:sp>
        <p:nvSpPr>
          <p:cNvPr id="25" name="양쪽 모서리가 둥근 사각형 101">
            <a:extLst>
              <a:ext uri="{FF2B5EF4-FFF2-40B4-BE49-F238E27FC236}">
                <a16:creationId xmlns:a16="http://schemas.microsoft.com/office/drawing/2014/main" id="{94F122B5-AA46-1560-CA82-215925C37EDA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76" name="LB_h1">
            <a:extLst>
              <a:ext uri="{FF2B5EF4-FFF2-40B4-BE49-F238E27FC236}">
                <a16:creationId xmlns:a16="http://schemas.microsoft.com/office/drawing/2014/main" id="{01F2243E-EF1D-BA45-2602-0DF3D99743F4}"/>
              </a:ext>
            </a:extLst>
          </p:cNvPr>
          <p:cNvSpPr txBox="1"/>
          <p:nvPr/>
        </p:nvSpPr>
        <p:spPr>
          <a:xfrm>
            <a:off x="374599" y="2611974"/>
            <a:ext cx="3164708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접속주소 적용 기준</a:t>
            </a:r>
          </a:p>
        </p:txBody>
      </p:sp>
      <p:graphicFrame>
        <p:nvGraphicFramePr>
          <p:cNvPr id="77" name="LB_t1">
            <a:extLst>
              <a:ext uri="{FF2B5EF4-FFF2-40B4-BE49-F238E27FC236}">
                <a16:creationId xmlns:a16="http://schemas.microsoft.com/office/drawing/2014/main" id="{617FDD65-936D-E1F9-C83E-0F30EF530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239432"/>
              </p:ext>
            </p:extLst>
          </p:nvPr>
        </p:nvGraphicFramePr>
        <p:xfrm>
          <a:off x="374599" y="2837305"/>
          <a:ext cx="3164708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440181990"/>
                    </a:ext>
                  </a:extLst>
                </a:gridCol>
                <a:gridCol w="1450208">
                  <a:extLst>
                    <a:ext uri="{9D8B030D-6E8A-4147-A177-3AD203B41FA5}">
                      <a16:colId xmlns:a16="http://schemas.microsoft.com/office/drawing/2014/main" val="2947394367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상대 기관 조건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62788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(DNS)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사용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→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자동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8525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만 지정 가능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폐쇄망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전용회선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이원화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035259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우선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60446"/>
                  </a:ext>
                </a:extLst>
              </a:tr>
            </a:tbl>
          </a:graphicData>
        </a:graphic>
      </p:graphicFrame>
      <p:sp>
        <p:nvSpPr>
          <p:cNvPr id="78" name="LB_h2">
            <a:extLst>
              <a:ext uri="{FF2B5EF4-FFF2-40B4-BE49-F238E27FC236}">
                <a16:creationId xmlns:a16="http://schemas.microsoft.com/office/drawing/2014/main" id="{EB4CA96A-D31C-A5C8-61B5-99DCB75F79CD}"/>
              </a:ext>
            </a:extLst>
          </p:cNvPr>
          <p:cNvSpPr txBox="1"/>
          <p:nvPr/>
        </p:nvSpPr>
        <p:spPr>
          <a:xfrm>
            <a:off x="3666307" y="2611974"/>
            <a:ext cx="3164708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방향별 조치</a:t>
            </a:r>
          </a:p>
        </p:txBody>
      </p:sp>
      <p:graphicFrame>
        <p:nvGraphicFramePr>
          <p:cNvPr id="79" name="LB_t2">
            <a:extLst>
              <a:ext uri="{FF2B5EF4-FFF2-40B4-BE49-F238E27FC236}">
                <a16:creationId xmlns:a16="http://schemas.microsoft.com/office/drawing/2014/main" id="{8498CC7F-BDF1-DA30-D4A1-A9D6E41E7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82375"/>
              </p:ext>
            </p:extLst>
          </p:nvPr>
        </p:nvGraphicFramePr>
        <p:xfrm>
          <a:off x="3666307" y="2837305"/>
          <a:ext cx="3164708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3675516365"/>
                    </a:ext>
                  </a:extLst>
                </a:gridCol>
                <a:gridCol w="1958208">
                  <a:extLst>
                    <a:ext uri="{9D8B030D-6E8A-4147-A177-3AD203B41FA5}">
                      <a16:colId xmlns:a16="http://schemas.microsoft.com/office/drawing/2014/main" val="180408864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필요 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3486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기관의 접속주소를 도메인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·VIP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9956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→ 타기관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를 기관 방화벽에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270909"/>
                  </a:ext>
                </a:extLst>
              </a:tr>
            </a:tbl>
          </a:graphicData>
        </a:graphic>
      </p:graphicFrame>
      <p:sp>
        <p:nvSpPr>
          <p:cNvPr id="80" name="LB_h3">
            <a:extLst>
              <a:ext uri="{FF2B5EF4-FFF2-40B4-BE49-F238E27FC236}">
                <a16:creationId xmlns:a16="http://schemas.microsoft.com/office/drawing/2014/main" id="{AC04FDA4-B8AE-C550-05E4-BCD16226AB7B}"/>
              </a:ext>
            </a:extLst>
          </p:cNvPr>
          <p:cNvSpPr txBox="1"/>
          <p:nvPr/>
        </p:nvSpPr>
        <p:spPr>
          <a:xfrm>
            <a:off x="374599" y="3751705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도메인 전환 소스 수정 범위 및 투입공수 산정</a:t>
            </a:r>
          </a:p>
        </p:txBody>
      </p:sp>
      <p:graphicFrame>
        <p:nvGraphicFramePr>
          <p:cNvPr id="81" name="LB_t3">
            <a:extLst>
              <a:ext uri="{FF2B5EF4-FFF2-40B4-BE49-F238E27FC236}">
                <a16:creationId xmlns:a16="http://schemas.microsoft.com/office/drawing/2014/main" id="{22D6FA21-B2DD-3E46-9A08-7C6C312F1CCD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977036"/>
          <a:ext cx="6453506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1906">
                  <a:extLst>
                    <a:ext uri="{9D8B030D-6E8A-4147-A177-3AD203B41FA5}">
                      <a16:colId xmlns:a16="http://schemas.microsoft.com/office/drawing/2014/main" val="83156363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79001593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66446118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220248649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참조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공수 산정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2018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값 변경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5861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하드코딩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코드 수정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빌드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소스 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테스트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477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등록값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 건수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7221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제품별 설정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1812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C/S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클라이언트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변경 후 재배포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모듈 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+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재배포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PC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99824"/>
                  </a:ext>
                </a:extLst>
              </a:tr>
            </a:tbl>
          </a:graphicData>
        </a:graphic>
      </p:graphicFrame>
      <p:sp>
        <p:nvSpPr>
          <p:cNvPr id="82" name="LB_h4">
            <a:extLst>
              <a:ext uri="{FF2B5EF4-FFF2-40B4-BE49-F238E27FC236}">
                <a16:creationId xmlns:a16="http://schemas.microsoft.com/office/drawing/2014/main" id="{F68E676E-86FC-6DA4-66B8-D5A0F0166D63}"/>
              </a:ext>
            </a:extLst>
          </p:cNvPr>
          <p:cNvSpPr txBox="1"/>
          <p:nvPr/>
        </p:nvSpPr>
        <p:spPr>
          <a:xfrm>
            <a:off x="374599" y="5221636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연계 채널별 장애 감지 및 자동 전환 기준</a:t>
            </a:r>
          </a:p>
        </p:txBody>
      </p:sp>
      <p:graphicFrame>
        <p:nvGraphicFramePr>
          <p:cNvPr id="83" name="LB_t4">
            <a:extLst>
              <a:ext uri="{FF2B5EF4-FFF2-40B4-BE49-F238E27FC236}">
                <a16:creationId xmlns:a16="http://schemas.microsoft.com/office/drawing/2014/main" id="{B52C2BDD-696B-3F4E-F018-11390117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5762"/>
              </p:ext>
            </p:extLst>
          </p:nvPr>
        </p:nvGraphicFramePr>
        <p:xfrm>
          <a:off x="374600" y="5446967"/>
          <a:ext cx="6456417" cy="8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9809732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81462673"/>
                    </a:ext>
                  </a:extLst>
                </a:gridCol>
                <a:gridCol w="2836917">
                  <a:extLst>
                    <a:ext uri="{9D8B030D-6E8A-4147-A177-3AD203B41FA5}">
                      <a16:colId xmlns:a16="http://schemas.microsoft.com/office/drawing/2014/main" val="35295700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장애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감지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2148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WEB·WAS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헬스체크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L4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센터 내 정상 서버로 자동 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385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계층 전체 장애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응답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조회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응용으로 서비스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원거리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지연 고려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8762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실패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단위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전환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완료 뒤 트래픽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74361"/>
                  </a:ext>
                </a:extLst>
              </a:tr>
            </a:tbl>
          </a:graphicData>
        </a:graphic>
      </p:graphicFrame>
      <p:sp>
        <p:nvSpPr>
          <p:cNvPr id="3" name="IM_stat">
            <a:extLst>
              <a:ext uri="{FF2B5EF4-FFF2-40B4-BE49-F238E27FC236}">
                <a16:creationId xmlns:a16="http://schemas.microsoft.com/office/drawing/2014/main" id="{CF75A5B0-A00B-9905-8824-1BB393690C66}"/>
              </a:ext>
            </a:extLst>
          </p:cNvPr>
          <p:cNvSpPr/>
          <p:nvPr/>
        </p:nvSpPr>
        <p:spPr>
          <a:xfrm>
            <a:off x="374599" y="2132856"/>
            <a:ext cx="645641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접속주소 계층 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(api.kras.go.kr) → GSLB → </a:t>
            </a:r>
            <a:r>
              <a:rPr lang="ko-KR" altLang="en-US" sz="900" b="1" dirty="0" err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→ L4 → WEB·WAS</a:t>
            </a:r>
            <a:endParaRPr lang="en-US" altLang="ko-KR" sz="9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967C6E-54B4-F5DD-284D-DBC18ECE2E8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567E3-6D22-C9D3-9302-2907370BB4B6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/>
              <a:t>RFP </a:t>
            </a:r>
            <a:r>
              <a:rPr lang="ko-KR" altLang="en-US" sz="1100" b="1" dirty="0"/>
              <a:t>번호</a:t>
            </a:r>
          </a:p>
          <a:p>
            <a:pPr algn="ctr"/>
            <a:endParaRPr lang="ko-KR" altLang="en-US" sz="400" dirty="0"/>
          </a:p>
          <a:p>
            <a:pPr algn="ctr"/>
            <a:r>
              <a:rPr lang="en-US" altLang="ko-KR" sz="1100" dirty="0"/>
              <a:t>CNR-001-14</a:t>
            </a:r>
          </a:p>
          <a:p>
            <a:pPr algn="ctr"/>
            <a:r>
              <a:rPr lang="en-US" altLang="ko-KR" sz="1100" dirty="0"/>
              <a:t>CNR-001-12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86141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53AC704-7426-55D4-1AF8-6524684F0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연계 방향</a:t>
            </a:r>
            <a:r>
              <a:rPr lang="en-US" altLang="ko-KR"/>
              <a:t>·</a:t>
            </a:r>
            <a:r>
              <a:rPr lang="ko-KR" altLang="en-US"/>
              <a:t>처리 방식별로 접속주소에 따른 센터 전환 영향을 정리하고</a:t>
            </a:r>
            <a:r>
              <a:rPr lang="en-US" altLang="ko-KR"/>
              <a:t>, </a:t>
            </a:r>
            <a:r>
              <a:rPr lang="ko-KR" altLang="en-US"/>
              <a:t>기관 조치가 필요한 연계를 식별하여 협의 대상 기관을 선정함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3.3.5.1 </a:t>
            </a:r>
            <a:r>
              <a:rPr lang="ko-KR" altLang="en-US" dirty="0"/>
              <a:t>센터 전환을 위한 연계 논리주소체계 설계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모서리가 둥근 직사각형 12">
            <a:extLst>
              <a:ext uri="{FF2B5EF4-FFF2-40B4-BE49-F238E27FC236}">
                <a16:creationId xmlns:a16="http://schemas.microsoft.com/office/drawing/2014/main" id="{E037666E-3B7C-851C-F07D-59B0934BF731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" name="양쪽 모서리가 둥근 사각형 101">
            <a:extLst>
              <a:ext uri="{FF2B5EF4-FFF2-40B4-BE49-F238E27FC236}">
                <a16:creationId xmlns:a16="http://schemas.microsoft.com/office/drawing/2014/main" id="{83EC97BE-1803-F76A-EDE1-1F3E3E0FDA0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연계 유형별 센터 전환 시 영향 정의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4" name="모서리가 둥근 직사각형 12">
            <a:extLst>
              <a:ext uri="{FF2B5EF4-FFF2-40B4-BE49-F238E27FC236}">
                <a16:creationId xmlns:a16="http://schemas.microsoft.com/office/drawing/2014/main" id="{C9B0504B-96D2-3C57-4944-6C6C49A58359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방향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 방식별 전환 영향 및 조치 주체 정의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API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연계모듈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적용 대상 선정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접근 로그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(Host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헤더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기관별 접속주소 참조 방식 확인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영향 등급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'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'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기준으로 협의 대상 기관 목록 확정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협의 대상 기관은 논리주소체계 설계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(3.3.5.1)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체크리스트로 연계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25" name="양쪽 모서리가 둥근 사각형 101">
            <a:extLst>
              <a:ext uri="{FF2B5EF4-FFF2-40B4-BE49-F238E27FC236}">
                <a16:creationId xmlns:a16="http://schemas.microsoft.com/office/drawing/2014/main" id="{94F122B5-AA46-1560-CA82-215925C37EDA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" name="IM_arrow" descr="그림1.png">
            <a:extLst>
              <a:ext uri="{FF2B5EF4-FFF2-40B4-BE49-F238E27FC236}">
                <a16:creationId xmlns:a16="http://schemas.microsoft.com/office/drawing/2014/main" id="{00C6F377-3169-CCFC-935C-6F8835E90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IM_stat">
            <a:extLst>
              <a:ext uri="{FF2B5EF4-FFF2-40B4-BE49-F238E27FC236}">
                <a16:creationId xmlns:a16="http://schemas.microsoft.com/office/drawing/2014/main" id="{DE50BF3F-FF5D-5DB9-2AE9-E23EA0DACB70}"/>
              </a:ext>
            </a:extLst>
          </p:cNvPr>
          <p:cNvSpPr/>
          <p:nvPr/>
        </p:nvSpPr>
        <p:spPr>
          <a:xfrm>
            <a:off x="374599" y="2141538"/>
            <a:ext cx="645641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현황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시스템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20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트래픽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9.4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억 건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('25,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전체의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84%)</a:t>
            </a:r>
            <a:endParaRPr lang="ko-KR" altLang="en-US" sz="9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IM_h1">
            <a:extLst>
              <a:ext uri="{FF2B5EF4-FFF2-40B4-BE49-F238E27FC236}">
                <a16:creationId xmlns:a16="http://schemas.microsoft.com/office/drawing/2014/main" id="{91F1C239-AF58-472C-89CF-5C66201DFDC8}"/>
              </a:ext>
            </a:extLst>
          </p:cNvPr>
          <p:cNvSpPr txBox="1"/>
          <p:nvPr/>
        </p:nvSpPr>
        <p:spPr>
          <a:xfrm>
            <a:off x="374599" y="2522538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연계 방향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방식별 센터 전환 영향</a:t>
            </a:r>
          </a:p>
        </p:txBody>
      </p:sp>
      <p:sp>
        <p:nvSpPr>
          <p:cNvPr id="12" name="IM_h2">
            <a:extLst>
              <a:ext uri="{FF2B5EF4-FFF2-40B4-BE49-F238E27FC236}">
                <a16:creationId xmlns:a16="http://schemas.microsoft.com/office/drawing/2014/main" id="{3118230C-D670-C779-C762-853755EC3F2D}"/>
              </a:ext>
            </a:extLst>
          </p:cNvPr>
          <p:cNvSpPr txBox="1"/>
          <p:nvPr/>
        </p:nvSpPr>
        <p:spPr>
          <a:xfrm>
            <a:off x="374599" y="476227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전환 시 기관 조치가 필요한 연계 식별 → 협의 대상 기관 선정</a:t>
            </a:r>
          </a:p>
        </p:txBody>
      </p:sp>
      <p:graphicFrame>
        <p:nvGraphicFramePr>
          <p:cNvPr id="13" name="IM_t2">
            <a:extLst>
              <a:ext uri="{FF2B5EF4-FFF2-40B4-BE49-F238E27FC236}">
                <a16:creationId xmlns:a16="http://schemas.microsoft.com/office/drawing/2014/main" id="{2BF9222C-76FC-0345-C93F-0595EA8BA5BF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4987603"/>
          <a:ext cx="6456417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32001387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4332700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73566718"/>
                    </a:ext>
                  </a:extLst>
                </a:gridCol>
                <a:gridCol w="1884417">
                  <a:extLst>
                    <a:ext uri="{9D8B030D-6E8A-4147-A177-3AD203B41FA5}">
                      <a16:colId xmlns:a16="http://schemas.microsoft.com/office/drawing/2014/main" val="183136898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영향 등급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주체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결과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68186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기관의 접속주소 변경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등록이 있어야 전환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협의 대상 기관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2804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설정 변경만으로 전환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16728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기반으로 자동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불필요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842559"/>
                  </a:ext>
                </a:extLst>
              </a:tr>
            </a:tbl>
          </a:graphicData>
        </a:graphic>
      </p:graphicFrame>
      <p:sp>
        <p:nvSpPr>
          <p:cNvPr id="14" name="IM_n2">
            <a:extLst>
              <a:ext uri="{FF2B5EF4-FFF2-40B4-BE49-F238E27FC236}">
                <a16:creationId xmlns:a16="http://schemas.microsoft.com/office/drawing/2014/main" id="{605D00AF-CB5C-A595-D5F6-9553D8724B47}"/>
              </a:ext>
            </a:extLst>
          </p:cNvPr>
          <p:cNvSpPr txBox="1"/>
          <p:nvPr/>
        </p:nvSpPr>
        <p:spPr>
          <a:xfrm>
            <a:off x="374599" y="6051460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식별 방법 </a:t>
            </a:r>
            <a:r>
              <a:rPr lang="en-US" altLang="ko-KR" sz="8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접근 로그의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Host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헤더 기준으로 기관별 접속주소 참조 방식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IP)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집계 </a:t>
            </a:r>
          </a:p>
        </p:txBody>
      </p:sp>
      <p:graphicFrame>
        <p:nvGraphicFramePr>
          <p:cNvPr id="16" name="IM_t1">
            <a:extLst>
              <a:ext uri="{FF2B5EF4-FFF2-40B4-BE49-F238E27FC236}">
                <a16:creationId xmlns:a16="http://schemas.microsoft.com/office/drawing/2014/main" id="{D240554E-2F10-A78C-4510-72A36AB0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06422"/>
              </p:ext>
            </p:extLst>
          </p:nvPr>
        </p:nvGraphicFramePr>
        <p:xfrm>
          <a:off x="374600" y="2747869"/>
          <a:ext cx="6456416" cy="1854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8550">
                  <a:extLst>
                    <a:ext uri="{9D8B030D-6E8A-4147-A177-3AD203B41FA5}">
                      <a16:colId xmlns:a16="http://schemas.microsoft.com/office/drawing/2014/main" val="2804988409"/>
                    </a:ext>
                  </a:extLst>
                </a:gridCol>
                <a:gridCol w="1868240">
                  <a:extLst>
                    <a:ext uri="{9D8B030D-6E8A-4147-A177-3AD203B41FA5}">
                      <a16:colId xmlns:a16="http://schemas.microsoft.com/office/drawing/2014/main" val="186755924"/>
                    </a:ext>
                  </a:extLst>
                </a:gridCol>
                <a:gridCol w="2088032">
                  <a:extLst>
                    <a:ext uri="{9D8B030D-6E8A-4147-A177-3AD203B41FA5}">
                      <a16:colId xmlns:a16="http://schemas.microsoft.com/office/drawing/2014/main" val="3840537159"/>
                    </a:ext>
                  </a:extLst>
                </a:gridCol>
                <a:gridCol w="961594">
                  <a:extLst>
                    <a:ext uri="{9D8B030D-6E8A-4147-A177-3AD203B41FA5}">
                      <a16:colId xmlns:a16="http://schemas.microsoft.com/office/drawing/2014/main" val="2246673716"/>
                    </a:ext>
                  </a:extLst>
                </a:gridCol>
              </a:tblGrid>
              <a:tr h="2503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영향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대응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주체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38094"/>
                  </a:ext>
                </a:extLst>
              </a:tr>
              <a:tr h="31479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접속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자동 연결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없음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(DNS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캐시 시간 확인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75813"/>
                  </a:ext>
                </a:extLst>
              </a:tr>
              <a:tr h="31479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직접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접속해 연계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전환 또는 센터 간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786533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기관 방화벽에 차단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사전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93593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시도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미경유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미등록 시 연결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2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사전 등록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 직결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지자체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123366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 연계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시점 실행 중 건의 중복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단일 실행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재처리 기준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741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CD4CE8-997D-D0CC-1FBC-A06D94757971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2B3C7-8C42-87C5-D032-7CE8D5D730FE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</a:p>
          <a:p>
            <a:pPr algn="ctr"/>
            <a:r>
              <a:rPr lang="en-US" altLang="ko-KR" sz="1100"/>
              <a:t>CNR-002-27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93303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3.3.5.2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E2779-56C3-AF21-D172-C44D5127CD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센터 전환 순간 오가던 연계 건과 배치가 중복 처리되거나 누락되지 않도록 재전송</a:t>
            </a:r>
            <a:r>
              <a:rPr lang="en-US" altLang="ko-KR"/>
              <a:t>·</a:t>
            </a:r>
            <a:r>
              <a:rPr lang="ko-KR" altLang="en-US"/>
              <a:t>중복 제거 원칙</a:t>
            </a:r>
            <a:r>
              <a:rPr lang="en-US" altLang="ko-KR"/>
              <a:t>, </a:t>
            </a:r>
            <a:r>
              <a:rPr lang="ko-KR" altLang="en-US"/>
              <a:t>배치 단일 실행</a:t>
            </a:r>
            <a:r>
              <a:rPr lang="en-US" altLang="ko-KR"/>
              <a:t>, </a:t>
            </a:r>
            <a:r>
              <a:rPr lang="ko-KR" altLang="en-US"/>
              <a:t>전환 절차와 복구 후 대조 기준을 정의함</a:t>
            </a:r>
          </a:p>
        </p:txBody>
      </p:sp>
      <p:sp>
        <p:nvSpPr>
          <p:cNvPr id="5" name="DP_tpl_352">
            <a:extLst>
              <a:ext uri="{FF2B5EF4-FFF2-40B4-BE49-F238E27FC236}">
                <a16:creationId xmlns:a16="http://schemas.microsoft.com/office/drawing/2014/main" id="{6D7FCAE6-EA32-C23A-D2F9-AD2EDCDB3498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" name="DP_tpl_353">
            <a:extLst>
              <a:ext uri="{FF2B5EF4-FFF2-40B4-BE49-F238E27FC236}">
                <a16:creationId xmlns:a16="http://schemas.microsoft.com/office/drawing/2014/main" id="{16839038-7EC8-BF6C-DB38-767559C59F2C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전환 시 연계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배치 중복실행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미처리 건 처리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8" name="DP_tpl_354" descr="그림1.png">
            <a:extLst>
              <a:ext uri="{FF2B5EF4-FFF2-40B4-BE49-F238E27FC236}">
                <a16:creationId xmlns:a16="http://schemas.microsoft.com/office/drawing/2014/main" id="{1F9D2C49-0939-9E64-0774-7EEDD6913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DP_tpl_355">
            <a:extLst>
              <a:ext uri="{FF2B5EF4-FFF2-40B4-BE49-F238E27FC236}">
                <a16:creationId xmlns:a16="http://schemas.microsoft.com/office/drawing/2014/main" id="{82897103-3DAB-C81F-A5D8-37C30DC2EBB4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재전송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Health Check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 전환 연속성 기능의 현행 보유 여부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운영사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확인 및 적용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기관별 재전송 지원 여부 확인 → 미처리 건 재처리 방식 선택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큐 복제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재전송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보정 배치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실행 위치를 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센터로 고정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이어받을 시점 기록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시점 정합 기준 정의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후 대사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보정 절차 정의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1" name="DP_tpl_356">
            <a:extLst>
              <a:ext uri="{FF2B5EF4-FFF2-40B4-BE49-F238E27FC236}">
                <a16:creationId xmlns:a16="http://schemas.microsoft.com/office/drawing/2014/main" id="{A77A56C6-B9F2-B92A-3F1C-0E6AB28CE4C2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개선방향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2" name="DP_h1">
            <a:extLst>
              <a:ext uri="{FF2B5EF4-FFF2-40B4-BE49-F238E27FC236}">
                <a16:creationId xmlns:a16="http://schemas.microsoft.com/office/drawing/2014/main" id="{19B1B190-3106-BF31-DEC8-5A48095F0BE8}"/>
              </a:ext>
            </a:extLst>
          </p:cNvPr>
          <p:cNvSpPr txBox="1"/>
          <p:nvPr/>
        </p:nvSpPr>
        <p:spPr>
          <a:xfrm>
            <a:off x="374599" y="208602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연계 재전송 허용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받는 쪽 중복 제거 원칙</a:t>
            </a:r>
          </a:p>
        </p:txBody>
      </p:sp>
      <p:sp>
        <p:nvSpPr>
          <p:cNvPr id="13" name="DP_p1">
            <a:extLst>
              <a:ext uri="{FF2B5EF4-FFF2-40B4-BE49-F238E27FC236}">
                <a16:creationId xmlns:a16="http://schemas.microsoft.com/office/drawing/2014/main" id="{038D3E1F-905D-3568-54E3-45E1D737BC9A}"/>
              </a:ext>
            </a:extLst>
          </p:cNvPr>
          <p:cNvSpPr txBox="1"/>
          <p:nvPr/>
        </p:nvSpPr>
        <p:spPr>
          <a:xfrm>
            <a:off x="374599" y="2296626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보내는 쪽은 결과가 불확실하면 재전송하고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받는 쪽은 중복 방지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식별값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처리이력으로 이미 처리한 건을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걸러냄</a:t>
            </a:r>
            <a:endParaRPr lang="ko-KR" altLang="en-US" sz="8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4" name="DP_t1">
            <a:extLst>
              <a:ext uri="{FF2B5EF4-FFF2-40B4-BE49-F238E27FC236}">
                <a16:creationId xmlns:a16="http://schemas.microsoft.com/office/drawing/2014/main" id="{DECEF763-B420-DFA6-02CB-49B407972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99786"/>
              </p:ext>
            </p:extLst>
          </p:nvPr>
        </p:nvGraphicFramePr>
        <p:xfrm>
          <a:off x="374600" y="2491179"/>
          <a:ext cx="6456417" cy="9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82098073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596639327"/>
                    </a:ext>
                  </a:extLst>
                </a:gridCol>
                <a:gridCol w="4170417">
                  <a:extLst>
                    <a:ext uri="{9D8B030D-6E8A-4147-A177-3AD203B41FA5}">
                      <a16:colId xmlns:a16="http://schemas.microsoft.com/office/drawing/2014/main" val="27066634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시점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위험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 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219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송신 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송신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53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송신 후 응답 미수신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확인 후 미처리일 때만 재송신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628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수신 후 처리 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대기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보존 또는 송신측 재전송 요청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9562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 완료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재수신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시 처리이력으로 반영 생략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1329"/>
                  </a:ext>
                </a:extLst>
              </a:tr>
            </a:tbl>
          </a:graphicData>
        </a:graphic>
      </p:graphicFrame>
      <p:sp>
        <p:nvSpPr>
          <p:cNvPr id="18" name="DP_h2">
            <a:extLst>
              <a:ext uri="{FF2B5EF4-FFF2-40B4-BE49-F238E27FC236}">
                <a16:creationId xmlns:a16="http://schemas.microsoft.com/office/drawing/2014/main" id="{8CC47DBA-D900-40B2-B2B7-76A7278D6D9B}"/>
              </a:ext>
            </a:extLst>
          </p:cNvPr>
          <p:cNvSpPr txBox="1"/>
          <p:nvPr/>
        </p:nvSpPr>
        <p:spPr>
          <a:xfrm>
            <a:off x="374599" y="3565963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배치는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가 활성인 센터 한 곳에서만 실행</a:t>
            </a:r>
          </a:p>
        </p:txBody>
      </p:sp>
      <p:graphicFrame>
        <p:nvGraphicFramePr>
          <p:cNvPr id="19" name="DP_t2">
            <a:extLst>
              <a:ext uri="{FF2B5EF4-FFF2-40B4-BE49-F238E27FC236}">
                <a16:creationId xmlns:a16="http://schemas.microsoft.com/office/drawing/2014/main" id="{0B067BEC-DE2E-E8DF-E649-A0446C1F26E2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791294"/>
          <a:ext cx="6456417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97708551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096704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96321313"/>
                    </a:ext>
                  </a:extLst>
                </a:gridCol>
                <a:gridCol w="2392417">
                  <a:extLst>
                    <a:ext uri="{9D8B030D-6E8A-4147-A177-3AD203B41FA5}">
                      <a16:colId xmlns:a16="http://schemas.microsoft.com/office/drawing/2014/main" val="193518736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실행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 위치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373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이중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390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야간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작업별 상이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4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통계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통계 왜곡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재실행 가능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361156"/>
                  </a:ext>
                </a:extLst>
              </a:tr>
            </a:tbl>
          </a:graphicData>
        </a:graphic>
      </p:graphicFrame>
      <p:sp>
        <p:nvSpPr>
          <p:cNvPr id="20" name="DP_p2">
            <a:extLst>
              <a:ext uri="{FF2B5EF4-FFF2-40B4-BE49-F238E27FC236}">
                <a16:creationId xmlns:a16="http://schemas.microsoft.com/office/drawing/2014/main" id="{858B5C6A-58B1-23D3-D451-1132EF61FA21}"/>
              </a:ext>
            </a:extLst>
          </p:cNvPr>
          <p:cNvSpPr txBox="1"/>
          <p:nvPr/>
        </p:nvSpPr>
        <p:spPr>
          <a:xfrm>
            <a:off x="374599" y="4602067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누락 보정 </a:t>
            </a:r>
            <a:r>
              <a:rPr lang="en-US" altLang="ko-KR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5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배치별</a:t>
            </a:r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 이어받을 시점을 기록하고</a:t>
            </a:r>
            <a:r>
              <a:rPr lang="en-US" altLang="ko-KR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전환 후 그 시점 이후 회차부터 </a:t>
            </a:r>
            <a:r>
              <a:rPr lang="ko-KR" altLang="en-US" sz="85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재수행</a:t>
            </a:r>
            <a:endParaRPr lang="ko-KR" altLang="en-US" sz="8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DP_h3">
            <a:extLst>
              <a:ext uri="{FF2B5EF4-FFF2-40B4-BE49-F238E27FC236}">
                <a16:creationId xmlns:a16="http://schemas.microsoft.com/office/drawing/2014/main" id="{A18DBA02-34FF-779A-0449-A3D885C5A162}"/>
              </a:ext>
            </a:extLst>
          </p:cNvPr>
          <p:cNvSpPr txBox="1"/>
          <p:nvPr/>
        </p:nvSpPr>
        <p:spPr>
          <a:xfrm>
            <a:off x="374599" y="4880804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전환 절차</a:t>
            </a:r>
          </a:p>
        </p:txBody>
      </p:sp>
      <p:sp>
        <p:nvSpPr>
          <p:cNvPr id="22" name="DP_c0">
            <a:extLst>
              <a:ext uri="{FF2B5EF4-FFF2-40B4-BE49-F238E27FC236}">
                <a16:creationId xmlns:a16="http://schemas.microsoft.com/office/drawing/2014/main" id="{4C6C7895-8424-E9CA-9F99-9C77C307FE83}"/>
              </a:ext>
            </a:extLst>
          </p:cNvPr>
          <p:cNvSpPr/>
          <p:nvPr/>
        </p:nvSpPr>
        <p:spPr>
          <a:xfrm>
            <a:off x="374599" y="5118835"/>
            <a:ext cx="1149043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신규 수신 중단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유예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23" name="DP_a0">
            <a:extLst>
              <a:ext uri="{FF2B5EF4-FFF2-40B4-BE49-F238E27FC236}">
                <a16:creationId xmlns:a16="http://schemas.microsoft.com/office/drawing/2014/main" id="{313EB2D4-8BCA-4922-5906-7FC1B7FDAFB3}"/>
              </a:ext>
            </a:extLst>
          </p:cNvPr>
          <p:cNvCxnSpPr/>
          <p:nvPr/>
        </p:nvCxnSpPr>
        <p:spPr>
          <a:xfrm>
            <a:off x="1549042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P_c1">
            <a:extLst>
              <a:ext uri="{FF2B5EF4-FFF2-40B4-BE49-F238E27FC236}">
                <a16:creationId xmlns:a16="http://schemas.microsoft.com/office/drawing/2014/main" id="{0879BFBE-4DA4-97B4-7FAA-15E56A260D70}"/>
              </a:ext>
            </a:extLst>
          </p:cNvPr>
          <p:cNvSpPr/>
          <p:nvPr/>
        </p:nvSpPr>
        <p:spPr>
          <a:xfrm>
            <a:off x="1701442" y="5118835"/>
            <a:ext cx="1149044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중 건 비움</a:t>
            </a:r>
          </a:p>
        </p:txBody>
      </p:sp>
      <p:cxnSp>
        <p:nvCxnSpPr>
          <p:cNvPr id="32" name="DP_a1">
            <a:extLst>
              <a:ext uri="{FF2B5EF4-FFF2-40B4-BE49-F238E27FC236}">
                <a16:creationId xmlns:a16="http://schemas.microsoft.com/office/drawing/2014/main" id="{29E3C3CE-9633-B080-2BA4-FA66B2C7427F}"/>
              </a:ext>
            </a:extLst>
          </p:cNvPr>
          <p:cNvCxnSpPr/>
          <p:nvPr/>
        </p:nvCxnSpPr>
        <p:spPr>
          <a:xfrm>
            <a:off x="2875886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P_c2">
            <a:extLst>
              <a:ext uri="{FF2B5EF4-FFF2-40B4-BE49-F238E27FC236}">
                <a16:creationId xmlns:a16="http://schemas.microsoft.com/office/drawing/2014/main" id="{3D5CB49B-DEE1-7240-E816-8198DA9AF5D0}"/>
              </a:ext>
            </a:extLst>
          </p:cNvPr>
          <p:cNvSpPr/>
          <p:nvPr/>
        </p:nvSpPr>
        <p:spPr>
          <a:xfrm>
            <a:off x="3028286" y="5118835"/>
            <a:ext cx="1149043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전환</a:t>
            </a:r>
          </a:p>
        </p:txBody>
      </p:sp>
      <p:cxnSp>
        <p:nvCxnSpPr>
          <p:cNvPr id="34" name="DP_a2">
            <a:extLst>
              <a:ext uri="{FF2B5EF4-FFF2-40B4-BE49-F238E27FC236}">
                <a16:creationId xmlns:a16="http://schemas.microsoft.com/office/drawing/2014/main" id="{5E2BC561-94DA-B608-DD5C-7571B9B23633}"/>
              </a:ext>
            </a:extLst>
          </p:cNvPr>
          <p:cNvCxnSpPr/>
          <p:nvPr/>
        </p:nvCxnSpPr>
        <p:spPr>
          <a:xfrm>
            <a:off x="4202729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P_c3">
            <a:extLst>
              <a:ext uri="{FF2B5EF4-FFF2-40B4-BE49-F238E27FC236}">
                <a16:creationId xmlns:a16="http://schemas.microsoft.com/office/drawing/2014/main" id="{77180EF4-00CD-96CE-49E4-251693462937}"/>
              </a:ext>
            </a:extLst>
          </p:cNvPr>
          <p:cNvSpPr/>
          <p:nvPr/>
        </p:nvSpPr>
        <p:spPr>
          <a:xfrm>
            <a:off x="4355129" y="5118835"/>
            <a:ext cx="1149044" cy="30480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빠진 건 재전송 </a:t>
            </a:r>
            <a:r>
              <a:rPr lang="en-US" altLang="ko-KR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보정</a:t>
            </a:r>
          </a:p>
        </p:txBody>
      </p:sp>
      <p:cxnSp>
        <p:nvCxnSpPr>
          <p:cNvPr id="36" name="DP_a3">
            <a:extLst>
              <a:ext uri="{FF2B5EF4-FFF2-40B4-BE49-F238E27FC236}">
                <a16:creationId xmlns:a16="http://schemas.microsoft.com/office/drawing/2014/main" id="{C85085F6-66ED-D328-0828-D53DD9E36476}"/>
              </a:ext>
            </a:extLst>
          </p:cNvPr>
          <p:cNvCxnSpPr/>
          <p:nvPr/>
        </p:nvCxnSpPr>
        <p:spPr>
          <a:xfrm>
            <a:off x="5529573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P_c4">
            <a:extLst>
              <a:ext uri="{FF2B5EF4-FFF2-40B4-BE49-F238E27FC236}">
                <a16:creationId xmlns:a16="http://schemas.microsoft.com/office/drawing/2014/main" id="{9EB52843-B134-65A3-5952-F9E25A991CA9}"/>
              </a:ext>
            </a:extLst>
          </p:cNvPr>
          <p:cNvSpPr/>
          <p:nvPr/>
        </p:nvSpPr>
        <p:spPr>
          <a:xfrm>
            <a:off x="5681972" y="5118835"/>
            <a:ext cx="1149044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배치 재개</a:t>
            </a:r>
          </a:p>
        </p:txBody>
      </p:sp>
      <p:sp>
        <p:nvSpPr>
          <p:cNvPr id="38" name="DP_warn">
            <a:extLst>
              <a:ext uri="{FF2B5EF4-FFF2-40B4-BE49-F238E27FC236}">
                <a16:creationId xmlns:a16="http://schemas.microsoft.com/office/drawing/2014/main" id="{F42AA0CD-E5BB-9CEB-36F2-FD4E9AE430DB}"/>
              </a:ext>
            </a:extLst>
          </p:cNvPr>
          <p:cNvSpPr/>
          <p:nvPr/>
        </p:nvSpPr>
        <p:spPr>
          <a:xfrm>
            <a:off x="374599" y="5576034"/>
            <a:ext cx="6456417" cy="62527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12700" rIns="76200" bIns="12700"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연계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시점이 달라 누락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중복 발생 가능 → 복구 후 대조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대사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보정 필요</a:t>
            </a: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기록은 있는데 반영은 안 된 건은 재전송이 와도 걸러지므로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두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의 복구 시점 정합 기준 정의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01A05B-AE40-985D-FE3C-B3EA9638F3A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A6921-A44D-900E-77B4-05DA13531563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CNR-002-27</a:t>
            </a:r>
          </a:p>
          <a:p>
            <a:pPr algn="ctr"/>
            <a:r>
              <a:rPr lang="en-US" altLang="ko-KR" sz="1100"/>
              <a:t>ACR-003-65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35589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대내</a:t>
            </a:r>
            <a:r>
              <a:rPr lang="en-US" altLang="ko-KR" dirty="0"/>
              <a:t>·</a:t>
            </a:r>
            <a:r>
              <a:rPr lang="ko-KR" altLang="en-US" dirty="0"/>
              <a:t>외 연계를 처리하는 연계 </a:t>
            </a:r>
            <a:r>
              <a:rPr lang="en-US" altLang="ko-KR" dirty="0"/>
              <a:t>WEB·WAS·DB</a:t>
            </a:r>
            <a:r>
              <a:rPr lang="ko-KR" altLang="en-US" dirty="0"/>
              <a:t>를 </a:t>
            </a:r>
            <a:r>
              <a:rPr lang="en-US" altLang="ko-KR" dirty="0"/>
              <a:t>DR</a:t>
            </a:r>
            <a:r>
              <a:rPr lang="ko-KR" altLang="en-US" dirty="0"/>
              <a:t>센터에 동일하게 구성하고</a:t>
            </a:r>
            <a:r>
              <a:rPr lang="en-US" altLang="ko-KR" dirty="0"/>
              <a:t>, </a:t>
            </a:r>
            <a:r>
              <a:rPr lang="ko-KR" altLang="en-US" dirty="0"/>
              <a:t>도메인</a:t>
            </a:r>
            <a:r>
              <a:rPr lang="en-US" altLang="ko-KR" dirty="0"/>
              <a:t>(DNS) </a:t>
            </a:r>
            <a:r>
              <a:rPr lang="ko-KR" altLang="en-US" dirty="0"/>
              <a:t>호출 기관은 </a:t>
            </a:r>
            <a:r>
              <a:rPr lang="en-US" altLang="ko-KR" dirty="0"/>
              <a:t>GSLB</a:t>
            </a:r>
            <a:r>
              <a:rPr lang="ko-KR" altLang="en-US" dirty="0"/>
              <a:t>로</a:t>
            </a:r>
            <a:r>
              <a:rPr lang="en-US" altLang="ko-KR" dirty="0"/>
              <a:t>, IP </a:t>
            </a:r>
            <a:r>
              <a:rPr lang="ko-KR" altLang="en-US" dirty="0"/>
              <a:t>고정 호출 기관은 </a:t>
            </a:r>
            <a:r>
              <a:rPr lang="en-US" altLang="ko-KR" dirty="0"/>
              <a:t>VIP </a:t>
            </a:r>
            <a:r>
              <a:rPr lang="ko-KR" altLang="en-US" dirty="0"/>
              <a:t>이원화로 접속을 전환하여 센터 전환 시에도 연계 서비스 연속성을 확보함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 아키텍처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WEB·WAS·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주센터와 동일 구성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상시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① 도메인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(DNS)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호출 기관은 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api.kras.go.kr·GSLB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센터 전환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고정 호출 기관은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미경유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VIP 2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사전 등록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시군구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시도 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시점 일치 확인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배치는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활성 센터 한 곳에서만 실행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중복 실행 방지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출발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방화벽 사전 허용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5" name="KA_stat">
            <a:extLst>
              <a:ext uri="{FF2B5EF4-FFF2-40B4-BE49-F238E27FC236}">
                <a16:creationId xmlns:a16="http://schemas.microsoft.com/office/drawing/2014/main" id="{C98BDA2C-B535-6380-A98B-39BF0DE38CEF}"/>
              </a:ext>
            </a:extLst>
          </p:cNvPr>
          <p:cNvSpPr/>
          <p:nvPr/>
        </p:nvSpPr>
        <p:spPr>
          <a:xfrm>
            <a:off x="368300" y="2132856"/>
            <a:ext cx="6451600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시스템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20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 유형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트래픽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9.4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억 건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('25,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전체의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84%)</a:t>
            </a:r>
            <a:endParaRPr lang="ko-KR" altLang="en-US" sz="85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KA_org_h">
            <a:extLst>
              <a:ext uri="{FF2B5EF4-FFF2-40B4-BE49-F238E27FC236}">
                <a16:creationId xmlns:a16="http://schemas.microsoft.com/office/drawing/2014/main" id="{3A674DA3-FA8A-A5F3-C649-63A2FC3B4801}"/>
              </a:ext>
            </a:extLst>
          </p:cNvPr>
          <p:cNvSpPr txBox="1"/>
          <p:nvPr/>
        </p:nvSpPr>
        <p:spPr>
          <a:xfrm>
            <a:off x="368300" y="2852936"/>
            <a:ext cx="1422400" cy="138499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</a:t>
            </a:r>
          </a:p>
        </p:txBody>
      </p:sp>
      <p:sp>
        <p:nvSpPr>
          <p:cNvPr id="99" name="KA_orgA">
            <a:extLst>
              <a:ext uri="{FF2B5EF4-FFF2-40B4-BE49-F238E27FC236}">
                <a16:creationId xmlns:a16="http://schemas.microsoft.com/office/drawing/2014/main" id="{9AE7BE50-3595-3E05-E1C8-408E51D70059}"/>
              </a:ext>
            </a:extLst>
          </p:cNvPr>
          <p:cNvSpPr/>
          <p:nvPr/>
        </p:nvSpPr>
        <p:spPr>
          <a:xfrm>
            <a:off x="368300" y="3200400"/>
            <a:ext cx="14224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대외 연계기관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</a:p>
        </p:txBody>
      </p:sp>
      <p:sp>
        <p:nvSpPr>
          <p:cNvPr id="100" name="KA_orgB">
            <a:extLst>
              <a:ext uri="{FF2B5EF4-FFF2-40B4-BE49-F238E27FC236}">
                <a16:creationId xmlns:a16="http://schemas.microsoft.com/office/drawing/2014/main" id="{E14E0C2C-93AB-861F-B6F6-8E9AA8951DA8}"/>
              </a:ext>
            </a:extLst>
          </p:cNvPr>
          <p:cNvSpPr/>
          <p:nvPr/>
        </p:nvSpPr>
        <p:spPr>
          <a:xfrm>
            <a:off x="368300" y="3759200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행정정보공동이용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행공연계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1" name="KA_orgC">
            <a:extLst>
              <a:ext uri="{FF2B5EF4-FFF2-40B4-BE49-F238E27FC236}">
                <a16:creationId xmlns:a16="http://schemas.microsoft.com/office/drawing/2014/main" id="{1E31AC34-D9BC-7BE2-36B5-5487F7B3753A}"/>
              </a:ext>
            </a:extLst>
          </p:cNvPr>
          <p:cNvSpPr/>
          <p:nvPr/>
        </p:nvSpPr>
        <p:spPr>
          <a:xfrm>
            <a:off x="368300" y="4599868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</a:p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2" name="KA_gslb">
            <a:extLst>
              <a:ext uri="{FF2B5EF4-FFF2-40B4-BE49-F238E27FC236}">
                <a16:creationId xmlns:a16="http://schemas.microsoft.com/office/drawing/2014/main" id="{8DCF48ED-2688-494C-3EA5-2D0806646772}"/>
              </a:ext>
            </a:extLst>
          </p:cNvPr>
          <p:cNvSpPr/>
          <p:nvPr/>
        </p:nvSpPr>
        <p:spPr>
          <a:xfrm>
            <a:off x="4061953" y="2489200"/>
            <a:ext cx="1320800" cy="5842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api.kras.go.kr</a:t>
            </a:r>
          </a:p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</a:p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(DNS)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31" name="KA_lbl_g">
            <a:extLst>
              <a:ext uri="{FF2B5EF4-FFF2-40B4-BE49-F238E27FC236}">
                <a16:creationId xmlns:a16="http://schemas.microsoft.com/office/drawing/2014/main" id="{04D62E83-FC6D-6D52-457F-769C9D271733}"/>
              </a:ext>
            </a:extLst>
          </p:cNvPr>
          <p:cNvSpPr txBox="1"/>
          <p:nvPr/>
        </p:nvSpPr>
        <p:spPr>
          <a:xfrm>
            <a:off x="5433553" y="2616200"/>
            <a:ext cx="1143000" cy="355600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응답에 따라</a:t>
            </a: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</a:t>
            </a:r>
            <a:r>
              <a:rPr lang="ko-KR" altLang="en-US" sz="75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점선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34" name="KA_note">
            <a:extLst>
              <a:ext uri="{FF2B5EF4-FFF2-40B4-BE49-F238E27FC236}">
                <a16:creationId xmlns:a16="http://schemas.microsoft.com/office/drawing/2014/main" id="{C6C05FEF-6D1A-750A-D411-C11DB57C59B1}"/>
              </a:ext>
            </a:extLst>
          </p:cNvPr>
          <p:cNvSpPr txBox="1"/>
          <p:nvPr/>
        </p:nvSpPr>
        <p:spPr>
          <a:xfrm>
            <a:off x="368300" y="5989320"/>
            <a:ext cx="6451600" cy="392415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①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도메인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api.kras.go.kr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질의 →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가 활성 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응답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측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캐시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(TTL)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갱신 필요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② 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고정 호출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624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개 중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직접 등록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폐쇄망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: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주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2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개 사전 등록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방화벽에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허용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연계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복구 시점 일치 확인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미처리 건은 재전송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수신측 중복 제거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E6F895-06D0-DBA5-B687-4D27654A44E1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07A5B-0B01-AA64-AFD2-8AF69DD68F78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</a:p>
          <a:p>
            <a:pPr algn="ctr"/>
            <a:r>
              <a:rPr lang="en-US" altLang="ko-KR" sz="1100"/>
              <a:t>CNR-004-43</a:t>
            </a:r>
            <a:endParaRPr lang="ko-KR" altLang="en-US" sz="1100" dirty="0"/>
          </a:p>
        </p:txBody>
      </p:sp>
      <p:sp>
        <p:nvSpPr>
          <p:cNvPr id="14" name="GX_oA">
            <a:extLst>
              <a:ext uri="{FF2B5EF4-FFF2-40B4-BE49-F238E27FC236}">
                <a16:creationId xmlns:a16="http://schemas.microsoft.com/office/drawing/2014/main" id="{1642418C-C7E5-6728-0B95-F2A946BF7168}"/>
              </a:ext>
            </a:extLst>
          </p:cNvPr>
          <p:cNvSpPr/>
          <p:nvPr/>
        </p:nvSpPr>
        <p:spPr>
          <a:xfrm>
            <a:off x="1790700" y="3441700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GX_bus">
            <a:extLst>
              <a:ext uri="{FF2B5EF4-FFF2-40B4-BE49-F238E27FC236}">
                <a16:creationId xmlns:a16="http://schemas.microsoft.com/office/drawing/2014/main" id="{F5D795F3-70EF-DA6C-DD8D-8326DD7FF931}"/>
              </a:ext>
            </a:extLst>
          </p:cNvPr>
          <p:cNvSpPr/>
          <p:nvPr/>
        </p:nvSpPr>
        <p:spPr>
          <a:xfrm>
            <a:off x="2032001" y="2781300"/>
            <a:ext cx="2027354" cy="1181100"/>
          </a:xfrm>
          <a:custGeom>
            <a:avLst/>
            <a:gdLst/>
            <a:ahLst/>
            <a:cxnLst/>
            <a:rect l="0" t="0" r="0" b="0"/>
            <a:pathLst>
              <a:path w="2387601" h="2197101">
                <a:moveTo>
                  <a:pt x="0" y="2197100"/>
                </a:moveTo>
                <a:lnTo>
                  <a:pt x="0" y="0"/>
                </a:lnTo>
                <a:lnTo>
                  <a:pt x="2387600" y="0"/>
                </a:lnTo>
              </a:path>
            </a:pathLst>
          </a:custGeom>
          <a:ln w="19050">
            <a:solidFill>
              <a:srgbClr val="1F3864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7A6BD73-729D-BDAA-D9A7-62CF1EE686DA}"/>
              </a:ext>
            </a:extLst>
          </p:cNvPr>
          <p:cNvGrpSpPr/>
          <p:nvPr/>
        </p:nvGrpSpPr>
        <p:grpSpPr>
          <a:xfrm>
            <a:off x="2648744" y="3073400"/>
            <a:ext cx="4171156" cy="2839876"/>
            <a:chOff x="3327400" y="3073400"/>
            <a:chExt cx="3492500" cy="2839876"/>
          </a:xfrm>
        </p:grpSpPr>
        <p:sp>
          <p:nvSpPr>
            <p:cNvPr id="106" name="KA_main_panel">
              <a:extLst>
                <a:ext uri="{FF2B5EF4-FFF2-40B4-BE49-F238E27FC236}">
                  <a16:creationId xmlns:a16="http://schemas.microsoft.com/office/drawing/2014/main" id="{94BEE0F8-23B3-B846-DDDF-425918A75293}"/>
                </a:ext>
              </a:extLst>
            </p:cNvPr>
            <p:cNvSpPr/>
            <p:nvPr/>
          </p:nvSpPr>
          <p:spPr>
            <a:xfrm>
              <a:off x="33274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7" name="KA_main_title">
              <a:extLst>
                <a:ext uri="{FF2B5EF4-FFF2-40B4-BE49-F238E27FC236}">
                  <a16:creationId xmlns:a16="http://schemas.microsoft.com/office/drawing/2014/main" id="{8B062E96-CDB4-9800-DA10-1F42B13FD637}"/>
                </a:ext>
              </a:extLst>
            </p:cNvPr>
            <p:cNvSpPr/>
            <p:nvPr/>
          </p:nvSpPr>
          <p:spPr>
            <a:xfrm>
              <a:off x="3327400" y="3298312"/>
              <a:ext cx="1727200" cy="228600"/>
            </a:xfrm>
            <a:prstGeom prst="rect">
              <a:avLst/>
            </a:prstGeom>
            <a:solidFill>
              <a:srgbClr val="1F3864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(Active)</a:t>
              </a:r>
              <a:endParaRPr lang="ko-KR" altLang="en-US" sz="9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8" name="KA_main_vip">
              <a:extLst>
                <a:ext uri="{FF2B5EF4-FFF2-40B4-BE49-F238E27FC236}">
                  <a16:creationId xmlns:a16="http://schemas.microsoft.com/office/drawing/2014/main" id="{AFF0D256-7113-2C37-A45A-92271EE40404}"/>
                </a:ext>
              </a:extLst>
            </p:cNvPr>
            <p:cNvSpPr/>
            <p:nvPr/>
          </p:nvSpPr>
          <p:spPr>
            <a:xfrm>
              <a:off x="3429000" y="3628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9" name="KA_main_web">
              <a:extLst>
                <a:ext uri="{FF2B5EF4-FFF2-40B4-BE49-F238E27FC236}">
                  <a16:creationId xmlns:a16="http://schemas.microsoft.com/office/drawing/2014/main" id="{35FD05A9-460E-58D5-E552-FD9E4F76D817}"/>
                </a:ext>
              </a:extLst>
            </p:cNvPr>
            <p:cNvSpPr/>
            <p:nvPr/>
          </p:nvSpPr>
          <p:spPr>
            <a:xfrm>
              <a:off x="3429000" y="4009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0" name="KA_main_was">
              <a:extLst>
                <a:ext uri="{FF2B5EF4-FFF2-40B4-BE49-F238E27FC236}">
                  <a16:creationId xmlns:a16="http://schemas.microsoft.com/office/drawing/2014/main" id="{2BF970AE-E898-AFC8-5643-ABF204A16813}"/>
                </a:ext>
              </a:extLst>
            </p:cNvPr>
            <p:cNvSpPr/>
            <p:nvPr/>
          </p:nvSpPr>
          <p:spPr>
            <a:xfrm>
              <a:off x="3429000" y="4390512"/>
              <a:ext cx="1524000" cy="457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11" name="KA_main_batch">
              <a:extLst>
                <a:ext uri="{FF2B5EF4-FFF2-40B4-BE49-F238E27FC236}">
                  <a16:creationId xmlns:a16="http://schemas.microsoft.com/office/drawing/2014/main" id="{9E07F8E8-2CB1-B0E5-1452-28FC3A57E59F}"/>
                </a:ext>
              </a:extLst>
            </p:cNvPr>
            <p:cNvSpPr/>
            <p:nvPr/>
          </p:nvSpPr>
          <p:spPr>
            <a:xfrm>
              <a:off x="3810000" y="4949312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활성 센터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2" name="KA_main_db1">
              <a:extLst>
                <a:ext uri="{FF2B5EF4-FFF2-40B4-BE49-F238E27FC236}">
                  <a16:creationId xmlns:a16="http://schemas.microsoft.com/office/drawing/2014/main" id="{43308415-9265-27B9-EFF7-44E20463310F}"/>
                </a:ext>
              </a:extLst>
            </p:cNvPr>
            <p:cNvSpPr/>
            <p:nvPr/>
          </p:nvSpPr>
          <p:spPr>
            <a:xfrm>
              <a:off x="3429000" y="5381112"/>
              <a:ext cx="1524000" cy="4318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14" name="KA_main_fKA_main_vip">
              <a:extLst>
                <a:ext uri="{FF2B5EF4-FFF2-40B4-BE49-F238E27FC236}">
                  <a16:creationId xmlns:a16="http://schemas.microsoft.com/office/drawing/2014/main" id="{B4D0E0E4-471E-B100-3799-092BD163B1EC}"/>
                </a:ext>
              </a:extLst>
            </p:cNvPr>
            <p:cNvCxnSpPr/>
            <p:nvPr/>
          </p:nvCxnSpPr>
          <p:spPr>
            <a:xfrm>
              <a:off x="41910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KA_main_fKA_main_web">
              <a:extLst>
                <a:ext uri="{FF2B5EF4-FFF2-40B4-BE49-F238E27FC236}">
                  <a16:creationId xmlns:a16="http://schemas.microsoft.com/office/drawing/2014/main" id="{5C1EB1EE-262A-BAE9-B4BB-E4A7CE6B6B38}"/>
                </a:ext>
              </a:extLst>
            </p:cNvPr>
            <p:cNvCxnSpPr/>
            <p:nvPr/>
          </p:nvCxnSpPr>
          <p:spPr>
            <a:xfrm>
              <a:off x="41910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KA_dr_panel">
              <a:extLst>
                <a:ext uri="{FF2B5EF4-FFF2-40B4-BE49-F238E27FC236}">
                  <a16:creationId xmlns:a16="http://schemas.microsoft.com/office/drawing/2014/main" id="{A9AD2EBC-826D-1C02-C621-E847E6697911}"/>
                </a:ext>
              </a:extLst>
            </p:cNvPr>
            <p:cNvSpPr/>
            <p:nvPr/>
          </p:nvSpPr>
          <p:spPr>
            <a:xfrm>
              <a:off x="50927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8" name="KA_dr_title">
              <a:extLst>
                <a:ext uri="{FF2B5EF4-FFF2-40B4-BE49-F238E27FC236}">
                  <a16:creationId xmlns:a16="http://schemas.microsoft.com/office/drawing/2014/main" id="{AD02463D-1D14-F1E1-B283-956369B891AF}"/>
                </a:ext>
              </a:extLst>
            </p:cNvPr>
            <p:cNvSpPr/>
            <p:nvPr/>
          </p:nvSpPr>
          <p:spPr>
            <a:xfrm>
              <a:off x="5092700" y="3298312"/>
              <a:ext cx="1727200" cy="228600"/>
            </a:xfrm>
            <a:prstGeom prst="rect">
              <a:avLst/>
            </a:prstGeom>
            <a:solidFill>
              <a:srgbClr val="7F7F7F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DR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(Standby · 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상시 기동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9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9" name="KA_dr_vip">
              <a:extLst>
                <a:ext uri="{FF2B5EF4-FFF2-40B4-BE49-F238E27FC236}">
                  <a16:creationId xmlns:a16="http://schemas.microsoft.com/office/drawing/2014/main" id="{F423CC29-AF10-C081-51E8-5AF2031D8D63}"/>
                </a:ext>
              </a:extLst>
            </p:cNvPr>
            <p:cNvSpPr/>
            <p:nvPr/>
          </p:nvSpPr>
          <p:spPr>
            <a:xfrm>
              <a:off x="5194300" y="3628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(DR</a:t>
              </a:r>
              <a:r>
                <a:rPr lang="ko-KR" altLang="en-US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</a:t>
              </a:r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0" name="KA_dr_web">
              <a:extLst>
                <a:ext uri="{FF2B5EF4-FFF2-40B4-BE49-F238E27FC236}">
                  <a16:creationId xmlns:a16="http://schemas.microsoft.com/office/drawing/2014/main" id="{50FABA01-3CD7-D12D-A0FD-AA0A5851BEA8}"/>
                </a:ext>
              </a:extLst>
            </p:cNvPr>
            <p:cNvSpPr/>
            <p:nvPr/>
          </p:nvSpPr>
          <p:spPr>
            <a:xfrm>
              <a:off x="5194300" y="4009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1" name="KA_dr_was">
              <a:extLst>
                <a:ext uri="{FF2B5EF4-FFF2-40B4-BE49-F238E27FC236}">
                  <a16:creationId xmlns:a16="http://schemas.microsoft.com/office/drawing/2014/main" id="{EAAC9E60-220D-3D05-EB7A-96F7EC9A9FF1}"/>
                </a:ext>
              </a:extLst>
            </p:cNvPr>
            <p:cNvSpPr/>
            <p:nvPr/>
          </p:nvSpPr>
          <p:spPr>
            <a:xfrm>
              <a:off x="5194300" y="4390512"/>
              <a:ext cx="1524000" cy="457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22" name="KA_dr_batch">
              <a:extLst>
                <a:ext uri="{FF2B5EF4-FFF2-40B4-BE49-F238E27FC236}">
                  <a16:creationId xmlns:a16="http://schemas.microsoft.com/office/drawing/2014/main" id="{B05D1733-D512-F289-0789-74D79DB06BA3}"/>
                </a:ext>
              </a:extLst>
            </p:cNvPr>
            <p:cNvSpPr/>
            <p:nvPr/>
          </p:nvSpPr>
          <p:spPr>
            <a:xfrm>
              <a:off x="5575300" y="4949312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전환 시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3" name="KA_dr_db1">
              <a:extLst>
                <a:ext uri="{FF2B5EF4-FFF2-40B4-BE49-F238E27FC236}">
                  <a16:creationId xmlns:a16="http://schemas.microsoft.com/office/drawing/2014/main" id="{255A1BB0-41CB-7AA2-2424-E5741788BD4C}"/>
                </a:ext>
              </a:extLst>
            </p:cNvPr>
            <p:cNvSpPr/>
            <p:nvPr/>
          </p:nvSpPr>
          <p:spPr>
            <a:xfrm>
              <a:off x="5194300" y="5381112"/>
              <a:ext cx="1524000" cy="4318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25" name="KA_dr_fKA_dr_vip">
              <a:extLst>
                <a:ext uri="{FF2B5EF4-FFF2-40B4-BE49-F238E27FC236}">
                  <a16:creationId xmlns:a16="http://schemas.microsoft.com/office/drawing/2014/main" id="{FB4E5AAD-8D15-6D08-B00C-E727FD7273C4}"/>
                </a:ext>
              </a:extLst>
            </p:cNvPr>
            <p:cNvCxnSpPr/>
            <p:nvPr/>
          </p:nvCxnSpPr>
          <p:spPr>
            <a:xfrm>
              <a:off x="59563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KA_dr_fKA_dr_web">
              <a:extLst>
                <a:ext uri="{FF2B5EF4-FFF2-40B4-BE49-F238E27FC236}">
                  <a16:creationId xmlns:a16="http://schemas.microsoft.com/office/drawing/2014/main" id="{44E50246-D0B2-AB2D-3A6F-D27508549920}"/>
                </a:ext>
              </a:extLst>
            </p:cNvPr>
            <p:cNvCxnSpPr/>
            <p:nvPr/>
          </p:nvCxnSpPr>
          <p:spPr>
            <a:xfrm>
              <a:off x="59563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KA_main_fdb">
              <a:extLst>
                <a:ext uri="{FF2B5EF4-FFF2-40B4-BE49-F238E27FC236}">
                  <a16:creationId xmlns:a16="http://schemas.microsoft.com/office/drawing/2014/main" id="{907A085F-ACEA-6DC4-7E5A-A0073E8255CA}"/>
                </a:ext>
              </a:extLst>
            </p:cNvPr>
            <p:cNvCxnSpPr/>
            <p:nvPr/>
          </p:nvCxnSpPr>
          <p:spPr>
            <a:xfrm>
              <a:off x="36068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KA_dr_fdb">
              <a:extLst>
                <a:ext uri="{FF2B5EF4-FFF2-40B4-BE49-F238E27FC236}">
                  <a16:creationId xmlns:a16="http://schemas.microsoft.com/office/drawing/2014/main" id="{7120A610-A299-1584-BE6A-0309CFD306A8}"/>
                </a:ext>
              </a:extLst>
            </p:cNvPr>
            <p:cNvCxnSpPr/>
            <p:nvPr/>
          </p:nvCxnSpPr>
          <p:spPr>
            <a:xfrm>
              <a:off x="53721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KA_rep">
              <a:extLst>
                <a:ext uri="{FF2B5EF4-FFF2-40B4-BE49-F238E27FC236}">
                  <a16:creationId xmlns:a16="http://schemas.microsoft.com/office/drawing/2014/main" id="{83A48F97-E6A8-C9D5-7830-87B02FFD4000}"/>
                </a:ext>
              </a:extLst>
            </p:cNvPr>
            <p:cNvCxnSpPr/>
            <p:nvPr/>
          </p:nvCxnSpPr>
          <p:spPr>
            <a:xfrm>
              <a:off x="4953000" y="5597012"/>
              <a:ext cx="241300" cy="0"/>
            </a:xfrm>
            <a:prstGeom prst="straightConnector1">
              <a:avLst/>
            </a:prstGeom>
            <a:ln w="15875">
              <a:solidFill>
                <a:srgbClr val="2E7A9E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X_g2m">
              <a:extLst>
                <a:ext uri="{FF2B5EF4-FFF2-40B4-BE49-F238E27FC236}">
                  <a16:creationId xmlns:a16="http://schemas.microsoft.com/office/drawing/2014/main" id="{E41863B6-5DEB-865C-49DD-63E07EBB3F0D}"/>
                </a:ext>
              </a:extLst>
            </p:cNvPr>
            <p:cNvSpPr/>
            <p:nvPr/>
          </p:nvSpPr>
          <p:spPr>
            <a:xfrm>
              <a:off x="4191000" y="3073400"/>
              <a:ext cx="609601" cy="228601"/>
            </a:xfrm>
            <a:custGeom>
              <a:avLst/>
              <a:gdLst/>
              <a:ahLst/>
              <a:cxnLst/>
              <a:rect l="0" t="0" r="0" b="0"/>
              <a:pathLst>
                <a:path w="609601" h="228601">
                  <a:moveTo>
                    <a:pt x="609600" y="0"/>
                  </a:moveTo>
                  <a:lnTo>
                    <a:pt x="0" y="127000"/>
                  </a:lnTo>
                  <a:lnTo>
                    <a:pt x="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GX_g2d">
              <a:extLst>
                <a:ext uri="{FF2B5EF4-FFF2-40B4-BE49-F238E27FC236}">
                  <a16:creationId xmlns:a16="http://schemas.microsoft.com/office/drawing/2014/main" id="{99B14FB3-0228-726F-287F-933E8BFD17AD}"/>
                </a:ext>
              </a:extLst>
            </p:cNvPr>
            <p:cNvSpPr/>
            <p:nvPr/>
          </p:nvSpPr>
          <p:spPr>
            <a:xfrm>
              <a:off x="5359400" y="3073400"/>
              <a:ext cx="596901" cy="228601"/>
            </a:xfrm>
            <a:custGeom>
              <a:avLst/>
              <a:gdLst/>
              <a:ahLst/>
              <a:cxnLst/>
              <a:rect l="0" t="0" r="0" b="0"/>
              <a:pathLst>
                <a:path w="596901" h="228601">
                  <a:moveTo>
                    <a:pt x="0" y="0"/>
                  </a:moveTo>
                  <a:lnTo>
                    <a:pt x="596900" y="127000"/>
                  </a:lnTo>
                  <a:lnTo>
                    <a:pt x="59690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KA_lbl_dns">
            <a:extLst>
              <a:ext uri="{FF2B5EF4-FFF2-40B4-BE49-F238E27FC236}">
                <a16:creationId xmlns:a16="http://schemas.microsoft.com/office/drawing/2014/main" id="{61DB828A-5CE5-8FDF-89BB-0B0C5986BB3D}"/>
              </a:ext>
            </a:extLst>
          </p:cNvPr>
          <p:cNvSpPr txBox="1"/>
          <p:nvPr/>
        </p:nvSpPr>
        <p:spPr>
          <a:xfrm>
            <a:off x="2667000" y="2564841"/>
            <a:ext cx="400751" cy="11541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r"/>
            <a:r>
              <a:rPr lang="en-US" altLang="ko-KR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질의</a:t>
            </a:r>
          </a:p>
        </p:txBody>
      </p:sp>
      <p:sp>
        <p:nvSpPr>
          <p:cNvPr id="23" name="KA_lbl_g1">
            <a:extLst>
              <a:ext uri="{FF2B5EF4-FFF2-40B4-BE49-F238E27FC236}">
                <a16:creationId xmlns:a16="http://schemas.microsoft.com/office/drawing/2014/main" id="{97AD3E1C-F1C4-696A-CFD7-1EF23D9F895E}"/>
              </a:ext>
            </a:extLst>
          </p:cNvPr>
          <p:cNvSpPr txBox="1"/>
          <p:nvPr/>
        </p:nvSpPr>
        <p:spPr>
          <a:xfrm>
            <a:off x="368300" y="3022600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도메인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GSLB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</a:t>
            </a:r>
          </a:p>
        </p:txBody>
      </p:sp>
      <p:sp>
        <p:nvSpPr>
          <p:cNvPr id="24" name="KA_lbl_g2">
            <a:extLst>
              <a:ext uri="{FF2B5EF4-FFF2-40B4-BE49-F238E27FC236}">
                <a16:creationId xmlns:a16="http://schemas.microsoft.com/office/drawing/2014/main" id="{10809D34-042F-4585-6A33-AD543238D129}"/>
              </a:ext>
            </a:extLst>
          </p:cNvPr>
          <p:cNvSpPr txBox="1"/>
          <p:nvPr/>
        </p:nvSpPr>
        <p:spPr>
          <a:xfrm>
            <a:off x="368300" y="4429708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고정 호출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VIP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이원화</a:t>
            </a:r>
          </a:p>
        </p:txBody>
      </p:sp>
      <p:sp>
        <p:nvSpPr>
          <p:cNvPr id="28" name="GX_int_d">
            <a:extLst>
              <a:ext uri="{FF2B5EF4-FFF2-40B4-BE49-F238E27FC236}">
                <a16:creationId xmlns:a16="http://schemas.microsoft.com/office/drawing/2014/main" id="{2E172B85-8961-6889-B003-CAE7EDAE7E5A}"/>
              </a:ext>
            </a:extLst>
          </p:cNvPr>
          <p:cNvSpPr/>
          <p:nvPr/>
        </p:nvSpPr>
        <p:spPr>
          <a:xfrm>
            <a:off x="2362200" y="3149600"/>
            <a:ext cx="3606801" cy="622301"/>
          </a:xfrm>
          <a:custGeom>
            <a:avLst/>
            <a:gdLst/>
            <a:ahLst/>
            <a:cxnLst/>
            <a:rect l="0" t="0" r="0" b="0"/>
            <a:pathLst>
              <a:path w="3606801" h="622301">
                <a:moveTo>
                  <a:pt x="0" y="622300"/>
                </a:moveTo>
                <a:lnTo>
                  <a:pt x="0" y="0"/>
                </a:lnTo>
                <a:lnTo>
                  <a:pt x="3606800" y="0"/>
                </a:lnTo>
                <a:lnTo>
                  <a:pt x="3606800" y="139700"/>
                </a:lnTo>
              </a:path>
            </a:pathLst>
          </a:custGeom>
          <a:ln w="22225">
            <a:solidFill>
              <a:srgbClr val="1F6E5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X_oB">
            <a:extLst>
              <a:ext uri="{FF2B5EF4-FFF2-40B4-BE49-F238E27FC236}">
                <a16:creationId xmlns:a16="http://schemas.microsoft.com/office/drawing/2014/main" id="{8A1047A4-BE88-1171-04E4-B3DD886D2F88}"/>
              </a:ext>
            </a:extLst>
          </p:cNvPr>
          <p:cNvSpPr/>
          <p:nvPr/>
        </p:nvSpPr>
        <p:spPr>
          <a:xfrm>
            <a:off x="1790700" y="4041068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GX_int_m">
            <a:extLst>
              <a:ext uri="{FF2B5EF4-FFF2-40B4-BE49-F238E27FC236}">
                <a16:creationId xmlns:a16="http://schemas.microsoft.com/office/drawing/2014/main" id="{D3EB639C-D442-0E03-3748-4CCD6BBAF81C}"/>
              </a:ext>
            </a:extLst>
          </p:cNvPr>
          <p:cNvSpPr/>
          <p:nvPr/>
        </p:nvSpPr>
        <p:spPr>
          <a:xfrm>
            <a:off x="1790700" y="3771900"/>
            <a:ext cx="952501" cy="952501"/>
          </a:xfrm>
          <a:custGeom>
            <a:avLst/>
            <a:gdLst/>
            <a:ahLst/>
            <a:cxnLst/>
            <a:rect l="0" t="0" r="0" b="0"/>
            <a:pathLst>
              <a:path w="952501" h="952501">
                <a:moveTo>
                  <a:pt x="0" y="952500"/>
                </a:moveTo>
                <a:lnTo>
                  <a:pt x="571500" y="952500"/>
                </a:lnTo>
                <a:lnTo>
                  <a:pt x="571500" y="0"/>
                </a:lnTo>
                <a:lnTo>
                  <a:pt x="952500" y="0"/>
                </a:lnTo>
              </a:path>
            </a:pathLst>
          </a:custGeom>
          <a:ln w="22225">
            <a:solidFill>
              <a:srgbClr val="1F6E5A"/>
            </a:solidFill>
            <a:prstDash val="solid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26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0DB8571D-14E2-FBB0-5821-2FF7319AB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부동산종합공부시스템에서 사용 중인 연계 기술 유형별 특징과 센터 전환 시 영향을 기준으로 </a:t>
            </a:r>
            <a:r>
              <a:rPr lang="en-US" altLang="ko-KR" dirty="0"/>
              <a:t>DR </a:t>
            </a:r>
            <a:r>
              <a:rPr lang="ko-KR" altLang="en-US" dirty="0"/>
              <a:t>연계 적합성을 검토함</a:t>
            </a:r>
          </a:p>
        </p:txBody>
      </p:sp>
      <p:pic>
        <p:nvPicPr>
          <p:cNvPr id="6" name="그림 138" descr="그림1.png">
            <a:extLst>
              <a:ext uri="{FF2B5EF4-FFF2-40B4-BE49-F238E27FC236}">
                <a16:creationId xmlns:a16="http://schemas.microsoft.com/office/drawing/2014/main" id="{2BF15156-6E2B-1DEC-4C5C-3200FBB43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67149" y="2595685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" name="텍스트 개체 틀 26">
            <a:extLst>
              <a:ext uri="{FF2B5EF4-FFF2-40B4-BE49-F238E27FC236}">
                <a16:creationId xmlns:a16="http://schemas.microsoft.com/office/drawing/2014/main" id="{AE076DCD-8002-5963-FE3D-7A7BEF16E570}"/>
              </a:ext>
            </a:extLst>
          </p:cNvPr>
          <p:cNvSpPr txBox="1">
            <a:spLocks/>
          </p:cNvSpPr>
          <p:nvPr/>
        </p:nvSpPr>
        <p:spPr>
          <a:xfrm>
            <a:off x="272999" y="6237312"/>
            <a:ext cx="3453991" cy="172720"/>
          </a:xfrm>
          <a:prstGeom prst="rect">
            <a:avLst/>
          </a:prstGeom>
        </p:spPr>
        <p:txBody>
          <a:bodyPr lIns="36000" tIns="0" bIns="0" anchor="ctr" anchorCtr="0"/>
          <a:lstStyle>
            <a:defPPr>
              <a:defRPr lang="ko-KR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80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>
              <a:spcBef>
                <a:spcPts val="0"/>
              </a:spcBef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범례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:  ●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매우 높음    ◑ 높음    ◯ 필요    △ 보류   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Ⅹ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부적합</a:t>
            </a:r>
          </a:p>
        </p:txBody>
      </p:sp>
      <p:sp>
        <p:nvSpPr>
          <p:cNvPr id="100" name="모서리가 둥근 직사각형 12">
            <a:extLst>
              <a:ext uri="{FF2B5EF4-FFF2-40B4-BE49-F238E27FC236}">
                <a16:creationId xmlns:a16="http://schemas.microsoft.com/office/drawing/2014/main" id="{5384E6CC-1BF4-AEF0-B26E-2522EE2D645A}"/>
              </a:ext>
            </a:extLst>
          </p:cNvPr>
          <p:cNvSpPr/>
          <p:nvPr/>
        </p:nvSpPr>
        <p:spPr bwMode="auto">
          <a:xfrm>
            <a:off x="7402699" y="1989138"/>
            <a:ext cx="2230819" cy="4284662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표준연계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API(REST)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중심의 현행 연계 구조는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Stateless ·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도메인 기반으로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전환에 적합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Link · Socket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등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IP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고정 연계는 신규 적용 지양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현행 사용분은 전환 대상으로 식별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01" name="양쪽 모서리가 둥근 사각형 101">
            <a:extLst>
              <a:ext uri="{FF2B5EF4-FFF2-40B4-BE49-F238E27FC236}">
                <a16:creationId xmlns:a16="http://schemas.microsoft.com/office/drawing/2014/main" id="{EE1EE64F-6035-3DC3-73A6-3DB686AB176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102" name="양쪽 모서리가 둥근 사각형 101">
            <a:extLst>
              <a:ext uri="{FF2B5EF4-FFF2-40B4-BE49-F238E27FC236}">
                <a16:creationId xmlns:a16="http://schemas.microsoft.com/office/drawing/2014/main" id="{23027DB9-23E0-55EF-BE63-A47996547C4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D37F62EC-BCF5-2B59-40CF-778D4CACC9BD}"/>
              </a:ext>
            </a:extLst>
          </p:cNvPr>
          <p:cNvGraphicFramePr>
            <a:graphicFrameLocks noGrp="1"/>
          </p:cNvGraphicFramePr>
          <p:nvPr/>
        </p:nvGraphicFramePr>
        <p:xfrm>
          <a:off x="272999" y="1989138"/>
          <a:ext cx="6659613" cy="4061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042">
                  <a:extLst>
                    <a:ext uri="{9D8B030D-6E8A-4147-A177-3AD203B41FA5}">
                      <a16:colId xmlns:a16="http://schemas.microsoft.com/office/drawing/2014/main" val="3551277256"/>
                    </a:ext>
                  </a:extLst>
                </a:gridCol>
                <a:gridCol w="1367428">
                  <a:extLst>
                    <a:ext uri="{9D8B030D-6E8A-4147-A177-3AD203B41FA5}">
                      <a16:colId xmlns:a16="http://schemas.microsoft.com/office/drawing/2014/main" val="2495187356"/>
                    </a:ext>
                  </a:extLst>
                </a:gridCol>
                <a:gridCol w="3513985">
                  <a:extLst>
                    <a:ext uri="{9D8B030D-6E8A-4147-A177-3AD203B41FA5}">
                      <a16:colId xmlns:a16="http://schemas.microsoft.com/office/drawing/2014/main" val="759628403"/>
                    </a:ext>
                  </a:extLst>
                </a:gridCol>
                <a:gridCol w="647158">
                  <a:extLst>
                    <a:ext uri="{9D8B030D-6E8A-4147-A177-3AD203B41FA5}">
                      <a16:colId xmlns:a16="http://schemas.microsoft.com/office/drawing/2014/main" val="752488718"/>
                    </a:ext>
                  </a:extLst>
                </a:gridCol>
              </a:tblGrid>
              <a:tr h="5516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기술 유형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 및 방식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특징 및 센터 전환 영향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적합성</a:t>
                      </a: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56473"/>
                  </a:ext>
                </a:extLst>
              </a:tr>
              <a:tr h="1146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 API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HTTP/HTTPS, JSON</a:t>
                      </a:r>
                    </a:p>
                    <a:p>
                      <a:pPr algn="ctr" fontAlgn="ctr"/>
                      <a:r>
                        <a:rPr 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RESTful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표준연계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API(api.kras.go.kr)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제공 방식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Stateless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구조로 센터 간 동일 배포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GSLB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전환에 적합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aseline="0" dirty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075990"/>
                  </a:ext>
                </a:extLst>
              </a:tr>
              <a:tr h="76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SOAP / WEB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Service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XML, WSDL,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SOAP over HTTP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공공기관 연계 표준</a:t>
                      </a: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 기관 연계 사용 여부 확인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도메인 기반 접속 시 </a:t>
                      </a: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전환 영향 동일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aseline="0" dirty="0">
                          <a:latin typeface="나눔고딕" pitchFamily="50" charset="-127"/>
                          <a:ea typeface="나눔고딕" pitchFamily="50" charset="-127"/>
                        </a:rPr>
                        <a:t>◑</a:t>
                      </a:r>
                      <a:endParaRPr lang="ko-KR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77253"/>
                  </a:ext>
                </a:extLst>
              </a:tr>
              <a:tr h="76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Link / FDW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Oracle DB Link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간 직접 참조로 전환 시 접속 대상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필요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정합성 관리 부담 → 신규 적용 지양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현행 사용 여부 확인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baseline="0" dirty="0">
                          <a:latin typeface="나눔고딕" pitchFamily="50" charset="-127"/>
                          <a:ea typeface="나눔고딕" pitchFamily="50" charset="-127"/>
                        </a:rPr>
                        <a:t>Ⅹ</a:t>
                      </a: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932363"/>
                  </a:ext>
                </a:extLst>
              </a:tr>
              <a:tr h="8339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Socket / TCP-IP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Raw Socket,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 Binary Format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IP ·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포트 고정 통신으로 전환 시 상대 기관 설정 변경 필요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적용 지양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현행 사용 시 전환 대상으로 식별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baseline="0" dirty="0">
                          <a:latin typeface="나눔고딕" pitchFamily="50" charset="-127"/>
                          <a:ea typeface="나눔고딕" pitchFamily="50" charset="-127"/>
                        </a:rPr>
                        <a:t>Ⅹ</a:t>
                      </a: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23871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C150CF4-9019-F4F2-DD79-7000298B8579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D1738-52A4-DBFB-822C-EE4976D0EF80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63187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18" name="텍스트 개체 틀 6">
            <a:extLst>
              <a:ext uri="{FF2B5EF4-FFF2-40B4-BE49-F238E27FC236}">
                <a16:creationId xmlns:a16="http://schemas.microsoft.com/office/drawing/2014/main" id="{1BAE3266-8F10-8BFD-EA9C-DBF50E326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/>
              <a:t>부동산종합공부시스템에서 주로 사용 중인 </a:t>
            </a:r>
            <a:r>
              <a:rPr lang="en-US" altLang="ko-KR"/>
              <a:t>REST API </a:t>
            </a:r>
            <a:r>
              <a:rPr lang="ko-KR" altLang="en-US"/>
              <a:t>기반 표준연계의 </a:t>
            </a:r>
            <a:r>
              <a:rPr lang="en-US" altLang="ko-KR"/>
              <a:t>DR </a:t>
            </a:r>
            <a:r>
              <a:rPr lang="ko-KR" altLang="en-US"/>
              <a:t>적용 설계방향과 제약사항을 검토하고 적용성을 판단함</a:t>
            </a:r>
            <a:endParaRPr lang="ko-KR" altLang="en-US" dirty="0"/>
          </a:p>
        </p:txBody>
      </p:sp>
      <p:pic>
        <p:nvPicPr>
          <p:cNvPr id="19" name="그림 138" descr="그림1.png">
            <a:extLst>
              <a:ext uri="{FF2B5EF4-FFF2-40B4-BE49-F238E27FC236}">
                <a16:creationId xmlns:a16="http://schemas.microsoft.com/office/drawing/2014/main" id="{1D196794-748F-5E7B-FB90-9D34A11E3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65981" y="2595685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텍스트 개체 틀 26">
            <a:extLst>
              <a:ext uri="{FF2B5EF4-FFF2-40B4-BE49-F238E27FC236}">
                <a16:creationId xmlns:a16="http://schemas.microsoft.com/office/drawing/2014/main" id="{7A1E0BF0-9088-D9F9-C6F3-C8E694D782E8}"/>
              </a:ext>
            </a:extLst>
          </p:cNvPr>
          <p:cNvSpPr txBox="1">
            <a:spLocks/>
          </p:cNvSpPr>
          <p:nvPr/>
        </p:nvSpPr>
        <p:spPr>
          <a:xfrm>
            <a:off x="272999" y="6263050"/>
            <a:ext cx="3453991" cy="172720"/>
          </a:xfrm>
          <a:prstGeom prst="rect">
            <a:avLst/>
          </a:prstGeom>
        </p:spPr>
        <p:txBody>
          <a:bodyPr lIns="36000" tIns="0" bIns="0" anchor="ctr" anchorCtr="0"/>
          <a:lstStyle>
            <a:defPPr>
              <a:defRPr lang="ko-KR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80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>
              <a:spcBef>
                <a:spcPts val="0"/>
              </a:spcBef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범례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:  ●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매우 높음    ◑ 높음    ◯ 필요    △ 보류   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Ⅹ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부적합</a:t>
            </a:r>
          </a:p>
        </p:txBody>
      </p:sp>
      <p:sp>
        <p:nvSpPr>
          <p:cNvPr id="21" name="모서리가 둥근 직사각형 12">
            <a:extLst>
              <a:ext uri="{FF2B5EF4-FFF2-40B4-BE49-F238E27FC236}">
                <a16:creationId xmlns:a16="http://schemas.microsoft.com/office/drawing/2014/main" id="{8C260084-AD51-612F-5BAF-8D1A1950CE85}"/>
              </a:ext>
            </a:extLst>
          </p:cNvPr>
          <p:cNvSpPr/>
          <p:nvPr/>
        </p:nvSpPr>
        <p:spPr bwMode="auto">
          <a:xfrm>
            <a:off x="7402699" y="1989138"/>
            <a:ext cx="2230819" cy="4284662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현행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REST API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기반 표준연계 구조를 유지하고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도메인 접속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Stateless 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동일 버전 배포로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전환성 확보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재전송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중복 제거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복구 후 대사 기준으로 전환 시 연계 누락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중복 방지</a:t>
            </a:r>
          </a:p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 Gateway 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연계센터는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범위를 넘는 구조 변경으로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향후 연계 고도화 시 검토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22" name="양쪽 모서리가 둥근 사각형 101">
            <a:extLst>
              <a:ext uri="{FF2B5EF4-FFF2-40B4-BE49-F238E27FC236}">
                <a16:creationId xmlns:a16="http://schemas.microsoft.com/office/drawing/2014/main" id="{21AA7D24-6987-9F99-9D3F-5FD75561AFD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3" name="양쪽 모서리가 둥근 사각형 101">
            <a:extLst>
              <a:ext uri="{FF2B5EF4-FFF2-40B4-BE49-F238E27FC236}">
                <a16:creationId xmlns:a16="http://schemas.microsoft.com/office/drawing/2014/main" id="{F8D0FE58-4BE5-B9D7-0F3A-84B7B70A15B9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B49C6FF-33DC-AA38-79F7-E5EFE11C9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00634"/>
              </p:ext>
            </p:extLst>
          </p:nvPr>
        </p:nvGraphicFramePr>
        <p:xfrm>
          <a:off x="272999" y="1989138"/>
          <a:ext cx="6659613" cy="42405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941">
                  <a:extLst>
                    <a:ext uri="{9D8B030D-6E8A-4147-A177-3AD203B41FA5}">
                      <a16:colId xmlns:a16="http://schemas.microsoft.com/office/drawing/2014/main" val="3765132778"/>
                    </a:ext>
                  </a:extLst>
                </a:gridCol>
                <a:gridCol w="3897496">
                  <a:extLst>
                    <a:ext uri="{9D8B030D-6E8A-4147-A177-3AD203B41FA5}">
                      <a16:colId xmlns:a16="http://schemas.microsoft.com/office/drawing/2014/main" val="2656127226"/>
                    </a:ext>
                  </a:extLst>
                </a:gridCol>
                <a:gridCol w="576176">
                  <a:extLst>
                    <a:ext uri="{9D8B030D-6E8A-4147-A177-3AD203B41FA5}">
                      <a16:colId xmlns:a16="http://schemas.microsoft.com/office/drawing/2014/main" val="1133301657"/>
                    </a:ext>
                  </a:extLst>
                </a:gridCol>
              </a:tblGrid>
              <a:tr h="2807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설계방향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제약사항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적용성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30585"/>
                  </a:ext>
                </a:extLst>
              </a:tr>
              <a:tr h="5076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도메인 기반 접속 통일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IP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직접 등록 기관은 전환 시 연계 실패 → 도메인 전환 협의 필요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aseline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627708"/>
                  </a:ext>
                </a:extLst>
              </a:tr>
              <a:tr h="5076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Stateless API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구조 유지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 중 서버 상태 저장 시 전환 후 처리 불가 → 진행 정보 외부화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200" dirty="0"/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304895"/>
                  </a:ext>
                </a:extLst>
              </a:tr>
              <a:tr h="5076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업무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·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분리 운영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두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복구 시점 불일치 시 누락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중복 → 복구 후 대사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보정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◑</a:t>
                      </a:r>
                      <a:endParaRPr lang="ko-KR" altLang="en-US" sz="1200" dirty="0"/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920969"/>
                  </a:ext>
                </a:extLst>
              </a:tr>
              <a:tr h="5076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1000" b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관리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재전송 시 중복 반영 위험 → 수신측 중복 제거 기준 필요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◯</a:t>
                      </a:r>
                      <a:endParaRPr lang="ko-KR" altLang="en-US" sz="1200" dirty="0"/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27282"/>
                  </a:ext>
                </a:extLst>
              </a:tr>
              <a:tr h="5076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 간 동일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버전 배포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센터별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버전 불일치 시 응답 형식 상이 → 단일 빌드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형상 점검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◯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5401"/>
                  </a:ext>
                </a:extLst>
              </a:tr>
              <a:tr h="7107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Gateway </a:t>
                      </a:r>
                      <a:r>
                        <a:rPr lang="ko-KR" altLang="en-US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</a:t>
                      </a:r>
                    </a:p>
                    <a:p>
                      <a:pPr algn="ctr" fontAlgn="ctr"/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단일 진입점</a:t>
                      </a: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 통제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이력 관리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 격리에 유리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도입 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DR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 동일 구성 필요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구축 범위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비용 검토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△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00977"/>
                  </a:ext>
                </a:extLst>
              </a:tr>
              <a:tr h="710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연계센터</a:t>
                      </a:r>
                      <a:r>
                        <a:rPr lang="en-US" altLang="ko-KR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연계중계영역</a:t>
                      </a:r>
                      <a:r>
                        <a:rPr lang="en-US" altLang="ko-KR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대상 시스템 간 기술 종속성 배제 가능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아키텍처 전면 변경으로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DR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 범위 초과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 dirty="0">
                          <a:latin typeface="나눔고딕" pitchFamily="50" charset="-127"/>
                          <a:ea typeface="나눔고딕" pitchFamily="50" charset="-127"/>
                        </a:rPr>
                        <a:t>△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316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F34C2CD4-2B57-9FAB-FE2C-3C952BEA4B57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65B31-EE14-EE1D-6363-963C7BF107E7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</a:p>
          <a:p>
            <a:pPr algn="ctr"/>
            <a:r>
              <a:rPr lang="en-US" altLang="ko-KR" sz="1100"/>
              <a:t>CNR-002-27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8334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1">
              <a:lumMod val="50000"/>
            </a:schemeClr>
          </a:solidFill>
        </a:ln>
      </a:spPr>
      <a:bodyPr lIns="72000" tIns="36000" rIns="72000" bIns="36000"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 anchorCtr="0">
        <a:spAutoFit/>
      </a:bodyPr>
      <a:lstStyle>
        <a:defPPr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E55235-2B6A-4416-8E3B-0AA7EB7F34FB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b6928ab-2b24-46eb-9228-24daec2ba0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18731</TotalTime>
  <Words>12887</Words>
  <Application>Microsoft Office PowerPoint</Application>
  <PresentationFormat>A4 용지(210x297mm)</PresentationFormat>
  <Paragraphs>2370</Paragraphs>
  <Slides>39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3" baseType="lpstr">
      <vt:lpstr>HY헤드라인M</vt:lpstr>
      <vt:lpstr>KoPub돋움체 Bold</vt:lpstr>
      <vt:lpstr>Nanum Gothic</vt:lpstr>
      <vt:lpstr>NanumSquare</vt:lpstr>
      <vt:lpstr>나눔고딕</vt:lpstr>
      <vt:lpstr>나눔고딕 (본문)</vt:lpstr>
      <vt:lpstr>나눔고딕 Bold</vt:lpstr>
      <vt:lpstr>나눔고딕 ExtraBold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목표모델</dc:title>
  <dc:creator>넥스트아이앤아이 컨소시엄</dc:creator>
  <cp:lastModifiedBy>user</cp:lastModifiedBy>
  <cp:revision>1239</cp:revision>
  <cp:lastPrinted>2026-08-11T04:07:45Z</cp:lastPrinted>
  <dcterms:created xsi:type="dcterms:W3CDTF">2017-09-21T02:10:08Z</dcterms:created>
  <dcterms:modified xsi:type="dcterms:W3CDTF">2026-09-30T07:44:53Z</dcterms:modified>
</cp:coreProperties>
</file>