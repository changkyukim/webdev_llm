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5"/>
  </p:notesMasterIdLst>
  <p:handoutMasterIdLst>
    <p:handoutMasterId r:id="rId46"/>
  </p:handoutMasterIdLst>
  <p:sldIdLst>
    <p:sldId id="256" r:id="rId8"/>
    <p:sldId id="257" r:id="rId9"/>
    <p:sldId id="258" r:id="rId10"/>
    <p:sldId id="259" r:id="rId11"/>
    <p:sldId id="260" r:id="rId1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목표모델 개요" id="{444112DE-BA6C-4801-889E-2890A87172FB}">
          <p14:sldIdLst/>
        </p14:section>
        <p14:section name="2. 정보화 비전 및 전략 수립" id="{6FEA03BC-9A00-4AAD-9D0D-67B508509B52}">
          <p14:sldIdLst/>
        </p14:section>
        <p14:section name="3. 부동산종합공부시스템 DR 목표 설계" id="{61C5C6C9-3D5D-41DA-82B6-7342CE4D4AEC}">
          <p14:sldIdLst/>
        </p14:section>
        <p14:section name="3.2 목표 아키텍처 설계" id="{B920E1E9-F0BF-4478-AC24-4AC9B37E11B8}">
          <p14:sldIdLst/>
        </p14:section>
        <p14:section name="3.3 애플리케이션 아키텍처 설계" id="{6BBDD017-DBE0-4A79-9DF4-80A21F1366A1}">
          <p14:sldIdLst>
            <p14:sldId id="3582"/>
            <p14:sldId id="3583"/>
            <p14:sldId id="549"/>
            <p14:sldId id="3520"/>
            <p14:sldId id="3521"/>
            <p14:sldId id="3540"/>
            <p14:sldId id="3562"/>
            <p14:sldId id="3597"/>
            <p14:sldId id="3584"/>
            <p14:sldId id="3592"/>
            <p14:sldId id="3586"/>
            <p14:sldId id="3587"/>
            <p14:sldId id="3588"/>
            <p14:sldId id="3589"/>
            <p14:sldId id="3590"/>
            <p14:sldId id="3591"/>
            <p14:sldId id="3593"/>
            <p14:sldId id="3546"/>
            <p14:sldId id="3574"/>
            <p14:sldId id="3527"/>
            <p14:sldId id="3528"/>
            <p14:sldId id="3575"/>
            <p14:sldId id="3548"/>
            <p14:sldId id="3549"/>
            <p14:sldId id="3550"/>
            <p14:sldId id="3551"/>
            <p14:sldId id="3576"/>
            <p14:sldId id="3552"/>
            <p14:sldId id="3566"/>
            <p14:sldId id="3577"/>
            <p14:sldId id="3568"/>
            <p14:sldId id="3578"/>
            <p14:sldId id="3556"/>
            <p14:sldId id="3594"/>
            <p14:sldId id="3595"/>
            <p14:sldId id="3538"/>
            <p14:sldId id="3596"/>
            <p14:sldId id="3557"/>
            <p14:sldId id="3558"/>
            <p14:sldId id="3533"/>
            <p14:sldId id="3559"/>
            <p14:sldId id="3563"/>
            <p14:sldId id="3561"/>
          </p14:sldIdLst>
        </p14:section>
        <p14:section name="3.4 데이터 아키텍처 설계" id="{6670D9B6-DC5B-4928-A8EB-266F0CD02221}">
          <p14:sldIdLst/>
        </p14:section>
        <p14:section name="3.5 인프라 아키텍처 설계" id="{9FB81503-F2D5-4BC2-B568-52409D323832}">
          <p14:sldIdLst/>
        </p14:section>
        <p14:section name="3.6 국정자원 공통기반 설계" id="{68F061AB-01CF-4232-AA9A-D5035E6F69DD}">
          <p14:sldIdLst/>
        </p14:section>
        <p14:section name="3.7 재해복구 운영체계 수립" id="{1CD9054A-C6D8-4EBB-A315-0A574E1E057F}">
          <p14:sldIdLst/>
        </p14:section>
        <p14:section name="3.8 단계별 추진 방안" id="{27D91152-4258-4E0F-A5F7-D48A25481D2D}">
          <p14:sldIdLst/>
        </p14:section>
        <p14:section name="작성방법" id="{407B7739-4410-4FD6-A9A6-3C3BEA37B239}">
          <p14:sldIdLst/>
        </p14:section>
        <p14:section name="기본 template" id="{B6FE0CFF-A576-4024-8BD1-BE5D2ECA753C}">
          <p14:sldIdLst/>
        </p14:section>
        <p14:section name="예시 장표 - 과제" id="{1927F80E-6048-4C2D-A1C4-AB5C683A2CE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6F6F6F"/>
    <a:srgbClr val="0367B0"/>
    <a:srgbClr val="243B7C"/>
    <a:srgbClr val="1E3B7D"/>
    <a:srgbClr val="F2F7FB"/>
    <a:srgbClr val="C0DAFF"/>
    <a:srgbClr val="E3E5ED"/>
    <a:srgbClr val="FFFFFF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96121" autoAdjust="0"/>
  </p:normalViewPr>
  <p:slideViewPr>
    <p:cSldViewPr>
      <p:cViewPr varScale="1">
        <p:scale>
          <a:sx n="106" d="100"/>
          <a:sy n="106" d="100"/>
        </p:scale>
        <p:origin x="19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40"/>
    </p:cViewPr>
  </p:sorterViewPr>
  <p:notesViewPr>
    <p:cSldViewPr showGuides="1">
      <p:cViewPr varScale="1">
        <p:scale>
          <a:sx n="76" d="100"/>
          <a:sy n="76" d="100"/>
        </p:scale>
        <p:origin x="3252" y="9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5240E1-1D6F-4BF0-9CAF-F4458E0A4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D70750-128B-4279-9CAD-F76522EF42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BC91-BF05-4BC2-9406-031D69A53815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D3B13-8931-49AB-B20A-E84938F01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26D7-1A18-4D94-9479-F3197EC46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9607-38E0-495A-A3E9-8966F92D4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50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84C3169-C429-485D-9437-72DA76DC4C05}" type="datetimeFigureOut">
              <a:rPr lang="ko-KR" altLang="en-US" smtClean="0"/>
              <a:pPr/>
              <a:t>2026-10-08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DF3CFAF2-8196-4A42-BE12-AEF6A18FB9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C452D816-4A33-4619-9DC0-C19680555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텍스트 개체 틀 27">
            <a:extLst>
              <a:ext uri="{FF2B5EF4-FFF2-40B4-BE49-F238E27FC236}">
                <a16:creationId xmlns:a16="http://schemas.microsoft.com/office/drawing/2014/main" id="{0AC63EAE-30D6-4ECF-A298-6145BA5DC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99EBFD-A6F4-4DA0-B05C-00374253C3B9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005351-1CAE-4882-AF1E-4B01C61313DF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DBADE982-8ECA-4D34-8AA2-3BA71FFE7609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4A87196-B3B9-4387-A049-26148A11BE4C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FFFFBE-E43E-4A32-A275-EF9DE56964E0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33F922-A8C2-44DE-B3DF-FBC2E2F73D67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8729E427-4D62-4B94-9372-45D09B5B1CCE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D883B373-EAEE-4C85-ABDD-50A8B01C3D8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A9E16C9-FB53-4752-9F8D-F629827C0C4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B69F08-82E4-4896-8CE9-D1C767535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A7AF4C-E472-4D2A-9D71-A28FA3CE2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3E148EE7-9D39-4AE1-96B6-C2956F6AF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70BBE-9DE5-40CC-A1DF-7638AE0E93A1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8B8FA-8135-4E09-93E6-A2C7F6A28CF1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0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표모델_레벨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6911B4E3-E4D6-7EFE-47B9-A9ADEC57D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81928" y="92252"/>
            <a:ext cx="7047336" cy="238917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lang="ko-KR" altLang="en-US" sz="10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43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04F4DD-5CA6-4CF5-A990-25D894EA5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H="1">
            <a:off x="5666730" y="0"/>
            <a:ext cx="4239270" cy="252215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E31626-AA4A-413B-9B5F-8B2A15C42E50}"/>
              </a:ext>
            </a:extLst>
          </p:cNvPr>
          <p:cNvSpPr/>
          <p:nvPr userDrawn="1"/>
        </p:nvSpPr>
        <p:spPr>
          <a:xfrm>
            <a:off x="0" y="5709162"/>
            <a:ext cx="9906000" cy="1148838"/>
          </a:xfrm>
          <a:prstGeom prst="rect">
            <a:avLst/>
          </a:prstGeom>
          <a:solidFill>
            <a:srgbClr val="3C3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8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4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C1756-51FD-4B0D-A1B7-9137C185667A}"/>
              </a:ext>
            </a:extLst>
          </p:cNvPr>
          <p:cNvGrpSpPr/>
          <p:nvPr userDrawn="1"/>
        </p:nvGrpSpPr>
        <p:grpSpPr>
          <a:xfrm>
            <a:off x="-2787860" y="332656"/>
            <a:ext cx="2556284" cy="4140460"/>
            <a:chOff x="-2859869" y="1916832"/>
            <a:chExt cx="2108132" cy="4140460"/>
          </a:xfrm>
        </p:grpSpPr>
        <p:sp>
          <p:nvSpPr>
            <p:cNvPr id="19" name="AutoShape 89">
              <a:extLst>
                <a:ext uri="{FF2B5EF4-FFF2-40B4-BE49-F238E27FC236}">
                  <a16:creationId xmlns:a16="http://schemas.microsoft.com/office/drawing/2014/main" id="{201D8A8D-B55A-498E-C35A-2C4E854BB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859868" y="1916832"/>
              <a:ext cx="2108131" cy="4140460"/>
            </a:xfrm>
            <a:prstGeom prst="roundRect">
              <a:avLst>
                <a:gd name="adj" fmla="val 495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tIns="0" anchor="t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2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강조용 </a:t>
              </a:r>
              <a:r>
                <a:rPr lang="ko-KR" altLang="en-US" sz="1200" dirty="0" err="1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기준색</a:t>
              </a:r>
              <a:endParaRPr lang="ko-KR" altLang="en-US" sz="12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AutoShape 96">
              <a:extLst>
                <a:ext uri="{FF2B5EF4-FFF2-40B4-BE49-F238E27FC236}">
                  <a16:creationId xmlns:a16="http://schemas.microsoft.com/office/drawing/2014/main" id="{F7EB1751-BAEE-D48E-7721-35A7C364B1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220463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1E3B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1. #1e3b7d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ECCEF35-A9FA-291C-27DB-4BDCE61AF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646044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2. #FFFFFF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93E079DB-AF33-6FB2-B2F1-F4A0B51B19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49720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C0D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4. #C0DAFF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6" name="AutoShape 110">
              <a:extLst>
                <a:ext uri="{FF2B5EF4-FFF2-40B4-BE49-F238E27FC236}">
                  <a16:creationId xmlns:a16="http://schemas.microsoft.com/office/drawing/2014/main" id="{8B5EC07F-F599-52D8-D8D0-BD3BF381D2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92278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243B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5. #243B7C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AutoShape 110">
              <a:extLst>
                <a:ext uri="{FF2B5EF4-FFF2-40B4-BE49-F238E27FC236}">
                  <a16:creationId xmlns:a16="http://schemas.microsoft.com/office/drawing/2014/main" id="{CF07625B-40BA-30E5-B577-D0D071E312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357961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36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6. #0367B0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7" name="AutoShape 89">
              <a:extLst>
                <a:ext uri="{FF2B5EF4-FFF2-40B4-BE49-F238E27FC236}">
                  <a16:creationId xmlns:a16="http://schemas.microsoft.com/office/drawing/2014/main" id="{AD04E026-0C0B-DDBC-E362-C32E865E5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07162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FFC0C0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3. #FFC0C0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사각형: 둥근 모서리 6">
              <a:extLst>
                <a:ext uri="{FF2B5EF4-FFF2-40B4-BE49-F238E27FC236}">
                  <a16:creationId xmlns:a16="http://schemas.microsoft.com/office/drawing/2014/main" id="{F919807F-19AA-2DEB-8FD6-D8F45BC37188}"/>
                </a:ext>
              </a:extLst>
            </p:cNvPr>
            <p:cNvSpPr/>
            <p:nvPr userDrawn="1"/>
          </p:nvSpPr>
          <p:spPr>
            <a:xfrm>
              <a:off x="-2859869" y="2162173"/>
              <a:ext cx="2016225" cy="3895119"/>
            </a:xfrm>
            <a:prstGeom prst="roundRect">
              <a:avLst>
                <a:gd name="adj" fmla="val 10586"/>
              </a:avLst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9" name="AutoShape 110">
              <a:extLst>
                <a:ext uri="{FF2B5EF4-FFF2-40B4-BE49-F238E27FC236}">
                  <a16:creationId xmlns:a16="http://schemas.microsoft.com/office/drawing/2014/main" id="{F10FD422-482D-4F14-97FA-5D5AC7E562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17977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6F6F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8. #6F6F6F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AutoShape 110">
              <a:extLst>
                <a:ext uri="{FF2B5EF4-FFF2-40B4-BE49-F238E27FC236}">
                  <a16:creationId xmlns:a16="http://schemas.microsoft.com/office/drawing/2014/main" id="{D3B7F724-42ED-42CE-B4A5-8F6491902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614950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9. #000000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AutoShape 110">
              <a:extLst>
                <a:ext uri="{FF2B5EF4-FFF2-40B4-BE49-F238E27FC236}">
                  <a16:creationId xmlns:a16="http://schemas.microsoft.com/office/drawing/2014/main" id="{D0C32F79-A09B-401A-8086-EE72F162AF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768868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3C34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 rtl="0"/>
              <a:r>
                <a:rPr lang="ko-KR" altLang="en-US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7. #3C3463</a:t>
              </a:r>
              <a:endParaRPr lang="ko-KR" altLang="en-US" sz="1400" b="1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AutoShape 110">
            <a:extLst>
              <a:ext uri="{FF2B5EF4-FFF2-40B4-BE49-F238E27FC236}">
                <a16:creationId xmlns:a16="http://schemas.microsoft.com/office/drawing/2014/main" id="{08509149-6B99-4870-866F-20A5807E8C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84473" y="4807167"/>
            <a:ext cx="2261445" cy="100069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색상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10. 000000</a:t>
            </a:r>
            <a:b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표 테두리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</a:t>
            </a: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모든 테두리</a:t>
            </a:r>
            <a:endParaRPr lang="en-US" altLang="ko-KR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테두리 두께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0.25</a:t>
            </a:r>
            <a:endParaRPr lang="ko-KR" altLang="en-US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38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8" r:id="rId3"/>
    <p:sldLayoutId id="2147483696" r:id="rId4"/>
    <p:sldLayoutId id="214748369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조회는 주·DR센터가 동시에, 쓰기는 주센터로 모으는 A-A는 DR센터 조회 전용 DB(ADG) 위에서 응용이 정상 동작해야 성립함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[검증 1/5] A-A 응용 아키텍처 (13장)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부동산종합공부시스템 DR 목표 설계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3.3 애플리케이션 아키텍처 설계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3.3.4 응용 아키텍처 DR 설계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83464" y="1664208"/>
            <a:ext cx="274320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핵심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" y="1984248"/>
            <a:ext cx="2743200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GSLB·도메인으로 조회는 센터 간 분산, 쓰기는 주센터 고정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DR센터 DB는 주센터 DB의 조회 전용 복제본(오라클 ADG), 세션은 센터 간 양방향 복제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단일 빌드 산출물, CubeOne 암호화 키·정책 동일 적용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DR센터의 쓰기는 DML Redirect로 주센터 DB에 전달하되 제한적 적용(응답 지연)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154680" y="1664208"/>
            <a:ext cx="644652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검증이 필요한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54680" y="1984248"/>
          <a:ext cx="6446520" cy="341071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14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검증 항목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확인 방법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조회 전용 DB(ADG Standby)에서 응용 동작 (임시 테이블·로그·이력 쓰기, 시퀀스 사용 여부)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응용의 DB 쓰기 지점 조사, DR센터 조회 전용 환경 PoC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DML Redirect 적용 시 응답 지연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미확인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센터 간 왕복 지연 실측, 적용 범위(예외 경로) 확정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쓰기 라우팅 누락 방지 (GSLB 쓰기 주센터 고정)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  <a:latin typeface="나눔고딕"/>
                        </a:rPr>
                        <a:t>정의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쓰기 트랜잭션 목록 및 GSLB 라우팅 규칙 확정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세션(Redis) 센터 간 양방향 복제 충돌·지연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복제 지연 허용 기준, 충돌 시 처리 정책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상용SW 센터 간 동시 기동 제한 (A-A 불가 요인)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벤더 확인 후 DR 구성 고려사항표에 반영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83464" y="5650992"/>
            <a:ext cx="9317736" cy="73152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000" b="1">
                <a:solidFill>
                  <a:srgbClr val="E07B00"/>
                </a:solidFill>
                <a:latin typeface="나눔고딕"/>
              </a:rPr>
              <a:t>검증 시 유의  </a:t>
            </a:r>
            <a:r>
              <a:rPr sz="1000" b="0">
                <a:solidFill>
                  <a:srgbClr val="000000"/>
                </a:solidFill>
                <a:latin typeface="나눔고딕"/>
              </a:rPr>
              <a:t>“A-A 불가 제약 없음”으로 쓰지 않고 “확인된 제약 없음 (미확인 항목 있음)”으로 표기하며, 미확인 항목은 구축 전 검증 대상으로 명시한다.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S존→S2존 이관은 OpenShift Virtualization V2V로 단일화하되, 상용SW 지원 범위와 라이선스 조건은 확인이 필요함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[검증 2/5] DR 구성 시 SW 이관 (17장)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부동산종합공부시스템 DR 목표 설계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3.3 애플리케이션 아키텍처 설계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3.3.4 응용 아키텍처 DR 설계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83464" y="1664208"/>
            <a:ext cx="274320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핵심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" y="1984248"/>
            <a:ext cx="2743200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이관 방식을 OpenShift Virtualization V2V로 단일화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컨테이너 전환은 응용 전면 재구성이 필요해 제외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이미지 복제 미지원 SW는 재설치·재인증 적용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이관 전후 버전·체크섬 비교와 기능 시험(발급·연계·GIS 표출·인증·출력)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154680" y="1664208"/>
            <a:ext cx="644652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검증이 필요한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54680" y="1984248"/>
          <a:ext cx="6446520" cy="341071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14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검증 항목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확인 방법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상용SW 벤더의 OpenShift Virtualization 지원 범위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벤더 질의, 미지원 시 재설치로 전환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V2V 시 UUID·MAC 변경에 따른 라이선스 무효화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벤더 재발급·재인증 조건 확인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GIS(MapPrime) 이관 후 공간 연산·표출 (센터 간 CPU 명령어 세트 차이, 경로 고정)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실측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이관 후 실측 시험 (최우선), 경로 재설정 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스토리지 I/O 변화로 GIS 공간 쿼리·대용량 첨부 응답 저하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실측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응용 성능 실측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응용의 고정 IP 전제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접속주소 외부화 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83464" y="5650992"/>
            <a:ext cx="9317736" cy="73152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000" b="1">
                <a:solidFill>
                  <a:srgbClr val="E07B00"/>
                </a:solidFill>
                <a:latin typeface="나눔고딕"/>
              </a:rPr>
              <a:t>검증 시 유의  </a:t>
            </a:r>
            <a:r>
              <a:rPr sz="1000" b="0">
                <a:solidFill>
                  <a:srgbClr val="000000"/>
                </a:solidFill>
                <a:latin typeface="나눔고딕"/>
              </a:rPr>
              <a:t>벤더 확인 결과는 출처(문의 일자·답변)와 함께 기록하고, 확인되지 않은 항목은 “지원 가능”으로 표기하지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NAS 쓰기는 주센터에 모으고 DR센터는 조회 전용으로 두되, 복제 시차로 파일이 없으면 주센터에서 실시간 조회하여 조회 실패를 막는 구조임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[검증 3/5] NAS 쓰기 단일화 (35장)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부동산종합공부시스템 DR 목표 설계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3.3 애플리케이션 아키텍처 설계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3.3.4 응용 아키텍처 DR 설계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83464" y="1664208"/>
            <a:ext cx="274320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핵심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" y="1984248"/>
            <a:ext cx="2743200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NAS 쓰기는 주센터 집중, 주센터→DR센터 단방향 복제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DR센터 로컬 우선 조회 → 미존재 시 주센터 NAS 실시간 조회 → 로컬 캐시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대체 조회 로직은 파일 조회 공통 모듈에 개발하여 적용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대용량 파일은 스트리밍 전달, 파일 크기별 타임아웃 차등 적용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154680" y="1664208"/>
            <a:ext cx="644652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검증이 필요한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54680" y="1984248"/>
          <a:ext cx="6446520" cy="3410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14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검증 항목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확인 방법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78409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복제 시차로 미복제 구간이 발생하는 빈도·최대 지연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미조사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NAS 복제 지연 실측, 파일 유형별 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78409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대체 조회 로직의 적용 범위 (모든 업무의 파일 조회 지점)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첨부·공간데이터 파일 조회 지점 식별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78409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대용량 파일 스트리밍 전달·전송 타임아웃 기준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미정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파일 크기별 기준 정의 후 시험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78409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주센터 장애 시 원격 조회 불가 구간의 처리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  <a:latin typeface="나눔고딕"/>
                        </a:rPr>
                        <a:t>정의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보류 처리 후 복구 시 보정·대사 절차 정의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83464" y="5650992"/>
            <a:ext cx="9317736" cy="73152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000" b="1">
                <a:solidFill>
                  <a:srgbClr val="E07B00"/>
                </a:solidFill>
                <a:latin typeface="나눔고딕"/>
              </a:rPr>
              <a:t>검증 시 유의  </a:t>
            </a:r>
            <a:r>
              <a:rPr sz="1000" b="0">
                <a:solidFill>
                  <a:srgbClr val="000000"/>
                </a:solidFill>
                <a:latin typeface="나눔고딕"/>
              </a:rPr>
              <a:t>주센터가 장애일 때는 원격 조회가 불가하므로, “조회 실패가 발생하지 않는다”는 표현 대신 “복제 시차 구간의 조회 실패를 최소화한다”로 쓰는 것이 안전하다.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응용 수정 범위를 8개 영역으로 정의하고 표본 실측으로 개략 규모를 산정하며, 차세대 구축사업(3차) 완료 시점의 형상으로 재산정하여 확정함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[검증 4/5] 응용 수정 범위·공수 (36장)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부동산종합공부시스템 DR 목표 설계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3.3 애플리케이션 아키텍처 설계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3.3.4 응용 아키텍처 DR 설계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83464" y="1664208"/>
            <a:ext cx="274320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핵심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" y="1984248"/>
            <a:ext cx="2743200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수정 범위는 접속주소 외부화 외 7개를 더한 8개 영역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A-A에서만 필수인 영역은 쓰기 라우팅 대응(③), 파일 조회(⑧)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산정 절차: 범위 정의 → 대상 식별 → 표본 3~5건 실측 → 개략 규모 → 구축 완료 후 재산정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산식: 영역별 공수 = 대상 건수 × 건당 공수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154680" y="1664208"/>
            <a:ext cx="644652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검증이 필요한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54680" y="1984248"/>
          <a:ext cx="6446520" cy="341071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14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검증 항목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확인 방법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③ 쓰기 라우팅: 업무 시스템별 조회 이력 기록 지점 수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미조사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업무 시스템별 URL 호출 분석 (난이도 상)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④ 연계: 중복 방지 식별값·처리이력 보유 여부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미확인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표준연계 목록과 대조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⑧ 파일 조회: 공통 모듈 집중 여부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첨부·공간데이터 조회 지점 식별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① 접속주소: IP 하드코딩 소스·설정 규모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미조사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소스 IP 패턴 검색, 호출 연계 정의서 대조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건당 공수 및 업무 시스템 수 등 산정 전제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표본 실측, 현황 확인 후 확정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83464" y="5650992"/>
            <a:ext cx="9317736" cy="73152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000" b="1">
                <a:solidFill>
                  <a:srgbClr val="E07B00"/>
                </a:solidFill>
                <a:latin typeface="나눔고딕"/>
              </a:rPr>
              <a:t>검증 시 유의  </a:t>
            </a:r>
            <a:r>
              <a:rPr sz="1000" b="0">
                <a:solidFill>
                  <a:srgbClr val="000000"/>
                </a:solidFill>
                <a:latin typeface="나눔고딕"/>
              </a:rPr>
              <a:t>개략 공수는 확정값이 아니며, 목표모델(A-A·A-S) 결정과 3차 구축 완료 시점의 형상 확인 결과에 따라 달라질 수 있다고 명시한다.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연계 WEB·WAS·GIS·DB를 DR센터에 동일 구성하고, 도메인 호출 기관은 GSLB로, IP 고정 호출 기관은 VIP 이원화로 접속을 전환하는 구조임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[검증 5/5] 연계 아키텍처 DR (41장)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부동산종합공부시스템 DR 목표 설계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3.3 애플리케이션 아키텍처 설계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3.3.5 연계 아키텍처 DR 설계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83464" y="1664208"/>
            <a:ext cx="274320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핵심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" y="1984248"/>
            <a:ext cx="2743200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연계 WEB·WAS·GIS·배치를 DR센터에 동일 구성 (상시 기동)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도메인(DNS) 호출 기관은 GSLB가 활성 센터 VIP로 자동 전환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IP 고정 호출 기관은 주·DR센터 VIP 2개를 사전 등록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나눔고딕"/>
              </a:rPr>
              <a:t>• 배치는 DB 활성 센터 한 곳에서만 실행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154680" y="1664208"/>
            <a:ext cx="6446520" cy="320040"/>
          </a:xfrm>
          <a:prstGeom prst="round2Same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나눔고딕 ExtraBold"/>
              </a:rPr>
              <a:t>검증이 필요한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54680" y="1984248"/>
          <a:ext cx="6446520" cy="341071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914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검증 항목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현재 상태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나눔고딕"/>
                        </a:rPr>
                        <a:t>확인 방법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IP로 직접 호출하는 연계기관의 규모와 도메인 전환 협의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나눔고딕"/>
                        </a:rPr>
                        <a:t>미조사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WEB 접근 로그의 Host 헤더로 기관별 집계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연계기관 DNS 캐시(TTL) 갱신 시점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확인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기관별 TTL·프록시 경유 여부 사전 확인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DR센터 출발 IP의 연계기관 방화벽 사전 허용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07B00"/>
                          </a:solidFill>
                          <a:latin typeface="나눔고딕"/>
                        </a:rPr>
                        <a:t>협의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기관별 허용 요청, 개발→운영 2단계 신청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연계DB·업무DB 복구 시점 일치 기준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  <a:latin typeface="나눔고딕"/>
                        </a:rPr>
                        <a:t>정의 필요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복구 후 대사·보정 기준 정의</a:t>
                      </a:r>
                    </a:p>
                  </a:txBody>
                  <a:tcPr marL="54864" marR="54864" anchor="ctr">
                    <a:solidFill>
                      <a:srgbClr val="F7F7F7"/>
                    </a:solidFill>
                  </a:tcPr>
                </a:tc>
              </a:tr>
              <a:tr h="62727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전환 시점 미처리 건의 재전송·중복 제거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  <a:latin typeface="나눔고딕"/>
                        </a:rPr>
                        <a:t>정의 필요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나눔고딕"/>
                        </a:rPr>
                        <a:t>연계 건 식별값·처리이력 보유 확인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83464" y="5650992"/>
            <a:ext cx="9317736" cy="73152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 w="12700">
            <a:solidFill>
              <a:srgbClr val="E0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000" b="1">
                <a:solidFill>
                  <a:srgbClr val="E07B00"/>
                </a:solidFill>
                <a:latin typeface="나눔고딕"/>
              </a:rPr>
              <a:t>검증 시 유의  </a:t>
            </a:r>
            <a:r>
              <a:rPr sz="1000" b="0">
                <a:solidFill>
                  <a:srgbClr val="000000"/>
                </a:solidFill>
                <a:latin typeface="나눔고딕"/>
              </a:rPr>
              <a:t>연계기관 협의는 일정이 길 수 있으므로, 협의 대상 기관 목록과 요청 일정을 먼저 확정하고 전환 훈련 때 실트래픽으로 검증한다.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1">
              <a:lumMod val="50000"/>
            </a:schemeClr>
          </a:solidFill>
        </a:ln>
      </a:spPr>
      <a:bodyPr lIns="72000" tIns="36000" rIns="72000" bIns="36000"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 anchorCtr="0">
        <a:spAutoFit/>
      </a:bodyPr>
      <a:lstStyle>
        <a:defPPr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E55235-2B6A-4416-8E3B-0AA7EB7F34FB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b6928ab-2b24-46eb-9228-24daec2ba0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21793</TotalTime>
  <Words>14177</Words>
  <Application>Microsoft Office PowerPoint</Application>
  <PresentationFormat>A4 용지(210x297mm)</PresentationFormat>
  <Paragraphs>2666</Paragraphs>
  <Slides>43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60" baseType="lpstr">
      <vt:lpstr>anthropic-mono</vt:lpstr>
      <vt:lpstr>HY헤드라인M</vt:lpstr>
      <vt:lpstr>KoPub돋움체 Bold</vt:lpstr>
      <vt:lpstr>KoPub돋움체 Medium</vt:lpstr>
      <vt:lpstr>Nanum Gothic</vt:lpstr>
      <vt:lpstr>NanumSquare</vt:lpstr>
      <vt:lpstr>나눔고딕</vt:lpstr>
      <vt:lpstr>나눔고딕 (본문)</vt:lpstr>
      <vt:lpstr>나눔고딕 Bold</vt:lpstr>
      <vt:lpstr>나눔고딕 ExtraBold</vt:lpstr>
      <vt:lpstr>맑은 고딕</vt:lpstr>
      <vt:lpstr>맑은 고딕</vt:lpstr>
      <vt:lpstr>페이퍼로지 7 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목표모델</dc:title>
  <dc:creator>넥스트아이앤아이 컨소시엄</dc:creator>
  <cp:lastModifiedBy>user</cp:lastModifiedBy>
  <cp:revision>1490</cp:revision>
  <cp:lastPrinted>2026-08-11T04:07:45Z</cp:lastPrinted>
  <dcterms:created xsi:type="dcterms:W3CDTF">2017-09-21T02:10:08Z</dcterms:created>
  <dcterms:modified xsi:type="dcterms:W3CDTF">2026-10-08T05:15:18Z</dcterms:modified>
</cp:coreProperties>
</file>