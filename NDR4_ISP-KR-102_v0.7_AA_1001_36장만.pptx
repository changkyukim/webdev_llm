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4"/>
  </p:notesMasterIdLst>
  <p:handoutMasterIdLst>
    <p:handoutMasterId r:id="rId45"/>
  </p:handoutMasterIdLst>
  <p:sldIdLst>
    <p:sldId id="3539" r:id="rId3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목표모델 개요" id="{444112DE-BA6C-4801-889E-2890A87172FB}">
          <p14:sldIdLst>
            <p14:sldId id="3582"/>
            <p14:sldId id="3583"/>
          </p14:sldIdLst>
        </p14:section>
        <p14:section name="2. 정보화 비전 및 전략 수립" id="{6FEA03BC-9A00-4AAD-9D0D-67B508509B52}">
          <p14:sldIdLst/>
        </p14:section>
        <p14:section name="3. 부동산종합공부시스템 DR 목표 설계" id="{61C5C6C9-3D5D-41DA-82B6-7342CE4D4AEC}">
          <p14:sldIdLst/>
        </p14:section>
        <p14:section name="3.2 목표 아키텍처 설계" id="{B920E1E9-F0BF-4478-AC24-4AC9B37E11B8}">
          <p14:sldIdLst/>
        </p14:section>
        <p14:section name="3.3 애플리케이션 아키텍처 설계" id="{6BBDD017-DBE0-4A79-9DF4-80A21F1366A1}">
          <p14:sldIdLst>
            <p14:sldId id="549"/>
            <p14:sldId id="3520"/>
            <p14:sldId id="3521"/>
            <p14:sldId id="3540"/>
            <p14:sldId id="3562"/>
            <p14:sldId id="3584"/>
            <p14:sldId id="3592"/>
            <p14:sldId id="3586"/>
            <p14:sldId id="3587"/>
            <p14:sldId id="3588"/>
            <p14:sldId id="3589"/>
            <p14:sldId id="3590"/>
            <p14:sldId id="3591"/>
            <p14:sldId id="3593"/>
            <p14:sldId id="3546"/>
            <p14:sldId id="3574"/>
            <p14:sldId id="3527"/>
            <p14:sldId id="3528"/>
            <p14:sldId id="3575"/>
            <p14:sldId id="3548"/>
            <p14:sldId id="3549"/>
            <p14:sldId id="3550"/>
            <p14:sldId id="3551"/>
            <p14:sldId id="3576"/>
            <p14:sldId id="3552"/>
            <p14:sldId id="3566"/>
            <p14:sldId id="3577"/>
            <p14:sldId id="3568"/>
            <p14:sldId id="3578"/>
            <p14:sldId id="3556"/>
            <p14:sldId id="3594"/>
            <p14:sldId id="3595"/>
            <p14:sldId id="3538"/>
            <p14:sldId id="3539"/>
            <p14:sldId id="3557"/>
            <p14:sldId id="3558"/>
            <p14:sldId id="3533"/>
            <p14:sldId id="3559"/>
            <p14:sldId id="3563"/>
            <p14:sldId id="3561"/>
          </p14:sldIdLst>
        </p14:section>
        <p14:section name="3.4 데이터 아키텍처 설계" id="{6670D9B6-DC5B-4928-A8EB-266F0CD02221}">
          <p14:sldIdLst/>
        </p14:section>
        <p14:section name="3.5 인프라 아키텍처 설계" id="{9FB81503-F2D5-4BC2-B568-52409D323832}">
          <p14:sldIdLst/>
        </p14:section>
        <p14:section name="3.6 국정자원 공통기반 설계" id="{68F061AB-01CF-4232-AA9A-D5035E6F69DD}">
          <p14:sldIdLst/>
        </p14:section>
        <p14:section name="3.7 재해복구 운영체계 수립" id="{1CD9054A-C6D8-4EBB-A315-0A574E1E057F}">
          <p14:sldIdLst/>
        </p14:section>
        <p14:section name="3.8 단계별 추진 방안" id="{27D91152-4258-4E0F-A5F7-D48A25481D2D}">
          <p14:sldIdLst/>
        </p14:section>
        <p14:section name="작성방법" id="{407B7739-4410-4FD6-A9A6-3C3BEA37B239}">
          <p14:sldIdLst/>
        </p14:section>
        <p14:section name="기본 template" id="{B6FE0CFF-A576-4024-8BD1-BE5D2ECA753C}">
          <p14:sldIdLst/>
        </p14:section>
        <p14:section name="예시 장표 - 과제" id="{1927F80E-6048-4C2D-A1C4-AB5C683A2CE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  <a:srgbClr val="0367B0"/>
    <a:srgbClr val="243B7C"/>
    <a:srgbClr val="1E3B7D"/>
    <a:srgbClr val="F2F7FB"/>
    <a:srgbClr val="C0DAFF"/>
    <a:srgbClr val="E3E5ED"/>
    <a:srgbClr val="FFFFFF"/>
    <a:srgbClr val="1C1C1C"/>
    <a:srgbClr val="3C34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96121" autoAdjust="0"/>
  </p:normalViewPr>
  <p:slideViewPr>
    <p:cSldViewPr>
      <p:cViewPr varScale="1">
        <p:scale>
          <a:sx n="106" d="100"/>
          <a:sy n="106" d="100"/>
        </p:scale>
        <p:origin x="19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40"/>
    </p:cViewPr>
  </p:sorterViewPr>
  <p:notesViewPr>
    <p:cSldViewPr showGuides="1">
      <p:cViewPr varScale="1">
        <p:scale>
          <a:sx n="76" d="100"/>
          <a:sy n="76" d="100"/>
        </p:scale>
        <p:origin x="3252" y="96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7" Type="http://schemas.openxmlformats.org/officeDocument/2006/relationships/slide" Target="slides/slide36.xml"/><Relationship Id="rId44" Type="http://schemas.openxmlformats.org/officeDocument/2006/relationships/notesMaster" Target="notesMasters/notesMaster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5240E1-1D6F-4BF0-9CAF-F4458E0A4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D70750-128B-4279-9CAD-F76522EF42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BC91-BF05-4BC2-9406-031D69A53815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AD3B13-8931-49AB-B20A-E84938F01D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26D7-1A18-4D94-9479-F3197EC46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9607-38E0-495A-A3E9-8966F92D4D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50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84C3169-C429-485D-9437-72DA76DC4C05}" type="datetimeFigureOut">
              <a:rPr lang="ko-KR" altLang="en-US" smtClean="0"/>
              <a:pPr/>
              <a:t>2026-10-02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89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DF3CFAF2-8196-4A42-BE12-AEF6A18FB92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9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C452D816-4A33-4619-9DC0-C19680555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텍스트 개체 틀 27">
            <a:extLst>
              <a:ext uri="{FF2B5EF4-FFF2-40B4-BE49-F238E27FC236}">
                <a16:creationId xmlns:a16="http://schemas.microsoft.com/office/drawing/2014/main" id="{0AC63EAE-30D6-4ECF-A298-6145BA5DC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599EBFD-A6F4-4DA0-B05C-00374253C3B9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005351-1CAE-4882-AF1E-4B01C61313DF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DBADE982-8ECA-4D34-8AA2-3BA71FFE7609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D4A87196-B3B9-4387-A049-26148A11BE4C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FFFFBE-E43E-4A32-A275-EF9DE56964E0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33F922-A8C2-44DE-B3DF-FBC2E2F73D67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8729E427-4D62-4B94-9372-45D09B5B1CCE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8" name="평행 사변형 17">
              <a:extLst>
                <a:ext uri="{FF2B5EF4-FFF2-40B4-BE49-F238E27FC236}">
                  <a16:creationId xmlns:a16="http://schemas.microsoft.com/office/drawing/2014/main" id="{D883B373-EAEE-4C85-ABDD-50A8B01C3D8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A9E16C9-FB53-4752-9F8D-F629827C0C4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1B69F08-82E4-4896-8CE9-D1C767535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A7AF4C-E472-4D2A-9D71-A28FA3CE2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23" name="텍스트 개체 틀 9">
            <a:extLst>
              <a:ext uri="{FF2B5EF4-FFF2-40B4-BE49-F238E27FC236}">
                <a16:creationId xmlns:a16="http://schemas.microsoft.com/office/drawing/2014/main" id="{3E148EE7-9D39-4AE1-96B6-C2956F6AFC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70BBE-9DE5-40CC-A1DF-7638AE0E93A1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78B8FA-8135-4E09-93E6-A2C7F6A28CF1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0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표모델_레벨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6911B4E3-E4D6-7EFE-47B9-A9ADEC57D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81928" y="92252"/>
            <a:ext cx="7047336" cy="238917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lang="ko-KR" altLang="en-US" sz="10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43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904F4DD-5CA6-4CF5-A990-25D894EA5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H="1">
            <a:off x="5666730" y="0"/>
            <a:ext cx="4239270" cy="252215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E31626-AA4A-413B-9B5F-8B2A15C42E50}"/>
              </a:ext>
            </a:extLst>
          </p:cNvPr>
          <p:cNvSpPr/>
          <p:nvPr userDrawn="1"/>
        </p:nvSpPr>
        <p:spPr>
          <a:xfrm>
            <a:off x="0" y="5709162"/>
            <a:ext cx="9906000" cy="1148838"/>
          </a:xfrm>
          <a:prstGeom prst="rect">
            <a:avLst/>
          </a:prstGeom>
          <a:solidFill>
            <a:srgbClr val="3C3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8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4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DC1756-51FD-4B0D-A1B7-9137C185667A}"/>
              </a:ext>
            </a:extLst>
          </p:cNvPr>
          <p:cNvGrpSpPr/>
          <p:nvPr userDrawn="1"/>
        </p:nvGrpSpPr>
        <p:grpSpPr>
          <a:xfrm>
            <a:off x="-2787860" y="332656"/>
            <a:ext cx="2556284" cy="4140460"/>
            <a:chOff x="-2859869" y="1916832"/>
            <a:chExt cx="2108132" cy="4140460"/>
          </a:xfrm>
        </p:grpSpPr>
        <p:sp>
          <p:nvSpPr>
            <p:cNvPr id="19" name="AutoShape 89">
              <a:extLst>
                <a:ext uri="{FF2B5EF4-FFF2-40B4-BE49-F238E27FC236}">
                  <a16:creationId xmlns:a16="http://schemas.microsoft.com/office/drawing/2014/main" id="{201D8A8D-B55A-498E-C35A-2C4E854BB8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859868" y="1916832"/>
              <a:ext cx="2108131" cy="4140460"/>
            </a:xfrm>
            <a:prstGeom prst="roundRect">
              <a:avLst>
                <a:gd name="adj" fmla="val 495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tIns="0" anchor="t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2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강조용 </a:t>
              </a:r>
              <a:r>
                <a:rPr lang="ko-KR" altLang="en-US" sz="1200" dirty="0" err="1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기준색</a:t>
              </a:r>
              <a:endParaRPr lang="ko-KR" altLang="en-US" sz="12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AutoShape 96">
              <a:extLst>
                <a:ext uri="{FF2B5EF4-FFF2-40B4-BE49-F238E27FC236}">
                  <a16:creationId xmlns:a16="http://schemas.microsoft.com/office/drawing/2014/main" id="{F7EB1751-BAEE-D48E-7721-35A7C364B1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220463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1E3B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1. #1e3b7d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AutoShape 89">
              <a:extLst>
                <a:ext uri="{FF2B5EF4-FFF2-40B4-BE49-F238E27FC236}">
                  <a16:creationId xmlns:a16="http://schemas.microsoft.com/office/drawing/2014/main" id="{9ECCEF35-A9FA-291C-27DB-4BDCE61AF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646044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2. #FFFFFF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93E079DB-AF33-6FB2-B2F1-F4A0B51B19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49720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C0D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4. #C0DAFF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6" name="AutoShape 110">
              <a:extLst>
                <a:ext uri="{FF2B5EF4-FFF2-40B4-BE49-F238E27FC236}">
                  <a16:creationId xmlns:a16="http://schemas.microsoft.com/office/drawing/2014/main" id="{8B5EC07F-F599-52D8-D8D0-BD3BF381D2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92278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243B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5. #243B7C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AutoShape 110">
              <a:extLst>
                <a:ext uri="{FF2B5EF4-FFF2-40B4-BE49-F238E27FC236}">
                  <a16:creationId xmlns:a16="http://schemas.microsoft.com/office/drawing/2014/main" id="{CF07625B-40BA-30E5-B577-D0D071E312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357961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36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6. #0367B0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7" name="AutoShape 89">
              <a:extLst>
                <a:ext uri="{FF2B5EF4-FFF2-40B4-BE49-F238E27FC236}">
                  <a16:creationId xmlns:a16="http://schemas.microsoft.com/office/drawing/2014/main" id="{AD04E026-0C0B-DDBC-E362-C32E865E5D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07162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FFC0C0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3. #FFC0C0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사각형: 둥근 모서리 6">
              <a:extLst>
                <a:ext uri="{FF2B5EF4-FFF2-40B4-BE49-F238E27FC236}">
                  <a16:creationId xmlns:a16="http://schemas.microsoft.com/office/drawing/2014/main" id="{F919807F-19AA-2DEB-8FD6-D8F45BC37188}"/>
                </a:ext>
              </a:extLst>
            </p:cNvPr>
            <p:cNvSpPr/>
            <p:nvPr userDrawn="1"/>
          </p:nvSpPr>
          <p:spPr>
            <a:xfrm>
              <a:off x="-2859869" y="2162173"/>
              <a:ext cx="2016225" cy="3895119"/>
            </a:xfrm>
            <a:prstGeom prst="roundRect">
              <a:avLst>
                <a:gd name="adj" fmla="val 10586"/>
              </a:avLst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9" name="AutoShape 110">
              <a:extLst>
                <a:ext uri="{FF2B5EF4-FFF2-40B4-BE49-F238E27FC236}">
                  <a16:creationId xmlns:a16="http://schemas.microsoft.com/office/drawing/2014/main" id="{F10FD422-482D-4F14-97FA-5D5AC7E562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17977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6F6F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8. #6F6F6F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AutoShape 110">
              <a:extLst>
                <a:ext uri="{FF2B5EF4-FFF2-40B4-BE49-F238E27FC236}">
                  <a16:creationId xmlns:a16="http://schemas.microsoft.com/office/drawing/2014/main" id="{D3B7F724-42ED-42CE-B4A5-8F6491902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614950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9. #000000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AutoShape 110">
              <a:extLst>
                <a:ext uri="{FF2B5EF4-FFF2-40B4-BE49-F238E27FC236}">
                  <a16:creationId xmlns:a16="http://schemas.microsoft.com/office/drawing/2014/main" id="{D0C32F79-A09B-401A-8086-EE72F162AF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768868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3C34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 rtl="0"/>
              <a:r>
                <a:rPr lang="ko-KR" altLang="en-US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7. #3C3463</a:t>
              </a:r>
              <a:endParaRPr lang="ko-KR" altLang="en-US" sz="1400" b="1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0" name="AutoShape 110">
            <a:extLst>
              <a:ext uri="{FF2B5EF4-FFF2-40B4-BE49-F238E27FC236}">
                <a16:creationId xmlns:a16="http://schemas.microsoft.com/office/drawing/2014/main" id="{08509149-6B99-4870-866F-20A5807E8C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84473" y="4807167"/>
            <a:ext cx="2261445" cy="100069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색상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10. 000000</a:t>
            </a:r>
            <a:b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표 테두리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</a:t>
            </a: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모든 테두리</a:t>
            </a:r>
            <a:endParaRPr lang="en-US" altLang="ko-KR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테두리 두께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0.25</a:t>
            </a:r>
            <a:endParaRPr lang="ko-KR" altLang="en-US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38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8" r:id="rId3"/>
    <p:sldLayoutId id="2147483696" r:id="rId4"/>
    <p:sldLayoutId id="214748369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3.3.4.7 DR </a:t>
            </a:r>
            <a:r>
              <a:rPr lang="ko-KR" altLang="en-US">
                <a:solidFill>
                  <a:srgbClr val="000000"/>
                </a:solidFill>
              </a:rPr>
              <a:t>구축에 따른 응용 수정 범위 및 공수 산정 </a:t>
            </a:r>
            <a:r>
              <a:rPr lang="en-US" altLang="ko-KR">
                <a:solidFill>
                  <a:srgbClr val="000000"/>
                </a:solidFill>
              </a:rPr>
              <a:t>(2/2)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대상 건수와 건당 공수에 현황 확정치와 </a:t>
            </a:r>
            <a:r>
              <a:rPr lang="ko-KR" altLang="en-US" dirty="0" err="1"/>
              <a:t>가정값을</a:t>
            </a:r>
            <a:r>
              <a:rPr lang="ko-KR" altLang="en-US" dirty="0"/>
              <a:t> 적용하여 영역별 </a:t>
            </a:r>
            <a:r>
              <a:rPr lang="ko-KR" altLang="en-US" dirty="0" err="1"/>
              <a:t>소요공수를</a:t>
            </a:r>
            <a:r>
              <a:rPr lang="ko-KR" altLang="en-US" dirty="0"/>
              <a:t> 범위로 산정하고</a:t>
            </a:r>
            <a:r>
              <a:rPr lang="en-US" altLang="ko-KR" dirty="0"/>
              <a:t>, </a:t>
            </a:r>
            <a:r>
              <a:rPr lang="ko-KR" altLang="en-US" dirty="0"/>
              <a:t>목표모델 선택에 따른 개발 공수 차이를 비교함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영역별 소요공수 개략 산정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9" name="CF_tpl_354" descr="그림1.png">
            <a:extLst>
              <a:ext uri="{FF2B5EF4-FFF2-40B4-BE49-F238E27FC236}">
                <a16:creationId xmlns:a16="http://schemas.microsoft.com/office/drawing/2014/main" id="{C76A7BE3-F14F-E643-5860-235EEE83A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6884" cy="318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목표모델 선택에 따라 개발 공수가 약 3~8 M/M 차이 (③ 쓰기 라우팅 대응)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 시스템 7개 · 표준연계 20종 · 배치 44종은 현황 확정치, 나머지는 현황 확인 후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A-A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추가 공수는 ③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⑧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에서 발생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—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조회 이력 기록 지점 수를 우선 조사하여 대상 건수 확정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산정 결과를 이행계획 소요예산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입력값으로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활용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2D0CE-5ED2-012C-6061-B395AEF0F335}"/>
              </a:ext>
            </a:extLst>
          </p:cNvPr>
          <p:cNvSpPr/>
          <p:nvPr/>
        </p:nvSpPr>
        <p:spPr>
          <a:xfrm>
            <a:off x="10029564" y="2610839"/>
            <a:ext cx="1332148" cy="1718528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8AB8F-E048-9E32-81B0-29E660EC1133}"/>
              </a:ext>
            </a:extLst>
          </p:cNvPr>
          <p:cNvSpPr txBox="1"/>
          <p:nvPr/>
        </p:nvSpPr>
        <p:spPr>
          <a:xfrm>
            <a:off x="10067664" y="2979883"/>
            <a:ext cx="1255948" cy="98044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RFP </a:t>
            </a:r>
            <a:r>
              <a:rPr lang="ko-KR" altLang="en-US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번호</a:t>
            </a:r>
          </a:p>
          <a:p>
            <a:pPr algn="ctr"/>
            <a:endParaRPr lang="ko-KR" altLang="en-US" sz="4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CNR-001-14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CNR-006-47</a:t>
            </a:r>
          </a:p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CNR-005-46</a:t>
            </a:r>
            <a:endParaRPr lang="ko-KR" altLang="en-US" sz="11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3E1B6E42-FE28-5179-CF80-34AB6A5705B1}"/>
              </a:ext>
            </a:extLst>
          </p:cNvPr>
          <p:cNvSpPr txBox="1"/>
          <p:nvPr/>
        </p:nvSpPr>
        <p:spPr>
          <a:xfrm>
            <a:off x="368300" y="21209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영역별 소요공수 개략 산정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022CC3A4-5027-D9B1-0B29-E1EB782F0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660068"/>
              </p:ext>
            </p:extLst>
          </p:nvPr>
        </p:nvGraphicFramePr>
        <p:xfrm>
          <a:off x="368300" y="2313136"/>
          <a:ext cx="645160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53253479"/>
                    </a:ext>
                  </a:extLst>
                </a:gridCol>
                <a:gridCol w="1105632">
                  <a:extLst>
                    <a:ext uri="{9D8B030D-6E8A-4147-A177-3AD203B41FA5}">
                      <a16:colId xmlns:a16="http://schemas.microsoft.com/office/drawing/2014/main" val="32982108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20025652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105183681"/>
                    </a:ext>
                  </a:extLst>
                </a:gridCol>
                <a:gridCol w="2947020">
                  <a:extLst>
                    <a:ext uri="{9D8B030D-6E8A-4147-A177-3AD203B41FA5}">
                      <a16:colId xmlns:a16="http://schemas.microsoft.com/office/drawing/2014/main" val="261264719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 건수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건당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M/M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소요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M/M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산정 근거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10678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20~60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0.02~0.05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3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타기관 주소는 대부분 설정파일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DB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등록값으로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관리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개별 수정은 상용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· C/S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 한정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1541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2.00~5.00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5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세션 서버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(Redis)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기구축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 구성만 신규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19454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 라우팅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이력 기록 지점 7~21건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4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 × 지점 1~3개 — 공통 모듈 집중 시 감소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023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종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0.10~0.30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6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보유 전제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미보유분만 보완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4458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센터별 설정 분리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설정은 파일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DB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에서 관리 중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 상이 값만 분리 배포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3948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축소 운영 제어</a:t>
                      </a:r>
                      <a:endParaRPr lang="ko-KR" altLang="en-US" sz="85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0.20~0.40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3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개발 후 시스템별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174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헬스체크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7~11 서비스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0.10~0.20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 ~ 2</a:t>
                      </a:r>
                      <a:endParaRPr lang="ko-KR" altLang="en-US" sz="850" b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7개 + 세션 · 연계 · 배치 서버 4개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24254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첨부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파일 조회</a:t>
                      </a:r>
                      <a:endParaRPr lang="ko-KR" altLang="en-US" sz="85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2.00~4.00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4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서빙 공통 모듈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회 개발 후 업무 시스템별 적용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—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분산 시 증가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831190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7D54D358-702B-9F6C-F759-72FD89CDDF6A}"/>
              </a:ext>
            </a:extLst>
          </p:cNvPr>
          <p:cNvSpPr txBox="1"/>
          <p:nvPr/>
        </p:nvSpPr>
        <p:spPr>
          <a:xfrm>
            <a:off x="368300" y="44731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목표모델별 합계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(M/M)</a:t>
            </a:r>
            <a:endParaRPr lang="ko-KR" altLang="en-US" sz="1000" b="1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0BAE81B2-C3EA-AD9F-0CB9-932FA838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91967"/>
              </p:ext>
            </p:extLst>
          </p:nvPr>
        </p:nvGraphicFramePr>
        <p:xfrm>
          <a:off x="368300" y="4665352"/>
          <a:ext cx="64516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176404773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53255662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61407627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분산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1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1951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 소계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11 ~ 28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8 ~ 20 (③ · ⑧ 제외)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61542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통합시험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전환 훈련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개발의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20~30%)</a:t>
                      </a:r>
                      <a:endParaRPr lang="ko-KR" altLang="en-US" sz="850" b="1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3 ~ 9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2 ~ 6</a:t>
                      </a:r>
                      <a:endParaRPr lang="ko-KR" altLang="en-US" sz="850" b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40931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합계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14 ~ 37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10 ~ 26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753410"/>
                  </a:ext>
                </a:extLst>
              </a:tr>
            </a:tbl>
          </a:graphicData>
        </a:graphic>
      </p:graphicFrame>
      <p:sp>
        <p:nvSpPr>
          <p:cNvPr id="10" name="NB_note">
            <a:extLst>
              <a:ext uri="{FF2B5EF4-FFF2-40B4-BE49-F238E27FC236}">
                <a16:creationId xmlns:a16="http://schemas.microsoft.com/office/drawing/2014/main" id="{E6CD85E3-DE79-4349-458F-7BDE0F2B7D84}"/>
              </a:ext>
            </a:extLst>
          </p:cNvPr>
          <p:cNvSpPr txBox="1"/>
          <p:nvPr/>
        </p:nvSpPr>
        <p:spPr>
          <a:xfrm>
            <a:off x="368300" y="5399673"/>
            <a:ext cx="6451600" cy="418063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본 산정은 중복 방지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식별값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처리이력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이어받을 시점 기록 등 기존 기능 보유를 전제한 최소값으로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현황 확인 결과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미보유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시 증가</a:t>
            </a:r>
          </a:p>
          <a:p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차세대 구축사업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(3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차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진행에 따라 응용 구조 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소스가 변동되므로 본 산정은 현행 기준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개략값이며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구축 완료 시점 형상 기준으로 </a:t>
            </a:r>
            <a:r>
              <a:rPr lang="ko-KR" altLang="en-US" sz="85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재산정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③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라우팅은 오라클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EE · ADG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옵션 보유 및 조회 이력 기록의 공통 로깅 모듈 집중을 전제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—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미보유 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분산 시 공수 재산정 필요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739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bg1">
              <a:lumMod val="50000"/>
            </a:schemeClr>
          </a:solidFill>
        </a:ln>
      </a:spPr>
      <a:bodyPr lIns="72000" tIns="36000" rIns="72000" bIns="36000" rtlCol="0" anchor="ctr"/>
      <a:lstStyle>
        <a:defPPr algn="ctr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 anchor="ctr" anchorCtr="0">
        <a:spAutoFit/>
      </a:bodyPr>
      <a:lstStyle>
        <a:defPPr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E55235-2B6A-4416-8E3B-0AA7EB7F34FB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3b6928ab-2b24-46eb-9228-24daec2ba0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20051</TotalTime>
  <Words>13866</Words>
  <Application>Microsoft Office PowerPoint</Application>
  <PresentationFormat>A4 용지(210x297mm)</PresentationFormat>
  <Paragraphs>2556</Paragraphs>
  <Slides>42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6" baseType="lpstr">
      <vt:lpstr>HY헤드라인M</vt:lpstr>
      <vt:lpstr>KoPub돋움체 Bold</vt:lpstr>
      <vt:lpstr>Nanum Gothic</vt:lpstr>
      <vt:lpstr>NanumSquare</vt:lpstr>
      <vt:lpstr>나눔고딕</vt:lpstr>
      <vt:lpstr>나눔고딕 (본문)</vt:lpstr>
      <vt:lpstr>나눔고딕 Bold</vt:lpstr>
      <vt:lpstr>나눔고딕 ExtraBold</vt:lpstr>
      <vt:lpstr>Malgun Gothic</vt:lpstr>
      <vt:lpstr>Malgun Gothic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목표모델</dc:title>
  <dc:creator>넥스트아이앤아이 컨소시엄</dc:creator>
  <cp:lastModifiedBy>user</cp:lastModifiedBy>
  <cp:revision>1347</cp:revision>
  <cp:lastPrinted>2026-08-11T04:07:45Z</cp:lastPrinted>
  <dcterms:created xsi:type="dcterms:W3CDTF">2017-09-21T02:10:08Z</dcterms:created>
  <dcterms:modified xsi:type="dcterms:W3CDTF">2026-10-02T07:38:05Z</dcterms:modified>
</cp:coreProperties>
</file>