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.xml" ContentType="application/vnd.openxmlformats-officedocument.presentationml.slide+xml"/>
  <Override PartName="/ppt/slides/slide17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1"/>
  </p:sldMasterIdLst>
  <p:notesMasterIdLst>
    <p:notesMasterId r:id="rId45"/>
  </p:notesMasterIdLst>
  <p:handoutMasterIdLst>
    <p:handoutMasterId r:id="rId46"/>
  </p:handoutMasterIdLst>
  <p:sldIdLst>
    <p:sldId id="3588" r:id="rId14"/>
    <p:sldId id="3593" r:id="rId18"/>
    <p:sldId id="3595" r:id="rId36"/>
    <p:sldId id="3538" r:id="rId37"/>
    <p:sldId id="3559" r:id="rId42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. 목표모델 개요" id="{444112DE-BA6C-4801-889E-2890A87172FB}">
          <p14:sldIdLst/>
        </p14:section>
        <p14:section name="2. 정보화 비전 및 전략 수립" id="{6FEA03BC-9A00-4AAD-9D0D-67B508509B52}">
          <p14:sldIdLst/>
        </p14:section>
        <p14:section name="3. 부동산종합공부시스템 DR 목표 설계" id="{61C5C6C9-3D5D-41DA-82B6-7342CE4D4AEC}">
          <p14:sldIdLst/>
        </p14:section>
        <p14:section name="3.2 목표 아키텍처 설계" id="{B920E1E9-F0BF-4478-AC24-4AC9B37E11B8}">
          <p14:sldIdLst/>
        </p14:section>
        <p14:section name="3.3 애플리케이션 아키텍처 설계" id="{6BBDD017-DBE0-4A79-9DF4-80A21F1366A1}">
          <p14:sldIdLst>
            <p14:sldId id="3582"/>
            <p14:sldId id="3583"/>
            <p14:sldId id="549"/>
            <p14:sldId id="3520"/>
            <p14:sldId id="3521"/>
            <p14:sldId id="3540"/>
            <p14:sldId id="3562"/>
            <p14:sldId id="3597"/>
            <p14:sldId id="3584"/>
            <p14:sldId id="3592"/>
            <p14:sldId id="3586"/>
            <p14:sldId id="3587"/>
            <p14:sldId id="3588"/>
            <p14:sldId id="3589"/>
            <p14:sldId id="3590"/>
            <p14:sldId id="3591"/>
            <p14:sldId id="3593"/>
            <p14:sldId id="3546"/>
            <p14:sldId id="3574"/>
            <p14:sldId id="3527"/>
            <p14:sldId id="3528"/>
            <p14:sldId id="3575"/>
            <p14:sldId id="3548"/>
            <p14:sldId id="3549"/>
            <p14:sldId id="3550"/>
            <p14:sldId id="3551"/>
            <p14:sldId id="3576"/>
            <p14:sldId id="3552"/>
            <p14:sldId id="3566"/>
            <p14:sldId id="3577"/>
            <p14:sldId id="3568"/>
            <p14:sldId id="3578"/>
            <p14:sldId id="3556"/>
            <p14:sldId id="3594"/>
            <p14:sldId id="3595"/>
            <p14:sldId id="3538"/>
            <p14:sldId id="3596"/>
            <p14:sldId id="3557"/>
            <p14:sldId id="3558"/>
            <p14:sldId id="3533"/>
            <p14:sldId id="3559"/>
            <p14:sldId id="3563"/>
            <p14:sldId id="3561"/>
          </p14:sldIdLst>
        </p14:section>
        <p14:section name="3.4 데이터 아키텍처 설계" id="{6670D9B6-DC5B-4928-A8EB-266F0CD02221}">
          <p14:sldIdLst/>
        </p14:section>
        <p14:section name="3.5 인프라 아키텍처 설계" id="{9FB81503-F2D5-4BC2-B568-52409D323832}">
          <p14:sldIdLst/>
        </p14:section>
        <p14:section name="3.6 국정자원 공통기반 설계" id="{68F061AB-01CF-4232-AA9A-D5035E6F69DD}">
          <p14:sldIdLst/>
        </p14:section>
        <p14:section name="3.7 재해복구 운영체계 수립" id="{1CD9054A-C6D8-4EBB-A315-0A574E1E057F}">
          <p14:sldIdLst/>
        </p14:section>
        <p14:section name="3.8 단계별 추진 방안" id="{27D91152-4258-4E0F-A5F7-D48A25481D2D}">
          <p14:sldIdLst/>
        </p14:section>
        <p14:section name="작성방법" id="{407B7739-4410-4FD6-A9A6-3C3BEA37B239}">
          <p14:sldIdLst/>
        </p14:section>
        <p14:section name="기본 template" id="{B6FE0CFF-A576-4024-8BD1-BE5D2ECA753C}">
          <p14:sldIdLst/>
        </p14:section>
        <p14:section name="예시 장표 - 과제" id="{1927F80E-6048-4C2D-A1C4-AB5C683A2CE4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6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6F6F6F"/>
    <a:srgbClr val="0367B0"/>
    <a:srgbClr val="243B7C"/>
    <a:srgbClr val="1E3B7D"/>
    <a:srgbClr val="F2F7FB"/>
    <a:srgbClr val="C0DAFF"/>
    <a:srgbClr val="E3E5ED"/>
    <a:srgbClr val="FFFFFF"/>
    <a:srgbClr val="1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822" autoAdjust="0"/>
    <p:restoredTop sz="96121" autoAdjust="0"/>
  </p:normalViewPr>
  <p:slideViewPr>
    <p:cSldViewPr>
      <p:cViewPr varScale="1">
        <p:scale>
          <a:sx n="106" d="100"/>
          <a:sy n="106" d="100"/>
        </p:scale>
        <p:origin x="19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4140"/>
    </p:cViewPr>
  </p:sorterViewPr>
  <p:notesViewPr>
    <p:cSldViewPr showGuides="1">
      <p:cViewPr varScale="1">
        <p:scale>
          <a:sx n="76" d="100"/>
          <a:sy n="76" d="100"/>
        </p:scale>
        <p:origin x="3252" y="96"/>
      </p:cViewPr>
      <p:guideLst>
        <p:guide orient="horz" pos="3126"/>
        <p:guide pos="2141"/>
      </p:guideLst>
    </p:cSldViewPr>
  </p:notesViewPr>
  <p:gridSpacing cx="36004" cy="36004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4" Type="http://schemas.openxmlformats.org/officeDocument/2006/relationships/slide" Target="slides/slide13.xml"/><Relationship Id="rId18" Type="http://schemas.openxmlformats.org/officeDocument/2006/relationships/slide" Target="slides/slide17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42" Type="http://schemas.openxmlformats.org/officeDocument/2006/relationships/slide" Target="slides/slide41.xml"/><Relationship Id="rId45" Type="http://schemas.openxmlformats.org/officeDocument/2006/relationships/notesMaster" Target="notesMasters/notesMaster1.xml"/><Relationship Id="rId46" Type="http://schemas.openxmlformats.org/officeDocument/2006/relationships/handoutMaster" Target="handoutMasters/handout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165240E1-1D6F-4BF0-9CAF-F4458E0A46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0D70750-128B-4279-9CAD-F76522EF42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E6BC91-BF05-4BC2-9406-031D69A53815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5AD3B13-8931-49AB-B20A-E84938F01D4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5726D7-1A18-4D94-9479-F3197EC46E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639607-38E0-495A-A3E9-8966F92D4D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482507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9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A84C3169-C429-485D-9437-72DA76DC4C05}" type="datetimeFigureOut">
              <a:rPr lang="ko-KR" altLang="en-US" smtClean="0"/>
              <a:pPr/>
              <a:t>2026-10-08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81075" y="1241425"/>
            <a:ext cx="48355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1" y="4776789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9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fld id="{DF3CFAF2-8196-4A42-BE12-AEF6A18FB92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5514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나눔고딕" panose="020D0604000000000000" pitchFamily="50" charset="-127"/>
        <a:ea typeface="나눔고딕" panose="020D0604000000000000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표모델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 userDrawn="1"/>
        </p:nvSpPr>
        <p:spPr bwMode="gray">
          <a:xfrm>
            <a:off x="4719735" y="6525344"/>
            <a:ext cx="521297" cy="24622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rtlCol="0">
            <a:spAutoFit/>
          </a:bodyPr>
          <a:lstStyle/>
          <a:p>
            <a:pPr marL="0" marR="0" lvl="0" indent="0" algn="l" defTabSz="708025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4F72"/>
              </a:buClr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Ⅲ-</a:t>
            </a:r>
            <a:fld id="{D3B5D93D-785D-4E35-968E-82B83D864D2C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l" defTabSz="708025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54F72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9" name="텍스트 개체 틀 9">
            <a:extLst>
              <a:ext uri="{FF2B5EF4-FFF2-40B4-BE49-F238E27FC236}">
                <a16:creationId xmlns:a16="http://schemas.microsoft.com/office/drawing/2014/main" id="{E7CE1EB4-FC11-437B-9BC6-5154B60AD7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281928" y="807445"/>
            <a:ext cx="9320194" cy="755025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just" latinLnBrk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  <a:lvl2pPr marL="457200" indent="0">
              <a:buFontTx/>
              <a:buNone/>
              <a:defRPr sz="1400" b="1"/>
            </a:lvl2pPr>
            <a:lvl3pPr marL="914400" indent="0">
              <a:buFontTx/>
              <a:buNone/>
              <a:defRPr sz="1400" b="1"/>
            </a:lvl3pPr>
            <a:lvl4pPr marL="1371600" indent="0">
              <a:buFontTx/>
              <a:buNone/>
              <a:defRPr sz="1400" b="1"/>
            </a:lvl4pPr>
            <a:lvl5pPr marL="1828800" indent="0">
              <a:buFontTx/>
              <a:buNone/>
              <a:defRPr sz="1400" b="1"/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9">
            <a:extLst>
              <a:ext uri="{FF2B5EF4-FFF2-40B4-BE49-F238E27FC236}">
                <a16:creationId xmlns:a16="http://schemas.microsoft.com/office/drawing/2014/main" id="{DDB37A84-8F28-401B-A597-9EC8FB0EEA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281928" y="44624"/>
            <a:ext cx="7047336" cy="619690"/>
          </a:xfrm>
          <a:prstGeom prst="rect">
            <a:avLst/>
          </a:prstGeom>
        </p:spPr>
        <p:txBody>
          <a:bodyPr lIns="36000" tIns="36000" rIns="36000" bIns="36000" anchor="b"/>
          <a:lstStyle>
            <a:lvl1pPr marL="0" indent="0" algn="l" latinLnBrk="0">
              <a:lnSpc>
                <a:spcPct val="100000"/>
              </a:lnSpc>
              <a:spcBef>
                <a:spcPts val="0"/>
              </a:spcBef>
              <a:buFontTx/>
              <a:buNone/>
              <a:defRPr sz="1800" b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457200" indent="0">
              <a:buFontTx/>
              <a:buNone/>
              <a:defRPr sz="1400" b="1"/>
            </a:lvl2pPr>
            <a:lvl3pPr marL="914400" indent="0">
              <a:buFontTx/>
              <a:buNone/>
              <a:defRPr sz="1400" b="1"/>
            </a:lvl3pPr>
            <a:lvl4pPr marL="1371600" indent="0">
              <a:buFontTx/>
              <a:buNone/>
              <a:defRPr sz="1400" b="1"/>
            </a:lvl4pPr>
            <a:lvl5pPr marL="1828800" indent="0">
              <a:buFontTx/>
              <a:buNone/>
              <a:defRPr sz="1400" b="1"/>
            </a:lvl5pPr>
          </a:lstStyle>
          <a:p>
            <a:pPr lvl="0"/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3074572-34D1-41CE-97B7-EEA20350E348}"/>
              </a:ext>
            </a:extLst>
          </p:cNvPr>
          <p:cNvGrpSpPr/>
          <p:nvPr userDrawn="1"/>
        </p:nvGrpSpPr>
        <p:grpSpPr>
          <a:xfrm>
            <a:off x="272996" y="728700"/>
            <a:ext cx="9360012" cy="36000"/>
            <a:chOff x="272996" y="728700"/>
            <a:chExt cx="9360012" cy="7200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F667C1D-C3B4-4B41-905C-3057A6DF3BF3}"/>
                </a:ext>
              </a:extLst>
            </p:cNvPr>
            <p:cNvSpPr/>
            <p:nvPr userDrawn="1"/>
          </p:nvSpPr>
          <p:spPr>
            <a:xfrm>
              <a:off x="272996" y="728700"/>
              <a:ext cx="4608000" cy="72000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나눔고딕"/>
                <a:cs typeface="+mn-cs"/>
              </a:endParaRPr>
            </a:p>
          </p:txBody>
        </p:sp>
        <p:sp>
          <p:nvSpPr>
            <p:cNvPr id="15" name="평행 사변형 14">
              <a:extLst>
                <a:ext uri="{FF2B5EF4-FFF2-40B4-BE49-F238E27FC236}">
                  <a16:creationId xmlns:a16="http://schemas.microsoft.com/office/drawing/2014/main" id="{D4FE1EED-2576-42B5-92FC-E9496C6BF997}"/>
                </a:ext>
              </a:extLst>
            </p:cNvPr>
            <p:cNvSpPr/>
            <p:nvPr/>
          </p:nvSpPr>
          <p:spPr>
            <a:xfrm flipH="1">
              <a:off x="5025008" y="728700"/>
              <a:ext cx="4608000" cy="72000"/>
            </a:xfrm>
            <a:prstGeom prst="parallelogram">
              <a:avLst>
                <a:gd name="adj" fmla="val 0"/>
              </a:avLst>
            </a:prstGeom>
            <a:solidFill>
              <a:srgbClr val="00407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0131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1" u="none" strike="noStrike" kern="0" cap="none" spc="0" normalizeH="0" baseline="0" noProof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itchFamily="18" charset="-127"/>
                <a:ea typeface="KoPub돋움체 Bold" pitchFamily="18" charset="-127"/>
                <a:cs typeface="+mn-cs"/>
              </a:endParaRPr>
            </a:p>
          </p:txBody>
        </p:sp>
        <p:sp>
          <p:nvSpPr>
            <p:cNvPr id="16" name="평행 사변형 15">
              <a:extLst>
                <a:ext uri="{FF2B5EF4-FFF2-40B4-BE49-F238E27FC236}">
                  <a16:creationId xmlns:a16="http://schemas.microsoft.com/office/drawing/2014/main" id="{45E339F8-BA07-40AF-9B8C-BA045AC9C05F}"/>
                </a:ext>
              </a:extLst>
            </p:cNvPr>
            <p:cNvSpPr/>
            <p:nvPr userDrawn="1"/>
          </p:nvSpPr>
          <p:spPr>
            <a:xfrm flipH="1">
              <a:off x="4736976" y="728700"/>
              <a:ext cx="460249" cy="72000"/>
            </a:xfrm>
            <a:prstGeom prst="parallelogram">
              <a:avLst>
                <a:gd name="adj" fmla="val 43888"/>
              </a:avLst>
            </a:prstGeom>
            <a:solidFill>
              <a:srgbClr val="00B0F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0" tIns="0" rIns="72000" bIns="0" anchor="ctr"/>
            <a:lstStyle/>
            <a:p>
              <a:pPr marL="0" marR="0" lvl="1" indent="0" algn="ctr" defTabSz="1001908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ct val="80000"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1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F5E2837-0D7E-46AB-9CB1-3108DCC0A256}"/>
              </a:ext>
            </a:extLst>
          </p:cNvPr>
          <p:cNvGrpSpPr/>
          <p:nvPr userDrawn="1"/>
        </p:nvGrpSpPr>
        <p:grpSpPr>
          <a:xfrm>
            <a:off x="272996" y="6453340"/>
            <a:ext cx="9360848" cy="18000"/>
            <a:chOff x="272996" y="6453340"/>
            <a:chExt cx="9360848" cy="36000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727AF80-F73E-4A99-B26D-D772F605B0C9}"/>
                </a:ext>
              </a:extLst>
            </p:cNvPr>
            <p:cNvSpPr/>
            <p:nvPr userDrawn="1"/>
          </p:nvSpPr>
          <p:spPr>
            <a:xfrm>
              <a:off x="2901844" y="6453340"/>
              <a:ext cx="6732000" cy="36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나눔고딕"/>
                <a:cs typeface="+mn-cs"/>
              </a:endParaRPr>
            </a:p>
          </p:txBody>
        </p:sp>
        <p:sp>
          <p:nvSpPr>
            <p:cNvPr id="22" name="평행 사변형 21">
              <a:extLst>
                <a:ext uri="{FF2B5EF4-FFF2-40B4-BE49-F238E27FC236}">
                  <a16:creationId xmlns:a16="http://schemas.microsoft.com/office/drawing/2014/main" id="{C09BD840-0627-48F9-A01E-54946AA1B14A}"/>
                </a:ext>
              </a:extLst>
            </p:cNvPr>
            <p:cNvSpPr/>
            <p:nvPr userDrawn="1"/>
          </p:nvSpPr>
          <p:spPr>
            <a:xfrm flipH="1">
              <a:off x="272996" y="6453340"/>
              <a:ext cx="4644000" cy="36000"/>
            </a:xfrm>
            <a:prstGeom prst="parallelogram">
              <a:avLst>
                <a:gd name="adj" fmla="val 0"/>
              </a:avLst>
            </a:prstGeom>
            <a:solidFill>
              <a:srgbClr val="00407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0131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1" u="none" strike="noStrike" kern="0" cap="none" spc="0" normalizeH="0" baseline="0" noProof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itchFamily="18" charset="-127"/>
                <a:ea typeface="KoPub돋움체 Bold" pitchFamily="18" charset="-127"/>
                <a:cs typeface="+mn-cs"/>
              </a:endParaRPr>
            </a:p>
          </p:txBody>
        </p:sp>
        <p:sp>
          <p:nvSpPr>
            <p:cNvPr id="23" name="평행 사변형 22">
              <a:extLst>
                <a:ext uri="{FF2B5EF4-FFF2-40B4-BE49-F238E27FC236}">
                  <a16:creationId xmlns:a16="http://schemas.microsoft.com/office/drawing/2014/main" id="{C83656EA-403C-46BC-9A9F-FEA20DE30697}"/>
                </a:ext>
              </a:extLst>
            </p:cNvPr>
            <p:cNvSpPr/>
            <p:nvPr userDrawn="1"/>
          </p:nvSpPr>
          <p:spPr>
            <a:xfrm flipH="1">
              <a:off x="4744779" y="6453340"/>
              <a:ext cx="460249" cy="36000"/>
            </a:xfrm>
            <a:prstGeom prst="parallelogram">
              <a:avLst>
                <a:gd name="adj" fmla="val 43888"/>
              </a:avLst>
            </a:prstGeom>
            <a:pattFill prst="smCheck">
              <a:fgClr>
                <a:srgbClr val="0070C0"/>
              </a:fgClr>
              <a:bgClr>
                <a:srgbClr val="0083E6"/>
              </a:bgClr>
            </a:pattFill>
            <a:ln w="9525">
              <a:noFill/>
              <a:round/>
              <a:headEnd/>
              <a:tailEnd/>
            </a:ln>
            <a:effectLst/>
          </p:spPr>
          <p:txBody>
            <a:bodyPr wrap="none" lIns="0" tIns="0" rIns="72000" bIns="0" anchor="ctr"/>
            <a:lstStyle/>
            <a:p>
              <a:pPr marL="0" marR="0" lvl="1" indent="0" algn="ctr" defTabSz="1001908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ct val="80000"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1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0B210B24-0C55-4695-917F-AB77607494A4}"/>
              </a:ext>
            </a:extLst>
          </p:cNvPr>
          <p:cNvSpPr txBox="1"/>
          <p:nvPr userDrawn="1"/>
        </p:nvSpPr>
        <p:spPr>
          <a:xfrm>
            <a:off x="1394546" y="6515394"/>
            <a:ext cx="2804958" cy="199552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공공 재해복구시스템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(DR)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구축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ISP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사업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(4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차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)</a:t>
            </a:r>
            <a:endParaRPr kumimoji="0" lang="ko-KR" altLang="en-US" sz="800" b="0" i="0" u="none" strike="noStrike" kern="1200" cap="none" spc="0" normalizeH="0" baseline="0" noProof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effectLst/>
              <a:uLnTx/>
              <a:uFillTx/>
              <a:latin typeface="나눔고딕 Bold"/>
              <a:ea typeface="나눔고딕 Bold"/>
              <a:cs typeface="+mn-cs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C29A2F6B-DAB2-4F4A-9BFD-1FBE78F824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r="-2065" b="-6165"/>
          <a:stretch/>
        </p:blipFill>
        <p:spPr>
          <a:xfrm>
            <a:off x="8475126" y="6516637"/>
            <a:ext cx="1122390" cy="224731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2BE7FD5D-8B69-4CCC-95F5-6F0DEA2E08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56" y="6462340"/>
            <a:ext cx="1122390" cy="296661"/>
          </a:xfrm>
          <a:prstGeom prst="rect">
            <a:avLst/>
          </a:prstGeom>
        </p:spPr>
      </p:pic>
      <p:sp>
        <p:nvSpPr>
          <p:cNvPr id="31" name="텍스트 개체 틀 25">
            <a:extLst>
              <a:ext uri="{FF2B5EF4-FFF2-40B4-BE49-F238E27FC236}">
                <a16:creationId xmlns:a16="http://schemas.microsoft.com/office/drawing/2014/main" id="{6E955E1D-D46F-4CFE-9162-537E455CE9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85968" y="291942"/>
            <a:ext cx="2545880" cy="166199"/>
          </a:xfrm>
          <a:prstGeom prst="rect">
            <a:avLst/>
          </a:prstGeom>
          <a:noFill/>
          <a:ln>
            <a:noFill/>
          </a:ln>
        </p:spPr>
        <p:txBody>
          <a:bodyPr wrap="square" tIns="0" bIns="0" rtlCol="0" anchor="t">
            <a:spAutoFit/>
          </a:bodyPr>
          <a:lstStyle>
            <a:lvl1pPr marL="0" indent="0" algn="r">
              <a:buNone/>
              <a:defRPr lang="ko-KR" altLang="en-US" sz="1200" b="1" spc="-100" baseline="0" dirty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defRPr>
            </a:lvl1pPr>
            <a:lvl2pPr marL="171450" indent="0">
              <a:buNone/>
              <a:defRPr lang="ko-KR" altLang="en-US" sz="1800" dirty="0" smtClean="0"/>
            </a:lvl2pPr>
            <a:lvl3pPr marL="685800" indent="0">
              <a:buNone/>
              <a:defRPr lang="ko-KR" altLang="en-US" sz="1800" dirty="0" smtClean="0"/>
            </a:lvl3pPr>
            <a:lvl4pPr marL="1143000" indent="0">
              <a:buNone/>
              <a:defRPr lang="ko-KR" altLang="en-US" sz="1800" dirty="0" smtClean="0"/>
            </a:lvl4pPr>
            <a:lvl5pPr marL="1600200" indent="0">
              <a:buNone/>
              <a:defRPr lang="ko-KR" altLang="en-US" sz="1800" dirty="0"/>
            </a:lvl5pPr>
          </a:lstStyle>
          <a:p>
            <a:pPr marL="0" lvl="0" algn="r">
              <a:spcAft>
                <a:spcPts val="200"/>
              </a:spcAft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7">
            <a:extLst>
              <a:ext uri="{FF2B5EF4-FFF2-40B4-BE49-F238E27FC236}">
                <a16:creationId xmlns:a16="http://schemas.microsoft.com/office/drawing/2014/main" id="{0A57D7C9-58DE-4DB3-BEBA-833CC60F5D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85968" y="521029"/>
            <a:ext cx="2545880" cy="13849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  <a:alpha val="0"/>
              </a:schemeClr>
            </a:solidFill>
          </a:ln>
        </p:spPr>
        <p:txBody>
          <a:bodyPr vert="horz" wrap="square" lIns="91440" tIns="0" rIns="91440" bIns="0" rtlCol="0" anchor="t">
            <a:spAutoFit/>
          </a:bodyPr>
          <a:lstStyle>
            <a:lvl1pPr marL="342900" indent="-342900" algn="r">
              <a:buNone/>
              <a:defRPr lang="ko-KR" altLang="en-US" sz="1000" b="1" spc="-100" baseline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-285750">
              <a:buNone/>
              <a:defRPr lang="ko-KR" altLang="en-US" sz="1800" smtClean="0"/>
            </a:lvl2pPr>
            <a:lvl3pPr marL="971550" indent="-285750">
              <a:buNone/>
              <a:defRPr lang="ko-KR" altLang="en-US" sz="1800" smtClean="0"/>
            </a:lvl3pPr>
            <a:lvl4pPr marL="1428750" indent="-285750">
              <a:buNone/>
              <a:defRPr lang="ko-KR" altLang="en-US" sz="1800" smtClean="0"/>
            </a:lvl4pPr>
            <a:lvl5pPr marL="1885950" indent="-285750">
              <a:buNone/>
              <a:defRPr lang="ko-KR" altLang="en-US" sz="1800"/>
            </a:lvl5pPr>
          </a:lstStyle>
          <a:p>
            <a:pPr marL="0" lvl="0" indent="0" algn="r">
              <a:spcAft>
                <a:spcPts val="200"/>
              </a:spcAft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15AD9D-5C74-4554-8D31-B80275BA5B1D}"/>
              </a:ext>
            </a:extLst>
          </p:cNvPr>
          <p:cNvSpPr txBox="1"/>
          <p:nvPr userDrawn="1"/>
        </p:nvSpPr>
        <p:spPr>
          <a:xfrm>
            <a:off x="7399802" y="71394"/>
            <a:ext cx="2232247" cy="166199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marL="0" lvl="0" indent="0" algn="r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200"/>
              </a:spcAft>
              <a:buFont typeface="Arial" panose="020B0604020202020204" pitchFamily="34" charset="0"/>
              <a:buNone/>
            </a:pPr>
            <a:r>
              <a:rPr lang="en-US" altLang="ko-KR" sz="1200" b="1" kern="1200" spc="-100" baseline="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rPr>
              <a:t>Ⅲ. </a:t>
            </a:r>
            <a:r>
              <a:rPr lang="ko-KR" altLang="en-US" sz="1200" b="1" kern="1200" spc="-100" baseline="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rPr>
              <a:t>목표모델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7EADC7-D878-496B-B38B-1FC36A752F44}"/>
              </a:ext>
            </a:extLst>
          </p:cNvPr>
          <p:cNvSpPr/>
          <p:nvPr userDrawn="1"/>
        </p:nvSpPr>
        <p:spPr>
          <a:xfrm>
            <a:off x="272156" y="1665287"/>
            <a:ext cx="9360794" cy="4752997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6194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459">
          <p15:clr>
            <a:srgbClr val="FBAE40"/>
          </p15:clr>
        </p15:guide>
        <p15:guide id="5" pos="172">
          <p15:clr>
            <a:srgbClr val="FBAE40"/>
          </p15:clr>
        </p15:guide>
        <p15:guide id="6" pos="6068">
          <p15:clr>
            <a:srgbClr val="FBAE40"/>
          </p15:clr>
        </p15:guide>
        <p15:guide id="7" orient="horz" pos="1253">
          <p15:clr>
            <a:srgbClr val="FBAE40"/>
          </p15:clr>
        </p15:guide>
        <p15:guide id="8" orient="horz" pos="4042">
          <p15:clr>
            <a:srgbClr val="FBAE40"/>
          </p15:clr>
        </p15:guide>
        <p15:guide id="9" orient="horz" pos="1049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표모델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 userDrawn="1"/>
        </p:nvSpPr>
        <p:spPr bwMode="gray">
          <a:xfrm>
            <a:off x="4719735" y="6525344"/>
            <a:ext cx="521297" cy="24622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rtlCol="0">
            <a:spAutoFit/>
          </a:bodyPr>
          <a:lstStyle/>
          <a:p>
            <a:pPr marL="0" marR="0" lvl="0" indent="0" algn="l" defTabSz="708025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4F72"/>
              </a:buClr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Ⅲ-</a:t>
            </a:r>
            <a:fld id="{D3B5D93D-785D-4E35-968E-82B83D864D2C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l" defTabSz="708025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54F72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7" name="텍스트 개체 틀 25">
            <a:extLst>
              <a:ext uri="{FF2B5EF4-FFF2-40B4-BE49-F238E27FC236}">
                <a16:creationId xmlns:a16="http://schemas.microsoft.com/office/drawing/2014/main" id="{C452D816-4A33-4619-9DC0-C196805555A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85968" y="291942"/>
            <a:ext cx="2545880" cy="166199"/>
          </a:xfrm>
          <a:prstGeom prst="rect">
            <a:avLst/>
          </a:prstGeom>
          <a:noFill/>
          <a:ln>
            <a:noFill/>
          </a:ln>
        </p:spPr>
        <p:txBody>
          <a:bodyPr wrap="square" tIns="0" bIns="0" rtlCol="0" anchor="t">
            <a:spAutoFit/>
          </a:bodyPr>
          <a:lstStyle>
            <a:lvl1pPr marL="0" indent="0" algn="r">
              <a:buNone/>
              <a:defRPr lang="ko-KR" altLang="en-US" sz="1200" b="1" spc="-100" baseline="0" dirty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defRPr>
            </a:lvl1pPr>
            <a:lvl2pPr marL="171450" indent="0">
              <a:buNone/>
              <a:defRPr lang="ko-KR" altLang="en-US" sz="1800" dirty="0" smtClean="0"/>
            </a:lvl2pPr>
            <a:lvl3pPr marL="685800" indent="0">
              <a:buNone/>
              <a:defRPr lang="ko-KR" altLang="en-US" sz="1800" dirty="0" smtClean="0"/>
            </a:lvl3pPr>
            <a:lvl4pPr marL="1143000" indent="0">
              <a:buNone/>
              <a:defRPr lang="ko-KR" altLang="en-US" sz="1800" dirty="0" smtClean="0"/>
            </a:lvl4pPr>
            <a:lvl5pPr marL="1600200" indent="0">
              <a:buNone/>
              <a:defRPr lang="ko-KR" altLang="en-US" sz="1800" dirty="0"/>
            </a:lvl5pPr>
          </a:lstStyle>
          <a:p>
            <a:pPr marL="0" lvl="0" algn="r">
              <a:spcAft>
                <a:spcPts val="200"/>
              </a:spcAft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9" name="텍스트 개체 틀 27">
            <a:extLst>
              <a:ext uri="{FF2B5EF4-FFF2-40B4-BE49-F238E27FC236}">
                <a16:creationId xmlns:a16="http://schemas.microsoft.com/office/drawing/2014/main" id="{0AC63EAE-30D6-4ECF-A298-6145BA5DC01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85968" y="521029"/>
            <a:ext cx="2545880" cy="13849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  <a:alpha val="0"/>
              </a:schemeClr>
            </a:solidFill>
          </a:ln>
        </p:spPr>
        <p:txBody>
          <a:bodyPr vert="horz" wrap="square" lIns="91440" tIns="0" rIns="91440" bIns="0" rtlCol="0" anchor="t">
            <a:spAutoFit/>
          </a:bodyPr>
          <a:lstStyle>
            <a:lvl1pPr marL="342900" indent="-342900" algn="r">
              <a:buNone/>
              <a:defRPr lang="ko-KR" altLang="en-US" sz="1000" b="1" spc="-100" baseline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-285750">
              <a:buNone/>
              <a:defRPr lang="ko-KR" altLang="en-US" sz="1800" smtClean="0"/>
            </a:lvl2pPr>
            <a:lvl3pPr marL="971550" indent="-285750">
              <a:buNone/>
              <a:defRPr lang="ko-KR" altLang="en-US" sz="1800" smtClean="0"/>
            </a:lvl3pPr>
            <a:lvl4pPr marL="1428750" indent="-285750">
              <a:buNone/>
              <a:defRPr lang="ko-KR" altLang="en-US" sz="1800" smtClean="0"/>
            </a:lvl4pPr>
            <a:lvl5pPr marL="1885950" indent="-285750">
              <a:buNone/>
              <a:defRPr lang="ko-KR" altLang="en-US" sz="1800"/>
            </a:lvl5pPr>
          </a:lstStyle>
          <a:p>
            <a:pPr marL="0" lvl="0" indent="0" algn="r">
              <a:spcAft>
                <a:spcPts val="200"/>
              </a:spcAft>
            </a:pPr>
            <a:r>
              <a:rPr lang="ko-KR" altLang="en-US" dirty="0"/>
              <a:t>마스터 텍스트 스타일을 편집합니다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B599EBFD-A6F4-4DA0-B05C-00374253C3B9}"/>
              </a:ext>
            </a:extLst>
          </p:cNvPr>
          <p:cNvGrpSpPr/>
          <p:nvPr userDrawn="1"/>
        </p:nvGrpSpPr>
        <p:grpSpPr>
          <a:xfrm>
            <a:off x="272996" y="728700"/>
            <a:ext cx="9360012" cy="36000"/>
            <a:chOff x="272996" y="728700"/>
            <a:chExt cx="9360012" cy="72000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9005351-1CAE-4882-AF1E-4B01C61313DF}"/>
                </a:ext>
              </a:extLst>
            </p:cNvPr>
            <p:cNvSpPr/>
            <p:nvPr userDrawn="1"/>
          </p:nvSpPr>
          <p:spPr>
            <a:xfrm>
              <a:off x="272996" y="728700"/>
              <a:ext cx="4608000" cy="72000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나눔고딕"/>
                <a:cs typeface="+mn-cs"/>
              </a:endParaRPr>
            </a:p>
          </p:txBody>
        </p:sp>
        <p:sp>
          <p:nvSpPr>
            <p:cNvPr id="13" name="평행 사변형 12">
              <a:extLst>
                <a:ext uri="{FF2B5EF4-FFF2-40B4-BE49-F238E27FC236}">
                  <a16:creationId xmlns:a16="http://schemas.microsoft.com/office/drawing/2014/main" id="{DBADE982-8ECA-4D34-8AA2-3BA71FFE7609}"/>
                </a:ext>
              </a:extLst>
            </p:cNvPr>
            <p:cNvSpPr/>
            <p:nvPr/>
          </p:nvSpPr>
          <p:spPr>
            <a:xfrm flipH="1">
              <a:off x="5025008" y="728700"/>
              <a:ext cx="4608000" cy="72000"/>
            </a:xfrm>
            <a:prstGeom prst="parallelogram">
              <a:avLst>
                <a:gd name="adj" fmla="val 0"/>
              </a:avLst>
            </a:prstGeom>
            <a:solidFill>
              <a:srgbClr val="00407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0131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1" u="none" strike="noStrike" kern="0" cap="none" spc="0" normalizeH="0" baseline="0" noProof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itchFamily="18" charset="-127"/>
                <a:ea typeface="KoPub돋움체 Bold" pitchFamily="18" charset="-127"/>
                <a:cs typeface="+mn-cs"/>
              </a:endParaRPr>
            </a:p>
          </p:txBody>
        </p:sp>
        <p:sp>
          <p:nvSpPr>
            <p:cNvPr id="14" name="평행 사변형 13">
              <a:extLst>
                <a:ext uri="{FF2B5EF4-FFF2-40B4-BE49-F238E27FC236}">
                  <a16:creationId xmlns:a16="http://schemas.microsoft.com/office/drawing/2014/main" id="{D4A87196-B3B9-4387-A049-26148A11BE4C}"/>
                </a:ext>
              </a:extLst>
            </p:cNvPr>
            <p:cNvSpPr/>
            <p:nvPr userDrawn="1"/>
          </p:nvSpPr>
          <p:spPr>
            <a:xfrm flipH="1">
              <a:off x="4736976" y="728700"/>
              <a:ext cx="460249" cy="72000"/>
            </a:xfrm>
            <a:prstGeom prst="parallelogram">
              <a:avLst>
                <a:gd name="adj" fmla="val 43888"/>
              </a:avLst>
            </a:prstGeom>
            <a:solidFill>
              <a:srgbClr val="00B0F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0" tIns="0" rIns="72000" bIns="0" anchor="ctr"/>
            <a:lstStyle/>
            <a:p>
              <a:pPr marL="0" marR="0" lvl="1" indent="0" algn="ctr" defTabSz="1001908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ct val="80000"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1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endParaRPr>
            </a:p>
          </p:txBody>
        </p:sp>
      </p:grp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FFFFFBE-E43E-4A32-A275-EF9DE56964E0}"/>
              </a:ext>
            </a:extLst>
          </p:cNvPr>
          <p:cNvGrpSpPr/>
          <p:nvPr userDrawn="1"/>
        </p:nvGrpSpPr>
        <p:grpSpPr>
          <a:xfrm>
            <a:off x="272996" y="6453340"/>
            <a:ext cx="9360848" cy="18000"/>
            <a:chOff x="272996" y="6453340"/>
            <a:chExt cx="9360848" cy="36000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1133F922-A8C2-44DE-B3DF-FBC2E2F73D67}"/>
                </a:ext>
              </a:extLst>
            </p:cNvPr>
            <p:cNvSpPr/>
            <p:nvPr userDrawn="1"/>
          </p:nvSpPr>
          <p:spPr>
            <a:xfrm>
              <a:off x="2901844" y="6453340"/>
              <a:ext cx="6732000" cy="36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나눔고딕"/>
                <a:cs typeface="+mn-cs"/>
              </a:endParaRPr>
            </a:p>
          </p:txBody>
        </p:sp>
        <p:sp>
          <p:nvSpPr>
            <p:cNvPr id="17" name="평행 사변형 16">
              <a:extLst>
                <a:ext uri="{FF2B5EF4-FFF2-40B4-BE49-F238E27FC236}">
                  <a16:creationId xmlns:a16="http://schemas.microsoft.com/office/drawing/2014/main" id="{8729E427-4D62-4B94-9372-45D09B5B1CCE}"/>
                </a:ext>
              </a:extLst>
            </p:cNvPr>
            <p:cNvSpPr/>
            <p:nvPr userDrawn="1"/>
          </p:nvSpPr>
          <p:spPr>
            <a:xfrm flipH="1">
              <a:off x="272996" y="6453340"/>
              <a:ext cx="4644000" cy="36000"/>
            </a:xfrm>
            <a:prstGeom prst="parallelogram">
              <a:avLst>
                <a:gd name="adj" fmla="val 0"/>
              </a:avLst>
            </a:prstGeom>
            <a:solidFill>
              <a:srgbClr val="00407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0131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1" u="none" strike="noStrike" kern="0" cap="none" spc="0" normalizeH="0" baseline="0" noProof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itchFamily="18" charset="-127"/>
                <a:ea typeface="KoPub돋움체 Bold" pitchFamily="18" charset="-127"/>
                <a:cs typeface="+mn-cs"/>
              </a:endParaRPr>
            </a:p>
          </p:txBody>
        </p:sp>
        <p:sp>
          <p:nvSpPr>
            <p:cNvPr id="18" name="평행 사변형 17">
              <a:extLst>
                <a:ext uri="{FF2B5EF4-FFF2-40B4-BE49-F238E27FC236}">
                  <a16:creationId xmlns:a16="http://schemas.microsoft.com/office/drawing/2014/main" id="{D883B373-EAEE-4C85-ABDD-50A8B01C3D87}"/>
                </a:ext>
              </a:extLst>
            </p:cNvPr>
            <p:cNvSpPr/>
            <p:nvPr userDrawn="1"/>
          </p:nvSpPr>
          <p:spPr>
            <a:xfrm flipH="1">
              <a:off x="4744779" y="6453340"/>
              <a:ext cx="460249" cy="36000"/>
            </a:xfrm>
            <a:prstGeom prst="parallelogram">
              <a:avLst>
                <a:gd name="adj" fmla="val 43888"/>
              </a:avLst>
            </a:prstGeom>
            <a:pattFill prst="smCheck">
              <a:fgClr>
                <a:srgbClr val="0070C0"/>
              </a:fgClr>
              <a:bgClr>
                <a:srgbClr val="0083E6"/>
              </a:bgClr>
            </a:pattFill>
            <a:ln w="9525">
              <a:noFill/>
              <a:round/>
              <a:headEnd/>
              <a:tailEnd/>
            </a:ln>
            <a:effectLst/>
          </p:spPr>
          <p:txBody>
            <a:bodyPr wrap="none" lIns="0" tIns="0" rIns="72000" bIns="0" anchor="ctr"/>
            <a:lstStyle/>
            <a:p>
              <a:pPr marL="0" marR="0" lvl="1" indent="0" algn="ctr" defTabSz="1001908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ct val="80000"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1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endParaRP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1A9E16C9-FB53-4752-9F8D-F629827C0C44}"/>
              </a:ext>
            </a:extLst>
          </p:cNvPr>
          <p:cNvSpPr txBox="1"/>
          <p:nvPr userDrawn="1"/>
        </p:nvSpPr>
        <p:spPr>
          <a:xfrm>
            <a:off x="1394546" y="6515394"/>
            <a:ext cx="2804958" cy="199552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공공 재해복구시스템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(DR)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구축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ISP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사업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(4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차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)</a:t>
            </a:r>
            <a:endParaRPr kumimoji="0" lang="ko-KR" altLang="en-US" sz="800" b="0" i="0" u="none" strike="noStrike" kern="1200" cap="none" spc="0" normalizeH="0" baseline="0" noProof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effectLst/>
              <a:uLnTx/>
              <a:uFillTx/>
              <a:latin typeface="나눔고딕 Bold"/>
              <a:ea typeface="나눔고딕 Bold"/>
              <a:cs typeface="+mn-cs"/>
            </a:endParaRPr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91B69F08-82E4-4896-8CE9-D1C76753539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r="-2065" b="-6165"/>
          <a:stretch/>
        </p:blipFill>
        <p:spPr>
          <a:xfrm>
            <a:off x="8475126" y="6516637"/>
            <a:ext cx="1122390" cy="224731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81A7AF4C-E472-4D2A-9D71-A28FA3CE295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56" y="6462340"/>
            <a:ext cx="1122390" cy="296661"/>
          </a:xfrm>
          <a:prstGeom prst="rect">
            <a:avLst/>
          </a:prstGeom>
        </p:spPr>
      </p:pic>
      <p:sp>
        <p:nvSpPr>
          <p:cNvPr id="23" name="텍스트 개체 틀 9">
            <a:extLst>
              <a:ext uri="{FF2B5EF4-FFF2-40B4-BE49-F238E27FC236}">
                <a16:creationId xmlns:a16="http://schemas.microsoft.com/office/drawing/2014/main" id="{3E148EE7-9D39-4AE1-96B6-C2956F6AFC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281928" y="44624"/>
            <a:ext cx="7047336" cy="619690"/>
          </a:xfrm>
          <a:prstGeom prst="rect">
            <a:avLst/>
          </a:prstGeom>
        </p:spPr>
        <p:txBody>
          <a:bodyPr lIns="36000" tIns="36000" rIns="36000" bIns="36000" anchor="b"/>
          <a:lstStyle>
            <a:lvl1pPr marL="0" indent="0" algn="l" latinLnBrk="0">
              <a:lnSpc>
                <a:spcPct val="100000"/>
              </a:lnSpc>
              <a:spcBef>
                <a:spcPts val="0"/>
              </a:spcBef>
              <a:buFontTx/>
              <a:buNone/>
              <a:defRPr sz="1800" b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457200" indent="0">
              <a:buFontTx/>
              <a:buNone/>
              <a:defRPr sz="1400" b="1"/>
            </a:lvl2pPr>
            <a:lvl3pPr marL="914400" indent="0">
              <a:buFontTx/>
              <a:buNone/>
              <a:defRPr sz="1400" b="1"/>
            </a:lvl3pPr>
            <a:lvl4pPr marL="1371600" indent="0">
              <a:buFontTx/>
              <a:buNone/>
              <a:defRPr sz="1400" b="1"/>
            </a:lvl4pPr>
            <a:lvl5pPr marL="1828800" indent="0">
              <a:buFontTx/>
              <a:buNone/>
              <a:defRPr sz="1400" b="1"/>
            </a:lvl5pPr>
          </a:lstStyle>
          <a:p>
            <a:pPr lvl="0"/>
            <a:endParaRPr lang="ko-KR" alt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7870BBE-9DE5-40CC-A1DF-7638AE0E93A1}"/>
              </a:ext>
            </a:extLst>
          </p:cNvPr>
          <p:cNvSpPr txBox="1"/>
          <p:nvPr userDrawn="1"/>
        </p:nvSpPr>
        <p:spPr>
          <a:xfrm>
            <a:off x="7399802" y="71394"/>
            <a:ext cx="2232247" cy="166199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marL="0" lvl="0" indent="0" algn="r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200"/>
              </a:spcAft>
              <a:buFont typeface="Arial" panose="020B0604020202020204" pitchFamily="34" charset="0"/>
              <a:buNone/>
            </a:pPr>
            <a:r>
              <a:rPr lang="en-US" altLang="ko-KR" sz="1200" b="1" kern="1200" spc="-100" baseline="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rPr>
              <a:t>Ⅲ. </a:t>
            </a:r>
            <a:r>
              <a:rPr lang="ko-KR" altLang="en-US" sz="1200" b="1" kern="1200" spc="-100" baseline="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rPr>
              <a:t>목표모델 설계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F278B8FA-8135-4E09-93E6-A2C7F6A28CF1}"/>
              </a:ext>
            </a:extLst>
          </p:cNvPr>
          <p:cNvSpPr/>
          <p:nvPr userDrawn="1"/>
        </p:nvSpPr>
        <p:spPr>
          <a:xfrm>
            <a:off x="272156" y="1665287"/>
            <a:ext cx="9360794" cy="4752997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80007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459">
          <p15:clr>
            <a:srgbClr val="FBAE40"/>
          </p15:clr>
        </p15:guide>
        <p15:guide id="5" pos="172">
          <p15:clr>
            <a:srgbClr val="FBAE40"/>
          </p15:clr>
        </p15:guide>
        <p15:guide id="6" pos="6068">
          <p15:clr>
            <a:srgbClr val="FBAE40"/>
          </p15:clr>
        </p15:guide>
        <p15:guide id="7" orient="horz" pos="1253">
          <p15:clr>
            <a:srgbClr val="FBAE40"/>
          </p15:clr>
        </p15:guide>
        <p15:guide id="8" orient="horz" pos="4042">
          <p15:clr>
            <a:srgbClr val="FBAE40"/>
          </p15:clr>
        </p15:guide>
        <p15:guide id="9" orient="horz" pos="104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목표모델_레벨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/>
          <p:cNvSpPr txBox="1"/>
          <p:nvPr userDrawn="1"/>
        </p:nvSpPr>
        <p:spPr bwMode="gray">
          <a:xfrm>
            <a:off x="4719735" y="6525344"/>
            <a:ext cx="521297" cy="24622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rtlCol="0">
            <a:spAutoFit/>
          </a:bodyPr>
          <a:lstStyle/>
          <a:p>
            <a:pPr marL="0" marR="0" lvl="0" indent="0" algn="l" defTabSz="708025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54F72"/>
              </a:buClr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Ⅲ-</a:t>
            </a:r>
            <a:fld id="{D3B5D93D-785D-4E35-968E-82B83D864D2C}" type="slidenum">
              <a:rPr kumimoji="0" lang="ko-KR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l" defTabSz="708025" rtl="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954F72"/>
                </a:buClr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  <p:sp>
        <p:nvSpPr>
          <p:cNvPr id="9" name="텍스트 개체 틀 9">
            <a:extLst>
              <a:ext uri="{FF2B5EF4-FFF2-40B4-BE49-F238E27FC236}">
                <a16:creationId xmlns:a16="http://schemas.microsoft.com/office/drawing/2014/main" id="{E7CE1EB4-FC11-437B-9BC6-5154B60AD7B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281928" y="807445"/>
            <a:ext cx="9320194" cy="755025"/>
          </a:xfrm>
          <a:prstGeom prst="rect">
            <a:avLst/>
          </a:prstGeom>
        </p:spPr>
        <p:txBody>
          <a:bodyPr lIns="36000" tIns="36000" rIns="36000" bIns="36000"/>
          <a:lstStyle>
            <a:lvl1pPr marL="0" indent="0" algn="just" latinLnBrk="0">
              <a:lnSpc>
                <a:spcPct val="100000"/>
              </a:lnSpc>
              <a:spcBef>
                <a:spcPts val="0"/>
              </a:spcBef>
              <a:buFontTx/>
              <a:buNone/>
              <a:defRPr sz="1600" b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defRPr>
            </a:lvl1pPr>
            <a:lvl2pPr marL="457200" indent="0">
              <a:buFontTx/>
              <a:buNone/>
              <a:defRPr sz="1400" b="1"/>
            </a:lvl2pPr>
            <a:lvl3pPr marL="914400" indent="0">
              <a:buFontTx/>
              <a:buNone/>
              <a:defRPr sz="1400" b="1"/>
            </a:lvl3pPr>
            <a:lvl4pPr marL="1371600" indent="0">
              <a:buFontTx/>
              <a:buNone/>
              <a:defRPr sz="1400" b="1"/>
            </a:lvl4pPr>
            <a:lvl5pPr marL="1828800" indent="0">
              <a:buFontTx/>
              <a:buNone/>
              <a:defRPr sz="1400" b="1"/>
            </a:lvl5pPr>
          </a:lstStyle>
          <a:p>
            <a:pPr lvl="0"/>
            <a:endParaRPr lang="ko-KR" altLang="en-US" dirty="0"/>
          </a:p>
        </p:txBody>
      </p:sp>
      <p:sp>
        <p:nvSpPr>
          <p:cNvPr id="12" name="텍스트 개체 틀 9">
            <a:extLst>
              <a:ext uri="{FF2B5EF4-FFF2-40B4-BE49-F238E27FC236}">
                <a16:creationId xmlns:a16="http://schemas.microsoft.com/office/drawing/2014/main" id="{DDB37A84-8F28-401B-A597-9EC8FB0EEA8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 bwMode="gray">
          <a:xfrm>
            <a:off x="281928" y="44624"/>
            <a:ext cx="7047336" cy="619690"/>
          </a:xfrm>
          <a:prstGeom prst="rect">
            <a:avLst/>
          </a:prstGeom>
        </p:spPr>
        <p:txBody>
          <a:bodyPr lIns="36000" tIns="36000" rIns="36000" bIns="36000" anchor="b"/>
          <a:lstStyle>
            <a:lvl1pPr marL="0" indent="0" algn="l" latinLnBrk="0">
              <a:lnSpc>
                <a:spcPct val="100000"/>
              </a:lnSpc>
              <a:spcBef>
                <a:spcPts val="0"/>
              </a:spcBef>
              <a:buFontTx/>
              <a:buNone/>
              <a:defRPr sz="1800" b="1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457200" indent="0">
              <a:buFontTx/>
              <a:buNone/>
              <a:defRPr sz="1400" b="1"/>
            </a:lvl2pPr>
            <a:lvl3pPr marL="914400" indent="0">
              <a:buFontTx/>
              <a:buNone/>
              <a:defRPr sz="1400" b="1"/>
            </a:lvl3pPr>
            <a:lvl4pPr marL="1371600" indent="0">
              <a:buFontTx/>
              <a:buNone/>
              <a:defRPr sz="1400" b="1"/>
            </a:lvl4pPr>
            <a:lvl5pPr marL="1828800" indent="0">
              <a:buFontTx/>
              <a:buNone/>
              <a:defRPr sz="1400" b="1"/>
            </a:lvl5pPr>
          </a:lstStyle>
          <a:p>
            <a:pPr lvl="0"/>
            <a:endParaRPr lang="ko-KR" altLang="en-US" dirty="0"/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93074572-34D1-41CE-97B7-EEA20350E348}"/>
              </a:ext>
            </a:extLst>
          </p:cNvPr>
          <p:cNvGrpSpPr/>
          <p:nvPr userDrawn="1"/>
        </p:nvGrpSpPr>
        <p:grpSpPr>
          <a:xfrm>
            <a:off x="272996" y="728700"/>
            <a:ext cx="9360012" cy="36000"/>
            <a:chOff x="272996" y="728700"/>
            <a:chExt cx="9360012" cy="72000"/>
          </a:xfrm>
        </p:grpSpPr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F667C1D-C3B4-4B41-905C-3057A6DF3BF3}"/>
                </a:ext>
              </a:extLst>
            </p:cNvPr>
            <p:cNvSpPr/>
            <p:nvPr userDrawn="1"/>
          </p:nvSpPr>
          <p:spPr>
            <a:xfrm>
              <a:off x="272996" y="728700"/>
              <a:ext cx="4608000" cy="72000"/>
            </a:xfrm>
            <a:prstGeom prst="rect">
              <a:avLst/>
            </a:prstGeom>
            <a:solidFill>
              <a:schemeClr val="accent2"/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나눔고딕"/>
                <a:cs typeface="+mn-cs"/>
              </a:endParaRPr>
            </a:p>
          </p:txBody>
        </p:sp>
        <p:sp>
          <p:nvSpPr>
            <p:cNvPr id="15" name="평행 사변형 14">
              <a:extLst>
                <a:ext uri="{FF2B5EF4-FFF2-40B4-BE49-F238E27FC236}">
                  <a16:creationId xmlns:a16="http://schemas.microsoft.com/office/drawing/2014/main" id="{D4FE1EED-2576-42B5-92FC-E9496C6BF997}"/>
                </a:ext>
              </a:extLst>
            </p:cNvPr>
            <p:cNvSpPr/>
            <p:nvPr/>
          </p:nvSpPr>
          <p:spPr>
            <a:xfrm flipH="1">
              <a:off x="5025008" y="728700"/>
              <a:ext cx="4608000" cy="72000"/>
            </a:xfrm>
            <a:prstGeom prst="parallelogram">
              <a:avLst>
                <a:gd name="adj" fmla="val 0"/>
              </a:avLst>
            </a:prstGeom>
            <a:solidFill>
              <a:srgbClr val="00407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0131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1" u="none" strike="noStrike" kern="0" cap="none" spc="0" normalizeH="0" baseline="0" noProof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itchFamily="18" charset="-127"/>
                <a:ea typeface="KoPub돋움체 Bold" pitchFamily="18" charset="-127"/>
                <a:cs typeface="+mn-cs"/>
              </a:endParaRPr>
            </a:p>
          </p:txBody>
        </p:sp>
        <p:sp>
          <p:nvSpPr>
            <p:cNvPr id="16" name="평행 사변형 15">
              <a:extLst>
                <a:ext uri="{FF2B5EF4-FFF2-40B4-BE49-F238E27FC236}">
                  <a16:creationId xmlns:a16="http://schemas.microsoft.com/office/drawing/2014/main" id="{45E339F8-BA07-40AF-9B8C-BA045AC9C05F}"/>
                </a:ext>
              </a:extLst>
            </p:cNvPr>
            <p:cNvSpPr/>
            <p:nvPr userDrawn="1"/>
          </p:nvSpPr>
          <p:spPr>
            <a:xfrm flipH="1">
              <a:off x="4736976" y="728700"/>
              <a:ext cx="460249" cy="72000"/>
            </a:xfrm>
            <a:prstGeom prst="parallelogram">
              <a:avLst>
                <a:gd name="adj" fmla="val 43888"/>
              </a:avLst>
            </a:prstGeom>
            <a:solidFill>
              <a:srgbClr val="00B0F0"/>
            </a:solidFill>
            <a:ln w="9525">
              <a:noFill/>
              <a:round/>
              <a:headEnd/>
              <a:tailEnd/>
            </a:ln>
            <a:effectLst/>
          </p:spPr>
          <p:txBody>
            <a:bodyPr wrap="none" lIns="0" tIns="0" rIns="72000" bIns="0" anchor="ctr"/>
            <a:lstStyle/>
            <a:p>
              <a:pPr marL="0" marR="0" lvl="1" indent="0" algn="ctr" defTabSz="1001908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ct val="80000"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1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endParaRPr>
            </a:p>
          </p:txBody>
        </p: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F5E2837-0D7E-46AB-9CB1-3108DCC0A256}"/>
              </a:ext>
            </a:extLst>
          </p:cNvPr>
          <p:cNvGrpSpPr/>
          <p:nvPr userDrawn="1"/>
        </p:nvGrpSpPr>
        <p:grpSpPr>
          <a:xfrm>
            <a:off x="272996" y="6453340"/>
            <a:ext cx="9360848" cy="18000"/>
            <a:chOff x="272996" y="6453340"/>
            <a:chExt cx="9360848" cy="36000"/>
          </a:xfrm>
        </p:grpSpPr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9727AF80-F73E-4A99-B26D-D772F605B0C9}"/>
                </a:ext>
              </a:extLst>
            </p:cNvPr>
            <p:cNvSpPr/>
            <p:nvPr userDrawn="1"/>
          </p:nvSpPr>
          <p:spPr>
            <a:xfrm>
              <a:off x="2901844" y="6453340"/>
              <a:ext cx="6732000" cy="3600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2000" tIns="36000" rIns="72000" b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나눔고딕"/>
                <a:cs typeface="+mn-cs"/>
              </a:endParaRPr>
            </a:p>
          </p:txBody>
        </p:sp>
        <p:sp>
          <p:nvSpPr>
            <p:cNvPr id="22" name="평행 사변형 21">
              <a:extLst>
                <a:ext uri="{FF2B5EF4-FFF2-40B4-BE49-F238E27FC236}">
                  <a16:creationId xmlns:a16="http://schemas.microsoft.com/office/drawing/2014/main" id="{C09BD840-0627-48F9-A01E-54946AA1B14A}"/>
                </a:ext>
              </a:extLst>
            </p:cNvPr>
            <p:cNvSpPr/>
            <p:nvPr userDrawn="1"/>
          </p:nvSpPr>
          <p:spPr>
            <a:xfrm flipH="1">
              <a:off x="272996" y="6453340"/>
              <a:ext cx="4644000" cy="36000"/>
            </a:xfrm>
            <a:prstGeom prst="parallelogram">
              <a:avLst>
                <a:gd name="adj" fmla="val 0"/>
              </a:avLst>
            </a:prstGeom>
            <a:solidFill>
              <a:srgbClr val="00407A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10131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1" i="1" u="none" strike="noStrike" kern="0" cap="none" spc="0" normalizeH="0" baseline="0" noProof="0">
                <a:ln>
                  <a:solidFill>
                    <a:prstClr val="white">
                      <a:lumMod val="65000"/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itchFamily="18" charset="-127"/>
                <a:ea typeface="KoPub돋움체 Bold" pitchFamily="18" charset="-127"/>
                <a:cs typeface="+mn-cs"/>
              </a:endParaRPr>
            </a:p>
          </p:txBody>
        </p:sp>
        <p:sp>
          <p:nvSpPr>
            <p:cNvPr id="23" name="평행 사변형 22">
              <a:extLst>
                <a:ext uri="{FF2B5EF4-FFF2-40B4-BE49-F238E27FC236}">
                  <a16:creationId xmlns:a16="http://schemas.microsoft.com/office/drawing/2014/main" id="{C83656EA-403C-46BC-9A9F-FEA20DE30697}"/>
                </a:ext>
              </a:extLst>
            </p:cNvPr>
            <p:cNvSpPr/>
            <p:nvPr userDrawn="1"/>
          </p:nvSpPr>
          <p:spPr>
            <a:xfrm flipH="1">
              <a:off x="4744779" y="6453340"/>
              <a:ext cx="460249" cy="36000"/>
            </a:xfrm>
            <a:prstGeom prst="parallelogram">
              <a:avLst>
                <a:gd name="adj" fmla="val 43888"/>
              </a:avLst>
            </a:prstGeom>
            <a:pattFill prst="smCheck">
              <a:fgClr>
                <a:srgbClr val="0070C0"/>
              </a:fgClr>
              <a:bgClr>
                <a:srgbClr val="0083E6"/>
              </a:bgClr>
            </a:pattFill>
            <a:ln w="9525">
              <a:noFill/>
              <a:round/>
              <a:headEnd/>
              <a:tailEnd/>
            </a:ln>
            <a:effectLst/>
          </p:spPr>
          <p:txBody>
            <a:bodyPr wrap="none" lIns="0" tIns="0" rIns="72000" bIns="0" anchor="ctr"/>
            <a:lstStyle/>
            <a:p>
              <a:pPr marL="0" marR="0" lvl="1" indent="0" algn="ctr" defTabSz="1001908" rtl="0" eaLnBrk="1" fontAlgn="ctr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F5F5F"/>
                </a:buClr>
                <a:buSzPct val="80000"/>
                <a:buFontTx/>
                <a:buNone/>
                <a:tabLst/>
                <a:defRPr/>
              </a:pPr>
              <a:endParaRPr kumimoji="0" lang="ko-KR" altLang="en-US" sz="1600" b="0" i="0" u="none" strike="noStrike" kern="0" cap="none" spc="-15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0B210B24-0C55-4695-917F-AB77607494A4}"/>
              </a:ext>
            </a:extLst>
          </p:cNvPr>
          <p:cNvSpPr txBox="1"/>
          <p:nvPr userDrawn="1"/>
        </p:nvSpPr>
        <p:spPr>
          <a:xfrm>
            <a:off x="1394546" y="6515394"/>
            <a:ext cx="2804958" cy="199552"/>
          </a:xfrm>
          <a:prstGeom prst="rect">
            <a:avLst/>
          </a:prstGeom>
          <a:noFill/>
        </p:spPr>
        <p:txBody>
          <a:bodyPr wrap="square" lIns="36000" tIns="36000" rIns="36000" bIns="36000" rtlCol="0" anchor="ctr" anchorCtr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공공 재해복구시스템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(DR)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구축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ISP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사업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(4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차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/>
                </a:solidFill>
                <a:effectLst/>
                <a:uLnTx/>
                <a:uFillTx/>
                <a:latin typeface="나눔고딕 Bold"/>
                <a:ea typeface="나눔고딕 Bold"/>
                <a:cs typeface="+mn-cs"/>
              </a:rPr>
              <a:t>)</a:t>
            </a:r>
            <a:endParaRPr kumimoji="0" lang="ko-KR" altLang="en-US" sz="800" b="0" i="0" u="none" strike="noStrike" kern="1200" cap="none" spc="0" normalizeH="0" baseline="0" noProof="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/>
              </a:solidFill>
              <a:effectLst/>
              <a:uLnTx/>
              <a:uFillTx/>
              <a:latin typeface="나눔고딕 Bold"/>
              <a:ea typeface="나눔고딕 Bold"/>
              <a:cs typeface="+mn-cs"/>
            </a:endParaRP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C29A2F6B-DAB2-4F4A-9BFD-1FBE78F824E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" r="-2065" b="-6165"/>
          <a:stretch/>
        </p:blipFill>
        <p:spPr>
          <a:xfrm>
            <a:off x="8475126" y="6516637"/>
            <a:ext cx="1122390" cy="224731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2BE7FD5D-8B69-4CCC-95F5-6F0DEA2E08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56" y="6462340"/>
            <a:ext cx="1122390" cy="296661"/>
          </a:xfrm>
          <a:prstGeom prst="rect">
            <a:avLst/>
          </a:prstGeom>
        </p:spPr>
      </p:pic>
      <p:sp>
        <p:nvSpPr>
          <p:cNvPr id="31" name="텍스트 개체 틀 25">
            <a:extLst>
              <a:ext uri="{FF2B5EF4-FFF2-40B4-BE49-F238E27FC236}">
                <a16:creationId xmlns:a16="http://schemas.microsoft.com/office/drawing/2014/main" id="{6E955E1D-D46F-4CFE-9162-537E455CE9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085968" y="291942"/>
            <a:ext cx="2545880" cy="166199"/>
          </a:xfrm>
          <a:prstGeom prst="rect">
            <a:avLst/>
          </a:prstGeom>
          <a:noFill/>
          <a:ln>
            <a:noFill/>
          </a:ln>
        </p:spPr>
        <p:txBody>
          <a:bodyPr wrap="square" tIns="0" bIns="0" rtlCol="0" anchor="t">
            <a:spAutoFit/>
          </a:bodyPr>
          <a:lstStyle>
            <a:lvl1pPr marL="0" indent="0" algn="r">
              <a:buNone/>
              <a:defRPr lang="ko-KR" altLang="en-US" sz="1200" b="1" spc="-100" baseline="0" dirty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defRPr>
            </a:lvl1pPr>
            <a:lvl2pPr marL="171450" indent="0">
              <a:buNone/>
              <a:defRPr lang="ko-KR" altLang="en-US" sz="1800" dirty="0" smtClean="0"/>
            </a:lvl2pPr>
            <a:lvl3pPr marL="685800" indent="0">
              <a:buNone/>
              <a:defRPr lang="ko-KR" altLang="en-US" sz="1800" dirty="0" smtClean="0"/>
            </a:lvl3pPr>
            <a:lvl4pPr marL="1143000" indent="0">
              <a:buNone/>
              <a:defRPr lang="ko-KR" altLang="en-US" sz="1800" dirty="0" smtClean="0"/>
            </a:lvl4pPr>
            <a:lvl5pPr marL="1600200" indent="0">
              <a:buNone/>
              <a:defRPr lang="ko-KR" altLang="en-US" sz="1800" dirty="0"/>
            </a:lvl5pPr>
          </a:lstStyle>
          <a:p>
            <a:pPr marL="0" lvl="0" algn="r">
              <a:spcAft>
                <a:spcPts val="200"/>
              </a:spcAft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7">
            <a:extLst>
              <a:ext uri="{FF2B5EF4-FFF2-40B4-BE49-F238E27FC236}">
                <a16:creationId xmlns:a16="http://schemas.microsoft.com/office/drawing/2014/main" id="{0A57D7C9-58DE-4DB3-BEBA-833CC60F5D3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085968" y="521029"/>
            <a:ext cx="2545880" cy="13849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  <a:alpha val="0"/>
              </a:schemeClr>
            </a:solidFill>
          </a:ln>
        </p:spPr>
        <p:txBody>
          <a:bodyPr vert="horz" wrap="square" lIns="91440" tIns="0" rIns="91440" bIns="0" rtlCol="0" anchor="t">
            <a:spAutoFit/>
          </a:bodyPr>
          <a:lstStyle>
            <a:lvl1pPr marL="342900" indent="-342900" algn="r">
              <a:buNone/>
              <a:defRPr lang="ko-KR" altLang="en-US" sz="1000" b="1" spc="-100" baseline="0" smtClean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</a:defRPr>
            </a:lvl1pPr>
            <a:lvl2pPr marL="457200" indent="-285750">
              <a:buNone/>
              <a:defRPr lang="ko-KR" altLang="en-US" sz="1800" smtClean="0"/>
            </a:lvl2pPr>
            <a:lvl3pPr marL="971550" indent="-285750">
              <a:buNone/>
              <a:defRPr lang="ko-KR" altLang="en-US" sz="1800" smtClean="0"/>
            </a:lvl3pPr>
            <a:lvl4pPr marL="1428750" indent="-285750">
              <a:buNone/>
              <a:defRPr lang="ko-KR" altLang="en-US" sz="1800" smtClean="0"/>
            </a:lvl4pPr>
            <a:lvl5pPr marL="1885950" indent="-285750">
              <a:buNone/>
              <a:defRPr lang="ko-KR" altLang="en-US" sz="1800"/>
            </a:lvl5pPr>
          </a:lstStyle>
          <a:p>
            <a:pPr marL="0" lvl="0" indent="0" algn="r">
              <a:spcAft>
                <a:spcPts val="200"/>
              </a:spcAft>
            </a:pPr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215AD9D-5C74-4554-8D31-B80275BA5B1D}"/>
              </a:ext>
            </a:extLst>
          </p:cNvPr>
          <p:cNvSpPr txBox="1"/>
          <p:nvPr userDrawn="1"/>
        </p:nvSpPr>
        <p:spPr>
          <a:xfrm>
            <a:off x="7399802" y="71394"/>
            <a:ext cx="2232247" cy="166199"/>
          </a:xfrm>
          <a:prstGeom prst="rect">
            <a:avLst/>
          </a:prstGeom>
          <a:noFill/>
        </p:spPr>
        <p:txBody>
          <a:bodyPr wrap="square" tIns="0" bIns="0" anchor="ctr">
            <a:spAutoFit/>
          </a:bodyPr>
          <a:lstStyle/>
          <a:p>
            <a:pPr marL="0" lvl="0" indent="0" algn="r" defTabSz="914400" rtl="0" eaLnBrk="1" latinLnBrk="1" hangingPunct="1">
              <a:lnSpc>
                <a:spcPct val="90000"/>
              </a:lnSpc>
              <a:spcBef>
                <a:spcPts val="1000"/>
              </a:spcBef>
              <a:spcAft>
                <a:spcPts val="200"/>
              </a:spcAft>
              <a:buFont typeface="Arial" panose="020B0604020202020204" pitchFamily="34" charset="0"/>
              <a:buNone/>
            </a:pPr>
            <a:r>
              <a:rPr lang="en-US" altLang="ko-KR" sz="1200" b="1" kern="1200" spc="-100" baseline="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rPr>
              <a:t>Ⅲ. </a:t>
            </a:r>
            <a:r>
              <a:rPr lang="ko-KR" altLang="en-US" sz="1200" b="1" kern="1200" spc="-100" baseline="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rPr>
              <a:t>목표모델 설계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E07EADC7-D878-496B-B38B-1FC36A752F44}"/>
              </a:ext>
            </a:extLst>
          </p:cNvPr>
          <p:cNvSpPr/>
          <p:nvPr userDrawn="1"/>
        </p:nvSpPr>
        <p:spPr>
          <a:xfrm>
            <a:off x="272156" y="1665287"/>
            <a:ext cx="9360794" cy="4752997"/>
          </a:xfrm>
          <a:prstGeom prst="rect">
            <a:avLst/>
          </a:prstGeom>
          <a:noFill/>
          <a:ln w="952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endParaRPr lang="ko-KR" altLang="en-US" sz="1200">
              <a:solidFill>
                <a:schemeClr val="tx1"/>
              </a:solidFill>
            </a:endParaRPr>
          </a:p>
        </p:txBody>
      </p:sp>
      <p:sp>
        <p:nvSpPr>
          <p:cNvPr id="3" name="텍스트 개체 틀 9">
            <a:extLst>
              <a:ext uri="{FF2B5EF4-FFF2-40B4-BE49-F238E27FC236}">
                <a16:creationId xmlns:a16="http://schemas.microsoft.com/office/drawing/2014/main" id="{6911B4E3-E4D6-7EFE-47B9-A9ADEC57D8B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 bwMode="gray">
          <a:xfrm>
            <a:off x="281928" y="92252"/>
            <a:ext cx="7047336" cy="238917"/>
          </a:xfrm>
          <a:prstGeom prst="rect">
            <a:avLst/>
          </a:prstGeom>
        </p:spPr>
        <p:txBody>
          <a:bodyPr lIns="36000" tIns="36000" rIns="36000" bIns="36000" anchor="ctr"/>
          <a:lstStyle>
            <a:lvl1pPr marL="0" indent="0" algn="l" latinLnBrk="0">
              <a:lnSpc>
                <a:spcPct val="100000"/>
              </a:lnSpc>
              <a:spcBef>
                <a:spcPts val="0"/>
              </a:spcBef>
              <a:buFontTx/>
              <a:buNone/>
              <a:defRPr lang="ko-KR" altLang="en-US" sz="1000" b="1" kern="1200" spc="-100" baseline="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/>
                </a:solidFill>
                <a:latin typeface="+mn-ea"/>
                <a:ea typeface="+mn-ea"/>
                <a:cs typeface="+mn-cs"/>
              </a:defRPr>
            </a:lvl1pPr>
            <a:lvl2pPr marL="457200" indent="0">
              <a:buFontTx/>
              <a:buNone/>
              <a:defRPr sz="1400" b="1"/>
            </a:lvl2pPr>
            <a:lvl3pPr marL="914400" indent="0">
              <a:buFontTx/>
              <a:buNone/>
              <a:defRPr sz="1400" b="1"/>
            </a:lvl3pPr>
            <a:lvl4pPr marL="1371600" indent="0">
              <a:buFontTx/>
              <a:buNone/>
              <a:defRPr sz="1400" b="1"/>
            </a:lvl4pPr>
            <a:lvl5pPr marL="1828800" indent="0">
              <a:buFontTx/>
              <a:buNone/>
              <a:defRPr sz="1400" b="1"/>
            </a:lvl5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574367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120">
          <p15:clr>
            <a:srgbClr val="FBAE40"/>
          </p15:clr>
        </p15:guide>
        <p15:guide id="3" orient="horz" pos="4088">
          <p15:clr>
            <a:srgbClr val="FBAE40"/>
          </p15:clr>
        </p15:guide>
        <p15:guide id="4" orient="horz" pos="459">
          <p15:clr>
            <a:srgbClr val="FBAE40"/>
          </p15:clr>
        </p15:guide>
        <p15:guide id="5" pos="172">
          <p15:clr>
            <a:srgbClr val="FBAE40"/>
          </p15:clr>
        </p15:guide>
        <p15:guide id="6" pos="6068">
          <p15:clr>
            <a:srgbClr val="FBAE40"/>
          </p15:clr>
        </p15:guide>
        <p15:guide id="7" orient="horz" pos="1253">
          <p15:clr>
            <a:srgbClr val="FBAE40"/>
          </p15:clr>
        </p15:guide>
        <p15:guide id="8" orient="horz" pos="4042">
          <p15:clr>
            <a:srgbClr val="FBAE40"/>
          </p15:clr>
        </p15:guide>
        <p15:guide id="9" orient="horz" pos="1049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D904F4DD-5CA6-4CF5-A990-25D894EA52B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13872" b="63759"/>
          <a:stretch/>
        </p:blipFill>
        <p:spPr>
          <a:xfrm flipH="1">
            <a:off x="5666730" y="0"/>
            <a:ext cx="4239270" cy="2522159"/>
          </a:xfrm>
          <a:prstGeom prst="rect">
            <a:avLst/>
          </a:prstGeom>
        </p:spPr>
      </p:pic>
      <p:grpSp>
        <p:nvGrpSpPr>
          <p:cNvPr id="15" name="그룹 14">
            <a:extLst>
              <a:ext uri="{FF2B5EF4-FFF2-40B4-BE49-F238E27FC236}">
                <a16:creationId xmlns:a16="http://schemas.microsoft.com/office/drawing/2014/main" id="{6DE20A6F-F8E8-4B68-B4A6-ED4AA0C86F93}"/>
              </a:ext>
            </a:extLst>
          </p:cNvPr>
          <p:cNvGrpSpPr/>
          <p:nvPr userDrawn="1"/>
        </p:nvGrpSpPr>
        <p:grpSpPr>
          <a:xfrm>
            <a:off x="131892" y="306247"/>
            <a:ext cx="5253794" cy="1437223"/>
            <a:chOff x="344488" y="386228"/>
            <a:chExt cx="5253794" cy="1437223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FC08B892-E6A3-43A0-A320-402947214A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15" b="66291"/>
            <a:stretch/>
          </p:blipFill>
          <p:spPr>
            <a:xfrm>
              <a:off x="344488" y="386228"/>
              <a:ext cx="1581183" cy="1437223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73B2E494-215B-40C1-9F87-C062992E7A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235"/>
            <a:stretch/>
          </p:blipFill>
          <p:spPr>
            <a:xfrm>
              <a:off x="1820652" y="695604"/>
              <a:ext cx="3777630" cy="809625"/>
            </a:xfrm>
            <a:prstGeom prst="rect">
              <a:avLst/>
            </a:prstGeom>
          </p:spPr>
        </p:pic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0B9F7F47-542A-4876-A0C1-F06CCEE006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13872" b="63759"/>
          <a:stretch/>
        </p:blipFill>
        <p:spPr>
          <a:xfrm flipV="1">
            <a:off x="2794" y="4327221"/>
            <a:ext cx="4239270" cy="252215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348EA93-78C3-4E90-964F-72B0FBB00E7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" y="2689913"/>
            <a:ext cx="4007214" cy="2791315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68E31626-AA4A-413B-9B5F-8B2A15C42E50}"/>
              </a:ext>
            </a:extLst>
          </p:cNvPr>
          <p:cNvSpPr/>
          <p:nvPr userDrawn="1"/>
        </p:nvSpPr>
        <p:spPr>
          <a:xfrm>
            <a:off x="0" y="5709162"/>
            <a:ext cx="9906000" cy="1148838"/>
          </a:xfrm>
          <a:prstGeom prst="rect">
            <a:avLst/>
          </a:prstGeom>
          <a:solidFill>
            <a:srgbClr val="3C34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고딕 Bold" panose="020D0804000000000000" pitchFamily="50" charset="-127"/>
              <a:ea typeface="나눔고딕 Bold" panose="020D0804000000000000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1083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>
            <a:extLst>
              <a:ext uri="{FF2B5EF4-FFF2-40B4-BE49-F238E27FC236}">
                <a16:creationId xmlns:a16="http://schemas.microsoft.com/office/drawing/2014/main" id="{6DE20A6F-F8E8-4B68-B4A6-ED4AA0C86F93}"/>
              </a:ext>
            </a:extLst>
          </p:cNvPr>
          <p:cNvGrpSpPr/>
          <p:nvPr userDrawn="1"/>
        </p:nvGrpSpPr>
        <p:grpSpPr>
          <a:xfrm>
            <a:off x="131892" y="306247"/>
            <a:ext cx="5253794" cy="1437223"/>
            <a:chOff x="344488" y="386228"/>
            <a:chExt cx="5253794" cy="1437223"/>
          </a:xfrm>
        </p:grpSpPr>
        <p:pic>
          <p:nvPicPr>
            <p:cNvPr id="16" name="그림 15">
              <a:extLst>
                <a:ext uri="{FF2B5EF4-FFF2-40B4-BE49-F238E27FC236}">
                  <a16:creationId xmlns:a16="http://schemas.microsoft.com/office/drawing/2014/main" id="{FC08B892-E6A3-43A0-A320-402947214A6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915" b="66291"/>
            <a:stretch/>
          </p:blipFill>
          <p:spPr>
            <a:xfrm>
              <a:off x="344488" y="386228"/>
              <a:ext cx="1581183" cy="1437223"/>
            </a:xfrm>
            <a:prstGeom prst="rect">
              <a:avLst/>
            </a:prstGeom>
          </p:spPr>
        </p:pic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73B2E494-215B-40C1-9F87-C062992E7A6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235"/>
            <a:stretch/>
          </p:blipFill>
          <p:spPr>
            <a:xfrm>
              <a:off x="1820652" y="695604"/>
              <a:ext cx="3777630" cy="809625"/>
            </a:xfrm>
            <a:prstGeom prst="rect">
              <a:avLst/>
            </a:prstGeom>
          </p:spPr>
        </p:pic>
      </p:grpSp>
      <p:pic>
        <p:nvPicPr>
          <p:cNvPr id="19" name="그림 18">
            <a:extLst>
              <a:ext uri="{FF2B5EF4-FFF2-40B4-BE49-F238E27FC236}">
                <a16:creationId xmlns:a16="http://schemas.microsoft.com/office/drawing/2014/main" id="{0B9F7F47-542A-4876-A0C1-F06CCEE006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13872" b="63759"/>
          <a:stretch/>
        </p:blipFill>
        <p:spPr>
          <a:xfrm flipV="1">
            <a:off x="2794" y="4327221"/>
            <a:ext cx="4239270" cy="2522159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8348EA93-78C3-4E90-964F-72B0FBB00E7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08" y="2689913"/>
            <a:ext cx="4007214" cy="2791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6840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그룹 33">
            <a:extLst>
              <a:ext uri="{FF2B5EF4-FFF2-40B4-BE49-F238E27FC236}">
                <a16:creationId xmlns:a16="http://schemas.microsoft.com/office/drawing/2014/main" id="{86DC1756-51FD-4B0D-A1B7-9137C185667A}"/>
              </a:ext>
            </a:extLst>
          </p:cNvPr>
          <p:cNvGrpSpPr/>
          <p:nvPr userDrawn="1"/>
        </p:nvGrpSpPr>
        <p:grpSpPr>
          <a:xfrm>
            <a:off x="-2787860" y="332656"/>
            <a:ext cx="2556284" cy="4140460"/>
            <a:chOff x="-2859869" y="1916832"/>
            <a:chExt cx="2108132" cy="4140460"/>
          </a:xfrm>
        </p:grpSpPr>
        <p:sp>
          <p:nvSpPr>
            <p:cNvPr id="19" name="AutoShape 89">
              <a:extLst>
                <a:ext uri="{FF2B5EF4-FFF2-40B4-BE49-F238E27FC236}">
                  <a16:creationId xmlns:a16="http://schemas.microsoft.com/office/drawing/2014/main" id="{201D8A8D-B55A-498E-C35A-2C4E854BB8C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859868" y="1916832"/>
              <a:ext cx="2108131" cy="4140460"/>
            </a:xfrm>
            <a:prstGeom prst="roundRect">
              <a:avLst>
                <a:gd name="adj" fmla="val 4957"/>
              </a:avLst>
            </a:prstGeom>
            <a:solidFill>
              <a:schemeClr val="bg1"/>
            </a:solidFill>
            <a:ln>
              <a:noFill/>
            </a:ln>
          </p:spPr>
          <p:txBody>
            <a:bodyPr wrap="none" tIns="0" anchor="t"/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ctr" eaLnBrk="1" hangingPunct="1"/>
              <a:r>
                <a:rPr lang="ko-KR" altLang="en-US" sz="12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+mn-ea"/>
                  <a:ea typeface="+mn-ea"/>
                </a:rPr>
                <a:t>강조용 </a:t>
              </a:r>
              <a:r>
                <a:rPr lang="ko-KR" altLang="en-US" sz="1200" dirty="0" err="1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+mn-ea"/>
                  <a:ea typeface="+mn-ea"/>
                </a:rPr>
                <a:t>기준색</a:t>
              </a:r>
              <a:endParaRPr lang="ko-KR" altLang="en-US" sz="12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sp>
          <p:nvSpPr>
            <p:cNvPr id="20" name="AutoShape 96">
              <a:extLst>
                <a:ext uri="{FF2B5EF4-FFF2-40B4-BE49-F238E27FC236}">
                  <a16:creationId xmlns:a16="http://schemas.microsoft.com/office/drawing/2014/main" id="{F7EB1751-BAEE-D48E-7721-35A7C364B1A8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4606" y="2220463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1E3B7D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1. #1e3b7d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22" name="AutoShape 89">
              <a:extLst>
                <a:ext uri="{FF2B5EF4-FFF2-40B4-BE49-F238E27FC236}">
                  <a16:creationId xmlns:a16="http://schemas.microsoft.com/office/drawing/2014/main" id="{9ECCEF35-A9FA-291C-27DB-4BDCE61AFB6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4606" y="2646044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chemeClr val="bg1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+mn-ea"/>
                  <a:ea typeface="+mn-ea"/>
                </a:rPr>
                <a:t>2. #FFFFFF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sp>
          <p:nvSpPr>
            <p:cNvPr id="24" name="AutoShape 110">
              <a:extLst>
                <a:ext uri="{FF2B5EF4-FFF2-40B4-BE49-F238E27FC236}">
                  <a16:creationId xmlns:a16="http://schemas.microsoft.com/office/drawing/2014/main" id="{93E079DB-AF33-6FB2-B2F1-F4A0B51B19A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4606" y="3497206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C0DA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4. #C0DAFF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26" name="AutoShape 110">
              <a:extLst>
                <a:ext uri="{FF2B5EF4-FFF2-40B4-BE49-F238E27FC236}">
                  <a16:creationId xmlns:a16="http://schemas.microsoft.com/office/drawing/2014/main" id="{8B5EC07F-F599-52D8-D8D0-BD3BF381D23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4606" y="3922786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243B7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rtl="0"/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5. #243B7C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28" name="AutoShape 110">
              <a:extLst>
                <a:ext uri="{FF2B5EF4-FFF2-40B4-BE49-F238E27FC236}">
                  <a16:creationId xmlns:a16="http://schemas.microsoft.com/office/drawing/2014/main" id="{CF07625B-40BA-30E5-B577-D0D071E31247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4606" y="4357961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0367B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rtl="0"/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6. #0367B0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37" name="AutoShape 89">
              <a:extLst>
                <a:ext uri="{FF2B5EF4-FFF2-40B4-BE49-F238E27FC236}">
                  <a16:creationId xmlns:a16="http://schemas.microsoft.com/office/drawing/2014/main" id="{AD04E026-0C0B-DDBC-E362-C32E865E5D9D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4606" y="3071625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FFC0C0"/>
            </a:solidFill>
            <a:ln>
              <a:noFill/>
            </a:ln>
          </p:spPr>
          <p:txBody>
            <a:bodyPr wrap="none" anchor="ctr"/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eaLnBrk="1" hangingPunct="1"/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prstClr val="black"/>
                  </a:solidFill>
                  <a:latin typeface="+mn-ea"/>
                  <a:ea typeface="+mn-ea"/>
                </a:rPr>
                <a:t>3. #FFC0C0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sp>
          <p:nvSpPr>
            <p:cNvPr id="43" name="사각형: 둥근 모서리 6">
              <a:extLst>
                <a:ext uri="{FF2B5EF4-FFF2-40B4-BE49-F238E27FC236}">
                  <a16:creationId xmlns:a16="http://schemas.microsoft.com/office/drawing/2014/main" id="{F919807F-19AA-2DEB-8FD6-D8F45BC37188}"/>
                </a:ext>
              </a:extLst>
            </p:cNvPr>
            <p:cNvSpPr/>
            <p:nvPr userDrawn="1"/>
          </p:nvSpPr>
          <p:spPr>
            <a:xfrm>
              <a:off x="-2859869" y="2162173"/>
              <a:ext cx="2016225" cy="3895119"/>
            </a:xfrm>
            <a:prstGeom prst="roundRect">
              <a:avLst>
                <a:gd name="adj" fmla="val 10586"/>
              </a:avLst>
            </a:prstGeom>
            <a:noFill/>
            <a:ln w="15875">
              <a:solidFill>
                <a:schemeClr val="accent2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</a:endParaRPr>
            </a:p>
          </p:txBody>
        </p:sp>
        <p:sp>
          <p:nvSpPr>
            <p:cNvPr id="39" name="AutoShape 110">
              <a:extLst>
                <a:ext uri="{FF2B5EF4-FFF2-40B4-BE49-F238E27FC236}">
                  <a16:creationId xmlns:a16="http://schemas.microsoft.com/office/drawing/2014/main" id="{F10FD422-482D-4F14-97FA-5D5AC7E5627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9325" y="5179775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6F6F6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rtl="0"/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latin typeface="+mn-ea"/>
                  <a:ea typeface="+mn-ea"/>
                </a:rPr>
                <a:t>8. #6F6F6F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latin typeface="+mn-ea"/>
                <a:ea typeface="+mn-ea"/>
              </a:endParaRPr>
            </a:p>
          </p:txBody>
        </p:sp>
        <p:sp>
          <p:nvSpPr>
            <p:cNvPr id="40" name="AutoShape 110">
              <a:extLst>
                <a:ext uri="{FF2B5EF4-FFF2-40B4-BE49-F238E27FC236}">
                  <a16:creationId xmlns:a16="http://schemas.microsoft.com/office/drawing/2014/main" id="{D3B7F724-42ED-42CE-B4A5-8F64919028A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9325" y="5614950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000000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rtl="0"/>
              <a:r>
                <a:rPr lang="ko-KR" altLang="en-US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색상</a:t>
              </a:r>
              <a:r>
                <a:rPr lang="en-US" altLang="ko-KR" sz="1400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9. #000000</a:t>
              </a:r>
              <a:endPara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  <p:sp>
          <p:nvSpPr>
            <p:cNvPr id="42" name="AutoShape 110">
              <a:extLst>
                <a:ext uri="{FF2B5EF4-FFF2-40B4-BE49-F238E27FC236}">
                  <a16:creationId xmlns:a16="http://schemas.microsoft.com/office/drawing/2014/main" id="{D0C32F79-A09B-401A-8086-EE72F162AF5A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-2774606" y="4768868"/>
              <a:ext cx="1864982" cy="360000"/>
            </a:xfrm>
            <a:prstGeom prst="roundRect">
              <a:avLst>
                <a:gd name="adj" fmla="val 16667"/>
              </a:avLst>
            </a:prstGeom>
            <a:solidFill>
              <a:srgbClr val="3C346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lvl1pPr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eaLnBrk="0" hangingPunct="0"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 kumimoji="1" sz="2500" b="1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algn="l" rtl="0"/>
              <a:r>
                <a:rPr lang="ko-KR" altLang="en-US" sz="1400" b="1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색상</a:t>
              </a:r>
              <a:r>
                <a:rPr lang="en-US" altLang="ko-KR" sz="1400" b="1" dirty="0">
                  <a:ln>
                    <a:solidFill>
                      <a:schemeClr val="accent2">
                        <a:lumMod val="75000"/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+mn-ea"/>
                  <a:ea typeface="+mn-ea"/>
                </a:rPr>
                <a:t>7. #3C3463</a:t>
              </a:r>
              <a:endParaRPr lang="ko-KR" altLang="en-US" sz="1400" b="1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endParaRPr>
            </a:p>
          </p:txBody>
        </p:sp>
      </p:grpSp>
      <p:sp>
        <p:nvSpPr>
          <p:cNvPr id="30" name="AutoShape 110">
            <a:extLst>
              <a:ext uri="{FF2B5EF4-FFF2-40B4-BE49-F238E27FC236}">
                <a16:creationId xmlns:a16="http://schemas.microsoft.com/office/drawing/2014/main" id="{08509149-6B99-4870-866F-20A5807E8C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-2684473" y="4807167"/>
            <a:ext cx="2261445" cy="1000698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500" b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rtl="0" eaLnBrk="1" latinLnBrk="0" hangingPunct="1"/>
            <a:r>
              <a: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색상</a:t>
            </a:r>
            <a:r>
              <a:rPr lang="en-US" altLang="ko-KR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10. 000000</a:t>
            </a:r>
            <a:br>
              <a:rPr lang="en-US" altLang="ko-KR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</a:br>
            <a:r>
              <a: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표 테두리 </a:t>
            </a:r>
            <a:r>
              <a:rPr lang="en-US" altLang="ko-KR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&gt; </a:t>
            </a:r>
            <a:r>
              <a: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모든 테두리</a:t>
            </a:r>
            <a:endParaRPr lang="en-US" altLang="ko-KR" sz="1400" dirty="0">
              <a:ln>
                <a:solidFill>
                  <a:schemeClr val="accent2">
                    <a:lumMod val="7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ea typeface="+mn-ea"/>
            </a:endParaRPr>
          </a:p>
          <a:p>
            <a:pPr rtl="0" eaLnBrk="1" latinLnBrk="0" hangingPunct="1"/>
            <a:r>
              <a:rPr lang="ko-KR" altLang="en-US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테두리 두께 </a:t>
            </a:r>
            <a:r>
              <a:rPr lang="en-US" altLang="ko-KR" sz="1400" dirty="0">
                <a:ln>
                  <a:solidFill>
                    <a:schemeClr val="accent2">
                      <a:lumMod val="75000"/>
                      <a:alpha val="0"/>
                    </a:schemeClr>
                  </a:solidFill>
                </a:ln>
                <a:solidFill>
                  <a:schemeClr val="bg1"/>
                </a:solidFill>
                <a:latin typeface="+mn-ea"/>
                <a:ea typeface="+mn-ea"/>
              </a:rPr>
              <a:t>&gt; 0.25</a:t>
            </a:r>
            <a:endParaRPr lang="ko-KR" altLang="en-US" sz="1400" dirty="0">
              <a:ln>
                <a:solidFill>
                  <a:schemeClr val="accent2">
                    <a:lumMod val="75000"/>
                    <a:alpha val="0"/>
                  </a:schemeClr>
                </a:solidFill>
              </a:ln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382387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8" r:id="rId3"/>
    <p:sldLayoutId id="2147483696" r:id="rId4"/>
    <p:sldLayoutId id="2147483697" r:id="rId5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8.png"/></Relationships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E861C-2AC2-A897-90EF-CD26B7B14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4D66B25-F3DE-27A7-7CBC-D4E344F6A0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3.3.4.1 </a:t>
            </a:r>
            <a:r>
              <a:rPr lang="ko-KR" altLang="en-US">
                <a:solidFill>
                  <a:srgbClr val="000000"/>
                </a:solidFill>
              </a:rPr>
              <a:t>응용서비스 유형별 방안 설계 </a:t>
            </a:r>
            <a:r>
              <a:rPr lang="en-US" altLang="ko-KR">
                <a:solidFill>
                  <a:srgbClr val="000000"/>
                </a:solidFill>
              </a:rPr>
              <a:t>(5/7)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118C18EC-8EA9-6896-81AF-B639D2C492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0E4DCAA7-6F87-1CB8-87D2-0AD750FD9B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9000433-5945-0F5F-0DD1-0CEFE92866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3.3.4 </a:t>
            </a:r>
            <a:r>
              <a:rPr lang="ko-KR" altLang="en-US"/>
              <a:t>응용 아키텍처 </a:t>
            </a:r>
            <a:r>
              <a:rPr lang="en-US" altLang="ko-KR"/>
              <a:t>DR </a:t>
            </a:r>
            <a:r>
              <a:rPr lang="ko-KR" altLang="en-US"/>
              <a:t>설계</a:t>
            </a:r>
            <a:endParaRPr lang="ko-KR" altLang="en-US" dirty="0"/>
          </a:p>
        </p:txBody>
      </p:sp>
      <p:sp>
        <p:nvSpPr>
          <p:cNvPr id="2" name="텍스트 개체 틀 6">
            <a:extLst>
              <a:ext uri="{FF2B5EF4-FFF2-40B4-BE49-F238E27FC236}">
                <a16:creationId xmlns:a16="http://schemas.microsoft.com/office/drawing/2014/main" id="{D518AD29-3465-0D84-0225-10A19262BB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1928" y="807445"/>
            <a:ext cx="9320194" cy="755025"/>
          </a:xfrm>
        </p:spPr>
        <p:txBody>
          <a:bodyPr/>
          <a:lstStyle/>
          <a:p>
            <a:r>
              <a:rPr lang="ko-KR" altLang="en-US" dirty="0"/>
              <a:t>조회 업무는 </a:t>
            </a:r>
            <a:r>
              <a:rPr lang="ko-KR" altLang="en-US" dirty="0" err="1"/>
              <a:t>주센터</a:t>
            </a:r>
            <a:r>
              <a:rPr lang="en-US" altLang="ko-KR" dirty="0"/>
              <a:t>·DR</a:t>
            </a:r>
            <a:r>
              <a:rPr lang="ko-KR" altLang="en-US" dirty="0"/>
              <a:t>센터에서 동시에 처리하고 쓰기 업무는 주센터로 모아</a:t>
            </a:r>
            <a:r>
              <a:rPr lang="en-US" altLang="ko-KR" dirty="0"/>
              <a:t>, </a:t>
            </a:r>
            <a:r>
              <a:rPr lang="ko-KR" altLang="en-US" dirty="0"/>
              <a:t>원거리</a:t>
            </a:r>
            <a:r>
              <a:rPr lang="en-US" altLang="ko-KR" dirty="0"/>
              <a:t> </a:t>
            </a:r>
            <a:r>
              <a:rPr lang="ko-KR" altLang="en-US" dirty="0"/>
              <a:t>동시 쓰기 부담 없이 조회 부하를 분산하고 장애 시 신속하게 센터를 전환함</a:t>
            </a:r>
          </a:p>
        </p:txBody>
      </p:sp>
      <p:sp>
        <p:nvSpPr>
          <p:cNvPr id="94" name="모서리가 둥근 직사각형 12">
            <a:extLst>
              <a:ext uri="{FF2B5EF4-FFF2-40B4-BE49-F238E27FC236}">
                <a16:creationId xmlns:a16="http://schemas.microsoft.com/office/drawing/2014/main" id="{135EDA8D-AA95-ECEF-9B34-C3C61547A852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5" name="양쪽 모서리가 둥근 사각형 101">
            <a:extLst>
              <a:ext uri="{FF2B5EF4-FFF2-40B4-BE49-F238E27FC236}">
                <a16:creationId xmlns:a16="http://schemas.microsoft.com/office/drawing/2014/main" id="{7D7EB9CF-D7EA-BE10-EC56-FBAB341BF3AB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부동산종합공부시스템 </a:t>
            </a:r>
            <a:r>
              <a:rPr lang="en-US" altLang="ko-KR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DR </a:t>
            </a: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응용 아키텍처 </a:t>
            </a:r>
            <a:r>
              <a:rPr lang="en-US" altLang="ko-KR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(A-A)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pic>
        <p:nvPicPr>
          <p:cNvPr id="96" name="그림 138" descr="그림1.png">
            <a:extLst>
              <a:ext uri="{FF2B5EF4-FFF2-40B4-BE49-F238E27FC236}">
                <a16:creationId xmlns:a16="http://schemas.microsoft.com/office/drawing/2014/main" id="{E9962E37-0B6F-0B5F-6F7F-1E7ECCC433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7" name="모서리가 둥근 직사각형 12">
            <a:extLst>
              <a:ext uri="{FF2B5EF4-FFF2-40B4-BE49-F238E27FC236}">
                <a16:creationId xmlns:a16="http://schemas.microsoft.com/office/drawing/2014/main" id="{01D0B64B-2502-542B-C62A-81D4D07D65A1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주센터와 동일한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3-Tier(WEB · WAS · DB)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구조를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센터에 구성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GSLB 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도메인으로 조회 업무는 센터 간 동시 처리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쓰기 업무는 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주센터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고정 라우팅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ko-KR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센터의 쓰기 업무는 </a:t>
            </a:r>
            <a:r>
              <a:rPr lang="ko-KR" altLang="en-US" sz="100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주센터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r>
              <a:rPr lang="en-US" altLang="ko-KR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DB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로 전달되어 처리되고 </a:t>
            </a:r>
            <a:r>
              <a:rPr lang="en-US" altLang="ko-KR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</a:t>
            </a:r>
            <a:r>
              <a:rPr lang="en-US" altLang="ko-KR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DB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는 </a:t>
            </a:r>
            <a:r>
              <a:rPr lang="ko-KR" altLang="en-US" sz="100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주센터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r>
              <a:rPr lang="en-US" altLang="ko-KR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DB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의 조회 전용 복제본으로 운영</a:t>
            </a:r>
            <a:r>
              <a:rPr lang="en-US" altLang="ko-KR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오라클 </a:t>
            </a:r>
            <a:r>
              <a:rPr lang="en-US" altLang="ko-KR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ADG 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등</a:t>
            </a:r>
            <a:r>
              <a:rPr lang="en-US" altLang="ko-KR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), 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세션은 센터 간 양방향 복제</a:t>
            </a:r>
            <a:endParaRPr lang="en-US" altLang="ko-KR" sz="100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단일 빌드 산출물로 센터 간 동일 버전 유지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</a:t>
            </a:r>
            <a:r>
              <a:rPr kumimoji="0" lang="en-US" altLang="ko-KR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CubeOne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암호화 키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정책 동일 적용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도메인 기준 유지로 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주센터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응용 변경 및 연계기관 협의 범위 최소화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간 네트워크 지연으로 </a:t>
            </a:r>
            <a:r>
              <a:rPr lang="en-US" altLang="ko-KR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DML Redirect 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쓰기는 응답이 늦어질 수 있어</a:t>
            </a:r>
            <a:r>
              <a:rPr lang="en-US" altLang="ko-KR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쓰기는 </a:t>
            </a:r>
            <a:r>
              <a:rPr lang="ko-KR" altLang="en-US" sz="1000" dirty="0" err="1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주센터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r>
              <a:rPr lang="en-US" altLang="ko-KR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DB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에서 처리하고 </a:t>
            </a:r>
            <a:r>
              <a:rPr lang="en-US" altLang="ko-KR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DML Redirect</a:t>
            </a:r>
            <a:r>
              <a:rPr lang="ko-KR" altLang="en-US" sz="100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는 제한적으로 적용</a:t>
            </a:r>
            <a:endParaRPr lang="en-US" altLang="ko-KR" sz="100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98" name="양쪽 모서리가 둥근 사각형 101">
            <a:extLst>
              <a:ext uri="{FF2B5EF4-FFF2-40B4-BE49-F238E27FC236}">
                <a16:creationId xmlns:a16="http://schemas.microsoft.com/office/drawing/2014/main" id="{B32FE93A-F71D-9F89-96A2-305BCD2117DE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구축방안</a:t>
            </a:r>
          </a:p>
        </p:txBody>
      </p:sp>
      <p:sp>
        <p:nvSpPr>
          <p:cNvPr id="6" name="AR_u0">
            <a:extLst>
              <a:ext uri="{FF2B5EF4-FFF2-40B4-BE49-F238E27FC236}">
                <a16:creationId xmlns:a16="http://schemas.microsoft.com/office/drawing/2014/main" id="{ABAF4587-512F-E9BF-3450-1EBE0E32F074}"/>
              </a:ext>
            </a:extLst>
          </p:cNvPr>
          <p:cNvSpPr/>
          <p:nvPr/>
        </p:nvSpPr>
        <p:spPr>
          <a:xfrm>
            <a:off x="368300" y="2095500"/>
            <a:ext cx="1905000" cy="2032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대국민 </a:t>
            </a:r>
            <a:r>
              <a:rPr lang="en-US" altLang="ko-KR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인터넷 </a:t>
            </a:r>
            <a:r>
              <a:rPr lang="en-US" altLang="ko-KR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무인민원</a:t>
            </a:r>
            <a:r>
              <a:rPr lang="en-US" altLang="ko-KR" sz="8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00" b="1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8" name="AR_u1">
            <a:extLst>
              <a:ext uri="{FF2B5EF4-FFF2-40B4-BE49-F238E27FC236}">
                <a16:creationId xmlns:a16="http://schemas.microsoft.com/office/drawing/2014/main" id="{D2800ED5-774D-5F3A-46AD-B3CBA0BFBCC9}"/>
              </a:ext>
            </a:extLst>
          </p:cNvPr>
          <p:cNvSpPr/>
          <p:nvPr/>
        </p:nvSpPr>
        <p:spPr>
          <a:xfrm>
            <a:off x="2641600" y="2095500"/>
            <a:ext cx="1905000" cy="2032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행정 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지자체 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창구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00" b="1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0" name="AR_u2">
            <a:extLst>
              <a:ext uri="{FF2B5EF4-FFF2-40B4-BE49-F238E27FC236}">
                <a16:creationId xmlns:a16="http://schemas.microsoft.com/office/drawing/2014/main" id="{49C2289A-D636-52C7-BC8E-4C3383D26EAE}"/>
              </a:ext>
            </a:extLst>
          </p:cNvPr>
          <p:cNvSpPr/>
          <p:nvPr/>
        </p:nvSpPr>
        <p:spPr>
          <a:xfrm>
            <a:off x="4914900" y="2095500"/>
            <a:ext cx="1905000" cy="203200"/>
          </a:xfrm>
          <a:prstGeom prst="round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연계기관 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(624</a:t>
            </a: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개 시스템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00" b="1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cxnSp>
        <p:nvCxnSpPr>
          <p:cNvPr id="12" name="AR_ua0">
            <a:extLst>
              <a:ext uri="{FF2B5EF4-FFF2-40B4-BE49-F238E27FC236}">
                <a16:creationId xmlns:a16="http://schemas.microsoft.com/office/drawing/2014/main" id="{2C771898-4B6D-3584-4E87-A5B9666C6CB0}"/>
              </a:ext>
            </a:extLst>
          </p:cNvPr>
          <p:cNvCxnSpPr>
            <a:cxnSpLocks/>
          </p:cNvCxnSpPr>
          <p:nvPr/>
        </p:nvCxnSpPr>
        <p:spPr>
          <a:xfrm>
            <a:off x="1320800" y="2298700"/>
            <a:ext cx="1003300" cy="254000"/>
          </a:xfrm>
          <a:prstGeom prst="straightConnector1">
            <a:avLst/>
          </a:prstGeom>
          <a:ln w="19050"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AR_ua1">
            <a:extLst>
              <a:ext uri="{FF2B5EF4-FFF2-40B4-BE49-F238E27FC236}">
                <a16:creationId xmlns:a16="http://schemas.microsoft.com/office/drawing/2014/main" id="{A6286845-6E9F-1128-AE58-538F1F0BD099}"/>
              </a:ext>
            </a:extLst>
          </p:cNvPr>
          <p:cNvCxnSpPr/>
          <p:nvPr/>
        </p:nvCxnSpPr>
        <p:spPr>
          <a:xfrm>
            <a:off x="3594100" y="2298700"/>
            <a:ext cx="0" cy="139700"/>
          </a:xfrm>
          <a:prstGeom prst="straightConnector1">
            <a:avLst/>
          </a:prstGeom>
          <a:ln w="19050"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AR_ua2">
            <a:extLst>
              <a:ext uri="{FF2B5EF4-FFF2-40B4-BE49-F238E27FC236}">
                <a16:creationId xmlns:a16="http://schemas.microsoft.com/office/drawing/2014/main" id="{5EA34AF5-288D-F460-94C4-FC2406FB7414}"/>
              </a:ext>
            </a:extLst>
          </p:cNvPr>
          <p:cNvCxnSpPr>
            <a:cxnSpLocks/>
          </p:cNvCxnSpPr>
          <p:nvPr/>
        </p:nvCxnSpPr>
        <p:spPr>
          <a:xfrm flipH="1">
            <a:off x="4864100" y="2298700"/>
            <a:ext cx="1003300" cy="254000"/>
          </a:xfrm>
          <a:prstGeom prst="straightConnector1">
            <a:avLst/>
          </a:prstGeom>
          <a:ln w="19050"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AR_m_panel">
            <a:extLst>
              <a:ext uri="{FF2B5EF4-FFF2-40B4-BE49-F238E27FC236}">
                <a16:creationId xmlns:a16="http://schemas.microsoft.com/office/drawing/2014/main" id="{681EF7BD-F780-146F-92DC-14670084DF76}"/>
              </a:ext>
            </a:extLst>
          </p:cNvPr>
          <p:cNvSpPr/>
          <p:nvPr/>
        </p:nvSpPr>
        <p:spPr>
          <a:xfrm>
            <a:off x="368300" y="2819400"/>
            <a:ext cx="2921000" cy="2641600"/>
          </a:xfrm>
          <a:prstGeom prst="rect">
            <a:avLst/>
          </a:prstGeom>
          <a:solidFill>
            <a:srgbClr val="FAFAFA"/>
          </a:solidFill>
          <a:ln w="9525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8" name="AR_m_title">
            <a:extLst>
              <a:ext uri="{FF2B5EF4-FFF2-40B4-BE49-F238E27FC236}">
                <a16:creationId xmlns:a16="http://schemas.microsoft.com/office/drawing/2014/main" id="{C11F59A7-7AD4-D656-DA35-7B4A136C3639}"/>
              </a:ext>
            </a:extLst>
          </p:cNvPr>
          <p:cNvSpPr/>
          <p:nvPr/>
        </p:nvSpPr>
        <p:spPr>
          <a:xfrm>
            <a:off x="368300" y="2819400"/>
            <a:ext cx="2921000" cy="203200"/>
          </a:xfrm>
          <a:prstGeom prst="rect">
            <a:avLst/>
          </a:prstGeom>
          <a:solidFill>
            <a:srgbClr val="1F3864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주센터 </a:t>
            </a:r>
            <a:r>
              <a:rPr lang="en-US" altLang="ko-KR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(Active · </a:t>
            </a:r>
            <a:r>
              <a:rPr lang="ko-KR" altLang="en-US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조회 </a:t>
            </a:r>
            <a:r>
              <a:rPr lang="en-US" altLang="ko-KR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/ </a:t>
            </a:r>
            <a:r>
              <a:rPr lang="ko-KR" altLang="en-US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쓰기</a:t>
            </a:r>
            <a:r>
              <a:rPr lang="en-US" altLang="ko-KR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5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9" name="AR_m_vip">
            <a:extLst>
              <a:ext uri="{FF2B5EF4-FFF2-40B4-BE49-F238E27FC236}">
                <a16:creationId xmlns:a16="http://schemas.microsoft.com/office/drawing/2014/main" id="{FE12ADDF-268A-EEA0-96DA-ED4F07DB7C4D}"/>
              </a:ext>
            </a:extLst>
          </p:cNvPr>
          <p:cNvSpPr/>
          <p:nvPr/>
        </p:nvSpPr>
        <p:spPr>
          <a:xfrm>
            <a:off x="444500" y="3086100"/>
            <a:ext cx="2768600" cy="177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VIP · L4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20" name="AR_m_web">
            <a:extLst>
              <a:ext uri="{FF2B5EF4-FFF2-40B4-BE49-F238E27FC236}">
                <a16:creationId xmlns:a16="http://schemas.microsoft.com/office/drawing/2014/main" id="{F3635BBA-0CDA-231A-A69C-C1DE4B607253}"/>
              </a:ext>
            </a:extLst>
          </p:cNvPr>
          <p:cNvSpPr/>
          <p:nvPr/>
        </p:nvSpPr>
        <p:spPr>
          <a:xfrm>
            <a:off x="444500" y="3314700"/>
            <a:ext cx="2768600" cy="177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WEB (Apache)</a:t>
            </a:r>
            <a:endParaRPr lang="ko-KR" altLang="en-US" sz="8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21" name="AR_m_wasl">
            <a:extLst>
              <a:ext uri="{FF2B5EF4-FFF2-40B4-BE49-F238E27FC236}">
                <a16:creationId xmlns:a16="http://schemas.microsoft.com/office/drawing/2014/main" id="{DAC146A2-0677-0545-4A83-C2EC6916D64C}"/>
              </a:ext>
            </a:extLst>
          </p:cNvPr>
          <p:cNvSpPr txBox="1"/>
          <p:nvPr/>
        </p:nvSpPr>
        <p:spPr>
          <a:xfrm>
            <a:off x="444500" y="3545244"/>
            <a:ext cx="2768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ko-KR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WAS (JBoss EAP) · </a:t>
            </a:r>
            <a:r>
              <a:rPr lang="ko-KR" altLang="en-US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업무 서비스</a:t>
            </a:r>
          </a:p>
        </p:txBody>
      </p:sp>
      <p:sp>
        <p:nvSpPr>
          <p:cNvPr id="22" name="AR_m_gA1">
            <a:extLst>
              <a:ext uri="{FF2B5EF4-FFF2-40B4-BE49-F238E27FC236}">
                <a16:creationId xmlns:a16="http://schemas.microsoft.com/office/drawing/2014/main" id="{E5767EEF-E8AF-C7AA-0F92-4FF554566B33}"/>
              </a:ext>
            </a:extLst>
          </p:cNvPr>
          <p:cNvSpPr/>
          <p:nvPr/>
        </p:nvSpPr>
        <p:spPr>
          <a:xfrm>
            <a:off x="444500" y="3695700"/>
            <a:ext cx="355600" cy="254000"/>
          </a:xfrm>
          <a:prstGeom prst="rect">
            <a:avLst/>
          </a:prstGeom>
          <a:solidFill>
            <a:srgbClr val="1F3864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A1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23" name="AR_m_sA10">
            <a:extLst>
              <a:ext uri="{FF2B5EF4-FFF2-40B4-BE49-F238E27FC236}">
                <a16:creationId xmlns:a16="http://schemas.microsoft.com/office/drawing/2014/main" id="{CE482BD4-BE48-805D-FE4E-E6E90F754536}"/>
              </a:ext>
            </a:extLst>
          </p:cNvPr>
          <p:cNvSpPr/>
          <p:nvPr/>
        </p:nvSpPr>
        <p:spPr>
          <a:xfrm>
            <a:off x="83820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대민서비스</a:t>
            </a:r>
          </a:p>
        </p:txBody>
      </p:sp>
      <p:sp>
        <p:nvSpPr>
          <p:cNvPr id="24" name="AR_m_sA11">
            <a:extLst>
              <a:ext uri="{FF2B5EF4-FFF2-40B4-BE49-F238E27FC236}">
                <a16:creationId xmlns:a16="http://schemas.microsoft.com/office/drawing/2014/main" id="{93435DA5-7852-8E50-DD01-95973145935D}"/>
              </a:ext>
            </a:extLst>
          </p:cNvPr>
          <p:cNvSpPr/>
          <p:nvPr/>
        </p:nvSpPr>
        <p:spPr>
          <a:xfrm>
            <a:off x="144145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창구민원</a:t>
            </a:r>
          </a:p>
        </p:txBody>
      </p:sp>
      <p:sp>
        <p:nvSpPr>
          <p:cNvPr id="25" name="AR_m_sA12">
            <a:extLst>
              <a:ext uri="{FF2B5EF4-FFF2-40B4-BE49-F238E27FC236}">
                <a16:creationId xmlns:a16="http://schemas.microsoft.com/office/drawing/2014/main" id="{82B947CF-C486-472B-739C-ADC1A77272BC}"/>
              </a:ext>
            </a:extLst>
          </p:cNvPr>
          <p:cNvSpPr/>
          <p:nvPr/>
        </p:nvSpPr>
        <p:spPr>
          <a:xfrm>
            <a:off x="204470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표준연계</a:t>
            </a:r>
          </a:p>
        </p:txBody>
      </p:sp>
      <p:sp>
        <p:nvSpPr>
          <p:cNvPr id="26" name="AR_m_sA13">
            <a:extLst>
              <a:ext uri="{FF2B5EF4-FFF2-40B4-BE49-F238E27FC236}">
                <a16:creationId xmlns:a16="http://schemas.microsoft.com/office/drawing/2014/main" id="{FB9D6AFC-F329-7930-2F94-4BD8605F0510}"/>
              </a:ext>
            </a:extLst>
          </p:cNvPr>
          <p:cNvSpPr/>
          <p:nvPr/>
        </p:nvSpPr>
        <p:spPr>
          <a:xfrm>
            <a:off x="264795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지적행정</a:t>
            </a:r>
          </a:p>
        </p:txBody>
      </p:sp>
      <p:sp>
        <p:nvSpPr>
          <p:cNvPr id="27" name="AR_m_gA2">
            <a:extLst>
              <a:ext uri="{FF2B5EF4-FFF2-40B4-BE49-F238E27FC236}">
                <a16:creationId xmlns:a16="http://schemas.microsoft.com/office/drawing/2014/main" id="{911B52D0-DCB6-4B8E-0AFA-0BB489E8FE90}"/>
              </a:ext>
            </a:extLst>
          </p:cNvPr>
          <p:cNvSpPr/>
          <p:nvPr/>
        </p:nvSpPr>
        <p:spPr>
          <a:xfrm>
            <a:off x="444500" y="4000500"/>
            <a:ext cx="355600" cy="254000"/>
          </a:xfrm>
          <a:prstGeom prst="rect">
            <a:avLst/>
          </a:prstGeom>
          <a:solidFill>
            <a:srgbClr val="8C8C8C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A2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28" name="AR_m_sA20">
            <a:extLst>
              <a:ext uri="{FF2B5EF4-FFF2-40B4-BE49-F238E27FC236}">
                <a16:creationId xmlns:a16="http://schemas.microsoft.com/office/drawing/2014/main" id="{E701223C-C8E6-CB20-6708-9BBBB3764392}"/>
              </a:ext>
            </a:extLst>
          </p:cNvPr>
          <p:cNvSpPr/>
          <p:nvPr/>
        </p:nvSpPr>
        <p:spPr>
          <a:xfrm>
            <a:off x="838200" y="4000500"/>
            <a:ext cx="116840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지적공부관리지원플랫폼</a:t>
            </a:r>
          </a:p>
        </p:txBody>
      </p:sp>
      <p:sp>
        <p:nvSpPr>
          <p:cNvPr id="29" name="AR_m_sA21">
            <a:extLst>
              <a:ext uri="{FF2B5EF4-FFF2-40B4-BE49-F238E27FC236}">
                <a16:creationId xmlns:a16="http://schemas.microsoft.com/office/drawing/2014/main" id="{1C1350D1-6DFF-BB37-D49D-1E627C56DEFB}"/>
              </a:ext>
            </a:extLst>
          </p:cNvPr>
          <p:cNvSpPr/>
          <p:nvPr/>
        </p:nvSpPr>
        <p:spPr>
          <a:xfrm>
            <a:off x="2044700" y="4000500"/>
            <a:ext cx="116840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지적정책지원시스템</a:t>
            </a:r>
          </a:p>
        </p:txBody>
      </p:sp>
      <p:sp>
        <p:nvSpPr>
          <p:cNvPr id="30" name="AR_m_gA4">
            <a:extLst>
              <a:ext uri="{FF2B5EF4-FFF2-40B4-BE49-F238E27FC236}">
                <a16:creationId xmlns:a16="http://schemas.microsoft.com/office/drawing/2014/main" id="{FCFA48F0-9F60-75EB-3DB3-CEC94F1D390A}"/>
              </a:ext>
            </a:extLst>
          </p:cNvPr>
          <p:cNvSpPr/>
          <p:nvPr/>
        </p:nvSpPr>
        <p:spPr>
          <a:xfrm>
            <a:off x="444500" y="4305300"/>
            <a:ext cx="355600" cy="254000"/>
          </a:xfrm>
          <a:prstGeom prst="rect">
            <a:avLst/>
          </a:prstGeom>
          <a:solidFill>
            <a:srgbClr val="BFBFBF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A4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1" name="AR_m_sA40">
            <a:extLst>
              <a:ext uri="{FF2B5EF4-FFF2-40B4-BE49-F238E27FC236}">
                <a16:creationId xmlns:a16="http://schemas.microsoft.com/office/drawing/2014/main" id="{36E28A18-036D-1A76-F4B3-EDEAE4DDAC7F}"/>
              </a:ext>
            </a:extLst>
          </p:cNvPr>
          <p:cNvSpPr/>
          <p:nvPr/>
        </p:nvSpPr>
        <p:spPr>
          <a:xfrm>
            <a:off x="838200" y="4305300"/>
            <a:ext cx="237490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운영지원시스템</a:t>
            </a:r>
          </a:p>
        </p:txBody>
      </p:sp>
      <p:sp>
        <p:nvSpPr>
          <p:cNvPr id="32" name="AR_m_c0">
            <a:extLst>
              <a:ext uri="{FF2B5EF4-FFF2-40B4-BE49-F238E27FC236}">
                <a16:creationId xmlns:a16="http://schemas.microsoft.com/office/drawing/2014/main" id="{6DE3E6F7-B7DC-0CF5-4B60-EE4476E35BC0}"/>
              </a:ext>
            </a:extLst>
          </p:cNvPr>
          <p:cNvSpPr/>
          <p:nvPr/>
        </p:nvSpPr>
        <p:spPr>
          <a:xfrm>
            <a:off x="444500" y="4648200"/>
            <a:ext cx="897467" cy="2286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세션 </a:t>
            </a: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(Redis)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3" name="AR_m_c1">
            <a:extLst>
              <a:ext uri="{FF2B5EF4-FFF2-40B4-BE49-F238E27FC236}">
                <a16:creationId xmlns:a16="http://schemas.microsoft.com/office/drawing/2014/main" id="{C672F000-3A29-0D39-AA29-3F05E5A5863E}"/>
              </a:ext>
            </a:extLst>
          </p:cNvPr>
          <p:cNvSpPr/>
          <p:nvPr/>
        </p:nvSpPr>
        <p:spPr>
          <a:xfrm>
            <a:off x="1380067" y="4648200"/>
            <a:ext cx="897466" cy="2286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GIS (</a:t>
            </a:r>
            <a:r>
              <a:rPr lang="en-US" altLang="ko-KR" sz="800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MapPrime</a:t>
            </a: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4" name="AR_m_c2">
            <a:extLst>
              <a:ext uri="{FF2B5EF4-FFF2-40B4-BE49-F238E27FC236}">
                <a16:creationId xmlns:a16="http://schemas.microsoft.com/office/drawing/2014/main" id="{305E6740-32E5-FBA1-573E-5F866DEF7EF4}"/>
              </a:ext>
            </a:extLst>
          </p:cNvPr>
          <p:cNvSpPr/>
          <p:nvPr/>
        </p:nvSpPr>
        <p:spPr>
          <a:xfrm>
            <a:off x="2315633" y="4648200"/>
            <a:ext cx="897467" cy="228600"/>
          </a:xfrm>
          <a:prstGeom prst="rect">
            <a:avLst/>
          </a:prstGeom>
          <a:solidFill>
            <a:srgbClr val="F2F2F2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OZ · </a:t>
            </a:r>
            <a:r>
              <a:rPr lang="en-US" altLang="ko-KR" sz="800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CubeOne</a:t>
            </a:r>
            <a:endParaRPr lang="ko-KR" altLang="en-US" sz="8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5" name="AR_m_db">
            <a:extLst>
              <a:ext uri="{FF2B5EF4-FFF2-40B4-BE49-F238E27FC236}">
                <a16:creationId xmlns:a16="http://schemas.microsoft.com/office/drawing/2014/main" id="{DAD6AE98-FF82-F052-C64A-A5F2005A84DD}"/>
              </a:ext>
            </a:extLst>
          </p:cNvPr>
          <p:cNvSpPr/>
          <p:nvPr/>
        </p:nvSpPr>
        <p:spPr>
          <a:xfrm>
            <a:off x="419102" y="4978400"/>
            <a:ext cx="2668154" cy="381000"/>
          </a:xfrm>
          <a:prstGeom prst="can">
            <a:avLst/>
          </a:prstGeom>
          <a:solidFill>
            <a:srgbClr val="DEEBF7"/>
          </a:solidFill>
          <a:ln w="9525">
            <a:solidFill>
              <a:srgbClr val="2E7A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통합 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DB (Primary · </a:t>
            </a: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쓰기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 · </a:t>
            </a:r>
            <a:r>
              <a:rPr lang="en-US" altLang="ko-KR" sz="800" b="1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CubeOne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암호화</a:t>
            </a:r>
          </a:p>
        </p:txBody>
      </p:sp>
      <p:sp>
        <p:nvSpPr>
          <p:cNvPr id="37" name="AR_d_panel">
            <a:extLst>
              <a:ext uri="{FF2B5EF4-FFF2-40B4-BE49-F238E27FC236}">
                <a16:creationId xmlns:a16="http://schemas.microsoft.com/office/drawing/2014/main" id="{DAF36737-8B55-D738-459E-48DD4F0D4D0E}"/>
              </a:ext>
            </a:extLst>
          </p:cNvPr>
          <p:cNvSpPr/>
          <p:nvPr/>
        </p:nvSpPr>
        <p:spPr>
          <a:xfrm>
            <a:off x="3898900" y="2819400"/>
            <a:ext cx="2921000" cy="2641600"/>
          </a:xfrm>
          <a:prstGeom prst="rect">
            <a:avLst/>
          </a:prstGeom>
          <a:solidFill>
            <a:srgbClr val="FAFAFA"/>
          </a:solidFill>
          <a:ln w="9525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8" name="AR_d_title">
            <a:extLst>
              <a:ext uri="{FF2B5EF4-FFF2-40B4-BE49-F238E27FC236}">
                <a16:creationId xmlns:a16="http://schemas.microsoft.com/office/drawing/2014/main" id="{1E7EBC65-B23B-A1A2-6D4D-958D2A3B0309}"/>
              </a:ext>
            </a:extLst>
          </p:cNvPr>
          <p:cNvSpPr/>
          <p:nvPr/>
        </p:nvSpPr>
        <p:spPr>
          <a:xfrm>
            <a:off x="3898900" y="2819400"/>
            <a:ext cx="2921000" cy="203200"/>
          </a:xfrm>
          <a:prstGeom prst="rect">
            <a:avLst/>
          </a:prstGeom>
          <a:solidFill>
            <a:srgbClr val="1F3864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5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85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</a:t>
            </a:r>
            <a:r>
              <a:rPr lang="en-US" altLang="ko-KR" sz="85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(Active · </a:t>
            </a:r>
            <a:r>
              <a:rPr lang="ko-KR" altLang="en-US" sz="85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조회 전용</a:t>
            </a:r>
            <a:r>
              <a:rPr lang="en-US" altLang="ko-KR" sz="85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50" b="1" dirty="0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9" name="AR_d_vip">
            <a:extLst>
              <a:ext uri="{FF2B5EF4-FFF2-40B4-BE49-F238E27FC236}">
                <a16:creationId xmlns:a16="http://schemas.microsoft.com/office/drawing/2014/main" id="{80DA8B8D-9412-1E44-C131-0F130E4886E6}"/>
              </a:ext>
            </a:extLst>
          </p:cNvPr>
          <p:cNvSpPr/>
          <p:nvPr/>
        </p:nvSpPr>
        <p:spPr>
          <a:xfrm>
            <a:off x="3975100" y="3086100"/>
            <a:ext cx="2768600" cy="177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VIP · L4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40" name="AR_d_web">
            <a:extLst>
              <a:ext uri="{FF2B5EF4-FFF2-40B4-BE49-F238E27FC236}">
                <a16:creationId xmlns:a16="http://schemas.microsoft.com/office/drawing/2014/main" id="{ECD6FFA8-4375-101C-0D48-313BD6F5F0F9}"/>
              </a:ext>
            </a:extLst>
          </p:cNvPr>
          <p:cNvSpPr/>
          <p:nvPr/>
        </p:nvSpPr>
        <p:spPr>
          <a:xfrm>
            <a:off x="3975100" y="3314700"/>
            <a:ext cx="2768600" cy="177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WEB (Apache)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41" name="AR_d_wasl">
            <a:extLst>
              <a:ext uri="{FF2B5EF4-FFF2-40B4-BE49-F238E27FC236}">
                <a16:creationId xmlns:a16="http://schemas.microsoft.com/office/drawing/2014/main" id="{F880A066-E2C6-8CF4-D558-67A28433A85C}"/>
              </a:ext>
            </a:extLst>
          </p:cNvPr>
          <p:cNvSpPr txBox="1"/>
          <p:nvPr/>
        </p:nvSpPr>
        <p:spPr>
          <a:xfrm>
            <a:off x="3975100" y="3545244"/>
            <a:ext cx="2768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ko-KR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WAS (JBoss EAP) · </a:t>
            </a:r>
            <a:r>
              <a:rPr lang="ko-KR" altLang="en-US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업무 서비스</a:t>
            </a:r>
          </a:p>
        </p:txBody>
      </p:sp>
      <p:sp>
        <p:nvSpPr>
          <p:cNvPr id="42" name="AR_d_gA1">
            <a:extLst>
              <a:ext uri="{FF2B5EF4-FFF2-40B4-BE49-F238E27FC236}">
                <a16:creationId xmlns:a16="http://schemas.microsoft.com/office/drawing/2014/main" id="{4F59CABF-F553-BDAF-D051-D8A8147623B6}"/>
              </a:ext>
            </a:extLst>
          </p:cNvPr>
          <p:cNvSpPr/>
          <p:nvPr/>
        </p:nvSpPr>
        <p:spPr>
          <a:xfrm>
            <a:off x="3975100" y="3695700"/>
            <a:ext cx="355600" cy="254000"/>
          </a:xfrm>
          <a:prstGeom prst="rect">
            <a:avLst/>
          </a:prstGeom>
          <a:solidFill>
            <a:srgbClr val="1F3864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A1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43" name="AR_d_sA10">
            <a:extLst>
              <a:ext uri="{FF2B5EF4-FFF2-40B4-BE49-F238E27FC236}">
                <a16:creationId xmlns:a16="http://schemas.microsoft.com/office/drawing/2014/main" id="{BF639B2F-6459-A6F4-596F-259BA4490F9B}"/>
              </a:ext>
            </a:extLst>
          </p:cNvPr>
          <p:cNvSpPr/>
          <p:nvPr/>
        </p:nvSpPr>
        <p:spPr>
          <a:xfrm>
            <a:off x="436880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대민서비스</a:t>
            </a:r>
          </a:p>
        </p:txBody>
      </p:sp>
      <p:sp>
        <p:nvSpPr>
          <p:cNvPr id="44" name="AR_d_sA11">
            <a:extLst>
              <a:ext uri="{FF2B5EF4-FFF2-40B4-BE49-F238E27FC236}">
                <a16:creationId xmlns:a16="http://schemas.microsoft.com/office/drawing/2014/main" id="{AD984CBA-BC37-A306-D94A-B0840394AD19}"/>
              </a:ext>
            </a:extLst>
          </p:cNvPr>
          <p:cNvSpPr/>
          <p:nvPr/>
        </p:nvSpPr>
        <p:spPr>
          <a:xfrm>
            <a:off x="497205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창구민원</a:t>
            </a:r>
          </a:p>
        </p:txBody>
      </p:sp>
      <p:sp>
        <p:nvSpPr>
          <p:cNvPr id="45" name="AR_d_sA12">
            <a:extLst>
              <a:ext uri="{FF2B5EF4-FFF2-40B4-BE49-F238E27FC236}">
                <a16:creationId xmlns:a16="http://schemas.microsoft.com/office/drawing/2014/main" id="{8DEDBB88-E305-1A11-30AD-840E5707A65E}"/>
              </a:ext>
            </a:extLst>
          </p:cNvPr>
          <p:cNvSpPr/>
          <p:nvPr/>
        </p:nvSpPr>
        <p:spPr>
          <a:xfrm>
            <a:off x="557530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표준연계</a:t>
            </a:r>
          </a:p>
        </p:txBody>
      </p:sp>
      <p:sp>
        <p:nvSpPr>
          <p:cNvPr id="46" name="AR_d_sA13">
            <a:extLst>
              <a:ext uri="{FF2B5EF4-FFF2-40B4-BE49-F238E27FC236}">
                <a16:creationId xmlns:a16="http://schemas.microsoft.com/office/drawing/2014/main" id="{A763C763-2D0A-921C-F648-585D0248D594}"/>
              </a:ext>
            </a:extLst>
          </p:cNvPr>
          <p:cNvSpPr/>
          <p:nvPr/>
        </p:nvSpPr>
        <p:spPr>
          <a:xfrm>
            <a:off x="6178550" y="3695700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지적행정</a:t>
            </a:r>
          </a:p>
        </p:txBody>
      </p:sp>
      <p:sp>
        <p:nvSpPr>
          <p:cNvPr id="47" name="AR_d_gA2">
            <a:extLst>
              <a:ext uri="{FF2B5EF4-FFF2-40B4-BE49-F238E27FC236}">
                <a16:creationId xmlns:a16="http://schemas.microsoft.com/office/drawing/2014/main" id="{3DCEE34A-1397-B432-0098-8B7BFC34CDA4}"/>
              </a:ext>
            </a:extLst>
          </p:cNvPr>
          <p:cNvSpPr/>
          <p:nvPr/>
        </p:nvSpPr>
        <p:spPr>
          <a:xfrm>
            <a:off x="3975100" y="4000500"/>
            <a:ext cx="355600" cy="254000"/>
          </a:xfrm>
          <a:prstGeom prst="rect">
            <a:avLst/>
          </a:prstGeom>
          <a:solidFill>
            <a:srgbClr val="8C8C8C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A2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48" name="AR_d_sA20">
            <a:extLst>
              <a:ext uri="{FF2B5EF4-FFF2-40B4-BE49-F238E27FC236}">
                <a16:creationId xmlns:a16="http://schemas.microsoft.com/office/drawing/2014/main" id="{1C0EBACD-BBAE-1366-F9AE-59E770C690DD}"/>
              </a:ext>
            </a:extLst>
          </p:cNvPr>
          <p:cNvSpPr/>
          <p:nvPr/>
        </p:nvSpPr>
        <p:spPr>
          <a:xfrm>
            <a:off x="4368800" y="4000500"/>
            <a:ext cx="116840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지적공부관리지원플랫폼</a:t>
            </a:r>
          </a:p>
        </p:txBody>
      </p:sp>
      <p:sp>
        <p:nvSpPr>
          <p:cNvPr id="49" name="AR_d_sA21">
            <a:extLst>
              <a:ext uri="{FF2B5EF4-FFF2-40B4-BE49-F238E27FC236}">
                <a16:creationId xmlns:a16="http://schemas.microsoft.com/office/drawing/2014/main" id="{702BCA2D-B111-4F0B-C9C7-E5E79BD6310A}"/>
              </a:ext>
            </a:extLst>
          </p:cNvPr>
          <p:cNvSpPr/>
          <p:nvPr/>
        </p:nvSpPr>
        <p:spPr>
          <a:xfrm>
            <a:off x="5575300" y="4000500"/>
            <a:ext cx="116840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지적정책지원시스템</a:t>
            </a:r>
          </a:p>
        </p:txBody>
      </p:sp>
      <p:sp>
        <p:nvSpPr>
          <p:cNvPr id="50" name="AR_d_gA4">
            <a:extLst>
              <a:ext uri="{FF2B5EF4-FFF2-40B4-BE49-F238E27FC236}">
                <a16:creationId xmlns:a16="http://schemas.microsoft.com/office/drawing/2014/main" id="{9869CC80-3E88-56BE-9E7E-8AC5351043DF}"/>
              </a:ext>
            </a:extLst>
          </p:cNvPr>
          <p:cNvSpPr/>
          <p:nvPr/>
        </p:nvSpPr>
        <p:spPr>
          <a:xfrm>
            <a:off x="3975100" y="4305300"/>
            <a:ext cx="355600" cy="254000"/>
          </a:xfrm>
          <a:prstGeom prst="rect">
            <a:avLst/>
          </a:prstGeom>
          <a:solidFill>
            <a:srgbClr val="BFBFBF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A4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51" name="AR_d_sA40">
            <a:extLst>
              <a:ext uri="{FF2B5EF4-FFF2-40B4-BE49-F238E27FC236}">
                <a16:creationId xmlns:a16="http://schemas.microsoft.com/office/drawing/2014/main" id="{EA624FBA-9AE2-C6E4-CC79-8F0D81DF7741}"/>
              </a:ext>
            </a:extLst>
          </p:cNvPr>
          <p:cNvSpPr/>
          <p:nvPr/>
        </p:nvSpPr>
        <p:spPr>
          <a:xfrm>
            <a:off x="4368800" y="4305300"/>
            <a:ext cx="237490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운영지원시스템</a:t>
            </a:r>
          </a:p>
        </p:txBody>
      </p:sp>
      <p:sp>
        <p:nvSpPr>
          <p:cNvPr id="52" name="AR_d_c0">
            <a:extLst>
              <a:ext uri="{FF2B5EF4-FFF2-40B4-BE49-F238E27FC236}">
                <a16:creationId xmlns:a16="http://schemas.microsoft.com/office/drawing/2014/main" id="{E35C1459-8A30-49B1-40F7-EE682A60DF23}"/>
              </a:ext>
            </a:extLst>
          </p:cNvPr>
          <p:cNvSpPr/>
          <p:nvPr/>
        </p:nvSpPr>
        <p:spPr>
          <a:xfrm>
            <a:off x="3975100" y="4648200"/>
            <a:ext cx="897467" cy="228600"/>
          </a:xfrm>
          <a:prstGeom prst="rect">
            <a:avLst/>
          </a:prstGeom>
          <a:solidFill>
            <a:srgbClr val="F2F2F2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세션 </a:t>
            </a: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(Redis)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53" name="AR_d_c1">
            <a:extLst>
              <a:ext uri="{FF2B5EF4-FFF2-40B4-BE49-F238E27FC236}">
                <a16:creationId xmlns:a16="http://schemas.microsoft.com/office/drawing/2014/main" id="{8D3FE3A3-8530-5558-C842-501C1D14C494}"/>
              </a:ext>
            </a:extLst>
          </p:cNvPr>
          <p:cNvSpPr/>
          <p:nvPr/>
        </p:nvSpPr>
        <p:spPr>
          <a:xfrm>
            <a:off x="4910667" y="4648200"/>
            <a:ext cx="897466" cy="228600"/>
          </a:xfrm>
          <a:prstGeom prst="rect">
            <a:avLst/>
          </a:prstGeom>
          <a:solidFill>
            <a:srgbClr val="F2F2F2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GIS (</a:t>
            </a:r>
            <a:r>
              <a:rPr lang="en-US" altLang="ko-KR" sz="800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MapPrime</a:t>
            </a: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54" name="AR_d_c2">
            <a:extLst>
              <a:ext uri="{FF2B5EF4-FFF2-40B4-BE49-F238E27FC236}">
                <a16:creationId xmlns:a16="http://schemas.microsoft.com/office/drawing/2014/main" id="{AFCA2F3B-18A9-703D-8E3A-E597E11C2DC0}"/>
              </a:ext>
            </a:extLst>
          </p:cNvPr>
          <p:cNvSpPr/>
          <p:nvPr/>
        </p:nvSpPr>
        <p:spPr>
          <a:xfrm>
            <a:off x="5846233" y="4648200"/>
            <a:ext cx="897467" cy="228600"/>
          </a:xfrm>
          <a:prstGeom prst="rect">
            <a:avLst/>
          </a:prstGeom>
          <a:solidFill>
            <a:srgbClr val="F2F2F2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OZ · </a:t>
            </a:r>
            <a:r>
              <a:rPr lang="en-US" altLang="ko-KR" sz="800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CubeOne</a:t>
            </a:r>
            <a:endParaRPr lang="ko-KR" altLang="en-US" sz="8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55" name="AR_d_db">
            <a:extLst>
              <a:ext uri="{FF2B5EF4-FFF2-40B4-BE49-F238E27FC236}">
                <a16:creationId xmlns:a16="http://schemas.microsoft.com/office/drawing/2014/main" id="{AB2A14AB-3B09-CF85-562F-8FC320FF1698}"/>
              </a:ext>
            </a:extLst>
          </p:cNvPr>
          <p:cNvSpPr/>
          <p:nvPr/>
        </p:nvSpPr>
        <p:spPr>
          <a:xfrm>
            <a:off x="4100946" y="4978400"/>
            <a:ext cx="2642754" cy="381000"/>
          </a:xfrm>
          <a:prstGeom prst="can">
            <a:avLst/>
          </a:prstGeom>
          <a:solidFill>
            <a:srgbClr val="DEEBF7"/>
          </a:solidFill>
          <a:ln w="9525">
            <a:solidFill>
              <a:srgbClr val="2E7A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통합 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DB (Standby · </a:t>
            </a: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조회 전용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 · </a:t>
            </a:r>
            <a:r>
              <a:rPr lang="en-US" altLang="ko-KR" sz="800" b="1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CubeOne</a:t>
            </a: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r>
              <a: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암호화</a:t>
            </a:r>
          </a:p>
        </p:txBody>
      </p:sp>
      <p:cxnSp>
        <p:nvCxnSpPr>
          <p:cNvPr id="57" name="AR_g2m">
            <a:extLst>
              <a:ext uri="{FF2B5EF4-FFF2-40B4-BE49-F238E27FC236}">
                <a16:creationId xmlns:a16="http://schemas.microsoft.com/office/drawing/2014/main" id="{CAA8CA6C-5775-32F4-3101-B39FAD8D6CFB}"/>
              </a:ext>
            </a:extLst>
          </p:cNvPr>
          <p:cNvCxnSpPr/>
          <p:nvPr/>
        </p:nvCxnSpPr>
        <p:spPr>
          <a:xfrm flipH="1">
            <a:off x="1828800" y="2667000"/>
            <a:ext cx="1003300" cy="152400"/>
          </a:xfrm>
          <a:prstGeom prst="straightConnector1">
            <a:avLst/>
          </a:prstGeom>
          <a:ln w="34925">
            <a:solidFill>
              <a:srgbClr val="0367B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AR_g2d">
            <a:extLst>
              <a:ext uri="{FF2B5EF4-FFF2-40B4-BE49-F238E27FC236}">
                <a16:creationId xmlns:a16="http://schemas.microsoft.com/office/drawing/2014/main" id="{ACF80516-1D4D-F977-C467-81AA2981BCE1}"/>
              </a:ext>
            </a:extLst>
          </p:cNvPr>
          <p:cNvCxnSpPr/>
          <p:nvPr/>
        </p:nvCxnSpPr>
        <p:spPr>
          <a:xfrm>
            <a:off x="4356100" y="2667000"/>
            <a:ext cx="1003300" cy="152400"/>
          </a:xfrm>
          <a:prstGeom prst="straightConnector1">
            <a:avLst/>
          </a:prstGeom>
          <a:ln w="34925">
            <a:solidFill>
              <a:srgbClr val="FF8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AR_rs">
            <a:extLst>
              <a:ext uri="{FF2B5EF4-FFF2-40B4-BE49-F238E27FC236}">
                <a16:creationId xmlns:a16="http://schemas.microsoft.com/office/drawing/2014/main" id="{5515E07B-A808-3466-D237-8C3027CF57FE}"/>
              </a:ext>
            </a:extLst>
          </p:cNvPr>
          <p:cNvCxnSpPr/>
          <p:nvPr/>
        </p:nvCxnSpPr>
        <p:spPr>
          <a:xfrm>
            <a:off x="3289300" y="4762500"/>
            <a:ext cx="609600" cy="0"/>
          </a:xfrm>
          <a:prstGeom prst="straightConnector1">
            <a:avLst/>
          </a:prstGeom>
          <a:ln w="28575">
            <a:solidFill>
              <a:srgbClr val="0367B0"/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AR_rsl">
            <a:extLst>
              <a:ext uri="{FF2B5EF4-FFF2-40B4-BE49-F238E27FC236}">
                <a16:creationId xmlns:a16="http://schemas.microsoft.com/office/drawing/2014/main" id="{764D52DA-317E-F00C-75D9-21F867D42267}"/>
              </a:ext>
            </a:extLst>
          </p:cNvPr>
          <p:cNvSpPr txBox="1"/>
          <p:nvPr/>
        </p:nvSpPr>
        <p:spPr>
          <a:xfrm>
            <a:off x="3302000" y="4488562"/>
            <a:ext cx="584200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ko-KR" altLang="en-US" sz="800" b="1">
                <a:solidFill>
                  <a:srgbClr val="0367B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세션</a:t>
            </a:r>
          </a:p>
          <a:p>
            <a:pPr algn="ctr"/>
            <a:r>
              <a:rPr lang="ko-KR" altLang="en-US" sz="800" b="1">
                <a:solidFill>
                  <a:srgbClr val="0367B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양방향</a:t>
            </a:r>
          </a:p>
        </p:txBody>
      </p:sp>
      <p:cxnSp>
        <p:nvCxnSpPr>
          <p:cNvPr id="61" name="AR_rd">
            <a:extLst>
              <a:ext uri="{FF2B5EF4-FFF2-40B4-BE49-F238E27FC236}">
                <a16:creationId xmlns:a16="http://schemas.microsoft.com/office/drawing/2014/main" id="{E328C48C-FA79-E70D-ACFD-4018FDDB227D}"/>
              </a:ext>
            </a:extLst>
          </p:cNvPr>
          <p:cNvCxnSpPr/>
          <p:nvPr/>
        </p:nvCxnSpPr>
        <p:spPr>
          <a:xfrm>
            <a:off x="3089501" y="5265204"/>
            <a:ext cx="981768" cy="0"/>
          </a:xfrm>
          <a:prstGeom prst="straightConnector1">
            <a:avLst/>
          </a:prstGeom>
          <a:ln w="34925">
            <a:solidFill>
              <a:srgbClr val="0367B0"/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AR_rdl">
            <a:extLst>
              <a:ext uri="{FF2B5EF4-FFF2-40B4-BE49-F238E27FC236}">
                <a16:creationId xmlns:a16="http://schemas.microsoft.com/office/drawing/2014/main" id="{C44C3AEC-A65C-527D-BD50-4BC5B17A7FC4}"/>
              </a:ext>
            </a:extLst>
          </p:cNvPr>
          <p:cNvSpPr txBox="1"/>
          <p:nvPr/>
        </p:nvSpPr>
        <p:spPr>
          <a:xfrm>
            <a:off x="3400138" y="5337212"/>
            <a:ext cx="387927" cy="12311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0367B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DB</a:t>
            </a:r>
            <a:r>
              <a:rPr lang="ko-KR" altLang="en-US" sz="800" b="1" dirty="0">
                <a:solidFill>
                  <a:srgbClr val="0367B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복제 </a:t>
            </a:r>
            <a:endParaRPr lang="en-US" altLang="ko-KR" sz="800" b="1" dirty="0">
              <a:solidFill>
                <a:srgbClr val="0367B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63" name="AR_deploy">
            <a:extLst>
              <a:ext uri="{FF2B5EF4-FFF2-40B4-BE49-F238E27FC236}">
                <a16:creationId xmlns:a16="http://schemas.microsoft.com/office/drawing/2014/main" id="{5E6D242F-297F-B31E-16B7-9AC074DA1C27}"/>
              </a:ext>
            </a:extLst>
          </p:cNvPr>
          <p:cNvSpPr/>
          <p:nvPr/>
        </p:nvSpPr>
        <p:spPr>
          <a:xfrm>
            <a:off x="368300" y="5638800"/>
            <a:ext cx="6451600" cy="203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배포 </a:t>
            </a:r>
            <a:r>
              <a:rPr lang="en-US" altLang="ko-KR" sz="80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: 단일</a:t>
            </a:r>
            <a:r>
              <a:rPr lang="ko-KR" altLang="en-US" sz="80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빌드 산출물 → 센터 간 동일 버전 배포 </a:t>
            </a:r>
            <a:r>
              <a:rPr lang="en-US" altLang="ko-KR" sz="80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형상 일치 점검</a:t>
            </a:r>
          </a:p>
        </p:txBody>
      </p:sp>
      <p:sp>
        <p:nvSpPr>
          <p:cNvPr id="64" name="AR_legend">
            <a:extLst>
              <a:ext uri="{FF2B5EF4-FFF2-40B4-BE49-F238E27FC236}">
                <a16:creationId xmlns:a16="http://schemas.microsoft.com/office/drawing/2014/main" id="{FEB07F40-18D7-2F34-A995-8FAD585BDFE5}"/>
              </a:ext>
            </a:extLst>
          </p:cNvPr>
          <p:cNvSpPr txBox="1"/>
          <p:nvPr/>
        </p:nvSpPr>
        <p:spPr>
          <a:xfrm>
            <a:off x="368300" y="5970944"/>
            <a:ext cx="6451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: 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조회 업무 동시 처리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(DB 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조회 전용 </a:t>
            </a:r>
            <a:r>
              <a:rPr lang="ko-KR" altLang="en-US" sz="800" dirty="0" err="1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복제본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 / 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쓰기 업무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발급 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편집 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연계 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는 </a:t>
            </a:r>
            <a:r>
              <a:rPr lang="ko-KR" altLang="en-US" sz="800" dirty="0" err="1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주센터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처리  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/  A1 · A2 · A4 = 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장애 시 복구 </a:t>
            </a:r>
            <a:r>
              <a:rPr lang="en-US" altLang="ko-KR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검증 우선순위</a:t>
            </a:r>
          </a:p>
        </p:txBody>
      </p:sp>
      <p:sp>
        <p:nvSpPr>
          <p:cNvPr id="3" name="AR_g2ml">
            <a:extLst>
              <a:ext uri="{FF2B5EF4-FFF2-40B4-BE49-F238E27FC236}">
                <a16:creationId xmlns:a16="http://schemas.microsoft.com/office/drawing/2014/main" id="{CBAA011A-321B-EA51-3DD7-04C6E3311B79}"/>
              </a:ext>
            </a:extLst>
          </p:cNvPr>
          <p:cNvSpPr txBox="1"/>
          <p:nvPr/>
        </p:nvSpPr>
        <p:spPr>
          <a:xfrm>
            <a:off x="1016000" y="2643544"/>
            <a:ext cx="7874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ko-KR" altLang="en-US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조회 </a:t>
            </a:r>
            <a:r>
              <a:rPr lang="en-US" altLang="ko-KR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+ </a:t>
            </a:r>
            <a:r>
              <a:rPr lang="ko-KR" altLang="en-US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쓰기</a:t>
            </a:r>
          </a:p>
        </p:txBody>
      </p:sp>
      <p:sp>
        <p:nvSpPr>
          <p:cNvPr id="4" name="AR_g2dl">
            <a:extLst>
              <a:ext uri="{FF2B5EF4-FFF2-40B4-BE49-F238E27FC236}">
                <a16:creationId xmlns:a16="http://schemas.microsoft.com/office/drawing/2014/main" id="{41D12723-1403-228B-4725-74A40F214AB2}"/>
              </a:ext>
            </a:extLst>
          </p:cNvPr>
          <p:cNvSpPr txBox="1"/>
          <p:nvPr/>
        </p:nvSpPr>
        <p:spPr>
          <a:xfrm>
            <a:off x="5384800" y="2643544"/>
            <a:ext cx="762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ko-KR" altLang="en-US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조회만</a:t>
            </a:r>
          </a:p>
        </p:txBody>
      </p:sp>
      <p:sp>
        <p:nvSpPr>
          <p:cNvPr id="65" name="AR_dmll">
            <a:extLst>
              <a:ext uri="{FF2B5EF4-FFF2-40B4-BE49-F238E27FC236}">
                <a16:creationId xmlns:a16="http://schemas.microsoft.com/office/drawing/2014/main" id="{103CCC6C-00A1-482A-8C42-9F9AB5338C2D}"/>
              </a:ext>
            </a:extLst>
          </p:cNvPr>
          <p:cNvSpPr txBox="1"/>
          <p:nvPr/>
        </p:nvSpPr>
        <p:spPr>
          <a:xfrm>
            <a:off x="3260812" y="4871879"/>
            <a:ext cx="639599" cy="24622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altLang="ko-KR" sz="800" b="1" dirty="0">
                <a:solidFill>
                  <a:srgbClr val="C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DML</a:t>
            </a:r>
          </a:p>
          <a:p>
            <a:pPr algn="ctr"/>
            <a:r>
              <a:rPr lang="en-US" altLang="ko-KR" sz="800" b="1" dirty="0">
                <a:solidFill>
                  <a:srgbClr val="C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Redirect</a:t>
            </a:r>
            <a:endParaRPr lang="ko-KR" altLang="en-US" sz="800" b="1" dirty="0">
              <a:solidFill>
                <a:srgbClr val="C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cxnSp>
        <p:nvCxnSpPr>
          <p:cNvPr id="66" name="AR_flow_m">
            <a:extLst>
              <a:ext uri="{FF2B5EF4-FFF2-40B4-BE49-F238E27FC236}">
                <a16:creationId xmlns:a16="http://schemas.microsoft.com/office/drawing/2014/main" id="{A5E3E12F-3161-5FBE-422F-B467426650A1}"/>
              </a:ext>
            </a:extLst>
          </p:cNvPr>
          <p:cNvCxnSpPr>
            <a:cxnSpLocks/>
          </p:cNvCxnSpPr>
          <p:nvPr/>
        </p:nvCxnSpPr>
        <p:spPr>
          <a:xfrm>
            <a:off x="406400" y="3136900"/>
            <a:ext cx="0" cy="1912280"/>
          </a:xfrm>
          <a:prstGeom prst="straightConnector1">
            <a:avLst/>
          </a:prstGeom>
          <a:ln w="38100">
            <a:solidFill>
              <a:srgbClr val="0367B0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AR_flow_m_vip">
            <a:extLst>
              <a:ext uri="{FF2B5EF4-FFF2-40B4-BE49-F238E27FC236}">
                <a16:creationId xmlns:a16="http://schemas.microsoft.com/office/drawing/2014/main" id="{B5E46345-37F4-2F9E-700C-CDFE5ABB0CA3}"/>
              </a:ext>
            </a:extLst>
          </p:cNvPr>
          <p:cNvCxnSpPr/>
          <p:nvPr/>
        </p:nvCxnSpPr>
        <p:spPr>
          <a:xfrm>
            <a:off x="1828800" y="3263900"/>
            <a:ext cx="0" cy="50800"/>
          </a:xfrm>
          <a:prstGeom prst="straightConnector1">
            <a:avLst/>
          </a:prstGeom>
          <a:ln w="28575">
            <a:solidFill>
              <a:srgbClr val="0367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AR_flow_m_web">
            <a:extLst>
              <a:ext uri="{FF2B5EF4-FFF2-40B4-BE49-F238E27FC236}">
                <a16:creationId xmlns:a16="http://schemas.microsoft.com/office/drawing/2014/main" id="{078DE816-D40C-1584-B0A3-517FA7428E2D}"/>
              </a:ext>
            </a:extLst>
          </p:cNvPr>
          <p:cNvCxnSpPr/>
          <p:nvPr/>
        </p:nvCxnSpPr>
        <p:spPr>
          <a:xfrm>
            <a:off x="1828800" y="3492500"/>
            <a:ext cx="0" cy="50800"/>
          </a:xfrm>
          <a:prstGeom prst="straightConnector1">
            <a:avLst/>
          </a:prstGeom>
          <a:ln w="28575">
            <a:solidFill>
              <a:srgbClr val="0367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AR_flow_d">
            <a:extLst>
              <a:ext uri="{FF2B5EF4-FFF2-40B4-BE49-F238E27FC236}">
                <a16:creationId xmlns:a16="http://schemas.microsoft.com/office/drawing/2014/main" id="{7FD0D18F-3682-8141-9118-CFE11C5F6F45}"/>
              </a:ext>
            </a:extLst>
          </p:cNvPr>
          <p:cNvCxnSpPr>
            <a:cxnSpLocks/>
          </p:cNvCxnSpPr>
          <p:nvPr/>
        </p:nvCxnSpPr>
        <p:spPr>
          <a:xfrm>
            <a:off x="3937000" y="3112886"/>
            <a:ext cx="0" cy="1486828"/>
          </a:xfrm>
          <a:prstGeom prst="straightConnector1">
            <a:avLst/>
          </a:prstGeom>
          <a:ln w="38100">
            <a:solidFill>
              <a:srgbClr val="FF8000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AR_flow_d_vip">
            <a:extLst>
              <a:ext uri="{FF2B5EF4-FFF2-40B4-BE49-F238E27FC236}">
                <a16:creationId xmlns:a16="http://schemas.microsoft.com/office/drawing/2014/main" id="{F46D8CD0-A54C-E7B0-BBEC-80F6E72D9E03}"/>
              </a:ext>
            </a:extLst>
          </p:cNvPr>
          <p:cNvCxnSpPr/>
          <p:nvPr/>
        </p:nvCxnSpPr>
        <p:spPr>
          <a:xfrm>
            <a:off x="5359400" y="3263900"/>
            <a:ext cx="0" cy="50800"/>
          </a:xfrm>
          <a:prstGeom prst="straightConnector1">
            <a:avLst/>
          </a:prstGeom>
          <a:ln w="28575">
            <a:solidFill>
              <a:srgbClr val="FF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AR_flow_d_web">
            <a:extLst>
              <a:ext uri="{FF2B5EF4-FFF2-40B4-BE49-F238E27FC236}">
                <a16:creationId xmlns:a16="http://schemas.microsoft.com/office/drawing/2014/main" id="{7D5E7F6B-1BA1-B051-1D77-D0D2E44F66F2}"/>
              </a:ext>
            </a:extLst>
          </p:cNvPr>
          <p:cNvCxnSpPr/>
          <p:nvPr/>
        </p:nvCxnSpPr>
        <p:spPr>
          <a:xfrm>
            <a:off x="5359400" y="3492500"/>
            <a:ext cx="0" cy="50800"/>
          </a:xfrm>
          <a:prstGeom prst="straightConnector1">
            <a:avLst/>
          </a:prstGeom>
          <a:ln w="28575">
            <a:solidFill>
              <a:srgbClr val="FF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AR_wpath">
            <a:extLst>
              <a:ext uri="{FF2B5EF4-FFF2-40B4-BE49-F238E27FC236}">
                <a16:creationId xmlns:a16="http://schemas.microsoft.com/office/drawing/2014/main" id="{AC1031BA-096B-72A9-1B32-DECEF5FC8443}"/>
              </a:ext>
            </a:extLst>
          </p:cNvPr>
          <p:cNvSpPr/>
          <p:nvPr/>
        </p:nvSpPr>
        <p:spPr>
          <a:xfrm>
            <a:off x="3125354" y="4598422"/>
            <a:ext cx="811647" cy="545079"/>
          </a:xfrm>
          <a:custGeom>
            <a:avLst/>
            <a:gdLst/>
            <a:ahLst/>
            <a:cxnLst/>
            <a:rect l="0" t="0" r="0" b="0"/>
            <a:pathLst>
              <a:path w="723901" h="762001">
                <a:moveTo>
                  <a:pt x="723900" y="0"/>
                </a:moveTo>
                <a:lnTo>
                  <a:pt x="723900" y="762000"/>
                </a:lnTo>
                <a:lnTo>
                  <a:pt x="0" y="762000"/>
                </a:lnTo>
              </a:path>
            </a:pathLst>
          </a:custGeom>
          <a:ln w="349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6" name="AR_dmlnote">
            <a:extLst>
              <a:ext uri="{FF2B5EF4-FFF2-40B4-BE49-F238E27FC236}">
                <a16:creationId xmlns:a16="http://schemas.microsoft.com/office/drawing/2014/main" id="{3AB5732B-E5D5-CDE3-5AC8-FEC4132F1669}"/>
              </a:ext>
            </a:extLst>
          </p:cNvPr>
          <p:cNvSpPr txBox="1"/>
          <p:nvPr/>
        </p:nvSpPr>
        <p:spPr>
          <a:xfrm>
            <a:off x="368300" y="6138353"/>
            <a:ext cx="64516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ko-KR" sz="7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※ DML Redirect : Oracle Active Data Guard </a:t>
            </a:r>
            <a:r>
              <a:rPr lang="ko-KR" altLang="en-US" sz="750">
                <a:latin typeface="나눔고딕" panose="020D0804000000000000" pitchFamily="50" charset="-127"/>
                <a:ea typeface="나눔고딕" panose="020D0804000000000000" pitchFamily="50" charset="-127"/>
              </a:rPr>
              <a:t>기능 </a:t>
            </a:r>
            <a:r>
              <a:rPr lang="en-US" altLang="ko-KR" sz="750">
                <a:latin typeface="나눔고딕" panose="020D0804000000000000" pitchFamily="50" charset="-127"/>
                <a:ea typeface="나눔고딕" panose="020D0804000000000000" pitchFamily="50" charset="-127"/>
              </a:rPr>
              <a:t>- </a:t>
            </a:r>
            <a:r>
              <a:rPr lang="ko-KR" altLang="en-US" sz="7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조회 전용 복제본의 쓰기를 </a:t>
            </a:r>
            <a:r>
              <a:rPr lang="ko-KR" altLang="en-US" sz="750" dirty="0" err="1">
                <a:latin typeface="나눔고딕" panose="020D0804000000000000" pitchFamily="50" charset="-127"/>
                <a:ea typeface="나눔고딕" panose="020D0804000000000000" pitchFamily="50" charset="-127"/>
              </a:rPr>
              <a:t>주센터</a:t>
            </a:r>
            <a:r>
              <a:rPr lang="ko-KR" altLang="en-US" sz="7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r>
              <a:rPr lang="en-US" altLang="ko-KR" sz="7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DB</a:t>
            </a:r>
            <a:r>
              <a:rPr lang="ko-KR" altLang="en-US" sz="7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로 자동 전달 </a:t>
            </a:r>
            <a:r>
              <a:rPr lang="en-US" altLang="ko-KR" sz="7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7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센터 간 왕복으로 응답 지연 가능성</a:t>
            </a:r>
            <a:r>
              <a:rPr lang="en-US" altLang="ko-KR" sz="7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750" dirty="0"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73" name="AR_rfpnote">
            <a:extLst>
              <a:ext uri="{FF2B5EF4-FFF2-40B4-BE49-F238E27FC236}">
                <a16:creationId xmlns:a16="http://schemas.microsoft.com/office/drawing/2014/main" id="{B8C72030-AE5A-DC21-F76F-4D4E4DCCC0A6}"/>
              </a:ext>
            </a:extLst>
          </p:cNvPr>
          <p:cNvSpPr txBox="1"/>
          <p:nvPr/>
        </p:nvSpPr>
        <p:spPr>
          <a:xfrm>
            <a:off x="368299" y="6265353"/>
            <a:ext cx="6451600" cy="115570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US" altLang="ko-KR" sz="7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※ </a:t>
            </a:r>
            <a:r>
              <a:rPr lang="ko-KR" altLang="en-US" sz="7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연계기관 </a:t>
            </a:r>
            <a:r>
              <a:rPr lang="en-US" altLang="ko-KR" sz="7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624</a:t>
            </a:r>
            <a:r>
              <a:rPr lang="ko-KR" altLang="en-US" sz="7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개 시스템 </a:t>
            </a:r>
            <a:r>
              <a:rPr lang="en-US" altLang="ko-KR" sz="7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: </a:t>
            </a:r>
            <a:r>
              <a:rPr lang="ko-KR" altLang="en-US" sz="7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제안요청서</a:t>
            </a:r>
            <a:r>
              <a:rPr lang="en-US" altLang="ko-KR" sz="7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(RFP) </a:t>
            </a:r>
            <a:r>
              <a:rPr lang="ko-KR" altLang="en-US" sz="7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기준 개수</a:t>
            </a: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850CB2FA-3272-ACB7-C38F-F5AA8BFD48E9}"/>
              </a:ext>
            </a:extLst>
          </p:cNvPr>
          <p:cNvSpPr/>
          <p:nvPr/>
        </p:nvSpPr>
        <p:spPr>
          <a:xfrm>
            <a:off x="-1491716" y="0"/>
            <a:ext cx="1404156" cy="1160748"/>
          </a:xfrm>
          <a:prstGeom prst="rect">
            <a:avLst/>
          </a:prstGeom>
          <a:solidFill>
            <a:srgbClr val="FFC0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altLang="ko-KR" sz="12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CNR-004-43</a:t>
            </a:r>
          </a:p>
          <a:p>
            <a:pPr algn="ctr"/>
            <a:r>
              <a:rPr lang="en-US" altLang="ko-KR" sz="12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CNR-001-13</a:t>
            </a:r>
            <a:endParaRPr lang="ko-KR" altLang="en-US" sz="1200" b="1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5" name="AR_gslb">
            <a:extLst>
              <a:ext uri="{FF2B5EF4-FFF2-40B4-BE49-F238E27FC236}">
                <a16:creationId xmlns:a16="http://schemas.microsoft.com/office/drawing/2014/main" id="{F03C6824-FD54-B667-4945-D5B785B72534}"/>
              </a:ext>
            </a:extLst>
          </p:cNvPr>
          <p:cNvSpPr/>
          <p:nvPr/>
        </p:nvSpPr>
        <p:spPr>
          <a:xfrm>
            <a:off x="2324100" y="2438400"/>
            <a:ext cx="2540000" cy="228600"/>
          </a:xfrm>
          <a:prstGeom prst="roundRect">
            <a:avLst/>
          </a:prstGeom>
          <a:solidFill>
            <a:srgbClr val="1F3864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GSLB · </a:t>
            </a:r>
            <a:r>
              <a:rPr lang="ko-KR" altLang="en-US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도메인 </a:t>
            </a: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조회 센터 간 분산 </a:t>
            </a: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쓰기 주센터</a:t>
            </a: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8057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3.3.4.2 </a:t>
            </a:r>
            <a:r>
              <a:rPr lang="ko-KR" altLang="en-US" dirty="0"/>
              <a:t>응용서비스 유형별 방안 설계 </a:t>
            </a:r>
            <a:r>
              <a:rPr lang="en-US" altLang="ko-KR" dirty="0"/>
              <a:t>&gt; DR </a:t>
            </a:r>
            <a:r>
              <a:rPr lang="ko-KR" altLang="en-US" dirty="0"/>
              <a:t>구성 시 </a:t>
            </a:r>
            <a:r>
              <a:rPr lang="en-US" altLang="ko-KR" dirty="0"/>
              <a:t>SW </a:t>
            </a:r>
            <a:r>
              <a:rPr lang="ko-KR" altLang="en-US" dirty="0"/>
              <a:t>고려사항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37CF43A3-814F-253A-489D-2073056FEF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gray">
          <a:xfrm>
            <a:off x="281928" y="807445"/>
            <a:ext cx="9320194" cy="755025"/>
          </a:xfrm>
        </p:spPr>
        <p:txBody>
          <a:bodyPr/>
          <a:lstStyle/>
          <a:p>
            <a:r>
              <a:rPr lang="en-US" altLang="ko-KR" dirty="0"/>
              <a:t>DR</a:t>
            </a:r>
            <a:r>
              <a:rPr lang="ko-KR" altLang="en-US" dirty="0"/>
              <a:t>센터</a:t>
            </a:r>
            <a:r>
              <a:rPr lang="en-US" altLang="ko-KR" dirty="0"/>
              <a:t>(</a:t>
            </a:r>
            <a:r>
              <a:rPr lang="ko-KR" altLang="en-US" dirty="0"/>
              <a:t>공주</a:t>
            </a:r>
            <a:r>
              <a:rPr lang="en-US" altLang="ko-KR" dirty="0"/>
              <a:t>) S2</a:t>
            </a:r>
            <a:r>
              <a:rPr lang="ko-KR" altLang="en-US" dirty="0"/>
              <a:t>존 구성 시 응용 </a:t>
            </a:r>
            <a:r>
              <a:rPr lang="en-US" altLang="ko-KR" dirty="0"/>
              <a:t>· </a:t>
            </a:r>
            <a:r>
              <a:rPr lang="ko-KR" altLang="en-US" dirty="0"/>
              <a:t>상용</a:t>
            </a:r>
            <a:r>
              <a:rPr lang="en-US" altLang="ko-KR" dirty="0"/>
              <a:t>SW</a:t>
            </a:r>
            <a:r>
              <a:rPr lang="ko-KR" altLang="en-US" dirty="0"/>
              <a:t>를 </a:t>
            </a:r>
            <a:r>
              <a:rPr lang="en-US" altLang="ko-KR" dirty="0"/>
              <a:t>OpenShift Virtualization </a:t>
            </a:r>
            <a:r>
              <a:rPr lang="ko-KR" altLang="en-US" dirty="0"/>
              <a:t>기반 </a:t>
            </a:r>
            <a:r>
              <a:rPr lang="en-US" altLang="ko-KR" dirty="0"/>
              <a:t>VM </a:t>
            </a:r>
            <a:r>
              <a:rPr lang="ko-KR" altLang="en-US" dirty="0"/>
              <a:t>복제 이관으로 적용하고</a:t>
            </a:r>
            <a:r>
              <a:rPr lang="en-US" altLang="ko-KR" dirty="0"/>
              <a:t>, </a:t>
            </a:r>
            <a:r>
              <a:rPr lang="ko-KR" altLang="en-US" dirty="0"/>
              <a:t>컨테이너 전환은 제외하여 </a:t>
            </a:r>
            <a:r>
              <a:rPr lang="en-US" altLang="ko-KR" dirty="0"/>
              <a:t>SW </a:t>
            </a:r>
            <a:r>
              <a:rPr lang="ko-KR" altLang="en-US" dirty="0"/>
              <a:t>유형별 이관 제약과 확인사항을 정의함</a:t>
            </a:r>
          </a:p>
        </p:txBody>
      </p:sp>
      <p:sp>
        <p:nvSpPr>
          <p:cNvPr id="5" name="모서리가 둥근 직사각형 12">
            <a:extLst>
              <a:ext uri="{FF2B5EF4-FFF2-40B4-BE49-F238E27FC236}">
                <a16:creationId xmlns:a16="http://schemas.microsoft.com/office/drawing/2014/main" id="{EE7BCBAA-3F4E-1FAB-CACF-5F64CF996776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fontAlgn="base" latinLnBrk="0">
              <a:spcAft>
                <a:spcPts val="200"/>
              </a:spcAft>
              <a:buClr>
                <a:srgbClr val="000000"/>
              </a:buClr>
              <a:defRPr/>
            </a:pP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대상 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: </a:t>
            </a:r>
            <a:r>
              <a:rPr lang="ko-KR" altLang="en-US" sz="1000" dirty="0" err="1">
                <a:latin typeface="나눔고딕" panose="020D0804000000000000" pitchFamily="50" charset="-127"/>
                <a:ea typeface="나눔고딕" panose="020D0804000000000000" pitchFamily="50" charset="-127"/>
              </a:rPr>
              <a:t>주센터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광주 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S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존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) 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유지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, DR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센터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공주 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S2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존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) 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복제 </a:t>
            </a:r>
            <a:r>
              <a:rPr lang="ko-KR" altLang="en-US" sz="1000">
                <a:latin typeface="나눔고딕" panose="020D0804000000000000" pitchFamily="50" charset="-127"/>
                <a:ea typeface="나눔고딕" panose="020D0804000000000000" pitchFamily="50" charset="-127"/>
              </a:rPr>
              <a:t>구성 </a:t>
            </a:r>
            <a:r>
              <a:rPr lang="en-US" altLang="ko-KR" sz="1000">
                <a:latin typeface="나눔고딕" panose="020D0804000000000000" pitchFamily="50" charset="-127"/>
                <a:ea typeface="나눔고딕" panose="020D0804000000000000" pitchFamily="50" charset="-127"/>
              </a:rPr>
              <a:t>- 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응용 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미들웨어 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상용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SW</a:t>
            </a:r>
          </a:p>
          <a:p>
            <a:pPr fontAlgn="base" latinLnBrk="0">
              <a:spcAft>
                <a:spcPts val="200"/>
              </a:spcAft>
              <a:buClr>
                <a:srgbClr val="000000"/>
              </a:buClr>
              <a:defRPr/>
            </a:pPr>
            <a:r>
              <a:rPr lang="en-US" altLang="ko-KR" sz="100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 </a:t>
            </a:r>
          </a:p>
          <a:p>
            <a:pPr fontAlgn="base" latinLnBrk="0">
              <a:spcAft>
                <a:spcPts val="200"/>
              </a:spcAft>
              <a:buClr>
                <a:srgbClr val="000000"/>
              </a:buClr>
              <a:defRPr/>
            </a:pPr>
            <a:r>
              <a:rPr lang="ko-KR" altLang="en-US" sz="110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① 이관 방식 및 적용 원칙</a:t>
            </a:r>
            <a:endParaRPr lang="ko-KR" altLang="en-US" sz="10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6" name="양쪽 모서리가 둥근 사각형 101">
            <a:extLst>
              <a:ext uri="{FF2B5EF4-FFF2-40B4-BE49-F238E27FC236}">
                <a16:creationId xmlns:a16="http://schemas.microsoft.com/office/drawing/2014/main" id="{369F17BF-AB2B-F3C6-5B99-D6338A444F4F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en-US" altLang="ko-KR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DR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구성</a:t>
            </a:r>
            <a:r>
              <a:rPr kumimoji="0" lang="en-US" altLang="ko-KR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(S</a:t>
            </a: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존 →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S2</a:t>
            </a: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존</a:t>
            </a:r>
            <a:r>
              <a:rPr kumimoji="0" lang="en-US" altLang="ko-KR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)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시 </a:t>
            </a:r>
            <a:r>
              <a:rPr kumimoji="0" lang="en-US" altLang="ko-KR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SW </a:t>
            </a: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확인사항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chemeClr val="bg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8" name="모서리가 둥근 직사각형 12">
            <a:extLst>
              <a:ext uri="{FF2B5EF4-FFF2-40B4-BE49-F238E27FC236}">
                <a16:creationId xmlns:a16="http://schemas.microsoft.com/office/drawing/2014/main" id="{61A66B9F-FF9F-880F-22FA-96EADF5354B1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L="107950" indent="-107950" fontAlgn="base" latinLnBrk="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이관 방식을 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OpenShift Virtualization 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기반 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V2V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로 단일화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컨테이너 전환 제외</a:t>
            </a:r>
          </a:p>
          <a:p>
            <a:pPr marL="107950" indent="-107950" fontAlgn="base" latinLnBrk="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상용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SW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별 지원 가능 여부 확인 후 이관 방식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(V2V · 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재설치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) 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결정</a:t>
            </a:r>
          </a:p>
          <a:p>
            <a:pPr marL="107950" indent="-107950" fontAlgn="base" latinLnBrk="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GIS 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서버는 이관 후 공간 연산 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표출 실측 시험 필수</a:t>
            </a:r>
          </a:p>
          <a:p>
            <a:pPr marL="107950" indent="-107950" fontAlgn="base" latinLnBrk="0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이관 전후 동일성 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기능 </a:t>
            </a:r>
            <a:r>
              <a:rPr lang="en-US" altLang="ko-KR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100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성능 검증 절차 수립</a:t>
            </a:r>
          </a:p>
        </p:txBody>
      </p:sp>
      <p:sp>
        <p:nvSpPr>
          <p:cNvPr id="10" name="양쪽 모서리가 둥근 사각형 101">
            <a:extLst>
              <a:ext uri="{FF2B5EF4-FFF2-40B4-BE49-F238E27FC236}">
                <a16:creationId xmlns:a16="http://schemas.microsoft.com/office/drawing/2014/main" id="{722025B7-5E96-8296-C837-59D59BA99DF3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구축방안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11" name="기동제약_하단텍스트">
            <a:extLst>
              <a:ext uri="{FF2B5EF4-FFF2-40B4-BE49-F238E27FC236}">
                <a16:creationId xmlns:a16="http://schemas.microsoft.com/office/drawing/2014/main" id="{0F31A207-1613-ACD5-13D1-7B369D81140F}"/>
              </a:ext>
            </a:extLst>
          </p:cNvPr>
          <p:cNvSpPr/>
          <p:nvPr/>
        </p:nvSpPr>
        <p:spPr bwMode="auto">
          <a:xfrm>
            <a:off x="272999" y="3507740"/>
            <a:ext cx="6659617" cy="18034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12700" algn="ctr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14:hiddenLine>
            </a:ext>
          </a:extLst>
        </p:spPr>
        <p:txBody>
          <a:bodyPr lIns="72000" tIns="0" rIns="70898" bIns="35449" anchor="t" anchorCtr="0"/>
          <a:lstStyle/>
          <a:p>
            <a:pPr fontAlgn="base" latinLnBrk="0">
              <a:spcBef>
                <a:spcPts val="700"/>
              </a:spcBef>
              <a:spcAft>
                <a:spcPts val="200"/>
              </a:spcAft>
              <a:buClr>
                <a:srgbClr val="000000"/>
              </a:buClr>
              <a:defRPr/>
            </a:pPr>
            <a:r>
              <a:rPr lang="ko-KR" altLang="en-US" sz="11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② </a:t>
            </a:r>
            <a:r>
              <a:rPr lang="en-US" altLang="ko-KR" sz="11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SW </a:t>
            </a:r>
            <a:r>
              <a:rPr lang="ko-KR" altLang="en-US" sz="11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유형별 이관 제약 </a:t>
            </a:r>
            <a:r>
              <a:rPr lang="en-US" altLang="ko-KR" sz="11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11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확인사항</a:t>
            </a:r>
            <a:endParaRPr lang="ko-KR" altLang="en-US" sz="10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graphicFrame>
        <p:nvGraphicFramePr>
          <p:cNvPr id="12" name="기동제약_표">
            <a:extLst>
              <a:ext uri="{FF2B5EF4-FFF2-40B4-BE49-F238E27FC236}">
                <a16:creationId xmlns:a16="http://schemas.microsoft.com/office/drawing/2014/main" id="{A67DFE11-28DA-E221-4228-33F0BBEE8B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4852743"/>
              </p:ext>
            </p:extLst>
          </p:nvPr>
        </p:nvGraphicFramePr>
        <p:xfrm>
          <a:off x="374599" y="2667000"/>
          <a:ext cx="6477000" cy="7518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6500">
                  <a:extLst>
                    <a:ext uri="{9D8B030D-6E8A-4147-A177-3AD203B41FA5}">
                      <a16:colId xmlns:a16="http://schemas.microsoft.com/office/drawing/2014/main" val="1051475715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2695411019"/>
                    </a:ext>
                  </a:extLst>
                </a:gridCol>
                <a:gridCol w="2755900">
                  <a:extLst>
                    <a:ext uri="{9D8B030D-6E8A-4147-A177-3AD203B41FA5}">
                      <a16:colId xmlns:a16="http://schemas.microsoft.com/office/drawing/2014/main" val="889446219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406875591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구분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적용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사유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응용 영향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70082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VM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복제 이관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(V2V)</a:t>
                      </a:r>
                      <a:endParaRPr lang="ko-KR" altLang="en-US" sz="900" b="1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검토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OpenShift Virtualization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으로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OS ·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미들웨어 유지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최소 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-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수정 범위 내 흡수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0506966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재설치 </a:t>
                      </a:r>
                      <a:r>
                        <a:rPr lang="en-US" altLang="ko-KR" sz="9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재구성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일부 적용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이미지 복제 미지원 상용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대상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설치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1" dirty="0" err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재인증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공수 발생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33671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컨테이너 전환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제외</a:t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응용 재구성 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상태 외부화 전면 필요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과다 </a:t>
                      </a:r>
                      <a:r>
                        <a:rPr lang="en-US" altLang="ko-KR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- </a:t>
                      </a:r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응용 전면 재구성 필요</a:t>
                      </a:r>
                    </a:p>
                  </a:txBody>
                  <a:tcPr marL="50800" marR="50800" marT="25400" marB="254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1280117"/>
                  </a:ext>
                </a:extLst>
              </a:tr>
            </a:tbl>
          </a:graphicData>
        </a:graphic>
      </p:graphicFrame>
      <p:sp>
        <p:nvSpPr>
          <p:cNvPr id="13" name="라이선스_하단텍스트">
            <a:extLst>
              <a:ext uri="{FF2B5EF4-FFF2-40B4-BE49-F238E27FC236}">
                <a16:creationId xmlns:a16="http://schemas.microsoft.com/office/drawing/2014/main" id="{89254E04-0C89-6A1E-96E0-67139FD019CC}"/>
              </a:ext>
            </a:extLst>
          </p:cNvPr>
          <p:cNvSpPr/>
          <p:nvPr/>
        </p:nvSpPr>
        <p:spPr bwMode="auto">
          <a:xfrm>
            <a:off x="272999" y="4917440"/>
            <a:ext cx="6659617" cy="1141362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  <a:extLst>
            <a:ext uri="{91240B29-F687-4F45-9708-019B960494DF}">
              <a14:hiddenLine xmlns:a14="http://schemas.microsoft.com/office/drawing/2010/main" w="12700" algn="ctr">
                <a:solidFill>
                  <a:schemeClr val="bg1">
                    <a:lumMod val="65000"/>
                  </a:schemeClr>
                </a:solidFill>
                <a:miter lim="800000"/>
                <a:headEnd/>
                <a:tailEnd/>
              </a14:hiddenLine>
            </a:ext>
          </a:extLst>
        </p:spPr>
        <p:txBody>
          <a:bodyPr lIns="72000" tIns="0" rIns="70898" bIns="35449" anchor="t" anchorCtr="0"/>
          <a:lstStyle/>
          <a:p>
            <a:pPr fontAlgn="base" latinLnBrk="0">
              <a:spcBef>
                <a:spcPts val="500"/>
              </a:spcBef>
              <a:spcAft>
                <a:spcPts val="200"/>
              </a:spcAft>
              <a:buClr>
                <a:srgbClr val="000000"/>
              </a:buClr>
              <a:defRPr/>
            </a:pPr>
            <a:r>
              <a:rPr lang="ko-KR" altLang="en-US" sz="10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③ 이관 후 검증</a:t>
            </a:r>
          </a:p>
          <a:p>
            <a:pPr marL="177800" indent="-107950" fontAlgn="base" latinLnBrk="0"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버전 </a:t>
            </a:r>
            <a:r>
              <a:rPr lang="en-US" altLang="ko-KR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950" dirty="0" err="1">
                <a:latin typeface="나눔고딕" panose="020D0804000000000000" pitchFamily="50" charset="-127"/>
                <a:ea typeface="나눔고딕" panose="020D0804000000000000" pitchFamily="50" charset="-127"/>
              </a:rPr>
              <a:t>체크섬</a:t>
            </a:r>
            <a:r>
              <a:rPr lang="ko-KR" altLang="en-US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 비교로 이관 전후 동일성 확인</a:t>
            </a:r>
            <a:r>
              <a:rPr lang="en-US" altLang="ko-KR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기능 시험</a:t>
            </a:r>
            <a:r>
              <a:rPr lang="en-US" altLang="ko-KR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발급 </a:t>
            </a:r>
            <a:r>
              <a:rPr lang="en-US" altLang="ko-KR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표준연계 </a:t>
            </a:r>
            <a:r>
              <a:rPr lang="en-US" altLang="ko-KR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 GIS </a:t>
            </a:r>
            <a:r>
              <a:rPr lang="ko-KR" altLang="en-US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표출 </a:t>
            </a:r>
            <a:r>
              <a:rPr lang="en-US" altLang="ko-KR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인증 </a:t>
            </a:r>
            <a:r>
              <a:rPr lang="en-US" altLang="ko-KR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출력</a:t>
            </a:r>
            <a:r>
              <a:rPr lang="en-US" altLang="ko-KR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</a:p>
          <a:p>
            <a:pPr marL="177800" indent="-107950" fontAlgn="base" latinLnBrk="0"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en-US" altLang="ko-KR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V2V </a:t>
            </a:r>
            <a:r>
              <a:rPr lang="ko-KR" altLang="en-US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복제 완료 시점을 기준 형상</a:t>
            </a:r>
            <a:r>
              <a:rPr lang="en-US" altLang="ko-KR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(Baseline) </a:t>
            </a:r>
            <a:r>
              <a:rPr lang="ko-KR" altLang="en-US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등록 기준점으로 설정</a:t>
            </a:r>
            <a:endParaRPr lang="en-US" altLang="ko-KR" sz="950" dirty="0"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marL="69850" fontAlgn="base" latinLnBrk="0">
              <a:buClr>
                <a:srgbClr val="000000"/>
              </a:buClr>
              <a:defRPr/>
            </a:pPr>
            <a:endParaRPr lang="ko-KR" altLang="en-US" sz="35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fontAlgn="base" latinLnBrk="0">
              <a:spcBef>
                <a:spcPts val="500"/>
              </a:spcBef>
              <a:spcAft>
                <a:spcPts val="200"/>
              </a:spcAft>
              <a:buClr>
                <a:srgbClr val="000000"/>
              </a:buClr>
              <a:defRPr/>
            </a:pPr>
            <a:r>
              <a:rPr lang="ko-KR" altLang="en-US" sz="10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④ 전제 </a:t>
            </a:r>
            <a:r>
              <a:rPr lang="en-US" altLang="ko-KR" sz="10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1050" b="1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확인 필요</a:t>
            </a:r>
          </a:p>
          <a:p>
            <a:pPr marL="177800" indent="-107950" fontAlgn="base" latinLnBrk="0"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/>
            </a:pPr>
            <a:r>
              <a:rPr lang="ko-KR" altLang="en-US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컨테이너 전환은 제외 </a:t>
            </a:r>
            <a:r>
              <a:rPr lang="en-US" altLang="ko-KR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- </a:t>
            </a:r>
            <a:r>
              <a:rPr lang="ko-KR" altLang="en-US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응용 구조 변경 수반으로 본 사업 범위를</a:t>
            </a:r>
            <a:r>
              <a:rPr lang="en-US" altLang="ko-KR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r>
              <a:rPr lang="ko-KR" altLang="en-US" sz="9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벗어남</a:t>
            </a:r>
          </a:p>
          <a:p>
            <a:pPr marL="298450" indent="-228600" fontAlgn="base" latinLnBrk="0">
              <a:spcBef>
                <a:spcPts val="100"/>
              </a:spcBef>
              <a:spcAft>
                <a:spcPts val="100"/>
              </a:spcAft>
              <a:buClr>
                <a:srgbClr val="000000"/>
              </a:buClr>
              <a:buFont typeface="+mj-lt"/>
              <a:buChar char="•"/>
              <a:defRPr/>
            </a:pPr>
            <a:r>
              <a:rPr lang="ko-KR" altLang="en-US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상용</a:t>
            </a:r>
            <a:r>
              <a:rPr lang="en-US" altLang="ko-KR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SW </a:t>
            </a:r>
            <a:r>
              <a:rPr lang="ko-KR" altLang="en-US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벤더의 </a:t>
            </a:r>
            <a:r>
              <a:rPr lang="en-US" altLang="ko-KR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OpenShift Virtualization </a:t>
            </a:r>
            <a:r>
              <a:rPr lang="ko-KR" altLang="en-US" sz="9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지원 범위 및 라이선스 재발급 조건 </a:t>
            </a:r>
            <a:r>
              <a:rPr lang="ko-KR" altLang="en-US" sz="9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확인 필요</a:t>
            </a:r>
            <a:endParaRPr lang="ko-KR" altLang="en-US" sz="950" dirty="0">
              <a:solidFill>
                <a:srgbClr val="FF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graphicFrame>
        <p:nvGraphicFramePr>
          <p:cNvPr id="14" name="운영모드_표">
            <a:extLst>
              <a:ext uri="{FF2B5EF4-FFF2-40B4-BE49-F238E27FC236}">
                <a16:creationId xmlns:a16="http://schemas.microsoft.com/office/drawing/2014/main" id="{D10B474A-0AD3-5E5C-9DCD-DDE586CE70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688051"/>
              </p:ext>
            </p:extLst>
          </p:nvPr>
        </p:nvGraphicFramePr>
        <p:xfrm>
          <a:off x="374599" y="3726180"/>
          <a:ext cx="6477000" cy="924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42597402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4168095833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3282642260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SW </a:t>
                      </a: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유형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이관 제약</a:t>
                      </a:r>
                      <a:endParaRPr lang="ko-KR" altLang="en-US" sz="900" b="1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확인사항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1866114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GIS (</a:t>
                      </a:r>
                      <a:r>
                        <a:rPr lang="en-US" altLang="ko-KR" sz="900" b="1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MapPrime</a:t>
                      </a:r>
                      <a:r>
                        <a:rPr lang="en-US" altLang="ko-KR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900" b="1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지도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데이터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좌표계 파일 경로 고정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간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CPU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명령어 세트 차이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이관 후 지도 표출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공간 연산 실측 시험 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최우선</a:t>
                      </a:r>
                      <a:r>
                        <a:rPr lang="en-US" altLang="ko-KR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), </a:t>
                      </a:r>
                      <a:r>
                        <a:rPr lang="ko-KR" altLang="en-US" sz="90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경로 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재설정 확인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1735457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라이선스 바인딩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V2V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시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UUID · MAC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변경으로 라이선스 무효화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벤더 재발급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 dirty="0" err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재인증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조건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9655292"/>
                  </a:ext>
                </a:extLst>
              </a:tr>
              <a:tr h="135168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성능 </a:t>
                      </a:r>
                      <a:r>
                        <a:rPr lang="en-US" altLang="ko-KR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접속주소</a:t>
                      </a:r>
                      <a:endParaRPr lang="ko-KR" altLang="en-US" sz="900" b="1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스토리지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I/O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특성 변화로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GIS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공간 쿼리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대용량 첨부 응답 저하 가능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,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응용의 고정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전제 영향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응용 성능 실측 </a:t>
                      </a:r>
                      <a:r>
                        <a:rPr lang="en-US" altLang="ko-KR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90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접속주소 외부화 확인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468786"/>
                  </a:ext>
                </a:extLst>
              </a:tr>
            </a:tbl>
          </a:graphicData>
        </a:graphic>
      </p:graphicFrame>
      <p:sp>
        <p:nvSpPr>
          <p:cNvPr id="18" name="MIG_ref">
            <a:extLst>
              <a:ext uri="{FF2B5EF4-FFF2-40B4-BE49-F238E27FC236}">
                <a16:creationId xmlns:a16="http://schemas.microsoft.com/office/drawing/2014/main" id="{C9B27A86-1E37-B0D1-5828-7C4653AC1877}"/>
              </a:ext>
            </a:extLst>
          </p:cNvPr>
          <p:cNvSpPr txBox="1"/>
          <p:nvPr/>
        </p:nvSpPr>
        <p:spPr>
          <a:xfrm>
            <a:off x="368299" y="4701540"/>
            <a:ext cx="6451600" cy="139700"/>
          </a:xfrm>
          <a:prstGeom prst="rect">
            <a:avLst/>
          </a:prstGeom>
          <a:noFill/>
        </p:spPr>
        <p:txBody>
          <a:bodyPr vert="horz" wrap="none" lIns="0" tIns="0" rIns="0" bIns="0" rtlCol="0" anchor="t" anchorCtr="0">
            <a:noAutofit/>
          </a:bodyPr>
          <a:lstStyle/>
          <a:p>
            <a:endParaRPr lang="ko-KR" altLang="en-US" sz="950" dirty="0">
              <a:solidFill>
                <a:srgbClr val="C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F741416-DD88-6CCC-3524-1A2D49C1ADD5}"/>
              </a:ext>
            </a:extLst>
          </p:cNvPr>
          <p:cNvSpPr/>
          <p:nvPr/>
        </p:nvSpPr>
        <p:spPr>
          <a:xfrm>
            <a:off x="-1491716" y="0"/>
            <a:ext cx="1404156" cy="1160748"/>
          </a:xfrm>
          <a:prstGeom prst="rect">
            <a:avLst/>
          </a:prstGeom>
          <a:solidFill>
            <a:srgbClr val="FFC0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altLang="ko-KR" sz="12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ACR-005-67</a:t>
            </a:r>
            <a:endParaRPr lang="ko-KR" altLang="en-US" sz="1200" b="1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70368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E861C-2AC2-A897-90EF-CD26B7B14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4D66B25-F3DE-27A7-7CBC-D4E344F6A0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3.3.4.6 </a:t>
            </a:r>
            <a:r>
              <a:rPr lang="ko-KR" altLang="en-US" dirty="0"/>
              <a:t>응용 구성</a:t>
            </a:r>
            <a:r>
              <a:rPr lang="en-US" altLang="ko-KR" dirty="0"/>
              <a:t>·</a:t>
            </a:r>
            <a:r>
              <a:rPr lang="ko-KR" altLang="en-US" dirty="0"/>
              <a:t>형상 동기화 및 배포체계 설계 </a:t>
            </a:r>
            <a:r>
              <a:rPr lang="en-US" altLang="ko-KR" dirty="0"/>
              <a:t>(6/6)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118C18EC-8EA9-6896-81AF-B639D2C492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0E4DCAA7-6F87-1CB8-87D2-0AD750FD9B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9000433-5945-0F5F-0DD1-0CEFE92866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/>
              <a:t>3.3.4 </a:t>
            </a:r>
            <a:r>
              <a:rPr lang="ko-KR" altLang="en-US"/>
              <a:t>응용 아키텍처 </a:t>
            </a:r>
            <a:r>
              <a:rPr lang="en-US" altLang="ko-KR"/>
              <a:t>DR </a:t>
            </a:r>
            <a:r>
              <a:rPr lang="ko-KR" altLang="en-US"/>
              <a:t>설계</a:t>
            </a:r>
            <a:endParaRPr lang="ko-KR" altLang="en-US" dirty="0"/>
          </a:p>
        </p:txBody>
      </p:sp>
      <p:sp>
        <p:nvSpPr>
          <p:cNvPr id="2" name="텍스트 개체 틀 6">
            <a:extLst>
              <a:ext uri="{FF2B5EF4-FFF2-40B4-BE49-F238E27FC236}">
                <a16:creationId xmlns:a16="http://schemas.microsoft.com/office/drawing/2014/main" id="{D518AD29-3465-0D84-0225-10A19262BB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1928" y="807445"/>
            <a:ext cx="9320194" cy="755025"/>
          </a:xfrm>
        </p:spPr>
        <p:txBody>
          <a:bodyPr/>
          <a:lstStyle/>
          <a:p>
            <a:r>
              <a:rPr lang="en-US" altLang="ko-KR" dirty="0"/>
              <a:t>NAS </a:t>
            </a:r>
            <a:r>
              <a:rPr lang="ko-KR" altLang="en-US" dirty="0"/>
              <a:t>쓰기는 주센터로 집중하고 </a:t>
            </a:r>
            <a:r>
              <a:rPr lang="en-US" altLang="ko-KR" dirty="0"/>
              <a:t>DR</a:t>
            </a:r>
            <a:r>
              <a:rPr lang="ko-KR" altLang="en-US" dirty="0"/>
              <a:t>센터는 조회 전용으로 운영하되</a:t>
            </a:r>
            <a:r>
              <a:rPr lang="en-US" altLang="ko-KR" dirty="0"/>
              <a:t>, </a:t>
            </a:r>
            <a:r>
              <a:rPr lang="ko-KR" altLang="en-US" dirty="0"/>
              <a:t>복제 시차로 </a:t>
            </a:r>
            <a:r>
              <a:rPr lang="en-US" altLang="ko-KR" dirty="0"/>
              <a:t>DR</a:t>
            </a:r>
            <a:r>
              <a:rPr lang="ko-KR" altLang="en-US" dirty="0"/>
              <a:t>센터에 파일이 없는 경우 주센터에서 실시간 조회하여 조회 실패가 발생하지 않도록 함</a:t>
            </a:r>
          </a:p>
        </p:txBody>
      </p:sp>
      <p:sp>
        <p:nvSpPr>
          <p:cNvPr id="94" name="모서리가 둥근 직사각형 12">
            <a:extLst>
              <a:ext uri="{FF2B5EF4-FFF2-40B4-BE49-F238E27FC236}">
                <a16:creationId xmlns:a16="http://schemas.microsoft.com/office/drawing/2014/main" id="{135EDA8D-AA95-ECEF-9B34-C3C61547A852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5" name="양쪽 모서리가 둥근 사각형 101">
            <a:extLst>
              <a:ext uri="{FF2B5EF4-FFF2-40B4-BE49-F238E27FC236}">
                <a16:creationId xmlns:a16="http://schemas.microsoft.com/office/drawing/2014/main" id="{7D7EB9CF-D7EA-BE10-EC56-FBAB341BF3AB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en-US" altLang="ko-KR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NAS </a:t>
            </a: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chemeClr val="bg1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쓰기 단일화 및 조회 연속성 확보 방안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chemeClr val="bg1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pic>
        <p:nvPicPr>
          <p:cNvPr id="96" name="그림 138" descr="그림1.png">
            <a:extLst>
              <a:ext uri="{FF2B5EF4-FFF2-40B4-BE49-F238E27FC236}">
                <a16:creationId xmlns:a16="http://schemas.microsoft.com/office/drawing/2014/main" id="{E9962E37-0B6F-0B5F-6F7F-1E7ECCC433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7" name="모서리가 둥근 직사각형 12">
            <a:extLst>
              <a:ext uri="{FF2B5EF4-FFF2-40B4-BE49-F238E27FC236}">
                <a16:creationId xmlns:a16="http://schemas.microsoft.com/office/drawing/2014/main" id="{01D0B64B-2502-542B-C62A-81D4D07D65A1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NAS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쓰기는 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주센터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집중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센터는 조회 전용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- 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주센터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→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단방향 복제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조회 시 로컬 미존재분은 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주센터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NAS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에서 실시간 조회 후 로컬 캐시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대체 조회 로직은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파일 조회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공통 모듈에 개발하여 전 업무 적용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대용량 파일은 스트리밍 전달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파일 크기별 전송 타임아웃 차등 적용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주센터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장애 시 원격 조회 불가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- 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미복제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구간은 보류 처리 후 복구 시 보정</a:t>
            </a:r>
          </a:p>
        </p:txBody>
      </p:sp>
      <p:sp>
        <p:nvSpPr>
          <p:cNvPr id="98" name="양쪽 모서리가 둥근 사각형 101">
            <a:extLst>
              <a:ext uri="{FF2B5EF4-FFF2-40B4-BE49-F238E27FC236}">
                <a16:creationId xmlns:a16="http://schemas.microsoft.com/office/drawing/2014/main" id="{B32FE93A-F71D-9F89-96A2-305BCD2117DE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구축방안</a:t>
            </a:r>
          </a:p>
        </p:txBody>
      </p:sp>
      <p:sp>
        <p:nvSpPr>
          <p:cNvPr id="11" name="AR_gslb">
            <a:extLst>
              <a:ext uri="{FF2B5EF4-FFF2-40B4-BE49-F238E27FC236}">
                <a16:creationId xmlns:a16="http://schemas.microsoft.com/office/drawing/2014/main" id="{F03C6824-FD54-B667-4945-D5B785B72534}"/>
              </a:ext>
            </a:extLst>
          </p:cNvPr>
          <p:cNvSpPr/>
          <p:nvPr/>
        </p:nvSpPr>
        <p:spPr>
          <a:xfrm>
            <a:off x="2324100" y="2096852"/>
            <a:ext cx="2540000" cy="228600"/>
          </a:xfrm>
          <a:prstGeom prst="roundRect">
            <a:avLst/>
          </a:prstGeom>
          <a:solidFill>
            <a:srgbClr val="1F3864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GSLB · </a:t>
            </a:r>
            <a:r>
              <a:rPr lang="ko-KR" altLang="en-US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도메인 </a:t>
            </a: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조회 센터 간 분산 </a:t>
            </a: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쓰기 주센터</a:t>
            </a: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6" name="AR_m_panel">
            <a:extLst>
              <a:ext uri="{FF2B5EF4-FFF2-40B4-BE49-F238E27FC236}">
                <a16:creationId xmlns:a16="http://schemas.microsoft.com/office/drawing/2014/main" id="{681EF7BD-F780-146F-92DC-14670084DF76}"/>
              </a:ext>
            </a:extLst>
          </p:cNvPr>
          <p:cNvSpPr/>
          <p:nvPr/>
        </p:nvSpPr>
        <p:spPr>
          <a:xfrm>
            <a:off x="368300" y="2477852"/>
            <a:ext cx="2921000" cy="2641600"/>
          </a:xfrm>
          <a:prstGeom prst="rect">
            <a:avLst/>
          </a:prstGeom>
          <a:solidFill>
            <a:srgbClr val="FAFAFA"/>
          </a:solidFill>
          <a:ln w="9525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8" name="AR_m_title">
            <a:extLst>
              <a:ext uri="{FF2B5EF4-FFF2-40B4-BE49-F238E27FC236}">
                <a16:creationId xmlns:a16="http://schemas.microsoft.com/office/drawing/2014/main" id="{C11F59A7-7AD4-D656-DA35-7B4A136C3639}"/>
              </a:ext>
            </a:extLst>
          </p:cNvPr>
          <p:cNvSpPr/>
          <p:nvPr/>
        </p:nvSpPr>
        <p:spPr>
          <a:xfrm>
            <a:off x="368300" y="2477852"/>
            <a:ext cx="2921000" cy="203200"/>
          </a:xfrm>
          <a:prstGeom prst="rect">
            <a:avLst/>
          </a:prstGeom>
          <a:solidFill>
            <a:srgbClr val="1F3864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주센터 </a:t>
            </a:r>
            <a:r>
              <a:rPr lang="en-US" altLang="ko-KR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(Active · </a:t>
            </a:r>
            <a:r>
              <a:rPr lang="ko-KR" altLang="en-US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조회 </a:t>
            </a:r>
            <a:r>
              <a:rPr lang="en-US" altLang="ko-KR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/ </a:t>
            </a:r>
            <a:r>
              <a:rPr lang="ko-KR" altLang="en-US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쓰기</a:t>
            </a:r>
            <a:r>
              <a:rPr lang="en-US" altLang="ko-KR" sz="85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5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9" name="AR_m_vip">
            <a:extLst>
              <a:ext uri="{FF2B5EF4-FFF2-40B4-BE49-F238E27FC236}">
                <a16:creationId xmlns:a16="http://schemas.microsoft.com/office/drawing/2014/main" id="{FE12ADDF-268A-EEA0-96DA-ED4F07DB7C4D}"/>
              </a:ext>
            </a:extLst>
          </p:cNvPr>
          <p:cNvSpPr/>
          <p:nvPr/>
        </p:nvSpPr>
        <p:spPr>
          <a:xfrm>
            <a:off x="444500" y="2744552"/>
            <a:ext cx="2768600" cy="177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VIP · L4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20" name="AR_m_web">
            <a:extLst>
              <a:ext uri="{FF2B5EF4-FFF2-40B4-BE49-F238E27FC236}">
                <a16:creationId xmlns:a16="http://schemas.microsoft.com/office/drawing/2014/main" id="{F3635BBA-0CDA-231A-A69C-C1DE4B607253}"/>
              </a:ext>
            </a:extLst>
          </p:cNvPr>
          <p:cNvSpPr/>
          <p:nvPr/>
        </p:nvSpPr>
        <p:spPr>
          <a:xfrm>
            <a:off x="444500" y="2973152"/>
            <a:ext cx="2768600" cy="177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WEB (Apache)</a:t>
            </a:r>
            <a:endParaRPr lang="ko-KR" altLang="en-US" sz="8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21" name="AR_m_wasl">
            <a:extLst>
              <a:ext uri="{FF2B5EF4-FFF2-40B4-BE49-F238E27FC236}">
                <a16:creationId xmlns:a16="http://schemas.microsoft.com/office/drawing/2014/main" id="{DAC146A2-0677-0545-4A83-C2EC6916D64C}"/>
              </a:ext>
            </a:extLst>
          </p:cNvPr>
          <p:cNvSpPr txBox="1"/>
          <p:nvPr/>
        </p:nvSpPr>
        <p:spPr>
          <a:xfrm>
            <a:off x="444500" y="3203696"/>
            <a:ext cx="2768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ko-KR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WAS (JBoss EAP) · </a:t>
            </a:r>
            <a:r>
              <a:rPr lang="ko-KR" altLang="en-US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업무 서비스</a:t>
            </a:r>
          </a:p>
        </p:txBody>
      </p:sp>
      <p:sp>
        <p:nvSpPr>
          <p:cNvPr id="22" name="AR_m_gA1">
            <a:extLst>
              <a:ext uri="{FF2B5EF4-FFF2-40B4-BE49-F238E27FC236}">
                <a16:creationId xmlns:a16="http://schemas.microsoft.com/office/drawing/2014/main" id="{E5767EEF-E8AF-C7AA-0F92-4FF554566B33}"/>
              </a:ext>
            </a:extLst>
          </p:cNvPr>
          <p:cNvSpPr/>
          <p:nvPr/>
        </p:nvSpPr>
        <p:spPr>
          <a:xfrm>
            <a:off x="444500" y="3354152"/>
            <a:ext cx="355600" cy="254000"/>
          </a:xfrm>
          <a:prstGeom prst="rect">
            <a:avLst/>
          </a:prstGeom>
          <a:solidFill>
            <a:srgbClr val="1F3864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A1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23" name="AR_m_sA10">
            <a:extLst>
              <a:ext uri="{FF2B5EF4-FFF2-40B4-BE49-F238E27FC236}">
                <a16:creationId xmlns:a16="http://schemas.microsoft.com/office/drawing/2014/main" id="{CE482BD4-BE48-805D-FE4E-E6E90F754536}"/>
              </a:ext>
            </a:extLst>
          </p:cNvPr>
          <p:cNvSpPr/>
          <p:nvPr/>
        </p:nvSpPr>
        <p:spPr>
          <a:xfrm>
            <a:off x="838200" y="3354152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대민서비스</a:t>
            </a:r>
          </a:p>
        </p:txBody>
      </p:sp>
      <p:sp>
        <p:nvSpPr>
          <p:cNvPr id="24" name="AR_m_sA11">
            <a:extLst>
              <a:ext uri="{FF2B5EF4-FFF2-40B4-BE49-F238E27FC236}">
                <a16:creationId xmlns:a16="http://schemas.microsoft.com/office/drawing/2014/main" id="{93435DA5-7852-8E50-DD01-95973145935D}"/>
              </a:ext>
            </a:extLst>
          </p:cNvPr>
          <p:cNvSpPr/>
          <p:nvPr/>
        </p:nvSpPr>
        <p:spPr>
          <a:xfrm>
            <a:off x="1441450" y="3354152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창구민원</a:t>
            </a:r>
          </a:p>
        </p:txBody>
      </p:sp>
      <p:sp>
        <p:nvSpPr>
          <p:cNvPr id="25" name="AR_m_sA12">
            <a:extLst>
              <a:ext uri="{FF2B5EF4-FFF2-40B4-BE49-F238E27FC236}">
                <a16:creationId xmlns:a16="http://schemas.microsoft.com/office/drawing/2014/main" id="{82B947CF-C486-472B-739C-ADC1A77272BC}"/>
              </a:ext>
            </a:extLst>
          </p:cNvPr>
          <p:cNvSpPr/>
          <p:nvPr/>
        </p:nvSpPr>
        <p:spPr>
          <a:xfrm>
            <a:off x="2044700" y="3354152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표준연계</a:t>
            </a:r>
          </a:p>
        </p:txBody>
      </p:sp>
      <p:sp>
        <p:nvSpPr>
          <p:cNvPr id="26" name="AR_m_sA13">
            <a:extLst>
              <a:ext uri="{FF2B5EF4-FFF2-40B4-BE49-F238E27FC236}">
                <a16:creationId xmlns:a16="http://schemas.microsoft.com/office/drawing/2014/main" id="{FB9D6AFC-F329-7930-2F94-4BD8605F0510}"/>
              </a:ext>
            </a:extLst>
          </p:cNvPr>
          <p:cNvSpPr/>
          <p:nvPr/>
        </p:nvSpPr>
        <p:spPr>
          <a:xfrm>
            <a:off x="2647950" y="3354152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지적행정</a:t>
            </a:r>
          </a:p>
        </p:txBody>
      </p:sp>
      <p:sp>
        <p:nvSpPr>
          <p:cNvPr id="27" name="AR_m_gA2">
            <a:extLst>
              <a:ext uri="{FF2B5EF4-FFF2-40B4-BE49-F238E27FC236}">
                <a16:creationId xmlns:a16="http://schemas.microsoft.com/office/drawing/2014/main" id="{911B52D0-DCB6-4B8E-0AFA-0BB489E8FE90}"/>
              </a:ext>
            </a:extLst>
          </p:cNvPr>
          <p:cNvSpPr/>
          <p:nvPr/>
        </p:nvSpPr>
        <p:spPr>
          <a:xfrm>
            <a:off x="444500" y="3658952"/>
            <a:ext cx="355600" cy="254000"/>
          </a:xfrm>
          <a:prstGeom prst="rect">
            <a:avLst/>
          </a:prstGeom>
          <a:solidFill>
            <a:srgbClr val="8C8C8C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A2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28" name="AR_m_sA20">
            <a:extLst>
              <a:ext uri="{FF2B5EF4-FFF2-40B4-BE49-F238E27FC236}">
                <a16:creationId xmlns:a16="http://schemas.microsoft.com/office/drawing/2014/main" id="{E701223C-C8E6-CB20-6708-9BBBB3764392}"/>
              </a:ext>
            </a:extLst>
          </p:cNvPr>
          <p:cNvSpPr/>
          <p:nvPr/>
        </p:nvSpPr>
        <p:spPr>
          <a:xfrm>
            <a:off x="838200" y="3658952"/>
            <a:ext cx="116840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지적공부관리지원플랫폼</a:t>
            </a:r>
          </a:p>
        </p:txBody>
      </p:sp>
      <p:sp>
        <p:nvSpPr>
          <p:cNvPr id="29" name="AR_m_sA21">
            <a:extLst>
              <a:ext uri="{FF2B5EF4-FFF2-40B4-BE49-F238E27FC236}">
                <a16:creationId xmlns:a16="http://schemas.microsoft.com/office/drawing/2014/main" id="{1C1350D1-6DFF-BB37-D49D-1E627C56DEFB}"/>
              </a:ext>
            </a:extLst>
          </p:cNvPr>
          <p:cNvSpPr/>
          <p:nvPr/>
        </p:nvSpPr>
        <p:spPr>
          <a:xfrm>
            <a:off x="2044700" y="3658952"/>
            <a:ext cx="116840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지적정책지원시스템</a:t>
            </a:r>
          </a:p>
        </p:txBody>
      </p:sp>
      <p:sp>
        <p:nvSpPr>
          <p:cNvPr id="30" name="AR_m_gA4">
            <a:extLst>
              <a:ext uri="{FF2B5EF4-FFF2-40B4-BE49-F238E27FC236}">
                <a16:creationId xmlns:a16="http://schemas.microsoft.com/office/drawing/2014/main" id="{FCFA48F0-9F60-75EB-3DB3-CEC94F1D390A}"/>
              </a:ext>
            </a:extLst>
          </p:cNvPr>
          <p:cNvSpPr/>
          <p:nvPr/>
        </p:nvSpPr>
        <p:spPr>
          <a:xfrm>
            <a:off x="444500" y="3963752"/>
            <a:ext cx="355600" cy="254000"/>
          </a:xfrm>
          <a:prstGeom prst="rect">
            <a:avLst/>
          </a:prstGeom>
          <a:solidFill>
            <a:srgbClr val="BFBFBF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A4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1" name="AR_m_sA40">
            <a:extLst>
              <a:ext uri="{FF2B5EF4-FFF2-40B4-BE49-F238E27FC236}">
                <a16:creationId xmlns:a16="http://schemas.microsoft.com/office/drawing/2014/main" id="{36E28A18-036D-1A76-F4B3-EDEAE4DDAC7F}"/>
              </a:ext>
            </a:extLst>
          </p:cNvPr>
          <p:cNvSpPr/>
          <p:nvPr/>
        </p:nvSpPr>
        <p:spPr>
          <a:xfrm>
            <a:off x="838200" y="3963752"/>
            <a:ext cx="237490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운영지원시스템</a:t>
            </a:r>
          </a:p>
        </p:txBody>
      </p:sp>
      <p:sp>
        <p:nvSpPr>
          <p:cNvPr id="35" name="AR_m_db">
            <a:extLst>
              <a:ext uri="{FF2B5EF4-FFF2-40B4-BE49-F238E27FC236}">
                <a16:creationId xmlns:a16="http://schemas.microsoft.com/office/drawing/2014/main" id="{DAD6AE98-FF82-F052-C64A-A5F2005A84DD}"/>
              </a:ext>
            </a:extLst>
          </p:cNvPr>
          <p:cNvSpPr/>
          <p:nvPr/>
        </p:nvSpPr>
        <p:spPr>
          <a:xfrm>
            <a:off x="419102" y="4424895"/>
            <a:ext cx="2668154" cy="592957"/>
          </a:xfrm>
          <a:prstGeom prst="can">
            <a:avLst/>
          </a:prstGeom>
          <a:solidFill>
            <a:srgbClr val="DEEBF7"/>
          </a:solidFill>
          <a:ln w="9525">
            <a:solidFill>
              <a:srgbClr val="2E7A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NAS</a:t>
            </a:r>
            <a:endParaRPr lang="ko-KR" altLang="en-US" sz="800" b="1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7" name="AR_d_panel">
            <a:extLst>
              <a:ext uri="{FF2B5EF4-FFF2-40B4-BE49-F238E27FC236}">
                <a16:creationId xmlns:a16="http://schemas.microsoft.com/office/drawing/2014/main" id="{DAF36737-8B55-D738-459E-48DD4F0D4D0E}"/>
              </a:ext>
            </a:extLst>
          </p:cNvPr>
          <p:cNvSpPr/>
          <p:nvPr/>
        </p:nvSpPr>
        <p:spPr>
          <a:xfrm>
            <a:off x="3898900" y="2477852"/>
            <a:ext cx="2921000" cy="2641600"/>
          </a:xfrm>
          <a:prstGeom prst="rect">
            <a:avLst/>
          </a:prstGeom>
          <a:solidFill>
            <a:srgbClr val="FAFAFA"/>
          </a:solidFill>
          <a:ln w="9525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8" name="AR_d_title">
            <a:extLst>
              <a:ext uri="{FF2B5EF4-FFF2-40B4-BE49-F238E27FC236}">
                <a16:creationId xmlns:a16="http://schemas.microsoft.com/office/drawing/2014/main" id="{1E7EBC65-B23B-A1A2-6D4D-958D2A3B0309}"/>
              </a:ext>
            </a:extLst>
          </p:cNvPr>
          <p:cNvSpPr/>
          <p:nvPr/>
        </p:nvSpPr>
        <p:spPr>
          <a:xfrm>
            <a:off x="3898900" y="2477852"/>
            <a:ext cx="2921000" cy="203200"/>
          </a:xfrm>
          <a:prstGeom prst="rect">
            <a:avLst/>
          </a:prstGeom>
          <a:solidFill>
            <a:srgbClr val="1F3864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5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85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</a:t>
            </a:r>
            <a:r>
              <a:rPr lang="en-US" altLang="ko-KR" sz="85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(Active · </a:t>
            </a:r>
            <a:r>
              <a:rPr lang="ko-KR" altLang="en-US" sz="85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조회 전용</a:t>
            </a:r>
            <a:r>
              <a:rPr lang="en-US" altLang="ko-KR" sz="85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50" b="1" dirty="0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9" name="AR_d_vip">
            <a:extLst>
              <a:ext uri="{FF2B5EF4-FFF2-40B4-BE49-F238E27FC236}">
                <a16:creationId xmlns:a16="http://schemas.microsoft.com/office/drawing/2014/main" id="{80DA8B8D-9412-1E44-C131-0F130E4886E6}"/>
              </a:ext>
            </a:extLst>
          </p:cNvPr>
          <p:cNvSpPr/>
          <p:nvPr/>
        </p:nvSpPr>
        <p:spPr>
          <a:xfrm>
            <a:off x="3975100" y="2744552"/>
            <a:ext cx="2768600" cy="177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VIP · L4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40" name="AR_d_web">
            <a:extLst>
              <a:ext uri="{FF2B5EF4-FFF2-40B4-BE49-F238E27FC236}">
                <a16:creationId xmlns:a16="http://schemas.microsoft.com/office/drawing/2014/main" id="{ECD6FFA8-4375-101C-0D48-313BD6F5F0F9}"/>
              </a:ext>
            </a:extLst>
          </p:cNvPr>
          <p:cNvSpPr/>
          <p:nvPr/>
        </p:nvSpPr>
        <p:spPr>
          <a:xfrm>
            <a:off x="3975100" y="2973152"/>
            <a:ext cx="2768600" cy="1778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WEB (Apache)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41" name="AR_d_wasl">
            <a:extLst>
              <a:ext uri="{FF2B5EF4-FFF2-40B4-BE49-F238E27FC236}">
                <a16:creationId xmlns:a16="http://schemas.microsoft.com/office/drawing/2014/main" id="{F880A066-E2C6-8CF4-D558-67A28433A85C}"/>
              </a:ext>
            </a:extLst>
          </p:cNvPr>
          <p:cNvSpPr txBox="1"/>
          <p:nvPr/>
        </p:nvSpPr>
        <p:spPr>
          <a:xfrm>
            <a:off x="3975100" y="3203696"/>
            <a:ext cx="27686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altLang="ko-KR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WAS (JBoss EAP) · </a:t>
            </a:r>
            <a:r>
              <a:rPr lang="ko-KR" altLang="en-US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업무 서비스</a:t>
            </a:r>
          </a:p>
        </p:txBody>
      </p:sp>
      <p:sp>
        <p:nvSpPr>
          <p:cNvPr id="42" name="AR_d_gA1">
            <a:extLst>
              <a:ext uri="{FF2B5EF4-FFF2-40B4-BE49-F238E27FC236}">
                <a16:creationId xmlns:a16="http://schemas.microsoft.com/office/drawing/2014/main" id="{4F59CABF-F553-BDAF-D051-D8A8147623B6}"/>
              </a:ext>
            </a:extLst>
          </p:cNvPr>
          <p:cNvSpPr/>
          <p:nvPr/>
        </p:nvSpPr>
        <p:spPr>
          <a:xfrm>
            <a:off x="3975100" y="3354152"/>
            <a:ext cx="355600" cy="254000"/>
          </a:xfrm>
          <a:prstGeom prst="rect">
            <a:avLst/>
          </a:prstGeom>
          <a:solidFill>
            <a:srgbClr val="1F3864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A1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43" name="AR_d_sA10">
            <a:extLst>
              <a:ext uri="{FF2B5EF4-FFF2-40B4-BE49-F238E27FC236}">
                <a16:creationId xmlns:a16="http://schemas.microsoft.com/office/drawing/2014/main" id="{BF639B2F-6459-A6F4-596F-259BA4490F9B}"/>
              </a:ext>
            </a:extLst>
          </p:cNvPr>
          <p:cNvSpPr/>
          <p:nvPr/>
        </p:nvSpPr>
        <p:spPr>
          <a:xfrm>
            <a:off x="4368800" y="3354152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대민서비스</a:t>
            </a:r>
          </a:p>
        </p:txBody>
      </p:sp>
      <p:sp>
        <p:nvSpPr>
          <p:cNvPr id="44" name="AR_d_sA11">
            <a:extLst>
              <a:ext uri="{FF2B5EF4-FFF2-40B4-BE49-F238E27FC236}">
                <a16:creationId xmlns:a16="http://schemas.microsoft.com/office/drawing/2014/main" id="{AD984CBA-BC37-A306-D94A-B0840394AD19}"/>
              </a:ext>
            </a:extLst>
          </p:cNvPr>
          <p:cNvSpPr/>
          <p:nvPr/>
        </p:nvSpPr>
        <p:spPr>
          <a:xfrm>
            <a:off x="4972050" y="3354152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창구민원</a:t>
            </a:r>
          </a:p>
        </p:txBody>
      </p:sp>
      <p:sp>
        <p:nvSpPr>
          <p:cNvPr id="45" name="AR_d_sA12">
            <a:extLst>
              <a:ext uri="{FF2B5EF4-FFF2-40B4-BE49-F238E27FC236}">
                <a16:creationId xmlns:a16="http://schemas.microsoft.com/office/drawing/2014/main" id="{8DEDBB88-E305-1A11-30AD-840E5707A65E}"/>
              </a:ext>
            </a:extLst>
          </p:cNvPr>
          <p:cNvSpPr/>
          <p:nvPr/>
        </p:nvSpPr>
        <p:spPr>
          <a:xfrm>
            <a:off x="5575300" y="3354152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표준연계</a:t>
            </a:r>
          </a:p>
        </p:txBody>
      </p:sp>
      <p:sp>
        <p:nvSpPr>
          <p:cNvPr id="46" name="AR_d_sA13">
            <a:extLst>
              <a:ext uri="{FF2B5EF4-FFF2-40B4-BE49-F238E27FC236}">
                <a16:creationId xmlns:a16="http://schemas.microsoft.com/office/drawing/2014/main" id="{A763C763-2D0A-921C-F648-585D0248D594}"/>
              </a:ext>
            </a:extLst>
          </p:cNvPr>
          <p:cNvSpPr/>
          <p:nvPr/>
        </p:nvSpPr>
        <p:spPr>
          <a:xfrm>
            <a:off x="6178550" y="3354152"/>
            <a:ext cx="56515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지적행정</a:t>
            </a:r>
          </a:p>
        </p:txBody>
      </p:sp>
      <p:sp>
        <p:nvSpPr>
          <p:cNvPr id="47" name="AR_d_gA2">
            <a:extLst>
              <a:ext uri="{FF2B5EF4-FFF2-40B4-BE49-F238E27FC236}">
                <a16:creationId xmlns:a16="http://schemas.microsoft.com/office/drawing/2014/main" id="{3DCEE34A-1397-B432-0098-8B7BFC34CDA4}"/>
              </a:ext>
            </a:extLst>
          </p:cNvPr>
          <p:cNvSpPr/>
          <p:nvPr/>
        </p:nvSpPr>
        <p:spPr>
          <a:xfrm>
            <a:off x="3975100" y="3658952"/>
            <a:ext cx="355600" cy="254000"/>
          </a:xfrm>
          <a:prstGeom prst="rect">
            <a:avLst/>
          </a:prstGeom>
          <a:solidFill>
            <a:srgbClr val="8C8C8C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A2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48" name="AR_d_sA20">
            <a:extLst>
              <a:ext uri="{FF2B5EF4-FFF2-40B4-BE49-F238E27FC236}">
                <a16:creationId xmlns:a16="http://schemas.microsoft.com/office/drawing/2014/main" id="{1C0EBACD-BBAE-1366-F9AE-59E770C690DD}"/>
              </a:ext>
            </a:extLst>
          </p:cNvPr>
          <p:cNvSpPr/>
          <p:nvPr/>
        </p:nvSpPr>
        <p:spPr>
          <a:xfrm>
            <a:off x="4368800" y="3658952"/>
            <a:ext cx="116840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지적공부관리지원플랫폼</a:t>
            </a:r>
          </a:p>
        </p:txBody>
      </p:sp>
      <p:sp>
        <p:nvSpPr>
          <p:cNvPr id="49" name="AR_d_sA21">
            <a:extLst>
              <a:ext uri="{FF2B5EF4-FFF2-40B4-BE49-F238E27FC236}">
                <a16:creationId xmlns:a16="http://schemas.microsoft.com/office/drawing/2014/main" id="{702BCA2D-B111-4F0B-C9C7-E5E79BD6310A}"/>
              </a:ext>
            </a:extLst>
          </p:cNvPr>
          <p:cNvSpPr/>
          <p:nvPr/>
        </p:nvSpPr>
        <p:spPr>
          <a:xfrm>
            <a:off x="5575300" y="3658952"/>
            <a:ext cx="116840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지적정책지원시스템</a:t>
            </a:r>
          </a:p>
        </p:txBody>
      </p:sp>
      <p:sp>
        <p:nvSpPr>
          <p:cNvPr id="50" name="AR_d_gA4">
            <a:extLst>
              <a:ext uri="{FF2B5EF4-FFF2-40B4-BE49-F238E27FC236}">
                <a16:creationId xmlns:a16="http://schemas.microsoft.com/office/drawing/2014/main" id="{9869CC80-3E88-56BE-9E7E-8AC5351043DF}"/>
              </a:ext>
            </a:extLst>
          </p:cNvPr>
          <p:cNvSpPr/>
          <p:nvPr/>
        </p:nvSpPr>
        <p:spPr>
          <a:xfrm>
            <a:off x="3975100" y="3963752"/>
            <a:ext cx="355600" cy="254000"/>
          </a:xfrm>
          <a:prstGeom prst="rect">
            <a:avLst/>
          </a:prstGeom>
          <a:solidFill>
            <a:srgbClr val="BFBFBF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A4</a:t>
            </a:r>
            <a:endParaRPr lang="ko-KR" altLang="en-US" sz="800" b="1">
              <a:solidFill>
                <a:srgbClr val="FFFFFF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51" name="AR_d_sA40">
            <a:extLst>
              <a:ext uri="{FF2B5EF4-FFF2-40B4-BE49-F238E27FC236}">
                <a16:creationId xmlns:a16="http://schemas.microsoft.com/office/drawing/2014/main" id="{EA624FBA-9AE2-C6E4-CC79-8F0D81DF7741}"/>
              </a:ext>
            </a:extLst>
          </p:cNvPr>
          <p:cNvSpPr/>
          <p:nvPr/>
        </p:nvSpPr>
        <p:spPr>
          <a:xfrm>
            <a:off x="4368800" y="3963752"/>
            <a:ext cx="2374900" cy="254000"/>
          </a:xfrm>
          <a:prstGeom prst="rect">
            <a:avLst/>
          </a:prstGeom>
          <a:solidFill>
            <a:srgbClr val="DEEBF7"/>
          </a:solidFill>
          <a:ln w="9525">
            <a:solidFill>
              <a:srgbClr val="BFBFBF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운영지원시스템</a:t>
            </a:r>
          </a:p>
        </p:txBody>
      </p:sp>
      <p:sp>
        <p:nvSpPr>
          <p:cNvPr id="55" name="AR_d_db">
            <a:extLst>
              <a:ext uri="{FF2B5EF4-FFF2-40B4-BE49-F238E27FC236}">
                <a16:creationId xmlns:a16="http://schemas.microsoft.com/office/drawing/2014/main" id="{AB2A14AB-3B09-CF85-562F-8FC320FF1698}"/>
              </a:ext>
            </a:extLst>
          </p:cNvPr>
          <p:cNvSpPr/>
          <p:nvPr/>
        </p:nvSpPr>
        <p:spPr>
          <a:xfrm>
            <a:off x="3989944" y="4424895"/>
            <a:ext cx="2753753" cy="592957"/>
          </a:xfrm>
          <a:prstGeom prst="can">
            <a:avLst/>
          </a:prstGeom>
          <a:solidFill>
            <a:srgbClr val="DEEBF7"/>
          </a:solidFill>
          <a:ln w="9525">
            <a:solidFill>
              <a:srgbClr val="2E7A9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en-US" altLang="ko-KR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NAS</a:t>
            </a:r>
            <a:endParaRPr lang="ko-KR" altLang="en-US" sz="800" b="1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cxnSp>
        <p:nvCxnSpPr>
          <p:cNvPr id="57" name="AR_g2m">
            <a:extLst>
              <a:ext uri="{FF2B5EF4-FFF2-40B4-BE49-F238E27FC236}">
                <a16:creationId xmlns:a16="http://schemas.microsoft.com/office/drawing/2014/main" id="{CAA8CA6C-5775-32F4-3101-B39FAD8D6CFB}"/>
              </a:ext>
            </a:extLst>
          </p:cNvPr>
          <p:cNvCxnSpPr/>
          <p:nvPr/>
        </p:nvCxnSpPr>
        <p:spPr>
          <a:xfrm flipH="1">
            <a:off x="1828800" y="2325452"/>
            <a:ext cx="1003300" cy="152400"/>
          </a:xfrm>
          <a:prstGeom prst="straightConnector1">
            <a:avLst/>
          </a:prstGeom>
          <a:ln w="34925">
            <a:solidFill>
              <a:srgbClr val="0367B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AR_g2d">
            <a:extLst>
              <a:ext uri="{FF2B5EF4-FFF2-40B4-BE49-F238E27FC236}">
                <a16:creationId xmlns:a16="http://schemas.microsoft.com/office/drawing/2014/main" id="{ACF80516-1D4D-F977-C467-81AA2981BCE1}"/>
              </a:ext>
            </a:extLst>
          </p:cNvPr>
          <p:cNvCxnSpPr/>
          <p:nvPr/>
        </p:nvCxnSpPr>
        <p:spPr>
          <a:xfrm>
            <a:off x="4356100" y="2325452"/>
            <a:ext cx="1003300" cy="152400"/>
          </a:xfrm>
          <a:prstGeom prst="straightConnector1">
            <a:avLst/>
          </a:prstGeom>
          <a:ln w="34925">
            <a:solidFill>
              <a:srgbClr val="FF800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AR_rd">
            <a:extLst>
              <a:ext uri="{FF2B5EF4-FFF2-40B4-BE49-F238E27FC236}">
                <a16:creationId xmlns:a16="http://schemas.microsoft.com/office/drawing/2014/main" id="{E328C48C-FA79-E70D-ACFD-4018FDDB227D}"/>
              </a:ext>
            </a:extLst>
          </p:cNvPr>
          <p:cNvCxnSpPr/>
          <p:nvPr/>
        </p:nvCxnSpPr>
        <p:spPr>
          <a:xfrm>
            <a:off x="3089845" y="4833156"/>
            <a:ext cx="892516" cy="0"/>
          </a:xfrm>
          <a:prstGeom prst="straightConnector1">
            <a:avLst/>
          </a:prstGeom>
          <a:ln w="34925">
            <a:solidFill>
              <a:srgbClr val="0367B0"/>
            </a:solidFill>
            <a:prstDash val="solid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AR_rdl">
            <a:extLst>
              <a:ext uri="{FF2B5EF4-FFF2-40B4-BE49-F238E27FC236}">
                <a16:creationId xmlns:a16="http://schemas.microsoft.com/office/drawing/2014/main" id="{C44C3AEC-A65C-527D-BD50-4BC5B17A7FC4}"/>
              </a:ext>
            </a:extLst>
          </p:cNvPr>
          <p:cNvSpPr txBox="1"/>
          <p:nvPr/>
        </p:nvSpPr>
        <p:spPr>
          <a:xfrm>
            <a:off x="3365674" y="4905164"/>
            <a:ext cx="456856" cy="12311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altLang="ko-KR" sz="800" b="1" dirty="0">
                <a:latin typeface="나눔고딕" panose="020D0804000000000000" pitchFamily="50" charset="-127"/>
                <a:ea typeface="나눔고딕" panose="020D0804000000000000" pitchFamily="50" charset="-127"/>
              </a:rPr>
              <a:t>NAS</a:t>
            </a:r>
            <a:r>
              <a:rPr lang="ko-KR" altLang="en-US" sz="800" b="1" dirty="0">
                <a:latin typeface="나눔고딕" panose="020D0804000000000000" pitchFamily="50" charset="-127"/>
                <a:ea typeface="나눔고딕" panose="020D0804000000000000" pitchFamily="50" charset="-127"/>
              </a:rPr>
              <a:t> 복제</a:t>
            </a:r>
            <a:r>
              <a:rPr lang="ko-KR" altLang="en-US" sz="800" b="1" dirty="0">
                <a:solidFill>
                  <a:srgbClr val="0367B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endParaRPr lang="en-US" altLang="ko-KR" sz="800" b="1" dirty="0">
              <a:solidFill>
                <a:srgbClr val="0367B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3" name="AR_g2ml">
            <a:extLst>
              <a:ext uri="{FF2B5EF4-FFF2-40B4-BE49-F238E27FC236}">
                <a16:creationId xmlns:a16="http://schemas.microsoft.com/office/drawing/2014/main" id="{CBAA011A-321B-EA51-3DD7-04C6E3311B79}"/>
              </a:ext>
            </a:extLst>
          </p:cNvPr>
          <p:cNvSpPr txBox="1"/>
          <p:nvPr/>
        </p:nvSpPr>
        <p:spPr>
          <a:xfrm>
            <a:off x="1016000" y="2301996"/>
            <a:ext cx="7874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ko-KR" altLang="en-US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조회 </a:t>
            </a:r>
            <a:r>
              <a:rPr lang="en-US" altLang="ko-KR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+ </a:t>
            </a:r>
            <a:r>
              <a:rPr lang="ko-KR" altLang="en-US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쓰기</a:t>
            </a:r>
          </a:p>
        </p:txBody>
      </p:sp>
      <p:sp>
        <p:nvSpPr>
          <p:cNvPr id="4" name="AR_g2dl">
            <a:extLst>
              <a:ext uri="{FF2B5EF4-FFF2-40B4-BE49-F238E27FC236}">
                <a16:creationId xmlns:a16="http://schemas.microsoft.com/office/drawing/2014/main" id="{41D12723-1403-228B-4725-74A40F214AB2}"/>
              </a:ext>
            </a:extLst>
          </p:cNvPr>
          <p:cNvSpPr txBox="1"/>
          <p:nvPr/>
        </p:nvSpPr>
        <p:spPr>
          <a:xfrm>
            <a:off x="5384800" y="2301996"/>
            <a:ext cx="762000" cy="12311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ko-KR" altLang="en-US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조회만</a:t>
            </a:r>
          </a:p>
        </p:txBody>
      </p:sp>
      <p:cxnSp>
        <p:nvCxnSpPr>
          <p:cNvPr id="66" name="AR_flow_m">
            <a:extLst>
              <a:ext uri="{FF2B5EF4-FFF2-40B4-BE49-F238E27FC236}">
                <a16:creationId xmlns:a16="http://schemas.microsoft.com/office/drawing/2014/main" id="{A5E3E12F-3161-5FBE-422F-B467426650A1}"/>
              </a:ext>
            </a:extLst>
          </p:cNvPr>
          <p:cNvCxnSpPr>
            <a:cxnSpLocks/>
          </p:cNvCxnSpPr>
          <p:nvPr/>
        </p:nvCxnSpPr>
        <p:spPr>
          <a:xfrm>
            <a:off x="406400" y="2744924"/>
            <a:ext cx="0" cy="1738436"/>
          </a:xfrm>
          <a:prstGeom prst="straightConnector1">
            <a:avLst/>
          </a:prstGeom>
          <a:ln w="38100">
            <a:solidFill>
              <a:srgbClr val="0367B0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AR_flow_m_vip">
            <a:extLst>
              <a:ext uri="{FF2B5EF4-FFF2-40B4-BE49-F238E27FC236}">
                <a16:creationId xmlns:a16="http://schemas.microsoft.com/office/drawing/2014/main" id="{B5E46345-37F4-2F9E-700C-CDFE5ABB0CA3}"/>
              </a:ext>
            </a:extLst>
          </p:cNvPr>
          <p:cNvCxnSpPr/>
          <p:nvPr/>
        </p:nvCxnSpPr>
        <p:spPr>
          <a:xfrm>
            <a:off x="1828800" y="2922352"/>
            <a:ext cx="0" cy="50800"/>
          </a:xfrm>
          <a:prstGeom prst="straightConnector1">
            <a:avLst/>
          </a:prstGeom>
          <a:ln w="28575">
            <a:solidFill>
              <a:srgbClr val="0367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AR_flow_m_web">
            <a:extLst>
              <a:ext uri="{FF2B5EF4-FFF2-40B4-BE49-F238E27FC236}">
                <a16:creationId xmlns:a16="http://schemas.microsoft.com/office/drawing/2014/main" id="{078DE816-D40C-1584-B0A3-517FA7428E2D}"/>
              </a:ext>
            </a:extLst>
          </p:cNvPr>
          <p:cNvCxnSpPr/>
          <p:nvPr/>
        </p:nvCxnSpPr>
        <p:spPr>
          <a:xfrm>
            <a:off x="1828800" y="3150952"/>
            <a:ext cx="0" cy="50800"/>
          </a:xfrm>
          <a:prstGeom prst="straightConnector1">
            <a:avLst/>
          </a:prstGeom>
          <a:ln w="28575">
            <a:solidFill>
              <a:srgbClr val="0367B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AR_flow_d_vip">
            <a:extLst>
              <a:ext uri="{FF2B5EF4-FFF2-40B4-BE49-F238E27FC236}">
                <a16:creationId xmlns:a16="http://schemas.microsoft.com/office/drawing/2014/main" id="{F46D8CD0-A54C-E7B0-BBEC-80F6E72D9E03}"/>
              </a:ext>
            </a:extLst>
          </p:cNvPr>
          <p:cNvCxnSpPr/>
          <p:nvPr/>
        </p:nvCxnSpPr>
        <p:spPr>
          <a:xfrm>
            <a:off x="5359400" y="2922352"/>
            <a:ext cx="0" cy="50800"/>
          </a:xfrm>
          <a:prstGeom prst="straightConnector1">
            <a:avLst/>
          </a:prstGeom>
          <a:ln w="28575">
            <a:solidFill>
              <a:srgbClr val="FF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AR_flow_d_web">
            <a:extLst>
              <a:ext uri="{FF2B5EF4-FFF2-40B4-BE49-F238E27FC236}">
                <a16:creationId xmlns:a16="http://schemas.microsoft.com/office/drawing/2014/main" id="{7D5E7F6B-1BA1-B051-1D77-D0D2E44F66F2}"/>
              </a:ext>
            </a:extLst>
          </p:cNvPr>
          <p:cNvCxnSpPr/>
          <p:nvPr/>
        </p:nvCxnSpPr>
        <p:spPr>
          <a:xfrm>
            <a:off x="5359400" y="3150952"/>
            <a:ext cx="0" cy="50800"/>
          </a:xfrm>
          <a:prstGeom prst="straightConnector1">
            <a:avLst/>
          </a:prstGeom>
          <a:ln w="28575">
            <a:solidFill>
              <a:srgbClr val="FF8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AR_wpath">
            <a:extLst>
              <a:ext uri="{FF2B5EF4-FFF2-40B4-BE49-F238E27FC236}">
                <a16:creationId xmlns:a16="http://schemas.microsoft.com/office/drawing/2014/main" id="{AC1031BA-096B-72A9-1B32-DECEF5FC8443}"/>
              </a:ext>
            </a:extLst>
          </p:cNvPr>
          <p:cNvSpPr/>
          <p:nvPr/>
        </p:nvSpPr>
        <p:spPr>
          <a:xfrm>
            <a:off x="3125354" y="2811922"/>
            <a:ext cx="811647" cy="1865499"/>
          </a:xfrm>
          <a:custGeom>
            <a:avLst/>
            <a:gdLst/>
            <a:ahLst/>
            <a:cxnLst/>
            <a:rect l="0" t="0" r="0" b="0"/>
            <a:pathLst>
              <a:path w="723901" h="762001">
                <a:moveTo>
                  <a:pt x="723900" y="0"/>
                </a:moveTo>
                <a:lnTo>
                  <a:pt x="723900" y="762000"/>
                </a:lnTo>
                <a:lnTo>
                  <a:pt x="0" y="762000"/>
                </a:lnTo>
              </a:path>
            </a:pathLst>
          </a:custGeom>
          <a:ln w="34925">
            <a:solidFill>
              <a:srgbClr val="C00000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5" name="NAS_fb">
            <a:extLst>
              <a:ext uri="{FF2B5EF4-FFF2-40B4-BE49-F238E27FC236}">
                <a16:creationId xmlns:a16="http://schemas.microsoft.com/office/drawing/2014/main" id="{05ADBC58-169E-C8FD-4D0B-3AB57340ABC9}"/>
              </a:ext>
            </a:extLst>
          </p:cNvPr>
          <p:cNvSpPr txBox="1"/>
          <p:nvPr/>
        </p:nvSpPr>
        <p:spPr>
          <a:xfrm>
            <a:off x="3149600" y="4330700"/>
            <a:ext cx="8636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ko-KR" altLang="en-US" sz="750" b="1">
                <a:solidFill>
                  <a:srgbClr val="C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미존재 시</a:t>
            </a:r>
          </a:p>
          <a:p>
            <a:pPr algn="ctr"/>
            <a:r>
              <a:rPr lang="ko-KR" altLang="en-US" sz="750" b="1">
                <a:solidFill>
                  <a:srgbClr val="C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주센터 조회</a:t>
            </a:r>
          </a:p>
        </p:txBody>
      </p:sp>
      <p:cxnSp>
        <p:nvCxnSpPr>
          <p:cNvPr id="80" name="AR_flow_d">
            <a:extLst>
              <a:ext uri="{FF2B5EF4-FFF2-40B4-BE49-F238E27FC236}">
                <a16:creationId xmlns:a16="http://schemas.microsoft.com/office/drawing/2014/main" id="{3E6708DC-C763-EB68-1C3E-7EC32630214E}"/>
              </a:ext>
            </a:extLst>
          </p:cNvPr>
          <p:cNvCxnSpPr>
            <a:cxnSpLocks/>
          </p:cNvCxnSpPr>
          <p:nvPr/>
        </p:nvCxnSpPr>
        <p:spPr>
          <a:xfrm>
            <a:off x="3937000" y="2765597"/>
            <a:ext cx="0" cy="1635511"/>
          </a:xfrm>
          <a:prstGeom prst="straightConnector1">
            <a:avLst/>
          </a:prstGeom>
          <a:ln w="38100">
            <a:solidFill>
              <a:srgbClr val="FF8000"/>
            </a:solidFill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FB_b1">
            <a:extLst>
              <a:ext uri="{FF2B5EF4-FFF2-40B4-BE49-F238E27FC236}">
                <a16:creationId xmlns:a16="http://schemas.microsoft.com/office/drawing/2014/main" id="{B1CB7F95-7855-D7F5-CDD9-E3EF2054C999}"/>
              </a:ext>
            </a:extLst>
          </p:cNvPr>
          <p:cNvSpPr/>
          <p:nvPr/>
        </p:nvSpPr>
        <p:spPr>
          <a:xfrm>
            <a:off x="368300" y="5572720"/>
            <a:ext cx="1422400" cy="736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① DR</a:t>
            </a:r>
            <a:r>
              <a:rPr lang="ko-KR" altLang="en-US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</a:t>
            </a: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NAS </a:t>
            </a:r>
            <a:r>
              <a:rPr lang="ko-KR" altLang="en-US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조회</a:t>
            </a:r>
          </a:p>
        </p:txBody>
      </p:sp>
      <p:sp>
        <p:nvSpPr>
          <p:cNvPr id="92" name="FB_lblY">
            <a:extLst>
              <a:ext uri="{FF2B5EF4-FFF2-40B4-BE49-F238E27FC236}">
                <a16:creationId xmlns:a16="http://schemas.microsoft.com/office/drawing/2014/main" id="{EE98B8EA-0B69-CEBB-BFFC-6374DEBAC82E}"/>
              </a:ext>
            </a:extLst>
          </p:cNvPr>
          <p:cNvSpPr txBox="1"/>
          <p:nvPr/>
        </p:nvSpPr>
        <p:spPr>
          <a:xfrm>
            <a:off x="1816099" y="5598120"/>
            <a:ext cx="406400" cy="1270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algn="ctr"/>
            <a:r>
              <a:rPr lang="ko-KR" altLang="en-US" sz="700" b="1">
                <a:solidFill>
                  <a:srgbClr val="4851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존재</a:t>
            </a:r>
          </a:p>
        </p:txBody>
      </p:sp>
      <p:sp>
        <p:nvSpPr>
          <p:cNvPr id="93" name="FB_arY">
            <a:extLst>
              <a:ext uri="{FF2B5EF4-FFF2-40B4-BE49-F238E27FC236}">
                <a16:creationId xmlns:a16="http://schemas.microsoft.com/office/drawing/2014/main" id="{7E3869F8-AA6E-3424-9A67-4A8677DC37DD}"/>
              </a:ext>
            </a:extLst>
          </p:cNvPr>
          <p:cNvSpPr txBox="1"/>
          <p:nvPr/>
        </p:nvSpPr>
        <p:spPr>
          <a:xfrm>
            <a:off x="1816099" y="5725120"/>
            <a:ext cx="406400" cy="1397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algn="ctr"/>
            <a:r>
              <a:rPr lang="ko-KR" altLang="en-US" sz="900" b="1">
                <a:solidFill>
                  <a:srgbClr val="4851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→</a:t>
            </a:r>
          </a:p>
        </p:txBody>
      </p:sp>
      <p:sp>
        <p:nvSpPr>
          <p:cNvPr id="99" name="FB_lblN">
            <a:extLst>
              <a:ext uri="{FF2B5EF4-FFF2-40B4-BE49-F238E27FC236}">
                <a16:creationId xmlns:a16="http://schemas.microsoft.com/office/drawing/2014/main" id="{091E0E9D-3E4D-72A2-60E0-B5821E16C17F}"/>
              </a:ext>
            </a:extLst>
          </p:cNvPr>
          <p:cNvSpPr txBox="1"/>
          <p:nvPr/>
        </p:nvSpPr>
        <p:spPr>
          <a:xfrm>
            <a:off x="1816099" y="6004520"/>
            <a:ext cx="406400" cy="1270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algn="ctr"/>
            <a:r>
              <a:rPr lang="ko-KR" altLang="en-US" sz="700" b="1" dirty="0" err="1">
                <a:latin typeface="나눔고딕" panose="020D0804000000000000" pitchFamily="50" charset="-127"/>
                <a:ea typeface="나눔고딕" panose="020D0804000000000000" pitchFamily="50" charset="-127"/>
              </a:rPr>
              <a:t>미존재</a:t>
            </a:r>
            <a:endParaRPr lang="ko-KR" altLang="en-US" sz="700" b="1" dirty="0"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00" name="FB_arN">
            <a:extLst>
              <a:ext uri="{FF2B5EF4-FFF2-40B4-BE49-F238E27FC236}">
                <a16:creationId xmlns:a16="http://schemas.microsoft.com/office/drawing/2014/main" id="{9ABD06EE-73D6-027B-0FBA-349A6C7C446E}"/>
              </a:ext>
            </a:extLst>
          </p:cNvPr>
          <p:cNvSpPr txBox="1"/>
          <p:nvPr/>
        </p:nvSpPr>
        <p:spPr>
          <a:xfrm>
            <a:off x="1816099" y="6131520"/>
            <a:ext cx="406400" cy="1397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algn="ctr"/>
            <a:r>
              <a:rPr lang="ko-KR" altLang="en-US" sz="900" b="1">
                <a:solidFill>
                  <a:srgbClr val="C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→</a:t>
            </a:r>
          </a:p>
        </p:txBody>
      </p:sp>
      <p:sp>
        <p:nvSpPr>
          <p:cNvPr id="101" name="FB_bY">
            <a:extLst>
              <a:ext uri="{FF2B5EF4-FFF2-40B4-BE49-F238E27FC236}">
                <a16:creationId xmlns:a16="http://schemas.microsoft.com/office/drawing/2014/main" id="{FBFDD634-57CA-1266-BE58-5401C048DD3C}"/>
              </a:ext>
            </a:extLst>
          </p:cNvPr>
          <p:cNvSpPr/>
          <p:nvPr/>
        </p:nvSpPr>
        <p:spPr>
          <a:xfrm>
            <a:off x="2247900" y="5572720"/>
            <a:ext cx="1651000" cy="304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즉시 응답 </a:t>
            </a: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종료</a:t>
            </a: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0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02" name="FB_b2">
            <a:extLst>
              <a:ext uri="{FF2B5EF4-FFF2-40B4-BE49-F238E27FC236}">
                <a16:creationId xmlns:a16="http://schemas.microsoft.com/office/drawing/2014/main" id="{F7C5D4D9-1C0E-0B4E-8D43-7EAF58D57BD3}"/>
              </a:ext>
            </a:extLst>
          </p:cNvPr>
          <p:cNvSpPr/>
          <p:nvPr/>
        </p:nvSpPr>
        <p:spPr>
          <a:xfrm>
            <a:off x="2247900" y="5953720"/>
            <a:ext cx="1651000" cy="355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ko-KR" altLang="en-US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② </a:t>
            </a:r>
            <a:r>
              <a:rPr lang="ko-KR" altLang="en-US" sz="800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주센터</a:t>
            </a:r>
            <a:r>
              <a:rPr lang="ko-KR" altLang="en-US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NAS </a:t>
            </a:r>
            <a:r>
              <a:rPr lang="ko-KR" altLang="en-US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실시간 조회 </a:t>
            </a:r>
          </a:p>
        </p:txBody>
      </p:sp>
      <p:sp>
        <p:nvSpPr>
          <p:cNvPr id="103" name="FB_ar2">
            <a:extLst>
              <a:ext uri="{FF2B5EF4-FFF2-40B4-BE49-F238E27FC236}">
                <a16:creationId xmlns:a16="http://schemas.microsoft.com/office/drawing/2014/main" id="{7E42D80B-F6B8-4EE0-948C-FCE5E4B6BDB9}"/>
              </a:ext>
            </a:extLst>
          </p:cNvPr>
          <p:cNvSpPr txBox="1"/>
          <p:nvPr/>
        </p:nvSpPr>
        <p:spPr>
          <a:xfrm>
            <a:off x="3924299" y="6055320"/>
            <a:ext cx="177800" cy="1397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algn="ctr"/>
            <a:r>
              <a:rPr lang="ko-KR" altLang="en-US" sz="900" b="1">
                <a:solidFill>
                  <a:srgbClr val="4851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→</a:t>
            </a:r>
          </a:p>
        </p:txBody>
      </p:sp>
      <p:sp>
        <p:nvSpPr>
          <p:cNvPr id="104" name="FB_b3">
            <a:extLst>
              <a:ext uri="{FF2B5EF4-FFF2-40B4-BE49-F238E27FC236}">
                <a16:creationId xmlns:a16="http://schemas.microsoft.com/office/drawing/2014/main" id="{C6B9CFC9-1E59-E721-266F-89CC9C82F214}"/>
              </a:ext>
            </a:extLst>
          </p:cNvPr>
          <p:cNvSpPr/>
          <p:nvPr/>
        </p:nvSpPr>
        <p:spPr>
          <a:xfrm>
            <a:off x="4127500" y="5953720"/>
            <a:ext cx="1295400" cy="355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③ 수신분 </a:t>
            </a:r>
            <a:r>
              <a:rPr lang="en-US" altLang="ko-KR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캐시</a:t>
            </a:r>
          </a:p>
        </p:txBody>
      </p:sp>
      <p:sp>
        <p:nvSpPr>
          <p:cNvPr id="105" name="FB_ar3">
            <a:extLst>
              <a:ext uri="{FF2B5EF4-FFF2-40B4-BE49-F238E27FC236}">
                <a16:creationId xmlns:a16="http://schemas.microsoft.com/office/drawing/2014/main" id="{1D3AD5A1-1F60-E3A8-933D-FB9178D342D8}"/>
              </a:ext>
            </a:extLst>
          </p:cNvPr>
          <p:cNvSpPr txBox="1"/>
          <p:nvPr/>
        </p:nvSpPr>
        <p:spPr>
          <a:xfrm>
            <a:off x="5448299" y="6055320"/>
            <a:ext cx="177800" cy="139700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pPr algn="ctr"/>
            <a:r>
              <a:rPr lang="ko-KR" altLang="en-US" sz="900" b="1">
                <a:solidFill>
                  <a:srgbClr val="4851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→</a:t>
            </a:r>
          </a:p>
        </p:txBody>
      </p:sp>
      <p:sp>
        <p:nvSpPr>
          <p:cNvPr id="106" name="FB_b4">
            <a:extLst>
              <a:ext uri="{FF2B5EF4-FFF2-40B4-BE49-F238E27FC236}">
                <a16:creationId xmlns:a16="http://schemas.microsoft.com/office/drawing/2014/main" id="{96B747B6-F867-960A-D061-980A9A9C495E}"/>
              </a:ext>
            </a:extLst>
          </p:cNvPr>
          <p:cNvSpPr/>
          <p:nvPr/>
        </p:nvSpPr>
        <p:spPr>
          <a:xfrm>
            <a:off x="5651500" y="5953720"/>
            <a:ext cx="1168400" cy="355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8100" tIns="12700" rIns="38100" bIns="12700" rtlCol="0" anchor="ctr">
            <a:noAutofit/>
          </a:bodyPr>
          <a:lstStyle/>
          <a:p>
            <a:pPr algn="ctr"/>
            <a:r>
              <a:rPr lang="ko-KR" altLang="en-US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④ 재조회는 </a:t>
            </a: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에서 처리</a:t>
            </a:r>
          </a:p>
        </p:txBody>
      </p:sp>
      <p:sp>
        <p:nvSpPr>
          <p:cNvPr id="108" name="AR_deploy">
            <a:extLst>
              <a:ext uri="{FF2B5EF4-FFF2-40B4-BE49-F238E27FC236}">
                <a16:creationId xmlns:a16="http://schemas.microsoft.com/office/drawing/2014/main" id="{A17DB622-8867-ADA5-ED3D-934B4BEDC1F3}"/>
              </a:ext>
            </a:extLst>
          </p:cNvPr>
          <p:cNvSpPr/>
          <p:nvPr/>
        </p:nvSpPr>
        <p:spPr>
          <a:xfrm>
            <a:off x="368300" y="5278120"/>
            <a:ext cx="6451600" cy="203200"/>
          </a:xfrm>
          <a:prstGeom prst="rect">
            <a:avLst/>
          </a:prstGeom>
          <a:solidFill>
            <a:srgbClr val="FFFFFF"/>
          </a:solidFill>
          <a:ln w="9525">
            <a:solidFill>
              <a:srgbClr val="A6A6A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2700" tIns="0" rIns="12700" bIns="0" rtlCol="0" anchor="ctr"/>
          <a:lstStyle/>
          <a:p>
            <a:pPr algn="ctr">
              <a:lnSpc>
                <a:spcPct val="90000"/>
              </a:lnSpc>
            </a:pPr>
            <a:r>
              <a:rPr lang="ko-KR" altLang="en-US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조회 처리 </a:t>
            </a:r>
            <a:r>
              <a:rPr lang="en-US" altLang="ko-KR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: DR</a:t>
            </a:r>
            <a:r>
              <a:rPr lang="ko-KR" altLang="en-US" sz="8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 로컬 우선 조회 → 미존재 시 주센터 실시간 조회 → 로컬 캐시</a:t>
            </a:r>
            <a:endParaRPr lang="ko-KR" altLang="en-US" sz="800" b="1" dirty="0">
              <a:solidFill>
                <a:srgbClr val="1F3864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337703C2-33D2-6D39-A939-C37B0B8A9F99}"/>
              </a:ext>
            </a:extLst>
          </p:cNvPr>
          <p:cNvSpPr/>
          <p:nvPr/>
        </p:nvSpPr>
        <p:spPr>
          <a:xfrm>
            <a:off x="-1491716" y="0"/>
            <a:ext cx="1404156" cy="1160748"/>
          </a:xfrm>
          <a:prstGeom prst="rect">
            <a:avLst/>
          </a:prstGeom>
          <a:solidFill>
            <a:srgbClr val="FFC0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altLang="ko-KR" sz="12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CNR-001-07</a:t>
            </a:r>
            <a:endParaRPr lang="ko-KR" altLang="en-US" sz="1200" b="1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201198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1A319-F28E-D289-9921-31D99FC378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A60C1BFE-801C-94E1-8D92-70316DE003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3.3.4.7 DR </a:t>
            </a:r>
            <a:r>
              <a:rPr lang="ko-KR" altLang="en-US">
                <a:solidFill>
                  <a:srgbClr val="000000"/>
                </a:solidFill>
              </a:rPr>
              <a:t>구축에 따른 응용 수정 범위 및 공수 산정 </a:t>
            </a:r>
            <a:r>
              <a:rPr lang="en-US" altLang="ko-KR">
                <a:solidFill>
                  <a:srgbClr val="000000"/>
                </a:solidFill>
              </a:rPr>
              <a:t>(1/2)</a:t>
            </a:r>
            <a:endParaRPr lang="ko-KR" altLang="en-US" dirty="0">
              <a:solidFill>
                <a:srgbClr val="000000"/>
              </a:solidFill>
            </a:endParaRPr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67FBD809-1B43-FB52-B7C1-02BD858EC8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F356D21C-A157-F381-424B-FEF8060649B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81B1C629-5A38-5140-1D87-A45385624AE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3.3.4 </a:t>
            </a:r>
            <a:r>
              <a:rPr lang="ko-KR" altLang="en-US" dirty="0"/>
              <a:t>응용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96" name="텍스트 개체 틀 95">
            <a:extLst>
              <a:ext uri="{FF2B5EF4-FFF2-40B4-BE49-F238E27FC236}">
                <a16:creationId xmlns:a16="http://schemas.microsoft.com/office/drawing/2014/main" id="{94FAE630-9935-17C5-CB2B-FB08EB98D1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>
                <a:solidFill>
                  <a:srgbClr val="000000"/>
                </a:solidFill>
              </a:rPr>
              <a:t>DR </a:t>
            </a:r>
            <a:r>
              <a:rPr lang="ko-KR" altLang="en-US">
                <a:solidFill>
                  <a:srgbClr val="000000"/>
                </a:solidFill>
              </a:rPr>
              <a:t>구축으로 응용에 필요한 수정 범위를 </a:t>
            </a:r>
            <a:r>
              <a:rPr lang="en-US" altLang="ko-KR">
                <a:solidFill>
                  <a:srgbClr val="000000"/>
                </a:solidFill>
              </a:rPr>
              <a:t>8</a:t>
            </a:r>
            <a:r>
              <a:rPr lang="ko-KR" altLang="en-US">
                <a:solidFill>
                  <a:srgbClr val="000000"/>
                </a:solidFill>
              </a:rPr>
              <a:t>개 영역으로 정의하고</a:t>
            </a:r>
            <a:r>
              <a:rPr lang="en-US" altLang="ko-KR">
                <a:solidFill>
                  <a:srgbClr val="000000"/>
                </a:solidFill>
              </a:rPr>
              <a:t>, </a:t>
            </a:r>
            <a:r>
              <a:rPr lang="ko-KR" altLang="en-US">
                <a:solidFill>
                  <a:srgbClr val="000000"/>
                </a:solidFill>
              </a:rPr>
              <a:t>영역별 대상 식별 방법 </a:t>
            </a:r>
            <a:r>
              <a:rPr lang="en-US" altLang="ko-KR">
                <a:solidFill>
                  <a:srgbClr val="000000"/>
                </a:solidFill>
              </a:rPr>
              <a:t>· </a:t>
            </a:r>
            <a:r>
              <a:rPr lang="ko-KR" altLang="en-US">
                <a:solidFill>
                  <a:srgbClr val="000000"/>
                </a:solidFill>
              </a:rPr>
              <a:t>산정 단위와 표본 실측 기반 공수 산정 절차를 제시함</a:t>
            </a:r>
          </a:p>
        </p:txBody>
      </p:sp>
      <p:sp>
        <p:nvSpPr>
          <p:cNvPr id="97" name="CF_tpl_352">
            <a:extLst>
              <a:ext uri="{FF2B5EF4-FFF2-40B4-BE49-F238E27FC236}">
                <a16:creationId xmlns:a16="http://schemas.microsoft.com/office/drawing/2014/main" id="{9C898A44-32B4-EC76-D522-F8D63C5E2400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8" name="CF_tpl_353">
            <a:extLst>
              <a:ext uri="{FF2B5EF4-FFF2-40B4-BE49-F238E27FC236}">
                <a16:creationId xmlns:a16="http://schemas.microsoft.com/office/drawing/2014/main" id="{B84E73F8-7F97-27C2-8E37-CA0EBCFEF8A5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en-US" altLang="ko-KR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DR </a:t>
            </a:r>
            <a:r>
              <a:rPr kumimoji="0" lang="ko-KR" altLang="en-US" sz="1400" b="1" i="0" u="none" strike="noStrike" kern="0" cap="none" spc="0" normalizeH="0" baseline="0" noProof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srgbClr val="FFFFFF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구축에 따른 응용 수정 범위 및 투입공수 산정 방안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100" name="CF_tpl_355">
            <a:extLst>
              <a:ext uri="{FF2B5EF4-FFF2-40B4-BE49-F238E27FC236}">
                <a16:creationId xmlns:a16="http://schemas.microsoft.com/office/drawing/2014/main" id="{FA342E65-C9C2-E0EF-6F91-577480A48FD8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101600" tIns="36000" rIns="101600" bIns="35449" anchor="ctr" anchorCtr="0"/>
          <a:lstStyle/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응용 수정 범위를 접속주소 외부화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도메인 전환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외 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7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개를 더한 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8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개 영역으로 정의</a:t>
            </a:r>
            <a:endParaRPr kumimoji="0" lang="ko-KR" altLang="en-US" sz="100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영역별 대상 식별 방법 확정 및 협조 요청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소스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연계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배치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설정 현황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목표모델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(A-A · A-S)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선택에 따른 수정 공수 차이를 모델 결정 시 반영</a:t>
            </a:r>
          </a:p>
          <a:p>
            <a:pPr marL="108000" marR="0" lvl="0" indent="-10800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표본 실측으로 개략 규모를 산정하고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,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차세대 구축사업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(3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차</a:t>
            </a:r>
            <a:r>
              <a:rPr kumimoji="0" lang="en-US" altLang="ko-KR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 </a:t>
            </a:r>
            <a:r>
              <a:rPr kumimoji="0" lang="ko-KR" altLang="en-US" sz="1000" i="0" u="none" strike="noStrike" kern="1200" cap="none" spc="0" normalizeH="0" baseline="0" noProof="0">
                <a:ln>
                  <a:solidFill>
                    <a:srgbClr val="BDD7EE">
                      <a:alpha val="0"/>
                    </a:srgbClr>
                  </a:solidFill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완료 시점 형상 기준으로 재산정하여 확정</a:t>
            </a:r>
            <a:endParaRPr kumimoji="0" lang="en-US" altLang="ko-KR" sz="100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</p:txBody>
      </p:sp>
      <p:sp>
        <p:nvSpPr>
          <p:cNvPr id="101" name="CF_tpl_356">
            <a:extLst>
              <a:ext uri="{FF2B5EF4-FFF2-40B4-BE49-F238E27FC236}">
                <a16:creationId xmlns:a16="http://schemas.microsoft.com/office/drawing/2014/main" id="{C88168CD-B9A0-D95D-0E2A-E041F87CFE86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rtl="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kumimoji="0" lang="ko-KR" altLang="en-US" sz="1400" b="1" i="0" u="none" strike="noStrike" kern="0" cap="none" spc="0" normalizeH="0" baseline="0" noProof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나눔고딕 ExtraBold" panose="020D0904000000000000" pitchFamily="50" charset="-127"/>
                <a:ea typeface="나눔고딕 ExtraBold" panose="020D0904000000000000" pitchFamily="50" charset="-127"/>
                <a:cs typeface="+mn-cs"/>
                <a:sym typeface="Monotype Sorts"/>
              </a:rPr>
              <a:t>구축방안</a:t>
            </a:r>
            <a:endParaRPr kumimoji="0" lang="en-US" altLang="ko-KR" sz="1400" b="1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나눔고딕 ExtraBold" panose="020D0904000000000000" pitchFamily="50" charset="-127"/>
              <a:ea typeface="나눔고딕 ExtraBold" panose="020D0904000000000000" pitchFamily="50" charset="-127"/>
              <a:cs typeface="+mn-cs"/>
              <a:sym typeface="Monotype Sorts"/>
            </a:endParaRPr>
          </a:p>
        </p:txBody>
      </p:sp>
      <p:sp>
        <p:nvSpPr>
          <p:cNvPr id="4" name="NB_h1">
            <a:extLst>
              <a:ext uri="{FF2B5EF4-FFF2-40B4-BE49-F238E27FC236}">
                <a16:creationId xmlns:a16="http://schemas.microsoft.com/office/drawing/2014/main" id="{FF235BBD-F286-AD29-FC79-44A1A43EFDF4}"/>
              </a:ext>
            </a:extLst>
          </p:cNvPr>
          <p:cNvSpPr txBox="1"/>
          <p:nvPr/>
        </p:nvSpPr>
        <p:spPr>
          <a:xfrm>
            <a:off x="368300" y="2019300"/>
            <a:ext cx="64516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① 수정 범위 </a:t>
            </a:r>
            <a:r>
              <a:rPr lang="en-US" altLang="ko-KR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8</a:t>
            </a:r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개 영역 및 목표모델별 발생 여부</a:t>
            </a:r>
          </a:p>
        </p:txBody>
      </p:sp>
      <p:graphicFrame>
        <p:nvGraphicFramePr>
          <p:cNvPr id="5" name="NB_t1">
            <a:extLst>
              <a:ext uri="{FF2B5EF4-FFF2-40B4-BE49-F238E27FC236}">
                <a16:creationId xmlns:a16="http://schemas.microsoft.com/office/drawing/2014/main" id="{8EB5BAE1-69C6-FD0E-1B2F-58A08C6954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0476571"/>
              </p:ext>
            </p:extLst>
          </p:nvPr>
        </p:nvGraphicFramePr>
        <p:xfrm>
          <a:off x="368300" y="2211536"/>
          <a:ext cx="6451600" cy="18135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00324">
                  <a:extLst>
                    <a:ext uri="{9D8B030D-6E8A-4147-A177-3AD203B41FA5}">
                      <a16:colId xmlns:a16="http://schemas.microsoft.com/office/drawing/2014/main" val="2680869715"/>
                    </a:ext>
                  </a:extLst>
                </a:gridCol>
                <a:gridCol w="3600276">
                  <a:extLst>
                    <a:ext uri="{9D8B030D-6E8A-4147-A177-3AD203B41FA5}">
                      <a16:colId xmlns:a16="http://schemas.microsoft.com/office/drawing/2014/main" val="158713434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4002132033"/>
                    </a:ext>
                  </a:extLst>
                </a:gridCol>
                <a:gridCol w="825500">
                  <a:extLst>
                    <a:ext uri="{9D8B030D-6E8A-4147-A177-3AD203B41FA5}">
                      <a16:colId xmlns:a16="http://schemas.microsoft.com/office/drawing/2014/main" val="3556993317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영역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수정 내용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A-A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적용 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A-S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적용 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991338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① 접속주소 외부화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하드코딩 제거 → 도메인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VIP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참조로 전환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323426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② 세션 </a:t>
                      </a:r>
                      <a:r>
                        <a:rPr lang="en-US" altLang="ko-KR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상태 관리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세션 클러스터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구축 </a:t>
                      </a:r>
                      <a:r>
                        <a:rPr lang="en-US" altLang="ko-KR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단방향 복제 구성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436065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③ 쓰기 라우팅 대응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GSLB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쓰기 라우팅을 위한 조회 이력 기록 </a:t>
                      </a: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분리 </a:t>
                      </a: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-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DML Redirect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는 예외 경로로 제한 적용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해당 없음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99553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④ 연계 중복 방지 </a:t>
                      </a:r>
                      <a:r>
                        <a:rPr lang="en-US" altLang="ko-KR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이력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중복 방지 </a:t>
                      </a:r>
                      <a:r>
                        <a:rPr lang="ko-KR" altLang="en-US" sz="850" b="0" dirty="0" err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식별값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처리이력 </a:t>
                      </a:r>
                      <a:r>
                        <a:rPr lang="ko-KR" altLang="en-US" sz="850" b="0" dirty="0" err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미보유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시 부여 및 중복 제거 적용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2015606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⑤ 센터별 설정 분리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센터별로 달라지는 설정 값만 분리하여 배포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7319943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⑥ 축소 운영 제어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운영 모드 스위치 및 발급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편집 기능 차단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0762182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⑦ 헬스체크 제공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GSLB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상태점검용 </a:t>
                      </a:r>
                      <a:r>
                        <a:rPr lang="ko-KR" altLang="en-US" sz="850" b="0" dirty="0" err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엔드포인트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제공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(DB · Redis ·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연계 연결 상태 확인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48600"/>
                  </a:ext>
                </a:extLst>
              </a:tr>
              <a:tr h="17780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⑧ 첨부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공간데이터 파일 조회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DR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로컬에 없는 파일을 주센터에서 조회 후 로컬 캐시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-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파일 서빙 공통 모듈 적용</a:t>
                      </a:r>
                      <a:endParaRPr lang="ko-KR" altLang="en-US" sz="8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필수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해당 없음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8978677"/>
                  </a:ext>
                </a:extLst>
              </a:tr>
            </a:tbl>
          </a:graphicData>
        </a:graphic>
      </p:graphicFrame>
      <p:sp>
        <p:nvSpPr>
          <p:cNvPr id="6" name="NB_h2">
            <a:extLst>
              <a:ext uri="{FF2B5EF4-FFF2-40B4-BE49-F238E27FC236}">
                <a16:creationId xmlns:a16="http://schemas.microsoft.com/office/drawing/2014/main" id="{004AAF2F-FF2C-3071-1BC8-8C12F68AB385}"/>
              </a:ext>
            </a:extLst>
          </p:cNvPr>
          <p:cNvSpPr txBox="1"/>
          <p:nvPr/>
        </p:nvSpPr>
        <p:spPr>
          <a:xfrm>
            <a:off x="368300" y="4147016"/>
            <a:ext cx="6451600" cy="179536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ko-KR" altLang="en-US" sz="10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② 영역별 대상 식별 방법 및 산정 단위</a:t>
            </a:r>
          </a:p>
        </p:txBody>
      </p:sp>
      <p:graphicFrame>
        <p:nvGraphicFramePr>
          <p:cNvPr id="8" name="NB_t2">
            <a:extLst>
              <a:ext uri="{FF2B5EF4-FFF2-40B4-BE49-F238E27FC236}">
                <a16:creationId xmlns:a16="http://schemas.microsoft.com/office/drawing/2014/main" id="{7CB0BC34-71A5-23EC-22FD-52AAACD83C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6468066"/>
              </p:ext>
            </p:extLst>
          </p:nvPr>
        </p:nvGraphicFramePr>
        <p:xfrm>
          <a:off x="368300" y="4339252"/>
          <a:ext cx="6451600" cy="1584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3061717602"/>
                    </a:ext>
                  </a:extLst>
                </a:gridCol>
                <a:gridCol w="3073400">
                  <a:extLst>
                    <a:ext uri="{9D8B030D-6E8A-4147-A177-3AD203B41FA5}">
                      <a16:colId xmlns:a16="http://schemas.microsoft.com/office/drawing/2014/main" val="1680829576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3762258278"/>
                    </a:ext>
                  </a:extLst>
                </a:gridCol>
                <a:gridCol w="635000">
                  <a:extLst>
                    <a:ext uri="{9D8B030D-6E8A-4147-A177-3AD203B41FA5}">
                      <a16:colId xmlns:a16="http://schemas.microsoft.com/office/drawing/2014/main" val="4276503169"/>
                    </a:ext>
                  </a:extLst>
                </a:gridCol>
              </a:tblGrid>
              <a:tr h="162560"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영역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대상 식별 방법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산정 단위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난이도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3785043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① 접속주소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소스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IP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패턴 검색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호출 연계 정의서 대조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설정파일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소스 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하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~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7328517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② 세션 </a:t>
                      </a:r>
                      <a:r>
                        <a:rPr lang="en-US" altLang="ko-KR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상태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 err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주센터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Redis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구성 확인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DR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 복제 구성 검토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클러스터 </a:t>
                      </a:r>
                      <a:r>
                        <a:rPr lang="en-US" altLang="ko-KR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</a:t>
                      </a: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식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973010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③ 쓰기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업무 시스템별 조회 이력 기록 지점 식별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(URL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호출 분석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)</a:t>
                      </a:r>
                      <a:endParaRPr lang="ko-KR" altLang="en-US" sz="850" b="0" dirty="0">
                        <a:solidFill>
                          <a:schemeClr val="tx1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조회 이력 기록 지점 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474199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④ 연계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표준연계 목록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×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중복 방지 </a:t>
                      </a:r>
                      <a:r>
                        <a:rPr lang="ko-KR" altLang="en-US" sz="850" b="0" dirty="0" err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식별값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 </a:t>
                      </a:r>
                      <a:r>
                        <a:rPr lang="en-US" altLang="ko-KR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처리이력 보유 여부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표준연계 종수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263666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⑤ 설정 분리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센터별로 달라지는 설정 항목 식별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업무 시스템 수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하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FBFBF"/>
                      </a:solidFill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1293376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⑥ 축소 운영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업무 시스템별 운영 모드 적용 지점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업무 시스템 수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4979805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⑦ 헬스체크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서비스별 외부 연결 의존성 목록 작성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서비스 수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chemeClr val="tx1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7163263"/>
                  </a:ext>
                </a:extLst>
              </a:tr>
              <a:tr h="162560"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⑧ 첨부 </a:t>
                      </a:r>
                      <a:r>
                        <a:rPr lang="en-US" altLang="ko-KR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1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공간데이터 파일 조회</a:t>
                      </a:r>
                    </a:p>
                  </a:txBody>
                  <a:tcPr marL="50800" marR="50800" marT="12700" marB="12700" anchor="ctr">
                    <a:lnL w="9525" cmpd="sng">
                      <a:solidFill>
                        <a:srgbClr val="BFBFBF"/>
                      </a:solidFill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첨부파일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·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공간데이터 조회 지점 식별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- 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파일 서빙 공통 모듈 집중 여부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공통 모듈 </a:t>
                      </a:r>
                      <a:r>
                        <a:rPr lang="en-US" altLang="ko-KR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1</a:t>
                      </a:r>
                      <a:r>
                        <a:rPr lang="ko-KR" altLang="en-US" sz="850" b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식</a:t>
                      </a:r>
                      <a:endParaRPr lang="ko-KR" altLang="en-US" sz="850" b="0" dirty="0">
                        <a:solidFill>
                          <a:srgbClr val="000000"/>
                        </a:solidFill>
                        <a:latin typeface="나눔고딕" panose="020D0804000000000000" pitchFamily="50" charset="-127"/>
                        <a:ea typeface="나눔고딕" panose="020D0804000000000000" pitchFamily="50" charset="-127"/>
                      </a:endParaRP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850" b="0" dirty="0">
                          <a:solidFill>
                            <a:srgbClr val="000000"/>
                          </a:solidFill>
                          <a:latin typeface="나눔고딕" panose="020D0804000000000000" pitchFamily="50" charset="-127"/>
                          <a:ea typeface="나눔고딕" panose="020D0804000000000000" pitchFamily="50" charset="-127"/>
                        </a:rPr>
                        <a:t>중</a:t>
                      </a:r>
                    </a:p>
                  </a:txBody>
                  <a:tcPr marL="50800" marR="50800" marT="12700" marB="12700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mpd="sng">
                      <a:solidFill>
                        <a:srgbClr val="BFBFBF"/>
                      </a:solidFill>
                    </a:lnR>
                    <a:lnT w="9525" cmpd="sng">
                      <a:solidFill>
                        <a:srgbClr val="BFBFBF"/>
                      </a:solidFill>
                    </a:lnT>
                    <a:lnB w="9525" cmpd="sng">
                      <a:solidFill>
                        <a:srgbClr val="BFBFBF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7316555"/>
                  </a:ext>
                </a:extLst>
              </a:tr>
            </a:tbl>
          </a:graphicData>
        </a:graphic>
      </p:graphicFrame>
      <p:sp>
        <p:nvSpPr>
          <p:cNvPr id="10" name="NB_note">
            <a:extLst>
              <a:ext uri="{FF2B5EF4-FFF2-40B4-BE49-F238E27FC236}">
                <a16:creationId xmlns:a16="http://schemas.microsoft.com/office/drawing/2014/main" id="{F70F94FA-1F73-1E49-749F-A44FBC2DD559}"/>
              </a:ext>
            </a:extLst>
          </p:cNvPr>
          <p:cNvSpPr txBox="1"/>
          <p:nvPr/>
        </p:nvSpPr>
        <p:spPr>
          <a:xfrm>
            <a:off x="368300" y="5990252"/>
            <a:ext cx="6451600" cy="394980"/>
          </a:xfrm>
          <a:prstGeom prst="rect">
            <a:avLst/>
          </a:prstGeom>
          <a:noFill/>
        </p:spPr>
        <p:txBody>
          <a:bodyPr vert="horz" wrap="square" lIns="25400" tIns="12700" rIns="25400" bIns="12700" rtlCol="0" anchor="ctr" anchorCtr="0">
            <a:spAutoFit/>
          </a:bodyPr>
          <a:lstStyle/>
          <a:p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※ </a:t>
            </a:r>
            <a:r>
              <a:rPr lang="ko-KR" altLang="en-US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산정 절차 </a:t>
            </a: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: </a:t>
            </a:r>
            <a:r>
              <a:rPr lang="ko-KR" altLang="en-US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범위 정의 → 대상 식별 → 유형별 표본 </a:t>
            </a: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3~5</a:t>
            </a:r>
            <a:r>
              <a:rPr lang="ko-KR" altLang="en-US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건 실측 → 개략 규모 산정 → 구축 완료 후 </a:t>
            </a:r>
            <a:r>
              <a:rPr lang="ko-KR" altLang="en-US" sz="800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재산정</a:t>
            </a:r>
            <a:endParaRPr lang="ko-KR" altLang="en-US" sz="80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※ </a:t>
            </a:r>
            <a:r>
              <a:rPr lang="ko-KR" altLang="en-US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산식 </a:t>
            </a: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: </a:t>
            </a:r>
            <a:r>
              <a:rPr lang="ko-KR" altLang="en-US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영역별 공수 </a:t>
            </a: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= </a:t>
            </a:r>
            <a:r>
              <a:rPr lang="ko-KR" altLang="en-US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대상 건수 </a:t>
            </a: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× </a:t>
            </a:r>
            <a:r>
              <a:rPr lang="ko-KR" altLang="en-US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건당 공수</a:t>
            </a: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전체 </a:t>
            </a: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= Σ </a:t>
            </a:r>
            <a:r>
              <a:rPr lang="ko-KR" altLang="en-US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영역별 </a:t>
            </a: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+ </a:t>
            </a:r>
            <a:r>
              <a:rPr lang="ko-KR" altLang="en-US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통합시험 </a:t>
            </a: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건당 공수는 표본 실측으로 확정</a:t>
            </a: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</a:p>
          <a:p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※ </a:t>
            </a:r>
            <a:r>
              <a:rPr lang="ko-KR" altLang="en-US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산정 범위 </a:t>
            </a: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: </a:t>
            </a:r>
            <a:r>
              <a:rPr lang="ko-KR" altLang="en-US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응용 소스 </a:t>
            </a: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화면 수정 및 응용 스택</a:t>
            </a: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세션 서버</a:t>
            </a:r>
            <a:r>
              <a:rPr lang="en-US" altLang="ko-KR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 </a:t>
            </a:r>
            <a:r>
              <a:rPr lang="ko-KR" altLang="en-US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구성에 한정</a:t>
            </a:r>
          </a:p>
        </p:txBody>
      </p:sp>
      <p:pic>
        <p:nvPicPr>
          <p:cNvPr id="11" name="CF_tpl_354" descr="그림1.png">
            <a:extLst>
              <a:ext uri="{FF2B5EF4-FFF2-40B4-BE49-F238E27FC236}">
                <a16:creationId xmlns:a16="http://schemas.microsoft.com/office/drawing/2014/main" id="{1EE27BB6-5D47-5243-5D71-52D9D7FF01D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5A8528E6-060E-A2CD-865B-B09821063DE7}"/>
              </a:ext>
            </a:extLst>
          </p:cNvPr>
          <p:cNvSpPr/>
          <p:nvPr/>
        </p:nvSpPr>
        <p:spPr>
          <a:xfrm>
            <a:off x="-1491716" y="0"/>
            <a:ext cx="1404156" cy="1160748"/>
          </a:xfrm>
          <a:prstGeom prst="rect">
            <a:avLst/>
          </a:prstGeom>
          <a:solidFill>
            <a:srgbClr val="FFC0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altLang="ko-KR" sz="12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CNR-014-59</a:t>
            </a:r>
          </a:p>
          <a:p>
            <a:pPr algn="ctr"/>
            <a:r>
              <a:rPr lang="en-US" altLang="ko-KR" sz="12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CNR-001-14</a:t>
            </a:r>
          </a:p>
          <a:p>
            <a:pPr algn="ctr"/>
            <a:r>
              <a:rPr lang="en-US" altLang="ko-KR" sz="12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CNR-006-47</a:t>
            </a:r>
            <a:endParaRPr lang="ko-KR" altLang="en-US" sz="1200" b="1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8418341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AE861C-2AC2-A897-90EF-CD26B7B14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>
            <a:extLst>
              <a:ext uri="{FF2B5EF4-FFF2-40B4-BE49-F238E27FC236}">
                <a16:creationId xmlns:a16="http://schemas.microsoft.com/office/drawing/2014/main" id="{14D66B25-F3DE-27A7-7CBC-D4E344F6A0D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3.3.5.3 </a:t>
            </a:r>
            <a:r>
              <a:rPr lang="ko-KR" altLang="en-US" dirty="0"/>
              <a:t>연계</a:t>
            </a:r>
            <a:r>
              <a:rPr lang="en-US" altLang="ko-KR" dirty="0"/>
              <a:t>·</a:t>
            </a:r>
            <a:r>
              <a:rPr lang="ko-KR" altLang="en-US" dirty="0"/>
              <a:t>배치 전환 처리 설계</a:t>
            </a:r>
            <a:r>
              <a:rPr lang="en-US" altLang="ko-KR" dirty="0"/>
              <a:t> &gt; </a:t>
            </a:r>
            <a:r>
              <a:rPr lang="ko-KR" altLang="en-US" dirty="0"/>
              <a:t>연계 아키텍처</a:t>
            </a:r>
            <a:r>
              <a:rPr lang="en-US" altLang="ko-KR" dirty="0"/>
              <a:t>(1/3)</a:t>
            </a:r>
            <a:endParaRPr lang="ko-KR" altLang="en-US" dirty="0"/>
          </a:p>
        </p:txBody>
      </p:sp>
      <p:sp>
        <p:nvSpPr>
          <p:cNvPr id="15" name="텍스트 개체 틀 14">
            <a:extLst>
              <a:ext uri="{FF2B5EF4-FFF2-40B4-BE49-F238E27FC236}">
                <a16:creationId xmlns:a16="http://schemas.microsoft.com/office/drawing/2014/main" id="{118C18EC-8EA9-6896-81AF-B639D2C4920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3. </a:t>
            </a:r>
            <a:r>
              <a:rPr lang="ko-KR" altLang="en-US" dirty="0"/>
              <a:t>부동산종합공부시스템 </a:t>
            </a:r>
            <a:r>
              <a:rPr lang="en-US" altLang="ko-KR" dirty="0"/>
              <a:t>DR </a:t>
            </a:r>
            <a:r>
              <a:rPr lang="ko-KR" altLang="en-US" dirty="0"/>
              <a:t>목표 설계</a:t>
            </a:r>
          </a:p>
        </p:txBody>
      </p:sp>
      <p:sp>
        <p:nvSpPr>
          <p:cNvPr id="17" name="텍스트 개체 틀 16">
            <a:extLst>
              <a:ext uri="{FF2B5EF4-FFF2-40B4-BE49-F238E27FC236}">
                <a16:creationId xmlns:a16="http://schemas.microsoft.com/office/drawing/2014/main" id="{0E4DCAA7-6F87-1CB8-87D2-0AD750FD9B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altLang="ko-KR" dirty="0"/>
              <a:t>3.3 </a:t>
            </a:r>
            <a:r>
              <a:rPr lang="ko-KR" altLang="en-US" dirty="0"/>
              <a:t>애플리케이션 아키텍처 설계</a:t>
            </a: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79000433-5945-0F5F-0DD1-0CEFE928661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ko-KR" dirty="0"/>
              <a:t>3.3.5 연계</a:t>
            </a:r>
            <a:r>
              <a:rPr lang="ko-KR" altLang="en-US" dirty="0"/>
              <a:t> 아키텍처 </a:t>
            </a:r>
            <a:r>
              <a:rPr lang="en-US" altLang="ko-KR" dirty="0"/>
              <a:t>DR </a:t>
            </a:r>
            <a:r>
              <a:rPr lang="ko-KR" altLang="en-US" dirty="0"/>
              <a:t>설계</a:t>
            </a:r>
          </a:p>
        </p:txBody>
      </p:sp>
      <p:sp>
        <p:nvSpPr>
          <p:cNvPr id="2" name="텍스트 개체 틀 6">
            <a:extLst>
              <a:ext uri="{FF2B5EF4-FFF2-40B4-BE49-F238E27FC236}">
                <a16:creationId xmlns:a16="http://schemas.microsoft.com/office/drawing/2014/main" id="{D518AD29-3465-0D84-0225-10A19262BB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1928" y="807445"/>
            <a:ext cx="9320194" cy="755025"/>
          </a:xfrm>
        </p:spPr>
        <p:txBody>
          <a:bodyPr/>
          <a:lstStyle/>
          <a:p>
            <a:r>
              <a:rPr lang="ko-KR" altLang="en-US" dirty="0"/>
              <a:t>대내</a:t>
            </a:r>
            <a:r>
              <a:rPr lang="en-US" altLang="ko-KR" dirty="0"/>
              <a:t>·</a:t>
            </a:r>
            <a:r>
              <a:rPr lang="ko-KR" altLang="en-US" dirty="0"/>
              <a:t>외 연계를 처리하는 연계 </a:t>
            </a:r>
            <a:r>
              <a:rPr lang="en-US" altLang="ko-KR" dirty="0"/>
              <a:t>WEB · WAS · GIS · DB</a:t>
            </a:r>
            <a:r>
              <a:rPr lang="ko-KR" altLang="en-US" dirty="0"/>
              <a:t>를 </a:t>
            </a:r>
            <a:r>
              <a:rPr lang="en-US" altLang="ko-KR" dirty="0"/>
              <a:t>DR</a:t>
            </a:r>
            <a:r>
              <a:rPr lang="ko-KR" altLang="en-US" dirty="0"/>
              <a:t>센터에 동일하게 구성하고</a:t>
            </a:r>
            <a:r>
              <a:rPr lang="en-US" altLang="ko-KR" dirty="0"/>
              <a:t>, </a:t>
            </a:r>
            <a:r>
              <a:rPr lang="ko-KR" altLang="en-US" dirty="0"/>
              <a:t>도메인</a:t>
            </a:r>
            <a:r>
              <a:rPr lang="en-US" altLang="ko-KR" dirty="0"/>
              <a:t>(DNS) </a:t>
            </a:r>
            <a:r>
              <a:rPr lang="ko-KR" altLang="en-US" dirty="0"/>
              <a:t>호출 기관은 </a:t>
            </a:r>
            <a:r>
              <a:rPr lang="en-US" altLang="ko-KR" dirty="0"/>
              <a:t>GSLB</a:t>
            </a:r>
            <a:r>
              <a:rPr lang="ko-KR" altLang="en-US" dirty="0"/>
              <a:t>로</a:t>
            </a:r>
            <a:r>
              <a:rPr lang="en-US" altLang="ko-KR" dirty="0"/>
              <a:t>, IP </a:t>
            </a:r>
            <a:r>
              <a:rPr lang="ko-KR" altLang="en-US" dirty="0"/>
              <a:t>고정 호출 기관은 </a:t>
            </a:r>
            <a:r>
              <a:rPr lang="en-US" altLang="ko-KR" dirty="0"/>
              <a:t>VIP </a:t>
            </a:r>
            <a:r>
              <a:rPr lang="ko-KR" altLang="en-US" dirty="0"/>
              <a:t>이원화로 접속을 전환하여 센터 전환 시에도 연계 서비스 연속성을 확보함</a:t>
            </a:r>
          </a:p>
        </p:txBody>
      </p:sp>
      <p:sp>
        <p:nvSpPr>
          <p:cNvPr id="94" name="모서리가 둥근 직사각형 12">
            <a:extLst>
              <a:ext uri="{FF2B5EF4-FFF2-40B4-BE49-F238E27FC236}">
                <a16:creationId xmlns:a16="http://schemas.microsoft.com/office/drawing/2014/main" id="{135EDA8D-AA95-ECEF-9B34-C3C61547A852}"/>
              </a:ext>
            </a:extLst>
          </p:cNvPr>
          <p:cNvSpPr/>
          <p:nvPr/>
        </p:nvSpPr>
        <p:spPr bwMode="auto">
          <a:xfrm>
            <a:off x="272999" y="1989138"/>
            <a:ext cx="6659617" cy="4427862"/>
          </a:xfrm>
          <a:prstGeom prst="rect">
            <a:avLst/>
          </a:prstGeom>
          <a:noFill/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108000" rIns="70898" bIns="35449" anchor="t" anchorCtr="0"/>
          <a:lstStyle/>
          <a:p>
            <a:pPr marL="0" marR="0" lvl="0" indent="0" algn="l" defTabSz="910351" rtl="0" eaLnBrk="0" fontAlgn="auto" latinLnBrk="0" hangingPunc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en-US" altLang="ko-KR" sz="1300" b="0" i="0" u="none" strike="noStrike" kern="0" cap="none" spc="0" normalizeH="0" baseline="0" noProof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+mn-cs"/>
            </a:endParaRPr>
          </a:p>
        </p:txBody>
      </p:sp>
      <p:sp>
        <p:nvSpPr>
          <p:cNvPr id="95" name="양쪽 모서리가 둥근 사각형 101">
            <a:extLst>
              <a:ext uri="{FF2B5EF4-FFF2-40B4-BE49-F238E27FC236}">
                <a16:creationId xmlns:a16="http://schemas.microsoft.com/office/drawing/2014/main" id="{7D7EB9CF-D7EA-BE10-EC56-FBAB341BF3AB}"/>
              </a:ext>
            </a:extLst>
          </p:cNvPr>
          <p:cNvSpPr/>
          <p:nvPr/>
        </p:nvSpPr>
        <p:spPr>
          <a:xfrm>
            <a:off x="272999" y="1667075"/>
            <a:ext cx="6659613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lvl="1" indent="-83104" algn="ctr" defTabSz="803336" eaLnBrk="0" latinLnBrk="0" hangingPunct="0">
              <a:lnSpc>
                <a:spcPct val="90000"/>
              </a:lnSpc>
              <a:buClr>
                <a:prstClr val="white">
                  <a:lumMod val="65000"/>
                </a:prstClr>
              </a:buClr>
              <a:buSzPct val="80000"/>
              <a:tabLst>
                <a:tab pos="5187422" algn="l"/>
              </a:tabLst>
              <a:defRPr/>
            </a:pP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부동산종합공부시스템 연계 </a:t>
            </a:r>
            <a:r>
              <a:rPr lang="en-US" altLang="ko-KR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DR </a:t>
            </a:r>
            <a:r>
              <a:rPr lang="ko-KR" altLang="en-US" sz="1400" b="1" kern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목표 아키텍처</a:t>
            </a:r>
            <a:endParaRPr lang="ko-KR" altLang="en-US" sz="1400" b="1" kern="0" dirty="0">
              <a:ln>
                <a:solidFill>
                  <a:srgbClr val="C1DFE1">
                    <a:alpha val="0"/>
                  </a:srgbClr>
                </a:solidFill>
              </a:ln>
              <a:solidFill>
                <a:prstClr val="white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  <a:sym typeface="Monotype Sorts"/>
            </a:endParaRPr>
          </a:p>
        </p:txBody>
      </p:sp>
      <p:pic>
        <p:nvPicPr>
          <p:cNvPr id="96" name="그림 138" descr="그림1.png">
            <a:extLst>
              <a:ext uri="{FF2B5EF4-FFF2-40B4-BE49-F238E27FC236}">
                <a16:creationId xmlns:a16="http://schemas.microsoft.com/office/drawing/2014/main" id="{E9962E37-0B6F-0B5F-6F7F-1E7ECCC433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grayscl/>
          </a:blip>
          <a:srcRect/>
          <a:stretch>
            <a:fillRect/>
          </a:stretch>
        </p:blipFill>
        <p:spPr bwMode="auto">
          <a:xfrm>
            <a:off x="6972952" y="2598264"/>
            <a:ext cx="389410" cy="320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7" name="모서리가 둥근 직사각형 12">
            <a:extLst>
              <a:ext uri="{FF2B5EF4-FFF2-40B4-BE49-F238E27FC236}">
                <a16:creationId xmlns:a16="http://schemas.microsoft.com/office/drawing/2014/main" id="{01D0B64B-2502-542B-C62A-81D4D07D65A1}"/>
              </a:ext>
            </a:extLst>
          </p:cNvPr>
          <p:cNvSpPr/>
          <p:nvPr/>
        </p:nvSpPr>
        <p:spPr bwMode="auto">
          <a:xfrm>
            <a:off x="7402699" y="1989138"/>
            <a:ext cx="2230819" cy="4428000"/>
          </a:xfrm>
          <a:prstGeom prst="rect">
            <a:avLst/>
          </a:prstGeom>
          <a:solidFill>
            <a:srgbClr val="FFFFF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</p:spPr>
        <p:txBody>
          <a:bodyPr lIns="72000" tIns="36000" rIns="70898" bIns="35449" anchor="ctr" anchorCtr="0"/>
          <a:lstStyle/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연계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WEB · WAS · GIS ·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배치를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센터에 주센터와 동일 구성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상시 기동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① 도메인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(DNS)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호출 기관은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GSLB(api.kras.go.kr)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가 활성 센터로 자동 전환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②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IP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고정 호출 기관은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GSLB 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미경유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-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주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VIP 2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개 사전 등록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1000" i="0" u="none" strike="noStrike" kern="1200" cap="none" spc="0" normalizeH="0" baseline="0" noProof="0" dirty="0" err="1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시군구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·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시도 등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  <a:endParaRPr kumimoji="0" lang="ko-KR" altLang="en-US" sz="100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연계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DB·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업무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DB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복구 시점 일치 확인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배치는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DB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활성 센터 한 곳에서만 실행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(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중복 실행 방지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)</a:t>
            </a:r>
          </a:p>
          <a:p>
            <a:pPr marL="107950" marR="0" lvl="0" indent="-107950" defTabSz="914400" rtl="0" eaLnBrk="1" fontAlgn="base" latinLnBrk="0" hangingPunct="1">
              <a:spcBef>
                <a:spcPts val="60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DR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센터 출발 </a:t>
            </a:r>
            <a:r>
              <a:rPr kumimoji="0" lang="en-US" altLang="ko-KR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IP </a:t>
            </a:r>
            <a:r>
              <a:rPr kumimoji="0" lang="ko-KR" altLang="en-US" sz="1000" i="0" u="none" strike="noStrike" kern="1200" cap="none" spc="0" normalizeH="0" baseline="0" noProof="0" dirty="0">
                <a:ln>
                  <a:solidFill>
                    <a:srgbClr val="BDD7EE">
                      <a:alpha val="0"/>
                    </a:srgbClr>
                  </a:solidFill>
                </a:ln>
                <a:effectLst/>
                <a:uLnTx/>
                <a:uFillTx/>
                <a:latin typeface="나눔고딕" panose="020D0804000000000000" pitchFamily="50" charset="-127"/>
                <a:ea typeface="나눔고딕" panose="020D0804000000000000" pitchFamily="50" charset="-127"/>
                <a:cs typeface="+mn-cs"/>
              </a:rPr>
              <a:t>연계기관 방화벽 사전 허용</a:t>
            </a:r>
            <a:endParaRPr kumimoji="0" lang="en-US" altLang="ko-KR" sz="1000" i="0" u="none" strike="noStrike" kern="1200" cap="none" spc="0" normalizeH="0" baseline="0" noProof="0" dirty="0">
              <a:ln>
                <a:solidFill>
                  <a:srgbClr val="BDD7EE">
                    <a:alpha val="0"/>
                  </a:srgbClr>
                </a:solidFill>
              </a:ln>
              <a:effectLst/>
              <a:uLnTx/>
              <a:uFillTx/>
              <a:latin typeface="나눔고딕" panose="020D0804000000000000" pitchFamily="50" charset="-127"/>
              <a:ea typeface="나눔고딕" panose="020D0804000000000000" pitchFamily="50" charset="-127"/>
              <a:cs typeface="+mn-cs"/>
            </a:endParaRPr>
          </a:p>
        </p:txBody>
      </p:sp>
      <p:sp>
        <p:nvSpPr>
          <p:cNvPr id="98" name="양쪽 모서리가 둥근 사각형 101">
            <a:extLst>
              <a:ext uri="{FF2B5EF4-FFF2-40B4-BE49-F238E27FC236}">
                <a16:creationId xmlns:a16="http://schemas.microsoft.com/office/drawing/2014/main" id="{B32FE93A-F71D-9F89-96A2-305BCD2117DE}"/>
              </a:ext>
            </a:extLst>
          </p:cNvPr>
          <p:cNvSpPr/>
          <p:nvPr/>
        </p:nvSpPr>
        <p:spPr>
          <a:xfrm>
            <a:off x="7402700" y="1667075"/>
            <a:ext cx="2230819" cy="324307"/>
          </a:xfrm>
          <a:prstGeom prst="rect">
            <a:avLst/>
          </a:prstGeom>
          <a:solidFill>
            <a:srgbClr val="7F7F7F"/>
          </a:solidFill>
          <a:ln w="12700" algn="ctr">
            <a:solidFill>
              <a:schemeClr val="bg1">
                <a:lumMod val="65000"/>
              </a:schemeClr>
            </a:solidFill>
            <a:miter lim="800000"/>
            <a:headEnd/>
            <a:tailEnd/>
          </a:ln>
          <a:effectLst/>
        </p:spPr>
        <p:txBody>
          <a:bodyPr wrap="none" lIns="83978" tIns="33062" rIns="83978" bIns="33062" anchor="ctr" anchorCtr="0"/>
          <a:lstStyle/>
          <a:p>
            <a:pPr marL="0" marR="0" lvl="1" indent="-83104" algn="ctr" defTabSz="803336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80000"/>
              <a:buFontTx/>
              <a:buNone/>
              <a:tabLst>
                <a:tab pos="5187422" algn="l"/>
              </a:tabLst>
              <a:defRPr/>
            </a:pPr>
            <a:r>
              <a:rPr lang="ko-KR" altLang="en-US" sz="1400" b="1" kern="0" dirty="0">
                <a:ln>
                  <a:solidFill>
                    <a:srgbClr val="C1DFE1">
                      <a:alpha val="0"/>
                    </a:srgbClr>
                  </a:solidFill>
                </a:ln>
                <a:solidFill>
                  <a:prstClr val="white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sym typeface="Monotype Sorts"/>
              </a:rPr>
              <a:t>구축방안</a:t>
            </a:r>
          </a:p>
        </p:txBody>
      </p:sp>
      <p:sp>
        <p:nvSpPr>
          <p:cNvPr id="5" name="KA_stat">
            <a:extLst>
              <a:ext uri="{FF2B5EF4-FFF2-40B4-BE49-F238E27FC236}">
                <a16:creationId xmlns:a16="http://schemas.microsoft.com/office/drawing/2014/main" id="{C98BDA2C-B535-6380-A98B-39BF0DE38CEF}"/>
              </a:ext>
            </a:extLst>
          </p:cNvPr>
          <p:cNvSpPr/>
          <p:nvPr/>
        </p:nvSpPr>
        <p:spPr>
          <a:xfrm>
            <a:off x="368300" y="2132856"/>
            <a:ext cx="6451600" cy="228600"/>
          </a:xfrm>
          <a:prstGeom prst="rect">
            <a:avLst/>
          </a:prstGeom>
          <a:solidFill>
            <a:srgbClr val="F2F2F2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12700" rIns="25400" bIns="12700" rtlCol="0" anchor="ctr"/>
          <a:lstStyle/>
          <a:p>
            <a:pPr algn="ctr"/>
            <a:r>
              <a:rPr lang="ko-KR" altLang="en-US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연계 시스템 </a:t>
            </a:r>
            <a:r>
              <a:rPr lang="en-US" altLang="ko-KR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624</a:t>
            </a:r>
            <a:r>
              <a:rPr lang="ko-KR" altLang="en-US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개 </a:t>
            </a:r>
            <a:r>
              <a:rPr lang="en-US" altLang="ko-KR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표준연계 </a:t>
            </a:r>
            <a:r>
              <a:rPr lang="en-US" altLang="ko-KR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20</a:t>
            </a:r>
            <a:r>
              <a:rPr lang="ko-KR" altLang="en-US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종</a:t>
            </a:r>
            <a:r>
              <a:rPr lang="en-US" altLang="ko-KR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(6</a:t>
            </a:r>
            <a:r>
              <a:rPr lang="ko-KR" altLang="en-US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대 유형</a:t>
            </a:r>
            <a:r>
              <a:rPr lang="en-US" altLang="ko-KR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50" b="1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6" name="KA_org_h">
            <a:extLst>
              <a:ext uri="{FF2B5EF4-FFF2-40B4-BE49-F238E27FC236}">
                <a16:creationId xmlns:a16="http://schemas.microsoft.com/office/drawing/2014/main" id="{3A674DA3-FA8A-A5F3-C649-63A2FC3B4801}"/>
              </a:ext>
            </a:extLst>
          </p:cNvPr>
          <p:cNvSpPr txBox="1"/>
          <p:nvPr/>
        </p:nvSpPr>
        <p:spPr>
          <a:xfrm>
            <a:off x="368300" y="2852936"/>
            <a:ext cx="1422400" cy="138499"/>
          </a:xfrm>
          <a:prstGeom prst="rect">
            <a:avLst/>
          </a:prstGeom>
          <a:noFill/>
        </p:spPr>
        <p:txBody>
          <a:bodyPr vert="horz" wrap="square" lIns="12700" tIns="0" rIns="12700" bIns="0" rtlCol="0" anchor="ctr" anchorCtr="0">
            <a:spAutoFit/>
          </a:bodyPr>
          <a:lstStyle/>
          <a:p>
            <a:pPr algn="ctr"/>
            <a:r>
              <a:rPr lang="ko-KR" altLang="en-US" sz="900" b="1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연계기관</a:t>
            </a:r>
          </a:p>
        </p:txBody>
      </p:sp>
      <p:sp>
        <p:nvSpPr>
          <p:cNvPr id="99" name="KA_orgA">
            <a:extLst>
              <a:ext uri="{FF2B5EF4-FFF2-40B4-BE49-F238E27FC236}">
                <a16:creationId xmlns:a16="http://schemas.microsoft.com/office/drawing/2014/main" id="{9AE7BE50-3595-3E05-E1C8-408E51D70059}"/>
              </a:ext>
            </a:extLst>
          </p:cNvPr>
          <p:cNvSpPr/>
          <p:nvPr/>
        </p:nvSpPr>
        <p:spPr>
          <a:xfrm>
            <a:off x="368300" y="3200400"/>
            <a:ext cx="1422400" cy="4826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lang="ko-KR" altLang="en-US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대외 연계기관</a:t>
            </a:r>
          </a:p>
          <a:p>
            <a:pPr algn="ctr"/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624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개 시스템 </a:t>
            </a:r>
          </a:p>
        </p:txBody>
      </p:sp>
      <p:sp>
        <p:nvSpPr>
          <p:cNvPr id="100" name="KA_orgB">
            <a:extLst>
              <a:ext uri="{FF2B5EF4-FFF2-40B4-BE49-F238E27FC236}">
                <a16:creationId xmlns:a16="http://schemas.microsoft.com/office/drawing/2014/main" id="{E14E0C2C-93AB-861F-B6F6-8E9AA8951DA8}"/>
              </a:ext>
            </a:extLst>
          </p:cNvPr>
          <p:cNvSpPr/>
          <p:nvPr/>
        </p:nvSpPr>
        <p:spPr>
          <a:xfrm>
            <a:off x="368300" y="3759200"/>
            <a:ext cx="1422400" cy="406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lang="ko-KR" altLang="en-US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행정정보공동이용</a:t>
            </a:r>
          </a:p>
          <a:p>
            <a:pPr algn="ctr"/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행공연계</a:t>
            </a:r>
            <a:r>
              <a:rPr lang="en-US" altLang="ko-KR" sz="85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5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01" name="KA_orgC">
            <a:extLst>
              <a:ext uri="{FF2B5EF4-FFF2-40B4-BE49-F238E27FC236}">
                <a16:creationId xmlns:a16="http://schemas.microsoft.com/office/drawing/2014/main" id="{1E31AC34-D9BC-7BE2-36B5-5487F7B3753A}"/>
              </a:ext>
            </a:extLst>
          </p:cNvPr>
          <p:cNvSpPr/>
          <p:nvPr/>
        </p:nvSpPr>
        <p:spPr>
          <a:xfrm>
            <a:off x="368300" y="4599868"/>
            <a:ext cx="1422400" cy="406400"/>
          </a:xfrm>
          <a:prstGeom prst="rect">
            <a:avLst/>
          </a:prstGeom>
          <a:solidFill>
            <a:srgbClr val="FFFFFF"/>
          </a:solidFill>
          <a:ln w="9525">
            <a:solidFill>
              <a:srgbClr val="BFBFB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5400" tIns="12700" rIns="25400" bIns="12700" rtlCol="0" anchor="ctr"/>
          <a:lstStyle/>
          <a:p>
            <a:pPr algn="ctr"/>
            <a:r>
              <a:rPr lang="ko-KR" altLang="en-US" sz="850" b="1" dirty="0" err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시군구</a:t>
            </a:r>
            <a:r>
              <a:rPr lang="ko-KR" altLang="en-US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r>
              <a:rPr lang="en-US" altLang="ko-KR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· </a:t>
            </a:r>
            <a:r>
              <a:rPr lang="ko-KR" altLang="en-US" sz="85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시도</a:t>
            </a:r>
          </a:p>
          <a:p>
            <a:pPr algn="ctr"/>
            <a:r>
              <a:rPr lang="en-US" altLang="ko-KR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행정망</a:t>
            </a:r>
            <a:r>
              <a:rPr lang="en-US" altLang="ko-KR" sz="85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850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02" name="KA_gslb">
            <a:extLst>
              <a:ext uri="{FF2B5EF4-FFF2-40B4-BE49-F238E27FC236}">
                <a16:creationId xmlns:a16="http://schemas.microsoft.com/office/drawing/2014/main" id="{8DCF48ED-2688-494C-3EA5-2D0806646772}"/>
              </a:ext>
            </a:extLst>
          </p:cNvPr>
          <p:cNvSpPr/>
          <p:nvPr/>
        </p:nvSpPr>
        <p:spPr>
          <a:xfrm>
            <a:off x="4061953" y="2489200"/>
            <a:ext cx="1320800" cy="584200"/>
          </a:xfrm>
          <a:prstGeom prst="roundRect">
            <a:avLst/>
          </a:prstGeom>
          <a:solidFill>
            <a:srgbClr val="1F3864"/>
          </a:solidFill>
          <a:ln w="9525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12700" rIns="25400" bIns="12700" rtlCol="0" anchor="ctr"/>
          <a:lstStyle/>
          <a:p>
            <a:pPr algn="ctr"/>
            <a:r>
              <a:rPr lang="en-US" altLang="ko-KR" sz="85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api.kras.go.kr</a:t>
            </a:r>
          </a:p>
          <a:p>
            <a:pPr algn="ctr"/>
            <a:r>
              <a:rPr lang="en-US" altLang="ko-KR" sz="85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GSLB</a:t>
            </a:r>
          </a:p>
        </p:txBody>
      </p:sp>
      <p:sp>
        <p:nvSpPr>
          <p:cNvPr id="131" name="KA_lbl_g">
            <a:extLst>
              <a:ext uri="{FF2B5EF4-FFF2-40B4-BE49-F238E27FC236}">
                <a16:creationId xmlns:a16="http://schemas.microsoft.com/office/drawing/2014/main" id="{04D62E83-FC6D-6D52-457F-769C9D271733}"/>
              </a:ext>
            </a:extLst>
          </p:cNvPr>
          <p:cNvSpPr txBox="1"/>
          <p:nvPr/>
        </p:nvSpPr>
        <p:spPr>
          <a:xfrm>
            <a:off x="5433553" y="2616200"/>
            <a:ext cx="1143000" cy="355600"/>
          </a:xfrm>
          <a:prstGeom prst="rect">
            <a:avLst/>
          </a:prstGeom>
          <a:noFill/>
        </p:spPr>
        <p:txBody>
          <a:bodyPr vert="horz" wrap="square" lIns="12700" tIns="0" rIns="12700" bIns="0" rtlCol="0" anchor="ctr" anchorCtr="0">
            <a:spAutoFit/>
          </a:bodyPr>
          <a:lstStyle/>
          <a:p>
            <a:pPr algn="ctr"/>
            <a:r>
              <a:rPr lang="en-US" altLang="ko-KR" sz="75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DNS </a:t>
            </a:r>
            <a:r>
              <a:rPr lang="ko-KR" altLang="en-US" sz="75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응답에 따라</a:t>
            </a:r>
          </a:p>
          <a:p>
            <a:pPr algn="ctr"/>
            <a:r>
              <a:rPr lang="ko-KR" altLang="en-US" sz="75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평상시 </a:t>
            </a:r>
            <a:r>
              <a:rPr lang="ko-KR" altLang="en-US" sz="750" dirty="0" err="1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주센터</a:t>
            </a:r>
            <a:endParaRPr lang="ko-KR" altLang="en-US" sz="750" dirty="0">
              <a:solidFill>
                <a:srgbClr val="595959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  <a:p>
            <a:pPr algn="ctr"/>
            <a:r>
              <a:rPr lang="ko-KR" altLang="en-US" sz="75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전환 시 </a:t>
            </a:r>
            <a:r>
              <a:rPr lang="en-US" altLang="ko-KR" sz="75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75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센터</a:t>
            </a:r>
            <a:r>
              <a:rPr lang="en-US" altLang="ko-KR" sz="75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75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점선</a:t>
            </a:r>
            <a:r>
              <a:rPr lang="en-US" altLang="ko-KR" sz="750" dirty="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)</a:t>
            </a:r>
            <a:endParaRPr lang="ko-KR" altLang="en-US" sz="750" dirty="0">
              <a:solidFill>
                <a:srgbClr val="595959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  <p:sp>
        <p:nvSpPr>
          <p:cNvPr id="134" name="KA_note">
            <a:extLst>
              <a:ext uri="{FF2B5EF4-FFF2-40B4-BE49-F238E27FC236}">
                <a16:creationId xmlns:a16="http://schemas.microsoft.com/office/drawing/2014/main" id="{C6C05FEF-6D1A-750A-D411-C11DB57C59B1}"/>
              </a:ext>
            </a:extLst>
          </p:cNvPr>
          <p:cNvSpPr txBox="1"/>
          <p:nvPr/>
        </p:nvSpPr>
        <p:spPr>
          <a:xfrm>
            <a:off x="368300" y="5989320"/>
            <a:ext cx="6451600" cy="392415"/>
          </a:xfrm>
          <a:prstGeom prst="rect">
            <a:avLst/>
          </a:prstGeom>
          <a:noFill/>
        </p:spPr>
        <p:txBody>
          <a:bodyPr vert="horz" wrap="square" lIns="12700" tIns="0" rIns="12700" bIns="0" rtlCol="0" anchor="ctr" anchorCtr="0">
            <a:spAutoFit/>
          </a:bodyPr>
          <a:lstStyle/>
          <a:p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• ①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도메인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(DNS)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호출 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: api.kras.go.kr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질의 → 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GSLB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가 활성 센터 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VIP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응답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기관 측 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DNS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캐시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(TTL)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갱신 필요</a:t>
            </a:r>
          </a:p>
          <a:p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• ② IP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고정 호출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(</a:t>
            </a:r>
            <a:r>
              <a:rPr lang="ko-KR" altLang="en-US" sz="850" dirty="0" err="1">
                <a:latin typeface="나눔고딕" panose="020D0804000000000000" pitchFamily="50" charset="-127"/>
                <a:ea typeface="나눔고딕" panose="020D0804000000000000" pitchFamily="50" charset="-127"/>
              </a:rPr>
              <a:t>시군구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시도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 </a:t>
            </a:r>
            <a:r>
              <a:rPr lang="ko-KR" altLang="en-US" sz="850" dirty="0" err="1">
                <a:latin typeface="나눔고딕" panose="020D0804000000000000" pitchFamily="50" charset="-127"/>
                <a:ea typeface="나눔고딕" panose="020D0804000000000000" pitchFamily="50" charset="-127"/>
              </a:rPr>
              <a:t>폐쇄망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) :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주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·DR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센터 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VIP 2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개 사전 등록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행정망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기관 방화벽에 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DR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센터 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IP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허용</a:t>
            </a:r>
          </a:p>
          <a:p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•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연계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DB·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업무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DB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복구 시점 일치 확인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, 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미처리 건은 재전송</a:t>
            </a:r>
            <a:r>
              <a:rPr lang="en-US" altLang="ko-KR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·</a:t>
            </a:r>
            <a:r>
              <a:rPr lang="ko-KR" altLang="en-US" sz="850" dirty="0">
                <a:latin typeface="나눔고딕" panose="020D0804000000000000" pitchFamily="50" charset="-127"/>
                <a:ea typeface="나눔고딕" panose="020D0804000000000000" pitchFamily="50" charset="-127"/>
              </a:rPr>
              <a:t>수신측 중복 제거</a:t>
            </a:r>
          </a:p>
        </p:txBody>
      </p:sp>
      <p:sp>
        <p:nvSpPr>
          <p:cNvPr id="14" name="GX_oA">
            <a:extLst>
              <a:ext uri="{FF2B5EF4-FFF2-40B4-BE49-F238E27FC236}">
                <a16:creationId xmlns:a16="http://schemas.microsoft.com/office/drawing/2014/main" id="{1642418C-C7E5-6728-0B95-F2A946BF7168}"/>
              </a:ext>
            </a:extLst>
          </p:cNvPr>
          <p:cNvSpPr/>
          <p:nvPr/>
        </p:nvSpPr>
        <p:spPr>
          <a:xfrm>
            <a:off x="1790700" y="3441700"/>
            <a:ext cx="241301" cy="1"/>
          </a:xfrm>
          <a:custGeom>
            <a:avLst/>
            <a:gdLst/>
            <a:ahLst/>
            <a:cxnLst/>
            <a:rect l="0" t="0" r="0" b="0"/>
            <a:pathLst>
              <a:path w="241301" h="1">
                <a:moveTo>
                  <a:pt x="0" y="0"/>
                </a:moveTo>
                <a:lnTo>
                  <a:pt x="241300" y="0"/>
                </a:lnTo>
              </a:path>
            </a:pathLst>
          </a:custGeom>
          <a:ln w="12700">
            <a:solidFill>
              <a:srgbClr val="595959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GX_bus">
            <a:extLst>
              <a:ext uri="{FF2B5EF4-FFF2-40B4-BE49-F238E27FC236}">
                <a16:creationId xmlns:a16="http://schemas.microsoft.com/office/drawing/2014/main" id="{F5D795F3-70EF-DA6C-DD8D-8326DD7FF931}"/>
              </a:ext>
            </a:extLst>
          </p:cNvPr>
          <p:cNvSpPr/>
          <p:nvPr/>
        </p:nvSpPr>
        <p:spPr>
          <a:xfrm>
            <a:off x="2032001" y="2781300"/>
            <a:ext cx="2027354" cy="1181100"/>
          </a:xfrm>
          <a:custGeom>
            <a:avLst/>
            <a:gdLst/>
            <a:ahLst/>
            <a:cxnLst/>
            <a:rect l="0" t="0" r="0" b="0"/>
            <a:pathLst>
              <a:path w="2387601" h="2197101">
                <a:moveTo>
                  <a:pt x="0" y="2197100"/>
                </a:moveTo>
                <a:lnTo>
                  <a:pt x="0" y="0"/>
                </a:lnTo>
                <a:lnTo>
                  <a:pt x="2387600" y="0"/>
                </a:lnTo>
              </a:path>
            </a:pathLst>
          </a:custGeom>
          <a:ln w="19050">
            <a:solidFill>
              <a:srgbClr val="1F3864"/>
            </a:solidFill>
            <a:prstDash val="dash"/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77A6BD73-729D-BDAA-D9A7-62CF1EE686DA}"/>
              </a:ext>
            </a:extLst>
          </p:cNvPr>
          <p:cNvGrpSpPr/>
          <p:nvPr/>
        </p:nvGrpSpPr>
        <p:grpSpPr>
          <a:xfrm>
            <a:off x="2648744" y="3073400"/>
            <a:ext cx="4171156" cy="2839876"/>
            <a:chOff x="3327400" y="3073400"/>
            <a:chExt cx="3492500" cy="2839876"/>
          </a:xfrm>
        </p:grpSpPr>
        <p:sp>
          <p:nvSpPr>
            <p:cNvPr id="106" name="KA_main_panel">
              <a:extLst>
                <a:ext uri="{FF2B5EF4-FFF2-40B4-BE49-F238E27FC236}">
                  <a16:creationId xmlns:a16="http://schemas.microsoft.com/office/drawing/2014/main" id="{94BEE0F8-23B3-B846-DDDF-425918A75293}"/>
                </a:ext>
              </a:extLst>
            </p:cNvPr>
            <p:cNvSpPr/>
            <p:nvPr/>
          </p:nvSpPr>
          <p:spPr>
            <a:xfrm>
              <a:off x="3327400" y="3298312"/>
              <a:ext cx="1727200" cy="2614964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endPara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sp>
          <p:nvSpPr>
            <p:cNvPr id="107" name="KA_main_title">
              <a:extLst>
                <a:ext uri="{FF2B5EF4-FFF2-40B4-BE49-F238E27FC236}">
                  <a16:creationId xmlns:a16="http://schemas.microsoft.com/office/drawing/2014/main" id="{8B062E96-CDB4-9800-DA10-1F42B13FD637}"/>
                </a:ext>
              </a:extLst>
            </p:cNvPr>
            <p:cNvSpPr/>
            <p:nvPr/>
          </p:nvSpPr>
          <p:spPr>
            <a:xfrm>
              <a:off x="3327400" y="3298312"/>
              <a:ext cx="1727200" cy="228600"/>
            </a:xfrm>
            <a:prstGeom prst="rect">
              <a:avLst/>
            </a:prstGeom>
            <a:solidFill>
              <a:srgbClr val="1F3864"/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0" tIns="12700" rIns="25400" bIns="12700" rtlCol="0" anchor="ctr"/>
            <a:lstStyle/>
            <a:p>
              <a:pPr algn="ctr"/>
              <a:r>
                <a:rPr lang="ko-KR" altLang="en-US" sz="900" b="1">
                  <a:solidFill>
                    <a:srgbClr val="FFFFFF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주센터 </a:t>
              </a:r>
              <a:r>
                <a:rPr lang="en-US" altLang="ko-KR" sz="900" b="1">
                  <a:solidFill>
                    <a:srgbClr val="FFFFFF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(Active)</a:t>
              </a:r>
              <a:endParaRPr lang="ko-KR" altLang="en-US" sz="900" b="1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sp>
          <p:nvSpPr>
            <p:cNvPr id="108" name="KA_main_vip">
              <a:extLst>
                <a:ext uri="{FF2B5EF4-FFF2-40B4-BE49-F238E27FC236}">
                  <a16:creationId xmlns:a16="http://schemas.microsoft.com/office/drawing/2014/main" id="{AFF0D256-7113-2C37-A45A-92271EE40404}"/>
                </a:ext>
              </a:extLst>
            </p:cNvPr>
            <p:cNvSpPr/>
            <p:nvPr/>
          </p:nvSpPr>
          <p:spPr>
            <a:xfrm>
              <a:off x="3429000" y="3590290"/>
              <a:ext cx="1524000" cy="279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r>
                <a:rPr lang="en-US" altLang="ko-KR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VIP (</a:t>
              </a:r>
              <a:r>
                <a:rPr lang="ko-KR" altLang="en-US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주센터</a:t>
              </a:r>
              <a:r>
                <a:rPr lang="en-US" altLang="ko-KR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)</a:t>
              </a:r>
              <a:endParaRPr lang="ko-KR" altLang="en-US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sp>
          <p:nvSpPr>
            <p:cNvPr id="109" name="KA_main_web">
              <a:extLst>
                <a:ext uri="{FF2B5EF4-FFF2-40B4-BE49-F238E27FC236}">
                  <a16:creationId xmlns:a16="http://schemas.microsoft.com/office/drawing/2014/main" id="{35FD05A9-460E-58D5-E552-FD9E4F76D817}"/>
                </a:ext>
              </a:extLst>
            </p:cNvPr>
            <p:cNvSpPr/>
            <p:nvPr/>
          </p:nvSpPr>
          <p:spPr>
            <a:xfrm>
              <a:off x="3429000" y="3933190"/>
              <a:ext cx="1524000" cy="279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r>
                <a:rPr lang="ko-KR" altLang="en-US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연계 </a:t>
              </a:r>
              <a:r>
                <a:rPr lang="en-US" altLang="ko-KR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WEB (Apache)</a:t>
              </a:r>
              <a:endPara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sp>
          <p:nvSpPr>
            <p:cNvPr id="110" name="KA_main_was">
              <a:extLst>
                <a:ext uri="{FF2B5EF4-FFF2-40B4-BE49-F238E27FC236}">
                  <a16:creationId xmlns:a16="http://schemas.microsoft.com/office/drawing/2014/main" id="{2BF970AE-E898-AFC8-5643-ABF204A16813}"/>
                </a:ext>
              </a:extLst>
            </p:cNvPr>
            <p:cNvSpPr/>
            <p:nvPr/>
          </p:nvSpPr>
          <p:spPr>
            <a:xfrm>
              <a:off x="3429000" y="4276090"/>
              <a:ext cx="1524000" cy="381000"/>
            </a:xfrm>
            <a:prstGeom prst="rect">
              <a:avLst/>
            </a:prstGeom>
            <a:solidFill>
              <a:srgbClr val="DEEBF7"/>
            </a:solidFill>
            <a:ln w="9525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r>
                <a:rPr lang="ko-KR" altLang="en-US" sz="800" b="1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연계 </a:t>
              </a:r>
              <a:r>
                <a:rPr lang="en-US" altLang="ko-KR" sz="800" b="1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WAS</a:t>
              </a:r>
            </a:p>
            <a:p>
              <a:pPr algn="ctr"/>
              <a:r>
                <a:rPr lang="ko-KR" altLang="en-US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표준연계 </a:t>
              </a:r>
              <a:r>
                <a:rPr lang="en-US" altLang="ko-KR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· </a:t>
              </a:r>
              <a:r>
                <a:rPr lang="ko-KR" altLang="en-US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내부연계 </a:t>
              </a:r>
              <a:r>
                <a:rPr lang="en-US" altLang="ko-KR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· </a:t>
              </a:r>
              <a:r>
                <a:rPr lang="ko-KR" altLang="en-US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행공연계</a:t>
              </a:r>
            </a:p>
          </p:txBody>
        </p:sp>
        <p:sp>
          <p:nvSpPr>
            <p:cNvPr id="111" name="KA_main_batch">
              <a:extLst>
                <a:ext uri="{FF2B5EF4-FFF2-40B4-BE49-F238E27FC236}">
                  <a16:creationId xmlns:a16="http://schemas.microsoft.com/office/drawing/2014/main" id="{9E07F8E8-2CB1-B0E5-1452-28FC3A57E59F}"/>
                </a:ext>
              </a:extLst>
            </p:cNvPr>
            <p:cNvSpPr/>
            <p:nvPr/>
          </p:nvSpPr>
          <p:spPr>
            <a:xfrm>
              <a:off x="3810000" y="5114290"/>
              <a:ext cx="1143000" cy="279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r>
                <a:rPr lang="ko-KR" altLang="en-US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배치 </a:t>
              </a:r>
              <a:r>
                <a:rPr lang="en-US" altLang="ko-KR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(</a:t>
              </a:r>
              <a:r>
                <a:rPr lang="ko-KR" altLang="en-US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활성 센터 실행</a:t>
              </a:r>
              <a:r>
                <a:rPr lang="en-US" altLang="ko-KR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)</a:t>
              </a:r>
              <a:endPara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sp>
          <p:nvSpPr>
            <p:cNvPr id="112" name="KA_main_db1">
              <a:extLst>
                <a:ext uri="{FF2B5EF4-FFF2-40B4-BE49-F238E27FC236}">
                  <a16:creationId xmlns:a16="http://schemas.microsoft.com/office/drawing/2014/main" id="{43308415-9265-27B9-EFF7-44E20463310F}"/>
                </a:ext>
              </a:extLst>
            </p:cNvPr>
            <p:cNvSpPr/>
            <p:nvPr/>
          </p:nvSpPr>
          <p:spPr>
            <a:xfrm>
              <a:off x="3429000" y="5457190"/>
              <a:ext cx="1524000" cy="355600"/>
            </a:xfrm>
            <a:prstGeom prst="can">
              <a:avLst/>
            </a:prstGeom>
            <a:solidFill>
              <a:srgbClr val="DEEBF7"/>
            </a:solidFill>
            <a:ln w="9525">
              <a:solidFill>
                <a:srgbClr val="2E7A9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r>
                <a:rPr lang="ko-KR" altLang="en-US" sz="800" b="1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연계 </a:t>
              </a:r>
              <a:r>
                <a:rPr lang="en-US" altLang="ko-KR" sz="800" b="1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DB</a:t>
              </a:r>
              <a:endPara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cxnSp>
          <p:nvCxnSpPr>
            <p:cNvPr id="114" name="KA_main_fKA_main_vip">
              <a:extLst>
                <a:ext uri="{FF2B5EF4-FFF2-40B4-BE49-F238E27FC236}">
                  <a16:creationId xmlns:a16="http://schemas.microsoft.com/office/drawing/2014/main" id="{B4D0E0E4-471E-B100-3799-092BD163B1EC}"/>
                </a:ext>
              </a:extLst>
            </p:cNvPr>
            <p:cNvCxnSpPr/>
            <p:nvPr/>
          </p:nvCxnSpPr>
          <p:spPr>
            <a:xfrm>
              <a:off x="4191000" y="3907912"/>
              <a:ext cx="0" cy="101600"/>
            </a:xfrm>
            <a:prstGeom prst="straightConnector1">
              <a:avLst/>
            </a:prstGeom>
            <a:ln w="1587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KA_main_fKA_main_web">
              <a:extLst>
                <a:ext uri="{FF2B5EF4-FFF2-40B4-BE49-F238E27FC236}">
                  <a16:creationId xmlns:a16="http://schemas.microsoft.com/office/drawing/2014/main" id="{5C1EB1EE-262A-BAE9-B4BB-E4A7CE6B6B38}"/>
                </a:ext>
              </a:extLst>
            </p:cNvPr>
            <p:cNvCxnSpPr/>
            <p:nvPr/>
          </p:nvCxnSpPr>
          <p:spPr>
            <a:xfrm>
              <a:off x="4191000" y="4288912"/>
              <a:ext cx="0" cy="101600"/>
            </a:xfrm>
            <a:prstGeom prst="straightConnector1">
              <a:avLst/>
            </a:prstGeom>
            <a:ln w="1587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KA_dr_panel">
              <a:extLst>
                <a:ext uri="{FF2B5EF4-FFF2-40B4-BE49-F238E27FC236}">
                  <a16:creationId xmlns:a16="http://schemas.microsoft.com/office/drawing/2014/main" id="{A9AD2EBC-826D-1C02-C621-E847E6697911}"/>
                </a:ext>
              </a:extLst>
            </p:cNvPr>
            <p:cNvSpPr/>
            <p:nvPr/>
          </p:nvSpPr>
          <p:spPr>
            <a:xfrm>
              <a:off x="5092700" y="3298312"/>
              <a:ext cx="1727200" cy="2614964"/>
            </a:xfrm>
            <a:prstGeom prst="rect">
              <a:avLst/>
            </a:prstGeom>
            <a:solidFill>
              <a:srgbClr val="F7F7F7"/>
            </a:solidFill>
            <a:ln w="9525">
              <a:solidFill>
                <a:srgbClr val="A6A6A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endPara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sp>
          <p:nvSpPr>
            <p:cNvPr id="118" name="KA_dr_title">
              <a:extLst>
                <a:ext uri="{FF2B5EF4-FFF2-40B4-BE49-F238E27FC236}">
                  <a16:creationId xmlns:a16="http://schemas.microsoft.com/office/drawing/2014/main" id="{AD02463D-1D14-F1E1-B283-956369B891AF}"/>
                </a:ext>
              </a:extLst>
            </p:cNvPr>
            <p:cNvSpPr/>
            <p:nvPr/>
          </p:nvSpPr>
          <p:spPr>
            <a:xfrm>
              <a:off x="5092700" y="3298312"/>
              <a:ext cx="1727200" cy="228600"/>
            </a:xfrm>
            <a:prstGeom prst="rect">
              <a:avLst/>
            </a:prstGeom>
            <a:solidFill>
              <a:srgbClr val="7F7F7F"/>
            </a:solid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bg1">
                      <a:lumMod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5400" tIns="12700" rIns="25400" bIns="12700" rtlCol="0" anchor="ctr"/>
            <a:lstStyle/>
            <a:p>
              <a:pPr algn="ctr"/>
              <a:r>
                <a:rPr lang="en-US" altLang="ko-KR" sz="900" b="1">
                  <a:solidFill>
                    <a:srgbClr val="FFFFFF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DR</a:t>
              </a:r>
              <a:r>
                <a:rPr lang="ko-KR" altLang="en-US" sz="900" b="1">
                  <a:solidFill>
                    <a:srgbClr val="FFFFFF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센터 </a:t>
              </a:r>
              <a:r>
                <a:rPr lang="en-US" altLang="ko-KR" sz="900" b="1">
                  <a:solidFill>
                    <a:srgbClr val="FFFFFF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(Standby · </a:t>
              </a:r>
              <a:r>
                <a:rPr lang="ko-KR" altLang="en-US" sz="900" b="1">
                  <a:solidFill>
                    <a:srgbClr val="FFFFFF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상시 기동</a:t>
              </a:r>
              <a:r>
                <a:rPr lang="en-US" altLang="ko-KR" sz="900" b="1">
                  <a:solidFill>
                    <a:srgbClr val="FFFFFF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)</a:t>
              </a:r>
              <a:endParaRPr lang="ko-KR" altLang="en-US" sz="900" b="1" dirty="0">
                <a:solidFill>
                  <a:srgbClr val="FFFFFF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sp>
          <p:nvSpPr>
            <p:cNvPr id="119" name="KA_dr_vip">
              <a:extLst>
                <a:ext uri="{FF2B5EF4-FFF2-40B4-BE49-F238E27FC236}">
                  <a16:creationId xmlns:a16="http://schemas.microsoft.com/office/drawing/2014/main" id="{F423CC29-AF10-C081-51E8-5AF2031D8D63}"/>
                </a:ext>
              </a:extLst>
            </p:cNvPr>
            <p:cNvSpPr/>
            <p:nvPr/>
          </p:nvSpPr>
          <p:spPr>
            <a:xfrm>
              <a:off x="5194300" y="3590290"/>
              <a:ext cx="1524000" cy="279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r>
                <a:rPr lang="en-US" altLang="ko-KR" sz="800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VIP (DR</a:t>
              </a:r>
              <a:r>
                <a:rPr lang="ko-KR" altLang="en-US" sz="800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센터</a:t>
              </a:r>
              <a:r>
                <a:rPr lang="en-US" altLang="ko-KR" sz="800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)</a:t>
              </a:r>
              <a:endParaRPr lang="ko-KR" altLang="en-US" sz="800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sp>
          <p:nvSpPr>
            <p:cNvPr id="120" name="KA_dr_web">
              <a:extLst>
                <a:ext uri="{FF2B5EF4-FFF2-40B4-BE49-F238E27FC236}">
                  <a16:creationId xmlns:a16="http://schemas.microsoft.com/office/drawing/2014/main" id="{50FABA01-3CD7-D12D-A0FD-AA0A5851BEA8}"/>
                </a:ext>
              </a:extLst>
            </p:cNvPr>
            <p:cNvSpPr/>
            <p:nvPr/>
          </p:nvSpPr>
          <p:spPr>
            <a:xfrm>
              <a:off x="5194300" y="3933190"/>
              <a:ext cx="1524000" cy="279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r>
                <a:rPr lang="ko-KR" altLang="en-US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연계 </a:t>
              </a:r>
              <a:r>
                <a:rPr lang="en-US" altLang="ko-KR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WEB (Apache)</a:t>
              </a:r>
              <a:endPara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sp>
          <p:nvSpPr>
            <p:cNvPr id="121" name="KA_dr_was">
              <a:extLst>
                <a:ext uri="{FF2B5EF4-FFF2-40B4-BE49-F238E27FC236}">
                  <a16:creationId xmlns:a16="http://schemas.microsoft.com/office/drawing/2014/main" id="{EAAC9E60-220D-3D05-EB7A-96F7EC9A9FF1}"/>
                </a:ext>
              </a:extLst>
            </p:cNvPr>
            <p:cNvSpPr/>
            <p:nvPr/>
          </p:nvSpPr>
          <p:spPr>
            <a:xfrm>
              <a:off x="5194300" y="4276090"/>
              <a:ext cx="1524000" cy="381000"/>
            </a:xfrm>
            <a:prstGeom prst="rect">
              <a:avLst/>
            </a:prstGeom>
            <a:solidFill>
              <a:srgbClr val="DEEBF7"/>
            </a:solidFill>
            <a:ln w="9525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r>
                <a:rPr lang="ko-KR" altLang="en-US" sz="800" b="1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연계 </a:t>
              </a:r>
              <a:r>
                <a:rPr lang="en-US" altLang="ko-KR" sz="800" b="1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WAS</a:t>
              </a:r>
            </a:p>
            <a:p>
              <a:pPr algn="ctr"/>
              <a:r>
                <a:rPr lang="ko-KR" altLang="en-US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표준연계 </a:t>
              </a:r>
              <a:r>
                <a:rPr lang="en-US" altLang="ko-KR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· </a:t>
              </a:r>
              <a:r>
                <a:rPr lang="ko-KR" altLang="en-US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내부연계 </a:t>
              </a:r>
              <a:r>
                <a:rPr lang="en-US" altLang="ko-KR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· </a:t>
              </a:r>
              <a:r>
                <a:rPr lang="ko-KR" altLang="en-US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행공연계</a:t>
              </a:r>
            </a:p>
          </p:txBody>
        </p:sp>
        <p:sp>
          <p:nvSpPr>
            <p:cNvPr id="122" name="KA_dr_batch">
              <a:extLst>
                <a:ext uri="{FF2B5EF4-FFF2-40B4-BE49-F238E27FC236}">
                  <a16:creationId xmlns:a16="http://schemas.microsoft.com/office/drawing/2014/main" id="{B05D1733-D512-F289-0789-74D79DB06BA3}"/>
                </a:ext>
              </a:extLst>
            </p:cNvPr>
            <p:cNvSpPr/>
            <p:nvPr/>
          </p:nvSpPr>
          <p:spPr>
            <a:xfrm>
              <a:off x="5575300" y="5114290"/>
              <a:ext cx="1143000" cy="2794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r>
                <a:rPr lang="ko-KR" altLang="en-US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배치 </a:t>
              </a:r>
              <a:r>
                <a:rPr lang="en-US" altLang="ko-KR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(</a:t>
              </a:r>
              <a:r>
                <a:rPr lang="ko-KR" altLang="en-US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전환 시 실행</a:t>
              </a:r>
              <a:r>
                <a:rPr lang="en-US" altLang="ko-KR" sz="80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)</a:t>
              </a:r>
              <a:endParaRPr lang="ko-KR" altLang="en-US" sz="80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sp>
          <p:nvSpPr>
            <p:cNvPr id="123" name="KA_dr_db1">
              <a:extLst>
                <a:ext uri="{FF2B5EF4-FFF2-40B4-BE49-F238E27FC236}">
                  <a16:creationId xmlns:a16="http://schemas.microsoft.com/office/drawing/2014/main" id="{255A1BB0-41CB-7AA2-2424-E5741788BD4C}"/>
                </a:ext>
              </a:extLst>
            </p:cNvPr>
            <p:cNvSpPr/>
            <p:nvPr/>
          </p:nvSpPr>
          <p:spPr>
            <a:xfrm>
              <a:off x="5194300" y="5457190"/>
              <a:ext cx="1524000" cy="355600"/>
            </a:xfrm>
            <a:prstGeom prst="can">
              <a:avLst/>
            </a:prstGeom>
            <a:solidFill>
              <a:srgbClr val="DEEBF7"/>
            </a:solidFill>
            <a:ln w="9525">
              <a:solidFill>
                <a:srgbClr val="2E7A9E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r>
                <a:rPr lang="ko-KR" altLang="en-US" sz="800" b="1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연계 </a:t>
              </a:r>
              <a:r>
                <a:rPr lang="en-US" altLang="ko-KR" sz="800" b="1" dirty="0">
                  <a:solidFill>
                    <a:srgbClr val="000000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DB</a:t>
              </a:r>
              <a:endParaRPr lang="ko-KR" altLang="en-US" sz="800" b="1" dirty="0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cxnSp>
          <p:nvCxnSpPr>
            <p:cNvPr id="125" name="KA_dr_fKA_dr_vip">
              <a:extLst>
                <a:ext uri="{FF2B5EF4-FFF2-40B4-BE49-F238E27FC236}">
                  <a16:creationId xmlns:a16="http://schemas.microsoft.com/office/drawing/2014/main" id="{FB4E5AAD-8D15-6D08-B00C-E727FD7273C4}"/>
                </a:ext>
              </a:extLst>
            </p:cNvPr>
            <p:cNvCxnSpPr/>
            <p:nvPr/>
          </p:nvCxnSpPr>
          <p:spPr>
            <a:xfrm>
              <a:off x="5956300" y="3907912"/>
              <a:ext cx="0" cy="101600"/>
            </a:xfrm>
            <a:prstGeom prst="straightConnector1">
              <a:avLst/>
            </a:prstGeom>
            <a:ln w="1587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KA_dr_fKA_dr_web">
              <a:extLst>
                <a:ext uri="{FF2B5EF4-FFF2-40B4-BE49-F238E27FC236}">
                  <a16:creationId xmlns:a16="http://schemas.microsoft.com/office/drawing/2014/main" id="{44E50246-D0B2-AB2D-3A6F-D27508549920}"/>
                </a:ext>
              </a:extLst>
            </p:cNvPr>
            <p:cNvCxnSpPr/>
            <p:nvPr/>
          </p:nvCxnSpPr>
          <p:spPr>
            <a:xfrm>
              <a:off x="5956300" y="4288912"/>
              <a:ext cx="0" cy="101600"/>
            </a:xfrm>
            <a:prstGeom prst="straightConnector1">
              <a:avLst/>
            </a:prstGeom>
            <a:ln w="1587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KA_main_fdb">
              <a:extLst>
                <a:ext uri="{FF2B5EF4-FFF2-40B4-BE49-F238E27FC236}">
                  <a16:creationId xmlns:a16="http://schemas.microsoft.com/office/drawing/2014/main" id="{907A085F-ACEA-6DC4-7E5A-A0073E8255CA}"/>
                </a:ext>
              </a:extLst>
            </p:cNvPr>
            <p:cNvCxnSpPr/>
            <p:nvPr/>
          </p:nvCxnSpPr>
          <p:spPr>
            <a:xfrm>
              <a:off x="3606800" y="4847712"/>
              <a:ext cx="0" cy="533400"/>
            </a:xfrm>
            <a:prstGeom prst="straightConnector1">
              <a:avLst/>
            </a:prstGeom>
            <a:ln w="1587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KA_dr_fdb">
              <a:extLst>
                <a:ext uri="{FF2B5EF4-FFF2-40B4-BE49-F238E27FC236}">
                  <a16:creationId xmlns:a16="http://schemas.microsoft.com/office/drawing/2014/main" id="{7120A610-A299-1584-BE6A-0309CFD306A8}"/>
                </a:ext>
              </a:extLst>
            </p:cNvPr>
            <p:cNvCxnSpPr/>
            <p:nvPr/>
          </p:nvCxnSpPr>
          <p:spPr>
            <a:xfrm>
              <a:off x="5372100" y="4847712"/>
              <a:ext cx="0" cy="533400"/>
            </a:xfrm>
            <a:prstGeom prst="straightConnector1">
              <a:avLst/>
            </a:prstGeom>
            <a:ln w="15875">
              <a:solidFill>
                <a:srgbClr val="595959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KA_rep">
              <a:extLst>
                <a:ext uri="{FF2B5EF4-FFF2-40B4-BE49-F238E27FC236}">
                  <a16:creationId xmlns:a16="http://schemas.microsoft.com/office/drawing/2014/main" id="{83A48F97-E6A8-C9D5-7830-87B02FFD4000}"/>
                </a:ext>
              </a:extLst>
            </p:cNvPr>
            <p:cNvCxnSpPr/>
            <p:nvPr/>
          </p:nvCxnSpPr>
          <p:spPr>
            <a:xfrm>
              <a:off x="4953000" y="5597012"/>
              <a:ext cx="241300" cy="0"/>
            </a:xfrm>
            <a:prstGeom prst="straightConnector1">
              <a:avLst/>
            </a:prstGeom>
            <a:ln w="15875">
              <a:solidFill>
                <a:srgbClr val="2E7A9E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GX_g2m">
              <a:extLst>
                <a:ext uri="{FF2B5EF4-FFF2-40B4-BE49-F238E27FC236}">
                  <a16:creationId xmlns:a16="http://schemas.microsoft.com/office/drawing/2014/main" id="{E41863B6-5DEB-865C-49DD-63E07EBB3F0D}"/>
                </a:ext>
              </a:extLst>
            </p:cNvPr>
            <p:cNvSpPr/>
            <p:nvPr/>
          </p:nvSpPr>
          <p:spPr>
            <a:xfrm>
              <a:off x="4191000" y="3073400"/>
              <a:ext cx="609601" cy="228601"/>
            </a:xfrm>
            <a:custGeom>
              <a:avLst/>
              <a:gdLst/>
              <a:ahLst/>
              <a:cxnLst/>
              <a:rect l="0" t="0" r="0" b="0"/>
              <a:pathLst>
                <a:path w="609601" h="228601">
                  <a:moveTo>
                    <a:pt x="609600" y="0"/>
                  </a:moveTo>
                  <a:lnTo>
                    <a:pt x="0" y="127000"/>
                  </a:lnTo>
                  <a:lnTo>
                    <a:pt x="0" y="228600"/>
                  </a:lnTo>
                </a:path>
              </a:pathLst>
            </a:custGeom>
            <a:ln w="22225">
              <a:solidFill>
                <a:srgbClr val="1F3864"/>
              </a:solidFill>
              <a:prstDash val="solid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GX_g2d">
              <a:extLst>
                <a:ext uri="{FF2B5EF4-FFF2-40B4-BE49-F238E27FC236}">
                  <a16:creationId xmlns:a16="http://schemas.microsoft.com/office/drawing/2014/main" id="{99B14FB3-0228-726F-287F-933E8BFD17AD}"/>
                </a:ext>
              </a:extLst>
            </p:cNvPr>
            <p:cNvSpPr/>
            <p:nvPr/>
          </p:nvSpPr>
          <p:spPr>
            <a:xfrm>
              <a:off x="5359400" y="3073400"/>
              <a:ext cx="596901" cy="228601"/>
            </a:xfrm>
            <a:custGeom>
              <a:avLst/>
              <a:gdLst/>
              <a:ahLst/>
              <a:cxnLst/>
              <a:rect l="0" t="0" r="0" b="0"/>
              <a:pathLst>
                <a:path w="596901" h="228601">
                  <a:moveTo>
                    <a:pt x="0" y="0"/>
                  </a:moveTo>
                  <a:lnTo>
                    <a:pt x="596900" y="127000"/>
                  </a:lnTo>
                  <a:lnTo>
                    <a:pt x="596900" y="228600"/>
                  </a:lnTo>
                </a:path>
              </a:pathLst>
            </a:custGeom>
            <a:ln w="22225">
              <a:solidFill>
                <a:srgbClr val="1F3864"/>
              </a:solidFill>
              <a:prstDash val="dash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" name="KA_main_gis">
              <a:extLst>
                <a:ext uri="{FF2B5EF4-FFF2-40B4-BE49-F238E27FC236}">
                  <a16:creationId xmlns:a16="http://schemas.microsoft.com/office/drawing/2014/main" id="{04BD5023-76AA-BBC1-06C9-61852AB5A0AE}"/>
                </a:ext>
              </a:extLst>
            </p:cNvPr>
            <p:cNvSpPr/>
            <p:nvPr/>
          </p:nvSpPr>
          <p:spPr>
            <a:xfrm>
              <a:off x="3429000" y="4720590"/>
              <a:ext cx="1524000" cy="330200"/>
            </a:xfrm>
            <a:prstGeom prst="rect">
              <a:avLst/>
            </a:prstGeom>
            <a:solidFill>
              <a:srgbClr val="DEEBF7"/>
            </a:solidFill>
            <a:ln w="9525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미들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GIS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표준 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API </a:t>
              </a:r>
              <a:r>
                <a:rPr lang="ko-KR" altLang="en-US" sz="700" dirty="0">
                  <a:solidFill>
                    <a:schemeClr val="tx1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공간정보 제공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)</a:t>
              </a:r>
              <a:endParaRPr lang="ko-KR" altLang="en-US" sz="700" dirty="0">
                <a:solidFill>
                  <a:schemeClr val="tx1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  <p:sp>
          <p:nvSpPr>
            <p:cNvPr id="4" name="KA_dr_gis">
              <a:extLst>
                <a:ext uri="{FF2B5EF4-FFF2-40B4-BE49-F238E27FC236}">
                  <a16:creationId xmlns:a16="http://schemas.microsoft.com/office/drawing/2014/main" id="{735836C1-3BE2-3BC1-5AC6-59D9A4068217}"/>
                </a:ext>
              </a:extLst>
            </p:cNvPr>
            <p:cNvSpPr/>
            <p:nvPr/>
          </p:nvSpPr>
          <p:spPr>
            <a:xfrm>
              <a:off x="5194300" y="4720590"/>
              <a:ext cx="1524000" cy="330200"/>
            </a:xfrm>
            <a:prstGeom prst="rect">
              <a:avLst/>
            </a:prstGeom>
            <a:solidFill>
              <a:srgbClr val="DEEBF7"/>
            </a:solidFill>
            <a:ln w="9525">
              <a:solidFill>
                <a:srgbClr val="BFBFB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25400" tIns="12700" rIns="25400" bIns="12700" rtlCol="0" anchor="ctr"/>
            <a:lstStyle/>
            <a:p>
              <a:pPr algn="ctr"/>
              <a:r>
                <a:rPr lang="ko-KR" altLang="en-US" sz="700" dirty="0">
                  <a:solidFill>
                    <a:schemeClr val="tx1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미들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GIS</a:t>
              </a:r>
            </a:p>
            <a:p>
              <a:pPr algn="ctr"/>
              <a:r>
                <a:rPr lang="en-US" altLang="ko-KR" sz="700" dirty="0">
                  <a:solidFill>
                    <a:schemeClr val="tx1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(</a:t>
              </a:r>
              <a:r>
                <a:rPr lang="ko-KR" altLang="en-US" sz="700" dirty="0">
                  <a:solidFill>
                    <a:schemeClr val="tx1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표준 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API </a:t>
              </a:r>
              <a:r>
                <a:rPr lang="ko-KR" altLang="en-US" sz="700" dirty="0">
                  <a:solidFill>
                    <a:schemeClr val="tx1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공간정보 제공</a:t>
              </a:r>
              <a:r>
                <a:rPr lang="en-US" altLang="ko-KR" sz="700" dirty="0">
                  <a:solidFill>
                    <a:schemeClr val="tx1"/>
                  </a:solidFill>
                  <a:latin typeface="나눔고딕" panose="020D0804000000000000" pitchFamily="50" charset="-127"/>
                  <a:ea typeface="나눔고딕" panose="020D0804000000000000" pitchFamily="50" charset="-127"/>
                </a:rPr>
                <a:t>)</a:t>
              </a:r>
              <a:endParaRPr lang="ko-KR" altLang="en-US" sz="700" dirty="0">
                <a:solidFill>
                  <a:schemeClr val="tx1"/>
                </a:solidFill>
                <a:latin typeface="나눔고딕" panose="020D0804000000000000" pitchFamily="50" charset="-127"/>
                <a:ea typeface="나눔고딕" panose="020D0804000000000000" pitchFamily="50" charset="-127"/>
              </a:endParaRPr>
            </a:p>
          </p:txBody>
        </p:sp>
      </p:grpSp>
      <p:sp>
        <p:nvSpPr>
          <p:cNvPr id="12" name="KA_lbl_dns">
            <a:extLst>
              <a:ext uri="{FF2B5EF4-FFF2-40B4-BE49-F238E27FC236}">
                <a16:creationId xmlns:a16="http://schemas.microsoft.com/office/drawing/2014/main" id="{61DB828A-5CE5-8FDF-89BB-0B0C5986BB3D}"/>
              </a:ext>
            </a:extLst>
          </p:cNvPr>
          <p:cNvSpPr txBox="1"/>
          <p:nvPr/>
        </p:nvSpPr>
        <p:spPr>
          <a:xfrm>
            <a:off x="2667000" y="2564841"/>
            <a:ext cx="400751" cy="115416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r"/>
            <a:r>
              <a:rPr lang="en-US" altLang="ko-KR" sz="75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DNS </a:t>
            </a:r>
            <a:r>
              <a:rPr lang="ko-KR" altLang="en-US" sz="750">
                <a:solidFill>
                  <a:srgbClr val="595959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질의</a:t>
            </a:r>
          </a:p>
        </p:txBody>
      </p:sp>
      <p:sp>
        <p:nvSpPr>
          <p:cNvPr id="23" name="KA_lbl_g1">
            <a:extLst>
              <a:ext uri="{FF2B5EF4-FFF2-40B4-BE49-F238E27FC236}">
                <a16:creationId xmlns:a16="http://schemas.microsoft.com/office/drawing/2014/main" id="{97AD3E1C-F1C4-696A-CFD7-1EF23D9F895E}"/>
              </a:ext>
            </a:extLst>
          </p:cNvPr>
          <p:cNvSpPr txBox="1"/>
          <p:nvPr/>
        </p:nvSpPr>
        <p:spPr>
          <a:xfrm>
            <a:off x="368300" y="3022600"/>
            <a:ext cx="19177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ko-KR" altLang="en-US" sz="750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① 도메인</a:t>
            </a:r>
            <a:r>
              <a:rPr lang="en-US" altLang="ko-KR" sz="750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(DNS) </a:t>
            </a:r>
            <a:r>
              <a:rPr lang="ko-KR" altLang="en-US" sz="75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호출 </a:t>
            </a:r>
            <a:r>
              <a:rPr lang="en-US" altLang="ko-KR" sz="75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- </a:t>
            </a:r>
            <a:r>
              <a:rPr lang="en-US" altLang="ko-KR" sz="750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GSLB </a:t>
            </a:r>
            <a:r>
              <a:rPr lang="ko-KR" altLang="en-US" sz="750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전환</a:t>
            </a:r>
          </a:p>
        </p:txBody>
      </p:sp>
      <p:sp>
        <p:nvSpPr>
          <p:cNvPr id="24" name="KA_lbl_g2">
            <a:extLst>
              <a:ext uri="{FF2B5EF4-FFF2-40B4-BE49-F238E27FC236}">
                <a16:creationId xmlns:a16="http://schemas.microsoft.com/office/drawing/2014/main" id="{10809D34-042F-4585-6A33-AD543238D129}"/>
              </a:ext>
            </a:extLst>
          </p:cNvPr>
          <p:cNvSpPr txBox="1"/>
          <p:nvPr/>
        </p:nvSpPr>
        <p:spPr>
          <a:xfrm>
            <a:off x="368300" y="4429708"/>
            <a:ext cx="1917700" cy="11541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ko-KR" altLang="en-US" sz="750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② </a:t>
            </a:r>
            <a:r>
              <a:rPr lang="en-US" altLang="ko-KR" sz="750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IP </a:t>
            </a:r>
            <a:r>
              <a:rPr lang="ko-KR" altLang="en-US" sz="750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고정 </a:t>
            </a:r>
            <a:r>
              <a:rPr lang="ko-KR" altLang="en-US" sz="75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호출 </a:t>
            </a:r>
            <a:r>
              <a:rPr lang="en-US" altLang="ko-KR" sz="75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- </a:t>
            </a:r>
            <a:r>
              <a:rPr lang="en-US" altLang="ko-KR" sz="750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VIP </a:t>
            </a:r>
            <a:r>
              <a:rPr lang="ko-KR" altLang="en-US" sz="750" dirty="0">
                <a:solidFill>
                  <a:srgbClr val="1F3864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이원화</a:t>
            </a:r>
          </a:p>
        </p:txBody>
      </p:sp>
      <p:sp>
        <p:nvSpPr>
          <p:cNvPr id="28" name="GX_int_d">
            <a:extLst>
              <a:ext uri="{FF2B5EF4-FFF2-40B4-BE49-F238E27FC236}">
                <a16:creationId xmlns:a16="http://schemas.microsoft.com/office/drawing/2014/main" id="{2E172B85-8961-6889-B003-CAE7EDAE7E5A}"/>
              </a:ext>
            </a:extLst>
          </p:cNvPr>
          <p:cNvSpPr/>
          <p:nvPr/>
        </p:nvSpPr>
        <p:spPr>
          <a:xfrm>
            <a:off x="2362200" y="3149600"/>
            <a:ext cx="3606801" cy="622301"/>
          </a:xfrm>
          <a:custGeom>
            <a:avLst/>
            <a:gdLst/>
            <a:ahLst/>
            <a:cxnLst/>
            <a:rect l="0" t="0" r="0" b="0"/>
            <a:pathLst>
              <a:path w="3606801" h="622301">
                <a:moveTo>
                  <a:pt x="0" y="622300"/>
                </a:moveTo>
                <a:lnTo>
                  <a:pt x="0" y="0"/>
                </a:lnTo>
                <a:lnTo>
                  <a:pt x="3606800" y="0"/>
                </a:lnTo>
                <a:lnTo>
                  <a:pt x="3606800" y="139700"/>
                </a:lnTo>
              </a:path>
            </a:pathLst>
          </a:custGeom>
          <a:ln w="22225">
            <a:solidFill>
              <a:srgbClr val="1F6E5A"/>
            </a:solidFill>
            <a:prstDash val="dash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GX_oB">
            <a:extLst>
              <a:ext uri="{FF2B5EF4-FFF2-40B4-BE49-F238E27FC236}">
                <a16:creationId xmlns:a16="http://schemas.microsoft.com/office/drawing/2014/main" id="{8A1047A4-BE88-1171-04E4-B3DD886D2F88}"/>
              </a:ext>
            </a:extLst>
          </p:cNvPr>
          <p:cNvSpPr/>
          <p:nvPr/>
        </p:nvSpPr>
        <p:spPr>
          <a:xfrm>
            <a:off x="1790700" y="4041068"/>
            <a:ext cx="241301" cy="1"/>
          </a:xfrm>
          <a:custGeom>
            <a:avLst/>
            <a:gdLst/>
            <a:ahLst/>
            <a:cxnLst/>
            <a:rect l="0" t="0" r="0" b="0"/>
            <a:pathLst>
              <a:path w="241301" h="1">
                <a:moveTo>
                  <a:pt x="0" y="0"/>
                </a:moveTo>
                <a:lnTo>
                  <a:pt x="241300" y="0"/>
                </a:lnTo>
              </a:path>
            </a:pathLst>
          </a:custGeom>
          <a:ln w="12700">
            <a:solidFill>
              <a:srgbClr val="595959"/>
            </a:solidFill>
            <a:prstDash val="dash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GX_int_m">
            <a:extLst>
              <a:ext uri="{FF2B5EF4-FFF2-40B4-BE49-F238E27FC236}">
                <a16:creationId xmlns:a16="http://schemas.microsoft.com/office/drawing/2014/main" id="{D3EB639C-D442-0E03-3748-4CCD6BBAF81C}"/>
              </a:ext>
            </a:extLst>
          </p:cNvPr>
          <p:cNvSpPr/>
          <p:nvPr/>
        </p:nvSpPr>
        <p:spPr>
          <a:xfrm>
            <a:off x="1790700" y="3771900"/>
            <a:ext cx="952501" cy="952501"/>
          </a:xfrm>
          <a:custGeom>
            <a:avLst/>
            <a:gdLst/>
            <a:ahLst/>
            <a:cxnLst/>
            <a:rect l="0" t="0" r="0" b="0"/>
            <a:pathLst>
              <a:path w="952501" h="952501">
                <a:moveTo>
                  <a:pt x="0" y="952500"/>
                </a:moveTo>
                <a:lnTo>
                  <a:pt x="571500" y="952500"/>
                </a:lnTo>
                <a:lnTo>
                  <a:pt x="571500" y="0"/>
                </a:lnTo>
                <a:lnTo>
                  <a:pt x="952500" y="0"/>
                </a:lnTo>
              </a:path>
            </a:pathLst>
          </a:custGeom>
          <a:ln w="22225">
            <a:solidFill>
              <a:srgbClr val="1F6E5A"/>
            </a:solidFill>
            <a:prstDash val="solid"/>
            <a:headEnd type="none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978A1B1-6E2B-9E93-9416-F7BA8DB90F8C}"/>
              </a:ext>
            </a:extLst>
          </p:cNvPr>
          <p:cNvSpPr/>
          <p:nvPr/>
        </p:nvSpPr>
        <p:spPr>
          <a:xfrm>
            <a:off x="-1491716" y="0"/>
            <a:ext cx="1404156" cy="1160748"/>
          </a:xfrm>
          <a:prstGeom prst="rect">
            <a:avLst/>
          </a:prstGeom>
          <a:solidFill>
            <a:srgbClr val="FFC000"/>
          </a:solidFill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36000" rIns="72000" bIns="36000" rtlCol="0" anchor="ctr"/>
          <a:lstStyle/>
          <a:p>
            <a:pPr algn="ctr"/>
            <a:r>
              <a:rPr lang="en-US" altLang="ko-KR" sz="12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ACR-003-65</a:t>
            </a:r>
          </a:p>
          <a:p>
            <a:pPr algn="ctr"/>
            <a:r>
              <a:rPr lang="en-US" altLang="ko-KR" sz="12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CNR-004-43</a:t>
            </a:r>
          </a:p>
          <a:p>
            <a:pPr algn="ctr"/>
            <a:r>
              <a:rPr lang="en-US" altLang="ko-KR" sz="1200" b="1">
                <a:solidFill>
                  <a:srgbClr val="000000"/>
                </a:solidFill>
                <a:latin typeface="나눔고딕" panose="020D0804000000000000" pitchFamily="50" charset="-127"/>
                <a:ea typeface="나눔고딕" panose="020D0804000000000000" pitchFamily="50" charset="-127"/>
              </a:rPr>
              <a:t>CNR-005-46</a:t>
            </a:r>
            <a:endParaRPr lang="ko-KR" altLang="en-US" sz="1200" b="1" dirty="0">
              <a:solidFill>
                <a:srgbClr val="000000"/>
              </a:solidFill>
              <a:latin typeface="나눔고딕" panose="020D0804000000000000" pitchFamily="50" charset="-127"/>
              <a:ea typeface="나눔고딕" panose="020D08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126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나눔고딕">
      <a:majorFont>
        <a:latin typeface="나눔고딕 Bold"/>
        <a:ea typeface="나눔고딕 Bold"/>
        <a:cs typeface=""/>
      </a:majorFont>
      <a:minorFont>
        <a:latin typeface="나눔고딕"/>
        <a:ea typeface="나눔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>
          <a:solidFill>
            <a:schemeClr val="bg1">
              <a:lumMod val="50000"/>
            </a:schemeClr>
          </a:solidFill>
        </a:ln>
      </a:spPr>
      <a:bodyPr lIns="72000" tIns="36000" rIns="72000" bIns="36000" rtlCol="0" anchor="ctr"/>
      <a:lstStyle>
        <a:defPPr algn="ctr">
          <a:defRPr sz="120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>
              <a:lumMod val="50000"/>
              <a:lumOff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36000" tIns="36000" rIns="36000" bIns="36000" rtlCol="0" anchor="ctr" anchorCtr="0">
        <a:spAutoFit/>
      </a:bodyPr>
      <a:lstStyle>
        <a:defPPr>
          <a:defRPr sz="11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9E55235-2B6A-4416-8E3B-0AA7EB7F34FB}">
  <we:reference id="wa200010001" version="1.0.0.1" store="ko-KR" storeType="OMEX"/>
  <we:alternateReferences>
    <we:reference id="WA200010001" version="1.0.0.1" store="" storeType="OMEX"/>
  </we:alternateReferences>
  <we:properties>
    <we:property name="claude.fileId" value="&quot;3b6928ab-2b24-46eb-9228-24daec2ba0a4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21793</TotalTime>
  <Words>14177</Words>
  <Application>Microsoft Office PowerPoint</Application>
  <PresentationFormat>A4 용지(210x297mm)</PresentationFormat>
  <Paragraphs>2666</Paragraphs>
  <Slides>43</Slides>
  <Notes>3</Notes>
  <HiddenSlides>0</HiddenSlides>
  <MMClips>0</MMClips>
  <ScaleCrop>false</ScaleCrop>
  <HeadingPairs>
    <vt:vector size="6" baseType="variant">
      <vt:variant>
        <vt:lpstr>사용한 글꼴</vt:lpstr>
      </vt:variant>
      <vt:variant>
        <vt:i4>16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60" baseType="lpstr">
      <vt:lpstr>anthropic-mono</vt:lpstr>
      <vt:lpstr>HY헤드라인M</vt:lpstr>
      <vt:lpstr>KoPub돋움체 Bold</vt:lpstr>
      <vt:lpstr>KoPub돋움체 Medium</vt:lpstr>
      <vt:lpstr>Nanum Gothic</vt:lpstr>
      <vt:lpstr>NanumSquare</vt:lpstr>
      <vt:lpstr>나눔고딕</vt:lpstr>
      <vt:lpstr>나눔고딕 (본문)</vt:lpstr>
      <vt:lpstr>나눔고딕 Bold</vt:lpstr>
      <vt:lpstr>나눔고딕 ExtraBold</vt:lpstr>
      <vt:lpstr>맑은 고딕</vt:lpstr>
      <vt:lpstr>맑은 고딕</vt:lpstr>
      <vt:lpstr>페이퍼로지 7 Bold</vt:lpstr>
      <vt:lpstr>Arial</vt:lpstr>
      <vt:lpstr>Calibri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목표모델</dc:title>
  <dc:creator>넥스트아이앤아이 컨소시엄</dc:creator>
  <cp:lastModifiedBy>user</cp:lastModifiedBy>
  <cp:revision>1490</cp:revision>
  <cp:lastPrinted>2026-08-11T04:07:45Z</cp:lastPrinted>
  <dcterms:created xsi:type="dcterms:W3CDTF">2017-09-21T02:10:08Z</dcterms:created>
  <dcterms:modified xsi:type="dcterms:W3CDTF">2026-10-08T05:15:18Z</dcterms:modified>
</cp:coreProperties>
</file>